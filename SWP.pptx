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51" r:id="rId2"/>
    <p:sldId id="2147483638" r:id="rId3"/>
    <p:sldId id="2147483627" r:id="rId4"/>
    <p:sldId id="2147483639" r:id="rId5"/>
    <p:sldId id="2147483616" r:id="rId6"/>
    <p:sldId id="2147483621" r:id="rId7"/>
    <p:sldId id="214748363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0" d="100"/>
          <a:sy n="90" d="100"/>
        </p:scale>
        <p:origin x="30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AA7917-3A04-41E0-B3B5-47714D6A324C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1FFDE7E6-E1A1-40C1-A93D-C0A4CA4F773E}">
      <dgm:prSet phldrT="[Text]" custT="1"/>
      <dgm:spPr>
        <a:solidFill>
          <a:srgbClr val="D9D9D6">
            <a:alpha val="49804"/>
          </a:srgbClr>
        </a:solidFill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r>
            <a:rPr lang="en-US" sz="1600" b="1"/>
            <a:t>    </a:t>
          </a:r>
        </a:p>
      </dgm:t>
    </dgm:pt>
    <dgm:pt modelId="{8A00F98E-3B4D-4952-B7C8-F1FEC6BB915C}" type="parTrans" cxnId="{3B16B266-7000-498C-8FB0-3684010DAB3B}">
      <dgm:prSet/>
      <dgm:spPr/>
      <dgm:t>
        <a:bodyPr/>
        <a:lstStyle/>
        <a:p>
          <a:endParaRPr lang="en-US" sz="2000" b="1"/>
        </a:p>
      </dgm:t>
    </dgm:pt>
    <dgm:pt modelId="{BA02B077-5A93-4480-91F3-F58A42F8AD35}" type="sibTrans" cxnId="{3B16B266-7000-498C-8FB0-3684010DAB3B}">
      <dgm:prSet/>
      <dgm:spPr/>
      <dgm:t>
        <a:bodyPr/>
        <a:lstStyle/>
        <a:p>
          <a:endParaRPr lang="en-US" sz="2000" b="1"/>
        </a:p>
      </dgm:t>
    </dgm:pt>
    <dgm:pt modelId="{5683C87D-D5B2-4EDF-BB8B-34531A708496}">
      <dgm:prSet phldrT="[Text]" custT="1"/>
      <dgm:spPr>
        <a:solidFill>
          <a:srgbClr val="D9D9D6">
            <a:alpha val="50000"/>
          </a:srgbClr>
        </a:solidFill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pPr algn="r"/>
          <a:r>
            <a:rPr lang="en-US" sz="1600" b="1"/>
            <a:t>   </a:t>
          </a:r>
        </a:p>
      </dgm:t>
    </dgm:pt>
    <dgm:pt modelId="{102EAD2B-E959-4ADD-A349-B47B7A255512}" type="parTrans" cxnId="{C52E1B53-0E46-4355-BC60-0149AA75B554}">
      <dgm:prSet/>
      <dgm:spPr/>
      <dgm:t>
        <a:bodyPr/>
        <a:lstStyle/>
        <a:p>
          <a:endParaRPr lang="en-US" sz="2000" b="1"/>
        </a:p>
      </dgm:t>
    </dgm:pt>
    <dgm:pt modelId="{C23DE292-BFE3-46FE-8116-6C1AA5E05E44}" type="sibTrans" cxnId="{C52E1B53-0E46-4355-BC60-0149AA75B554}">
      <dgm:prSet/>
      <dgm:spPr/>
      <dgm:t>
        <a:bodyPr/>
        <a:lstStyle/>
        <a:p>
          <a:endParaRPr lang="en-US" sz="2000" b="1"/>
        </a:p>
      </dgm:t>
    </dgm:pt>
    <dgm:pt modelId="{4A818C62-3D60-49FD-8B2D-EB71CF8B92F9}">
      <dgm:prSet phldrT="[Text]" custT="1"/>
      <dgm:spPr>
        <a:solidFill>
          <a:srgbClr val="D9D9D6">
            <a:alpha val="50000"/>
          </a:srgbClr>
        </a:solidFill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pPr algn="l"/>
          <a:r>
            <a:rPr lang="en-US" sz="1400" b="1"/>
            <a:t>  </a:t>
          </a:r>
        </a:p>
      </dgm:t>
    </dgm:pt>
    <dgm:pt modelId="{555B7371-708F-4618-974D-7F7D835EF975}" type="parTrans" cxnId="{502D136F-0443-4740-BC99-96DF23D8FBED}">
      <dgm:prSet/>
      <dgm:spPr/>
      <dgm:t>
        <a:bodyPr/>
        <a:lstStyle/>
        <a:p>
          <a:endParaRPr lang="en-US" sz="2000" b="1"/>
        </a:p>
      </dgm:t>
    </dgm:pt>
    <dgm:pt modelId="{B59B9D5C-5D60-4E20-A433-D0F34CDA30FD}" type="sibTrans" cxnId="{502D136F-0443-4740-BC99-96DF23D8FBED}">
      <dgm:prSet/>
      <dgm:spPr/>
      <dgm:t>
        <a:bodyPr/>
        <a:lstStyle/>
        <a:p>
          <a:endParaRPr lang="en-US" sz="2000" b="1"/>
        </a:p>
      </dgm:t>
    </dgm:pt>
    <dgm:pt modelId="{F14DAF55-D137-49AF-B4C6-01BB897E4ECE}">
      <dgm:prSet phldrT="[Text]" custT="1"/>
      <dgm:spPr>
        <a:solidFill>
          <a:srgbClr val="D9D9D6">
            <a:alpha val="50000"/>
          </a:srgbClr>
        </a:solidFill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pPr algn="l"/>
          <a:r>
            <a:rPr lang="en-US" sz="1400" b="1"/>
            <a:t> </a:t>
          </a:r>
        </a:p>
      </dgm:t>
    </dgm:pt>
    <dgm:pt modelId="{F2340DCA-1D8C-4D39-8793-14EA7BA0267D}" type="parTrans" cxnId="{C0DF44D0-FCE3-48F7-A559-CD0BED7E56B6}">
      <dgm:prSet/>
      <dgm:spPr/>
      <dgm:t>
        <a:bodyPr/>
        <a:lstStyle/>
        <a:p>
          <a:endParaRPr lang="en-US"/>
        </a:p>
      </dgm:t>
    </dgm:pt>
    <dgm:pt modelId="{7C1CED8F-5DB8-4CF0-B1FB-6A1183A52A19}" type="sibTrans" cxnId="{C0DF44D0-FCE3-48F7-A559-CD0BED7E56B6}">
      <dgm:prSet/>
      <dgm:spPr/>
      <dgm:t>
        <a:bodyPr/>
        <a:lstStyle/>
        <a:p>
          <a:endParaRPr lang="en-US"/>
        </a:p>
      </dgm:t>
    </dgm:pt>
    <dgm:pt modelId="{66E68BD6-F9F7-46A5-BC2A-0CFF74993620}" type="pres">
      <dgm:prSet presAssocID="{E4AA7917-3A04-41E0-B3B5-47714D6A324C}" presName="compositeShape" presStyleCnt="0">
        <dgm:presLayoutVars>
          <dgm:chMax val="7"/>
          <dgm:dir/>
          <dgm:resizeHandles val="exact"/>
        </dgm:presLayoutVars>
      </dgm:prSet>
      <dgm:spPr/>
    </dgm:pt>
    <dgm:pt modelId="{F1B567EC-3936-4C9D-A668-FDF11B37DC94}" type="pres">
      <dgm:prSet presAssocID="{1FFDE7E6-E1A1-40C1-A93D-C0A4CA4F773E}" presName="circ1" presStyleLbl="vennNode1" presStyleIdx="0" presStyleCnt="4" custScaleX="64915" custScaleY="95277" custLinFactNeighborX="8084" custLinFactNeighborY="36976"/>
      <dgm:spPr/>
    </dgm:pt>
    <dgm:pt modelId="{5A35EBA4-3355-4E52-8446-C361F7C40BA3}" type="pres">
      <dgm:prSet presAssocID="{1FFDE7E6-E1A1-40C1-A93D-C0A4CA4F773E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94A2E69-02E9-4B66-98CD-84D5BB3E77F1}" type="pres">
      <dgm:prSet presAssocID="{5683C87D-D5B2-4EDF-BB8B-34531A708496}" presName="circ2" presStyleLbl="vennNode1" presStyleIdx="1" presStyleCnt="4" custScaleX="103611" custScaleY="58817" custLinFactNeighborX="-73722" custLinFactNeighborY="23562"/>
      <dgm:spPr/>
    </dgm:pt>
    <dgm:pt modelId="{AD2359FB-7A0D-4B5D-9404-BD8E3EF7F4B3}" type="pres">
      <dgm:prSet presAssocID="{5683C87D-D5B2-4EDF-BB8B-34531A708496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E4137AA-31C4-4C26-9B06-6E00188E11AE}" type="pres">
      <dgm:prSet presAssocID="{4A818C62-3D60-49FD-8B2D-EB71CF8B92F9}" presName="circ3" presStyleLbl="vennNode1" presStyleIdx="2" presStyleCnt="4" custScaleX="99811" custScaleY="58693" custLinFactNeighborX="48485" custLinFactNeighborY="-21786"/>
      <dgm:spPr/>
    </dgm:pt>
    <dgm:pt modelId="{B2B436F4-C3CE-4A1C-9A1F-37C3B30F0183}" type="pres">
      <dgm:prSet presAssocID="{4A818C62-3D60-49FD-8B2D-EB71CF8B92F9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689B658-DAB3-4A1B-A7BD-9A7E4B43D1DF}" type="pres">
      <dgm:prSet presAssocID="{F14DAF55-D137-49AF-B4C6-01BB897E4ECE}" presName="circ4" presStyleLbl="vennNode1" presStyleIdx="3" presStyleCnt="4" custScaleX="65838" custScaleY="88201" custLinFactNeighborX="55941" custLinFactNeighborY="49708"/>
      <dgm:spPr/>
    </dgm:pt>
    <dgm:pt modelId="{6BFC143D-6702-4658-A137-9898BA3349D0}" type="pres">
      <dgm:prSet presAssocID="{F14DAF55-D137-49AF-B4C6-01BB897E4ECE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7AF00908-3CDB-4B87-BE2C-B6DA78C8AC7A}" type="presOf" srcId="{5683C87D-D5B2-4EDF-BB8B-34531A708496}" destId="{594A2E69-02E9-4B66-98CD-84D5BB3E77F1}" srcOrd="0" destOrd="0" presId="urn:microsoft.com/office/officeart/2005/8/layout/venn1"/>
    <dgm:cxn modelId="{9F396728-558E-4D8C-BE4D-E3D11611CACE}" type="presOf" srcId="{1FFDE7E6-E1A1-40C1-A93D-C0A4CA4F773E}" destId="{F1B567EC-3936-4C9D-A668-FDF11B37DC94}" srcOrd="0" destOrd="0" presId="urn:microsoft.com/office/officeart/2005/8/layout/venn1"/>
    <dgm:cxn modelId="{C832D629-CF31-4C33-A9FC-BEA23A2F14CC}" type="presOf" srcId="{4A818C62-3D60-49FD-8B2D-EB71CF8B92F9}" destId="{B2B436F4-C3CE-4A1C-9A1F-37C3B30F0183}" srcOrd="1" destOrd="0" presId="urn:microsoft.com/office/officeart/2005/8/layout/venn1"/>
    <dgm:cxn modelId="{C2C83F3B-511F-409C-88AF-E7E4E4D4FF83}" type="presOf" srcId="{F14DAF55-D137-49AF-B4C6-01BB897E4ECE}" destId="{6BFC143D-6702-4658-A137-9898BA3349D0}" srcOrd="1" destOrd="0" presId="urn:microsoft.com/office/officeart/2005/8/layout/venn1"/>
    <dgm:cxn modelId="{9000BA44-67CF-4188-88FB-45CD2B47ED99}" type="presOf" srcId="{F14DAF55-D137-49AF-B4C6-01BB897E4ECE}" destId="{D689B658-DAB3-4A1B-A7BD-9A7E4B43D1DF}" srcOrd="0" destOrd="0" presId="urn:microsoft.com/office/officeart/2005/8/layout/venn1"/>
    <dgm:cxn modelId="{3B16B266-7000-498C-8FB0-3684010DAB3B}" srcId="{E4AA7917-3A04-41E0-B3B5-47714D6A324C}" destId="{1FFDE7E6-E1A1-40C1-A93D-C0A4CA4F773E}" srcOrd="0" destOrd="0" parTransId="{8A00F98E-3B4D-4952-B7C8-F1FEC6BB915C}" sibTransId="{BA02B077-5A93-4480-91F3-F58A42F8AD35}"/>
    <dgm:cxn modelId="{502D136F-0443-4740-BC99-96DF23D8FBED}" srcId="{E4AA7917-3A04-41E0-B3B5-47714D6A324C}" destId="{4A818C62-3D60-49FD-8B2D-EB71CF8B92F9}" srcOrd="2" destOrd="0" parTransId="{555B7371-708F-4618-974D-7F7D835EF975}" sibTransId="{B59B9D5C-5D60-4E20-A433-D0F34CDA30FD}"/>
    <dgm:cxn modelId="{C52E1B53-0E46-4355-BC60-0149AA75B554}" srcId="{E4AA7917-3A04-41E0-B3B5-47714D6A324C}" destId="{5683C87D-D5B2-4EDF-BB8B-34531A708496}" srcOrd="1" destOrd="0" parTransId="{102EAD2B-E959-4ADD-A349-B47B7A255512}" sibTransId="{C23DE292-BFE3-46FE-8116-6C1AA5E05E44}"/>
    <dgm:cxn modelId="{6A594B5A-871C-42D4-898E-1647F3EEA0BD}" type="presOf" srcId="{5683C87D-D5B2-4EDF-BB8B-34531A708496}" destId="{AD2359FB-7A0D-4B5D-9404-BD8E3EF7F4B3}" srcOrd="1" destOrd="0" presId="urn:microsoft.com/office/officeart/2005/8/layout/venn1"/>
    <dgm:cxn modelId="{0053348B-D005-45C7-B433-A90FD36CD4EC}" type="presOf" srcId="{4A818C62-3D60-49FD-8B2D-EB71CF8B92F9}" destId="{7E4137AA-31C4-4C26-9B06-6E00188E11AE}" srcOrd="0" destOrd="0" presId="urn:microsoft.com/office/officeart/2005/8/layout/venn1"/>
    <dgm:cxn modelId="{FC43CFCE-EA40-4005-B0A0-7BF16635181D}" type="presOf" srcId="{1FFDE7E6-E1A1-40C1-A93D-C0A4CA4F773E}" destId="{5A35EBA4-3355-4E52-8446-C361F7C40BA3}" srcOrd="1" destOrd="0" presId="urn:microsoft.com/office/officeart/2005/8/layout/venn1"/>
    <dgm:cxn modelId="{C0DF44D0-FCE3-48F7-A559-CD0BED7E56B6}" srcId="{E4AA7917-3A04-41E0-B3B5-47714D6A324C}" destId="{F14DAF55-D137-49AF-B4C6-01BB897E4ECE}" srcOrd="3" destOrd="0" parTransId="{F2340DCA-1D8C-4D39-8793-14EA7BA0267D}" sibTransId="{7C1CED8F-5DB8-4CF0-B1FB-6A1183A52A19}"/>
    <dgm:cxn modelId="{2BB9EFDD-D44E-4AA8-BE95-AFFD115E203F}" type="presOf" srcId="{E4AA7917-3A04-41E0-B3B5-47714D6A324C}" destId="{66E68BD6-F9F7-46A5-BC2A-0CFF74993620}" srcOrd="0" destOrd="0" presId="urn:microsoft.com/office/officeart/2005/8/layout/venn1"/>
    <dgm:cxn modelId="{2BB7AABE-AC5D-48E8-A656-F7FBBB638DF4}" type="presParOf" srcId="{66E68BD6-F9F7-46A5-BC2A-0CFF74993620}" destId="{F1B567EC-3936-4C9D-A668-FDF11B37DC94}" srcOrd="0" destOrd="0" presId="urn:microsoft.com/office/officeart/2005/8/layout/venn1"/>
    <dgm:cxn modelId="{B3CCABB3-2EAF-412F-A01E-8F7E78F23FDB}" type="presParOf" srcId="{66E68BD6-F9F7-46A5-BC2A-0CFF74993620}" destId="{5A35EBA4-3355-4E52-8446-C361F7C40BA3}" srcOrd="1" destOrd="0" presId="urn:microsoft.com/office/officeart/2005/8/layout/venn1"/>
    <dgm:cxn modelId="{83828939-E33D-41DA-8655-F2D326F6E2E2}" type="presParOf" srcId="{66E68BD6-F9F7-46A5-BC2A-0CFF74993620}" destId="{594A2E69-02E9-4B66-98CD-84D5BB3E77F1}" srcOrd="2" destOrd="0" presId="urn:microsoft.com/office/officeart/2005/8/layout/venn1"/>
    <dgm:cxn modelId="{3AB136A4-87C4-44C6-954B-AA6194B69466}" type="presParOf" srcId="{66E68BD6-F9F7-46A5-BC2A-0CFF74993620}" destId="{AD2359FB-7A0D-4B5D-9404-BD8E3EF7F4B3}" srcOrd="3" destOrd="0" presId="urn:microsoft.com/office/officeart/2005/8/layout/venn1"/>
    <dgm:cxn modelId="{8287BDD3-5DE9-496B-AAAD-A2F125110646}" type="presParOf" srcId="{66E68BD6-F9F7-46A5-BC2A-0CFF74993620}" destId="{7E4137AA-31C4-4C26-9B06-6E00188E11AE}" srcOrd="4" destOrd="0" presId="urn:microsoft.com/office/officeart/2005/8/layout/venn1"/>
    <dgm:cxn modelId="{511076C5-67D8-46DE-A1BE-19E9CFCB4C2F}" type="presParOf" srcId="{66E68BD6-F9F7-46A5-BC2A-0CFF74993620}" destId="{B2B436F4-C3CE-4A1C-9A1F-37C3B30F0183}" srcOrd="5" destOrd="0" presId="urn:microsoft.com/office/officeart/2005/8/layout/venn1"/>
    <dgm:cxn modelId="{D736ECCB-4F75-41B7-8850-513083C4430F}" type="presParOf" srcId="{66E68BD6-F9F7-46A5-BC2A-0CFF74993620}" destId="{D689B658-DAB3-4A1B-A7BD-9A7E4B43D1DF}" srcOrd="6" destOrd="0" presId="urn:microsoft.com/office/officeart/2005/8/layout/venn1"/>
    <dgm:cxn modelId="{43FFC1BD-CA8E-4456-AFD7-FFCF8DC8658D}" type="presParOf" srcId="{66E68BD6-F9F7-46A5-BC2A-0CFF74993620}" destId="{6BFC143D-6702-4658-A137-9898BA3349D0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B567EC-3936-4C9D-A668-FDF11B37DC94}">
      <dsp:nvSpPr>
        <dsp:cNvPr id="0" name=""/>
        <dsp:cNvSpPr/>
      </dsp:nvSpPr>
      <dsp:spPr>
        <a:xfrm>
          <a:off x="1427841" y="1340614"/>
          <a:ext cx="1486888" cy="2182335"/>
        </a:xfrm>
        <a:prstGeom prst="ellipse">
          <a:avLst/>
        </a:prstGeom>
        <a:solidFill>
          <a:srgbClr val="D9D9D6">
            <a:alpha val="49804"/>
          </a:srgbClr>
        </a:solidFill>
        <a:ln w="19050" cap="flat" cmpd="sng" algn="ctr">
          <a:solidFill>
            <a:schemeClr val="bg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    </a:t>
          </a:r>
        </a:p>
      </dsp:txBody>
      <dsp:txXfrm>
        <a:off x="1599405" y="1634390"/>
        <a:ext cx="1143760" cy="692471"/>
      </dsp:txXfrm>
    </dsp:sp>
    <dsp:sp modelId="{594A2E69-02E9-4B66-98CD-84D5BB3E77F1}">
      <dsp:nvSpPr>
        <dsp:cNvPr id="0" name=""/>
        <dsp:cNvSpPr/>
      </dsp:nvSpPr>
      <dsp:spPr>
        <a:xfrm>
          <a:off x="124005" y="2464038"/>
          <a:ext cx="2373227" cy="1347213"/>
        </a:xfrm>
        <a:prstGeom prst="ellipse">
          <a:avLst/>
        </a:prstGeom>
        <a:solidFill>
          <a:srgbClr val="D9D9D6">
            <a:alpha val="50000"/>
          </a:srgbClr>
        </a:solidFill>
        <a:ln w="19050" cap="flat" cmpd="sng" algn="ctr">
          <a:solidFill>
            <a:schemeClr val="bg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   </a:t>
          </a:r>
        </a:p>
      </dsp:txBody>
      <dsp:txXfrm>
        <a:off x="1401897" y="2619486"/>
        <a:ext cx="912779" cy="1036317"/>
      </dsp:txXfrm>
    </dsp:sp>
    <dsp:sp modelId="{7E4137AA-31C4-4C26-9B06-6E00188E11AE}">
      <dsp:nvSpPr>
        <dsp:cNvPr id="0" name=""/>
        <dsp:cNvSpPr/>
      </dsp:nvSpPr>
      <dsp:spPr>
        <a:xfrm>
          <a:off x="1953583" y="2439868"/>
          <a:ext cx="2286187" cy="1344373"/>
        </a:xfrm>
        <a:prstGeom prst="ellipse">
          <a:avLst/>
        </a:prstGeom>
        <a:solidFill>
          <a:srgbClr val="D9D9D6">
            <a:alpha val="50000"/>
          </a:srgbClr>
        </a:solidFill>
        <a:ln w="19050" cap="flat" cmpd="sng" algn="ctr">
          <a:solidFill>
            <a:schemeClr val="bg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  </a:t>
          </a:r>
        </a:p>
      </dsp:txBody>
      <dsp:txXfrm>
        <a:off x="2217374" y="3176688"/>
        <a:ext cx="1758605" cy="426579"/>
      </dsp:txXfrm>
    </dsp:sp>
    <dsp:sp modelId="{D689B658-DAB3-4A1B-A7BD-9A7E4B43D1DF}">
      <dsp:nvSpPr>
        <dsp:cNvPr id="0" name=""/>
        <dsp:cNvSpPr/>
      </dsp:nvSpPr>
      <dsp:spPr>
        <a:xfrm>
          <a:off x="1500330" y="2726394"/>
          <a:ext cx="1508030" cy="2020258"/>
        </a:xfrm>
        <a:prstGeom prst="ellipse">
          <a:avLst/>
        </a:prstGeom>
        <a:solidFill>
          <a:srgbClr val="D9D9D6">
            <a:alpha val="50000"/>
          </a:srgbClr>
        </a:solidFill>
        <a:ln w="19050" cap="flat" cmpd="sng" algn="ctr">
          <a:solidFill>
            <a:schemeClr val="bg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 </a:t>
          </a:r>
        </a:p>
      </dsp:txBody>
      <dsp:txXfrm>
        <a:off x="1616332" y="2959501"/>
        <a:ext cx="580011" cy="15540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DD094-0862-433C-B7BD-460EF69E3F97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0D485-6F13-4A66-8788-34C114653F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658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9B5C2-0E30-7AE9-CB01-DCBA17106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EF20AC-DA73-57CA-85FC-4F095D01F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8EDC88-40B6-DD37-F92B-96495481D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proposed disciplines</a:t>
            </a:r>
            <a:br>
              <a:rPr lang="en-US">
                <a:cs typeface="+mn-lt"/>
              </a:rPr>
            </a:br>
            <a:endParaRPr lang="en-US">
              <a:cs typeface="+mn-lt"/>
            </a:endParaRPr>
          </a:p>
          <a:p>
            <a:r>
              <a:rPr lang="en-US">
                <a:cs typeface="+mn-lt"/>
              </a:rPr>
              <a:t>Production Readiness Process IMP 07-01-01; how we integrate Procedures Knowledge, we have 20 primary + 19 supporting procedures</a:t>
            </a:r>
          </a:p>
          <a:p>
            <a:r>
              <a:rPr lang="en-US">
                <a:cs typeface="+mn-lt"/>
              </a:rPr>
              <a:t>-Priority &amp; Risk Management – Data driven Decision making for Risk Identification &amp; Mitigation Planning for industrialization initiatives</a:t>
            </a:r>
          </a:p>
          <a:p>
            <a:endParaRPr lang="en-US"/>
          </a:p>
          <a:p>
            <a:r>
              <a:rPr lang="en-CA"/>
              <a:t>General</a:t>
            </a:r>
            <a:br>
              <a:rPr lang="en-CA">
                <a:cs typeface="+mn-lt"/>
              </a:rPr>
            </a:br>
            <a:r>
              <a:rPr lang="en-CA"/>
              <a:t>Process, Compliance &amp; Documentation Control- How we make it specific to teams ? </a:t>
            </a:r>
            <a:endParaRPr lang="en-US"/>
          </a:p>
          <a:p>
            <a:br>
              <a:rPr lang="en-CA">
                <a:cs typeface="+mn-lt"/>
              </a:rPr>
            </a:br>
            <a:r>
              <a:rPr lang="en-CA"/>
              <a:t>OPM All - Digital Fluency in Process &amp; Tools (SAP, PLM, etc.) - reword with deliverable sense</a:t>
            </a:r>
            <a:endParaRPr lang="en-US"/>
          </a:p>
          <a:p>
            <a:endParaRPr lang="en-CA">
              <a:cs typeface="+mn-lt"/>
            </a:endParaRPr>
          </a:p>
          <a:p>
            <a:r>
              <a:rPr lang="en-US">
                <a:cs typeface="+mn-lt"/>
              </a:rPr>
              <a:t>Continuous Improvement (CORE Proficiency)</a:t>
            </a:r>
          </a:p>
          <a:p>
            <a:r>
              <a:rPr lang="en-CA"/>
              <a:t>Conflict Resolution &amp; Influential skills</a:t>
            </a:r>
            <a:endParaRPr lang="en-US"/>
          </a:p>
          <a:p>
            <a:r>
              <a:rPr lang="en-CA"/>
              <a:t>Collaboration &amp; Networking</a:t>
            </a:r>
          </a:p>
          <a:p>
            <a:r>
              <a:rPr lang="en-CA"/>
              <a:t>Operations business processes knowledge</a:t>
            </a:r>
            <a:endParaRPr lang="en-US"/>
          </a:p>
          <a:p>
            <a:r>
              <a:rPr lang="en-CA"/>
              <a:t>Execution &amp; Delivery Focus </a:t>
            </a:r>
            <a:endParaRPr lang="en-US"/>
          </a:p>
          <a:p>
            <a:r>
              <a:rPr lang="en-CA"/>
              <a:t>Active Listening &amp; Feedback </a:t>
            </a:r>
            <a:endParaRPr lang="en-US"/>
          </a:p>
          <a:p>
            <a:r>
              <a:rPr lang="en-CA"/>
              <a:t>Conflict Resolution &amp; Influential Skills </a:t>
            </a:r>
            <a:br>
              <a:rPr lang="en-US">
                <a:cs typeface="+mn-lt"/>
              </a:rPr>
            </a:br>
            <a:endParaRPr lang="en-US"/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E38F99-0696-7F0B-12DA-D0B608C4A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AF3A09-0EB5-429E-B7D0-FB28A7726D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090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7F69D-4A5F-039F-634B-C04479CD3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DBA53-8CFB-51BB-3020-1018CBEB80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AEC671-025F-BE8D-C23C-D014CFFC1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B8D76-E027-DBA8-8355-CA581D04B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AF3A09-0EB5-429E-B7D0-FB28A7726D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274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7E440-73E8-68AC-6D59-27A0F5CA8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7367E7-21F5-35EA-E4EE-EC8C8BFEB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CC513F-6DD9-AED5-F271-7BCE85AB0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42301-B3CB-A31D-72E3-B3FED99F53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AF3A09-0EB5-429E-B7D0-FB28A7726D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26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EEE32-C215-05EB-AF29-E8272B474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1D0F7C-EC3F-5A93-DF0B-0090F952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8AE031-96B3-D83E-6582-ED09A4967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AC864A-3683-1885-A5EA-874430732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AF3A09-0EB5-429E-B7D0-FB28A7726D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221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AA664-6490-0B10-5363-3A0B48F72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E8D05-65BB-68E0-9AF4-5672A61C3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A709DD-436A-1127-9235-A38DA3048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6E2B84-B371-BAAD-ACA6-A670D3BB7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AF3A09-0EB5-429E-B7D0-FB28A7726D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490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08B20-26CA-7938-B3DE-074E64E24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409EF-1144-A3C0-7EE3-8A8482040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57C3B0-1030-8A76-D710-CA5339766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855DB-EDA3-8A1E-F8FE-EDFF5415BE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AF3A09-0EB5-429E-B7D0-FB28A7726D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420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ED728-ADF9-085D-A1DE-3D34224E3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316F91-F7C1-D128-D96C-6AE6B35EB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93920B-0928-C1C8-665B-7EC91E916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1866A9-6219-E26C-1A3A-2A8D1E8E2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AF3A09-0EB5-429E-B7D0-FB28A7726D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258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5A1A9-8AD2-B60F-BB54-6EC6DAC5F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0477F2-CE39-BC78-BC89-F8F31D614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269A6-2502-5B4E-A27A-246C22456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0899-7A05-4F9D-8428-C933F3A19A46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0B6B5-D53B-3A89-386A-54867B38C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66B8F-C1FF-5519-1980-0349FCBCE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0AB7-4990-42BB-A467-6B56CBB8F3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7008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F670-A2A6-68EC-34E6-9B1CD9590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7F67D-F698-1812-D3CD-1E425739D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FF3AA-E4CA-81C4-84CF-E8AE7EE6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0899-7A05-4F9D-8428-C933F3A19A46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12298-E783-8B8B-3EB5-FE0F9F5DB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1F8F5-AD9A-F54F-FD8B-837EFD5E5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0AB7-4990-42BB-A467-6B56CBB8F3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9697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72EFE-5F9B-3731-59C8-3F35FA17F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08A42-1A29-A671-150B-B8516454B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52B8A-3B58-7196-AC8D-D282A1FAC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0899-7A05-4F9D-8428-C933F3A19A46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9D917-A9CC-B71D-C3C1-5301A86FC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42974-DCB4-8007-D320-6D3C3A270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0AB7-4990-42BB-A467-6B56CBB8F3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8900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5CF12-B8E0-21F7-9AA3-BBB93F078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6D669-F63F-616F-99B3-66FE1BACF6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FDDE2-F036-CD73-5ED2-B691AF82D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85D7C-710C-1D8B-A438-BDF7B463D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0899-7A05-4F9D-8428-C933F3A19A46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FE9C2-4FB8-24FA-8417-D72771F6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2E25B-6494-A773-3766-DA98EAEE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0AB7-4990-42BB-A467-6B56CBB8F3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6529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625F6-AAD2-BF38-F087-D874FD02E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BEBB3-2B89-7B83-228E-0CDE3D5E1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BEA44-6467-6ECC-1C8F-B688CFEA3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CA5C80-1609-4CC0-990D-2207AA365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B53630-14E4-77A0-D3B5-32DD4794A1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51623C-FB83-BE28-1DA1-03313F396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0899-7A05-4F9D-8428-C933F3A19A46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1927CA-1F63-8D89-4855-1AB41CAA1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561AE0-E232-6EC9-ABA3-0C0E54B9A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0AB7-4990-42BB-A467-6B56CBB8F3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6894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8F1E7-3CC0-A5D2-5579-B84C7BF25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38502-B517-4C2E-0714-393E96A51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0899-7A05-4F9D-8428-C933F3A19A46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AE3F7D-1E4B-4A0C-A29C-15DDC41D0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DB35C-B0ED-5A8D-A635-258CBBA3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0AB7-4990-42BB-A467-6B56CBB8F3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466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874AC6-ADA3-50D7-BC50-1F2B694D8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0899-7A05-4F9D-8428-C933F3A19A46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333CE0-FEC2-A35F-7A59-C900D1BBC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F8F60-1A02-F95C-1EA8-4FBE4A046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0AB7-4990-42BB-A467-6B56CBB8F3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3057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24F3B-9602-EF3C-A064-68067149B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7B4A9-E354-2C58-B4A6-48ADE132A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9C31B2-82BB-7E2A-6901-B2E1D33355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F41BE-DE41-936B-5F49-D53CAA552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0899-7A05-4F9D-8428-C933F3A19A46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D51E5-C169-73B3-BEAC-EFB8A15DA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344C52-B09F-78C0-5275-9983994DD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0AB7-4990-42BB-A467-6B56CBB8F3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3525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FF4BF-55BA-E769-F012-E64DA4472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360B60-B330-108A-96C7-1738D88321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BAE124-D965-9439-4825-A02BDD746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FD03C-4068-B3D0-89E3-909A9EFFA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0899-7A05-4F9D-8428-C933F3A19A46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DFD0E-E3DF-EE1A-AAA8-36C3D219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1DD5F-D4CF-9B89-D1BB-3348FB17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0AB7-4990-42BB-A467-6B56CBB8F3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2413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B910D-4F55-7484-4CE8-9E32749D2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BDFD72-B203-B3B7-53F5-F3C193BEF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CAA3D-AA49-3B2D-C432-F66FF7F97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0899-7A05-4F9D-8428-C933F3A19A46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E5CD6-0EAD-60F8-DACA-BA84FC66D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658BD-3A4F-B5FA-2D11-FE0118DDD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0AB7-4990-42BB-A467-6B56CBB8F3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938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728F25-8312-1EA5-EE7B-1D4465E963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8B5D5-E792-6C6F-D989-69F9761AB7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B0030-5093-C48B-8F2D-C7860C78F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0899-7A05-4F9D-8428-C933F3A19A46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AEC56-4827-60FD-D97D-49E8F8BC2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8E2FF-A786-3D5D-74F0-0B027A14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0AB7-4990-42BB-A467-6B56CBB8F3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0782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ody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1" y="1476000"/>
            <a:ext cx="10829543" cy="4315200"/>
          </a:xfrm>
          <a:noFill/>
        </p:spPr>
        <p:txBody>
          <a:bodyPr/>
          <a:lstStyle>
            <a:lvl1pPr marL="288918" indent="-288918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9899" indent="-280981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defRPr lang="en-US" sz="2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68" indent="-231769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defRPr lang="en-US" sz="2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2648" indent="-280981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6006" indent="-233357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def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28 pt. black.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94944" y="466348"/>
            <a:ext cx="10811256" cy="676653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Title. 32 pt. black. Bold. Sentence case. Two lines max.</a:t>
            </a:r>
          </a:p>
        </p:txBody>
      </p:sp>
      <p:sp>
        <p:nvSpPr>
          <p:cNvPr id="2" name="Takeaway bar">
            <a:extLst>
              <a:ext uri="{FF2B5EF4-FFF2-40B4-BE49-F238E27FC236}">
                <a16:creationId xmlns:a16="http://schemas.microsoft.com/office/drawing/2014/main" id="{8F3A43FB-9FBA-E24C-1C15-E32F1866C8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4946" y="5865760"/>
            <a:ext cx="10820399" cy="320088"/>
          </a:xfrm>
          <a:solidFill>
            <a:schemeClr val="accent1"/>
          </a:solidFill>
        </p:spPr>
        <p:txBody>
          <a:bodyPr vert="horz" wrap="square" lIns="621792" tIns="36576" rIns="621792" bIns="36576" rtlCol="0" anchor="b" anchorCtr="0">
            <a:sp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FontTx/>
              <a:buNone/>
              <a:def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Optional takeaway bar. Black. Bold. 16 pt. Centered. Sentence case.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1FA8D734-2FCE-8F54-C61F-7DDD193F1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5"/>
            <a:ext cx="531947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963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53DEDC-879A-326C-301A-5CFE7C7AE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E14B0-4880-15B7-5F5E-D7C24FDD9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6A3C1-F0D0-51FB-D7C0-8E8FCEAEC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7C0899-7A05-4F9D-8428-C933F3A19A46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63A33-12EC-E90A-B2A8-4202415AC7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7A0E6-DA80-A932-8F59-2EED3026B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3C0AB7-4990-42BB-A467-6B56CBB8F3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2432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5.sv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9.svg"/><Relationship Id="rId10" Type="http://schemas.openxmlformats.org/officeDocument/2006/relationships/image" Target="../media/image4.svg"/><Relationship Id="rId4" Type="http://schemas.openxmlformats.org/officeDocument/2006/relationships/diagramLayout" Target="../diagrams/layout1.xml"/><Relationship Id="rId9" Type="http://schemas.openxmlformats.org/officeDocument/2006/relationships/image" Target="../media/image3.svg"/><Relationship Id="rId1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6259C-632C-C736-FE6D-005BE99F0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1C6E1C-ABFD-6F7F-DC56-DAF0AFD33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4541" y="6433755"/>
            <a:ext cx="531947" cy="365125"/>
          </a:xfrm>
        </p:spPr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65E6F-54ED-4977-A15E-D44BE7238A65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C34946-2D09-E827-BD7A-E54314DF5976}"/>
              </a:ext>
            </a:extLst>
          </p:cNvPr>
          <p:cNvSpPr txBox="1"/>
          <p:nvPr/>
        </p:nvSpPr>
        <p:spPr>
          <a:xfrm>
            <a:off x="4956635" y="6508593"/>
            <a:ext cx="20233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Export Classification: No Technical Data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0F70D7-8AC6-4DB3-8586-E7F22716FC4F}"/>
              </a:ext>
            </a:extLst>
          </p:cNvPr>
          <p:cNvSpPr/>
          <p:nvPr/>
        </p:nvSpPr>
        <p:spPr>
          <a:xfrm>
            <a:off x="132909" y="812956"/>
            <a:ext cx="1404000" cy="648000"/>
          </a:xfrm>
          <a:prstGeom prst="rect">
            <a:avLst/>
          </a:prstGeom>
          <a:solidFill>
            <a:srgbClr val="1F2A44"/>
          </a:solidFill>
          <a:ln w="12700" cap="flat" cmpd="sng" algn="ctr">
            <a:solidFill>
              <a:srgbClr val="1F2A4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OPM Legacy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F6E160-205B-665E-A6CD-A19B18DC3E73}"/>
              </a:ext>
            </a:extLst>
          </p:cNvPr>
          <p:cNvSpPr/>
          <p:nvPr/>
        </p:nvSpPr>
        <p:spPr>
          <a:xfrm>
            <a:off x="1616861" y="812956"/>
            <a:ext cx="1404000" cy="648000"/>
          </a:xfrm>
          <a:prstGeom prst="rect">
            <a:avLst/>
          </a:prstGeom>
          <a:solidFill>
            <a:srgbClr val="1F2A44"/>
          </a:solidFill>
          <a:ln w="12700" cap="flat" cmpd="sng" algn="ctr">
            <a:solidFill>
              <a:srgbClr val="1F2A4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OPM NPI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B80F1E-F888-39F8-6788-6E6D88554E50}"/>
              </a:ext>
            </a:extLst>
          </p:cNvPr>
          <p:cNvSpPr/>
          <p:nvPr/>
        </p:nvSpPr>
        <p:spPr>
          <a:xfrm>
            <a:off x="3100813" y="812956"/>
            <a:ext cx="1404000" cy="648000"/>
          </a:xfrm>
          <a:prstGeom prst="rect">
            <a:avLst/>
          </a:prstGeom>
          <a:solidFill>
            <a:srgbClr val="1F2A44"/>
          </a:solidFill>
          <a:ln w="12700" cap="flat" cmpd="sng" algn="ctr">
            <a:solidFill>
              <a:srgbClr val="1F2A4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OPM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Planning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06B9C1-95AF-6513-1C49-09179ED449E2}"/>
              </a:ext>
            </a:extLst>
          </p:cNvPr>
          <p:cNvSpPr/>
          <p:nvPr/>
        </p:nvSpPr>
        <p:spPr>
          <a:xfrm>
            <a:off x="4584765" y="812956"/>
            <a:ext cx="1477628" cy="648000"/>
          </a:xfrm>
          <a:prstGeom prst="rect">
            <a:avLst/>
          </a:prstGeom>
          <a:solidFill>
            <a:srgbClr val="1F2A44"/>
          </a:solidFill>
          <a:ln w="12700" cap="flat" cmpd="sng" algn="ctr">
            <a:solidFill>
              <a:srgbClr val="1F2A4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Production Readiness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A4BC20-481C-2D81-A7D9-E05E8153BEEE}"/>
              </a:ext>
            </a:extLst>
          </p:cNvPr>
          <p:cNvSpPr/>
          <p:nvPr/>
        </p:nvSpPr>
        <p:spPr>
          <a:xfrm>
            <a:off x="6142345" y="812956"/>
            <a:ext cx="1404000" cy="648000"/>
          </a:xfrm>
          <a:prstGeom prst="rect">
            <a:avLst/>
          </a:prstGeom>
          <a:solidFill>
            <a:srgbClr val="1F2A44"/>
          </a:solidFill>
          <a:ln w="12700" cap="flat" cmpd="sng" algn="ctr">
            <a:solidFill>
              <a:srgbClr val="1F2A4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Product Cost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D7B870-1EDF-B472-37F6-0136AE0F3AD1}"/>
              </a:ext>
            </a:extLst>
          </p:cNvPr>
          <p:cNvSpPr/>
          <p:nvPr/>
        </p:nvSpPr>
        <p:spPr>
          <a:xfrm>
            <a:off x="7626297" y="812956"/>
            <a:ext cx="1404000" cy="648000"/>
          </a:xfrm>
          <a:prstGeom prst="rect">
            <a:avLst/>
          </a:prstGeom>
          <a:solidFill>
            <a:srgbClr val="1F2A44"/>
          </a:solidFill>
          <a:ln w="12700" cap="flat" cmpd="sng" algn="ctr">
            <a:solidFill>
              <a:srgbClr val="1F2A44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CA" sz="1200" b="1" kern="0">
                <a:solidFill>
                  <a:srgbClr val="FFFFFF"/>
                </a:solidFill>
                <a:latin typeface="Arial" panose="020B0604020202020204"/>
              </a:rPr>
              <a:t>CORE, QMS &amp; Transformation</a:t>
            </a:r>
            <a:endParaRPr lang="en-CA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Arial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B45EF4-787C-736D-6BC3-944542D06BC8}"/>
              </a:ext>
            </a:extLst>
          </p:cNvPr>
          <p:cNvSpPr/>
          <p:nvPr/>
        </p:nvSpPr>
        <p:spPr>
          <a:xfrm>
            <a:off x="10537716" y="812956"/>
            <a:ext cx="1501909" cy="648000"/>
          </a:xfrm>
          <a:prstGeom prst="rect">
            <a:avLst/>
          </a:prstGeom>
          <a:solidFill>
            <a:srgbClr val="1F2A44"/>
          </a:solidFill>
          <a:ln w="12700" cap="flat" cmpd="sng" algn="ctr">
            <a:solidFill>
              <a:srgbClr val="1F2A4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Partnership</a:t>
            </a: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099EC1AE-AA77-93E4-F4B8-FD0A8CBA61D1}"/>
              </a:ext>
            </a:extLst>
          </p:cNvPr>
          <p:cNvSpPr/>
          <p:nvPr/>
        </p:nvSpPr>
        <p:spPr>
          <a:xfrm>
            <a:off x="9110249" y="812956"/>
            <a:ext cx="1347514" cy="648000"/>
          </a:xfrm>
          <a:prstGeom prst="rect">
            <a:avLst/>
          </a:prstGeom>
          <a:solidFill>
            <a:srgbClr val="1F2A44"/>
          </a:solidFill>
          <a:ln w="12700" cap="flat" cmpd="sng" algn="ctr">
            <a:solidFill>
              <a:srgbClr val="1F2A4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GCR</a:t>
            </a: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CDEA3734-ED24-F230-4471-30E6AD573C4F}"/>
              </a:ext>
            </a:extLst>
          </p:cNvPr>
          <p:cNvSpPr/>
          <p:nvPr/>
        </p:nvSpPr>
        <p:spPr>
          <a:xfrm>
            <a:off x="132909" y="1554659"/>
            <a:ext cx="1404000" cy="3614559"/>
          </a:xfrm>
          <a:prstGeom prst="rect">
            <a:avLst/>
          </a:prstGeom>
          <a:solidFill>
            <a:srgbClr val="FFFFFF">
              <a:lumMod val="85000"/>
            </a:srgbClr>
          </a:solidFill>
          <a:ln w="12700" cap="flat" cmpd="sng" algn="ctr">
            <a:solidFill>
              <a:srgbClr val="B9B9B1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t"/>
          <a:lstStyle/>
          <a:p>
            <a:pPr marL="107950" indent="-107950">
              <a:spcBef>
                <a:spcPts val="500"/>
              </a:spcBef>
              <a:buFont typeface="Wingdings" panose="020B0604020202020204" pitchFamily="34" charset="0"/>
              <a:buChar char="Ø"/>
              <a:defRPr/>
            </a:pPr>
            <a:r>
              <a:rPr lang="en-CA" sz="850" kern="0">
                <a:solidFill>
                  <a:srgbClr val="000000"/>
                </a:solidFill>
                <a:latin typeface="Arial" panose="020B0604020202020204"/>
                <a:cs typeface="Arial"/>
              </a:rPr>
              <a:t>Cross-functional program leadership, stakeholder eng</a:t>
            </a:r>
            <a:r>
              <a:rPr lang="en-CA" sz="800" kern="0">
                <a:latin typeface="Arial" panose="020B0604020202020204"/>
                <a:cs typeface="Arial"/>
              </a:rPr>
              <a:t>agement &amp; customer reporting</a:t>
            </a:r>
          </a:p>
          <a:p>
            <a:pPr marL="107950" indent="-107950">
              <a:spcBef>
                <a:spcPts val="500"/>
              </a:spcBef>
              <a:buFont typeface="Wingdings" panose="020B0604020202020204" pitchFamily="34" charset="0"/>
              <a:buChar char="Ø"/>
              <a:defRPr/>
            </a:pPr>
            <a:r>
              <a:rPr lang="en-CA" sz="850" kern="0">
                <a:solidFill>
                  <a:srgbClr val="000000"/>
                </a:solidFill>
                <a:latin typeface="Arial" panose="020B0604020202020204"/>
                <a:cs typeface="Arial"/>
              </a:rPr>
              <a:t>Operations</a:t>
            </a:r>
            <a:r>
              <a:rPr lang="en-CA" sz="850" kern="0">
                <a:solidFill>
                  <a:srgbClr val="000000"/>
                </a:solidFill>
                <a:latin typeface="Arial" panose="020B0604020202020204"/>
              </a:rPr>
              <a:t> business </a:t>
            </a: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processes​</a:t>
            </a:r>
            <a:r>
              <a:rPr lang="en-CA" sz="850" kern="0">
                <a:solidFill>
                  <a:srgbClr val="000000"/>
                </a:solidFill>
                <a:latin typeface="Arial" panose="020B0604020202020204"/>
              </a:rPr>
              <a:t> expertise (delivery focus)</a:t>
            </a:r>
            <a:endParaRPr lang="en-CA" sz="8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</a:endParaRPr>
          </a:p>
          <a:p>
            <a:pPr marL="107950" indent="-107950">
              <a:spcBef>
                <a:spcPts val="500"/>
              </a:spcBef>
              <a:buFont typeface="Wingdings" panose="020B0604020202020204" pitchFamily="34" charset="0"/>
              <a:buChar char="Ø"/>
              <a:defRPr/>
            </a:pP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Priority &amp;</a:t>
            </a:r>
            <a:r>
              <a:rPr lang="en-CA" sz="850" kern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Risk</a:t>
            </a: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 Management​</a:t>
            </a:r>
            <a:r>
              <a:rPr lang="en-CA" sz="850" kern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(</a:t>
            </a:r>
            <a:r>
              <a:rPr lang="en-CA" sz="900" kern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operational)</a:t>
            </a:r>
            <a:endParaRPr lang="en-CA" sz="9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cs typeface="Arial" panose="020B0604020202020204"/>
            </a:endParaRPr>
          </a:p>
          <a:p>
            <a:pPr marL="107950" indent="-107950">
              <a:spcBef>
                <a:spcPts val="500"/>
              </a:spcBef>
              <a:buFont typeface="Wingdings" panose="020B0604020202020204" pitchFamily="34" charset="0"/>
              <a:buChar char="Ø"/>
              <a:defRPr/>
            </a:pP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Cost Structure &amp; Control ​</a:t>
            </a:r>
            <a:endParaRPr kumimoji="0" lang="en-CA" sz="8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/>
            </a:endParaRP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9BDA9065-9C1D-96A5-AA21-7085E4F9A7F6}"/>
              </a:ext>
            </a:extLst>
          </p:cNvPr>
          <p:cNvSpPr/>
          <p:nvPr/>
        </p:nvSpPr>
        <p:spPr>
          <a:xfrm>
            <a:off x="1615014" y="1554659"/>
            <a:ext cx="1403999" cy="3614559"/>
          </a:xfrm>
          <a:prstGeom prst="rect">
            <a:avLst/>
          </a:prstGeom>
          <a:solidFill>
            <a:srgbClr val="FFFFFF">
              <a:lumMod val="85000"/>
            </a:srgbClr>
          </a:solidFill>
          <a:ln w="12700" cap="flat" cmpd="sng" algn="ctr">
            <a:solidFill>
              <a:srgbClr val="B9B9B1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t"/>
          <a:lstStyle/>
          <a:p>
            <a:pPr marL="107950" indent="-107950">
              <a:spcBef>
                <a:spcPts val="500"/>
              </a:spcBef>
              <a:buFont typeface="Wingdings"/>
              <a:buChar char="Ø"/>
              <a:defRPr/>
            </a:pPr>
            <a:r>
              <a:rPr lang="en-CA" sz="800" kern="0">
                <a:ea typeface="+mn-lt"/>
                <a:cs typeface="+mn-lt"/>
              </a:rPr>
              <a:t>Cross-functional program leadership, stakeholder engagement &amp; customer reporting</a:t>
            </a:r>
            <a:endParaRPr lang="en-CA" sz="850" kern="0">
              <a:ea typeface="+mn-lt"/>
              <a:cs typeface="+mn-lt"/>
            </a:endParaRPr>
          </a:p>
          <a:p>
            <a:pPr marL="107950" indent="-107950">
              <a:spcBef>
                <a:spcPts val="500"/>
              </a:spcBef>
              <a:buFont typeface="Wingdings"/>
              <a:buChar char="Ø"/>
              <a:defRPr/>
            </a:pPr>
            <a:r>
              <a:rPr lang="en-CA" sz="850" kern="0">
                <a:solidFill>
                  <a:srgbClr val="000000"/>
                </a:solidFill>
                <a:ea typeface="+mn-lt"/>
                <a:cs typeface="+mn-lt"/>
              </a:rPr>
              <a:t>Operations</a:t>
            </a: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business processes​ knowledge</a:t>
            </a:r>
            <a:r>
              <a:rPr lang="en-CA" sz="850" kern="0">
                <a:solidFill>
                  <a:srgbClr val="000000"/>
                </a:solidFill>
                <a:latin typeface="Arial" panose="020B0604020202020204"/>
              </a:rPr>
              <a:t> (program lifecycle &amp; delivery focus)</a:t>
            </a:r>
            <a:endParaRPr lang="en-CA" sz="8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</a:endParaRPr>
          </a:p>
          <a:p>
            <a:pPr marL="107950" indent="-107950">
              <a:spcBef>
                <a:spcPts val="500"/>
              </a:spcBef>
              <a:buFont typeface="Wingdings"/>
              <a:buChar char="Ø"/>
              <a:defRPr/>
            </a:pP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Priority &amp; Risk Management​</a:t>
            </a:r>
            <a:r>
              <a:rPr lang="en-CA" sz="850" kern="0">
                <a:solidFill>
                  <a:srgbClr val="FF0000"/>
                </a:solidFill>
                <a:latin typeface="Arial" panose="020B0604020202020204"/>
              </a:rPr>
              <a:t> (operational)</a:t>
            </a:r>
            <a:endParaRPr lang="en-CA" sz="85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cs typeface="Arial" panose="020B0604020202020204"/>
            </a:endParaRPr>
          </a:p>
          <a:p>
            <a:pPr marL="107950" indent="-107950">
              <a:spcBef>
                <a:spcPts val="500"/>
              </a:spcBef>
              <a:buFont typeface="Wingdings"/>
              <a:buChar char="Ø"/>
              <a:defRPr/>
            </a:pPr>
            <a:r>
              <a:rPr lang="en-CA" sz="850" kern="0">
                <a:solidFill>
                  <a:srgbClr val="000000"/>
                </a:solidFill>
                <a:latin typeface="Arial" panose="020B0604020202020204"/>
              </a:rPr>
              <a:t>Program Cost</a:t>
            </a: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Structure</a:t>
            </a:r>
            <a:r>
              <a:rPr lang="en-CA" sz="850" kern="0">
                <a:solidFill>
                  <a:srgbClr val="000000"/>
                </a:solidFill>
                <a:latin typeface="Arial" panose="020B0604020202020204"/>
              </a:rPr>
              <a:t>, </a:t>
            </a: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Control</a:t>
            </a:r>
            <a:r>
              <a:rPr lang="en-CA" sz="850" kern="0">
                <a:solidFill>
                  <a:srgbClr val="000000"/>
                </a:solidFill>
                <a:latin typeface="Arial" panose="020B0604020202020204"/>
              </a:rPr>
              <a:t> &amp; optimization</a:t>
            </a:r>
            <a:endParaRPr kumimoji="0" lang="en-CA" sz="8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/>
            </a:endParaRPr>
          </a:p>
          <a:p>
            <a:pPr marL="107950" indent="-107950">
              <a:spcBef>
                <a:spcPts val="500"/>
              </a:spcBef>
              <a:buFont typeface="Wingdings"/>
              <a:buChar char="Ø"/>
              <a:defRPr/>
            </a:pP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Program Lifecycle </a:t>
            </a:r>
            <a:r>
              <a:rPr lang="en-CA" sz="850" kern="0">
                <a:solidFill>
                  <a:srgbClr val="FF0000"/>
                </a:solidFill>
                <a:latin typeface="Arial" panose="020B0604020202020204"/>
              </a:rPr>
              <a:t>management (RLPM)</a:t>
            </a:r>
            <a:endParaRPr lang="en-CA" sz="85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cs typeface="Arial"/>
            </a:endParaRPr>
          </a:p>
          <a:p>
            <a:pPr marL="107950" indent="-107950">
              <a:spcBef>
                <a:spcPts val="500"/>
              </a:spcBef>
              <a:buFont typeface="Wingdings"/>
              <a:buChar char="Ø"/>
              <a:defRPr/>
            </a:pPr>
            <a:r>
              <a:rPr lang="en-CA" sz="850" kern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/>
              </a:rPr>
              <a:t>Engineering Integration &amp; Technology Leadership (IPT based)</a:t>
            </a:r>
            <a:endParaRPr lang="en-CA" sz="8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panose="020B0604020202020204"/>
              <a:cs typeface="Arial"/>
            </a:endParaRPr>
          </a:p>
          <a:p>
            <a:pPr marL="107950" marR="0" lvl="0" indent="-1079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/>
              <a:buChar char="Ø"/>
              <a:tabLst/>
              <a:defRPr/>
            </a:pP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Budget </a:t>
            </a:r>
            <a:r>
              <a:rPr lang="en-CA" sz="850" kern="0">
                <a:solidFill>
                  <a:srgbClr val="000000"/>
                </a:solidFill>
                <a:latin typeface="Arial" panose="020B0604020202020204"/>
              </a:rPr>
              <a:t>management</a:t>
            </a:r>
            <a:endParaRPr lang="en-CA" sz="8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EB57CB6D-9765-13E9-D203-E4BA808A6405}"/>
              </a:ext>
            </a:extLst>
          </p:cNvPr>
          <p:cNvSpPr/>
          <p:nvPr/>
        </p:nvSpPr>
        <p:spPr>
          <a:xfrm>
            <a:off x="3097118" y="1554659"/>
            <a:ext cx="1403998" cy="3614559"/>
          </a:xfrm>
          <a:prstGeom prst="rect">
            <a:avLst/>
          </a:prstGeom>
          <a:solidFill>
            <a:srgbClr val="FFFFFF">
              <a:lumMod val="85000"/>
            </a:srgbClr>
          </a:solidFill>
          <a:ln w="12700" cap="flat" cmpd="sng" algn="ctr">
            <a:solidFill>
              <a:srgbClr val="B9B9B1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t"/>
          <a:lstStyle/>
          <a:p>
            <a:pPr marL="107950" marR="0" lvl="0" indent="-1079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/>
              <a:buChar char="Ø"/>
              <a:tabLst/>
              <a:defRPr/>
            </a:pP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Program / Project </a:t>
            </a:r>
            <a:r>
              <a:rPr lang="en-CA" sz="850" kern="0" noProof="0">
                <a:solidFill>
                  <a:srgbClr val="FF0000"/>
                </a:solidFill>
                <a:latin typeface="Arial" panose="020B0604020202020204"/>
              </a:rPr>
              <a:t>c</a:t>
            </a: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oordination</a:t>
            </a:r>
            <a:endParaRPr lang="en-US">
              <a:solidFill>
                <a:srgbClr val="FF0000"/>
              </a:solidFill>
              <a:cs typeface="Arial"/>
            </a:endParaRPr>
          </a:p>
          <a:p>
            <a:pPr marL="107950" marR="0" lvl="0" indent="-1079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/>
              <a:buChar char="Ø"/>
              <a:tabLst/>
              <a:defRPr/>
            </a:pP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Customer Focus​</a:t>
            </a:r>
            <a:r>
              <a:rPr lang="en-CA" sz="850" kern="0">
                <a:solidFill>
                  <a:srgbClr val="FF0000"/>
                </a:solidFill>
                <a:latin typeface="Arial" panose="020B0604020202020204"/>
              </a:rPr>
              <a:t>(internal)</a:t>
            </a:r>
            <a:endParaRPr lang="en-CA" sz="85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cs typeface="Arial" panose="020B0604020202020204"/>
            </a:endParaRPr>
          </a:p>
          <a:p>
            <a:pPr marL="107950" marR="0" lvl="0" indent="-1079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/>
              <a:buChar char="Ø"/>
              <a:tabLst/>
              <a:defRPr/>
            </a:pP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Operations business processes​ </a:t>
            </a:r>
            <a:r>
              <a:rPr lang="en-CA" sz="850" kern="0">
                <a:solidFill>
                  <a:srgbClr val="000000"/>
                </a:solidFill>
                <a:latin typeface="Arial" panose="020B0604020202020204"/>
              </a:rPr>
              <a:t>expertise</a:t>
            </a:r>
            <a:endParaRPr lang="en-CA" sz="8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Arial"/>
            </a:endParaRPr>
          </a:p>
          <a:p>
            <a:pPr marL="107950" indent="-107950">
              <a:spcBef>
                <a:spcPts val="500"/>
              </a:spcBef>
              <a:buFont typeface="Wingdings"/>
              <a:buChar char="Ø"/>
              <a:defRPr/>
            </a:pPr>
            <a:r>
              <a:rPr lang="en-CA" sz="850" kern="0">
                <a:solidFill>
                  <a:srgbClr val="FF0000"/>
                </a:solidFill>
                <a:latin typeface="Arial" panose="020B0604020202020204"/>
              </a:rPr>
              <a:t>Collaborative cross-functional leadership &amp; Stakeholder reporting alignment</a:t>
            </a:r>
            <a:endParaRPr lang="en-CA" sz="85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cs typeface="Arial" panose="020B0604020202020204"/>
            </a:endParaRPr>
          </a:p>
          <a:p>
            <a:pPr marL="107950" marR="0" lvl="0" indent="-1079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/>
              <a:buChar char="Ø"/>
              <a:tabLst/>
              <a:defRPr/>
            </a:pP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Product Configuration Knowledge​</a:t>
            </a:r>
            <a:endParaRPr kumimoji="0" lang="en-CA" sz="8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/>
            </a:endParaRPr>
          </a:p>
          <a:p>
            <a:pPr marL="107950" marR="0" lvl="0" indent="-1079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/>
              <a:buChar char="Ø"/>
              <a:tabLst/>
              <a:defRPr/>
            </a:pP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Process, Compliance &amp; Documentation Control​</a:t>
            </a:r>
            <a:endParaRPr lang="en-CA" sz="8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</a:endParaRPr>
          </a:p>
          <a:p>
            <a:pPr marL="107950" marR="0" lvl="0" indent="-1079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/>
              <a:buChar char="Ø"/>
              <a:tabLst/>
              <a:defRPr/>
            </a:pP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Budget Ownership &amp; Financial Accountability</a:t>
            </a:r>
            <a:r>
              <a:rPr kumimoji="0" lang="en-CA" sz="7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​</a:t>
            </a:r>
            <a:endParaRPr lang="en-CA" sz="7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0FDA96B6-4254-96A8-280C-98CACC4EEE1B}"/>
              </a:ext>
            </a:extLst>
          </p:cNvPr>
          <p:cNvSpPr/>
          <p:nvPr/>
        </p:nvSpPr>
        <p:spPr>
          <a:xfrm>
            <a:off x="4587158" y="1554659"/>
            <a:ext cx="1477627" cy="3614559"/>
          </a:xfrm>
          <a:prstGeom prst="rect">
            <a:avLst/>
          </a:prstGeom>
          <a:solidFill>
            <a:srgbClr val="FFFFFF">
              <a:lumMod val="85000"/>
            </a:srgbClr>
          </a:solidFill>
          <a:ln w="12700" cap="flat" cmpd="sng" algn="ctr">
            <a:solidFill>
              <a:srgbClr val="B9B9B1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t"/>
          <a:lstStyle/>
          <a:p>
            <a:pPr marL="171450" indent="-171450">
              <a:spcBef>
                <a:spcPts val="500"/>
              </a:spcBef>
              <a:buFont typeface="Wingdings" panose="05000000000000000000" pitchFamily="2" charset="2"/>
              <a:buChar char="Ø"/>
              <a:defRPr/>
            </a:pPr>
            <a:r>
              <a:rPr lang="en-CA" sz="800" kern="0">
                <a:solidFill>
                  <a:srgbClr val="000000"/>
                </a:solidFill>
                <a:latin typeface="Arial" panose="020B0604020202020204"/>
              </a:rPr>
              <a:t>Ownership &amp; Governance of Production Readiness Process</a:t>
            </a:r>
            <a:endParaRPr lang="en-CA" sz="800" kern="0">
              <a:solidFill>
                <a:srgbClr val="000000"/>
              </a:solidFill>
              <a:latin typeface="Arial" panose="020B0604020202020204"/>
              <a:cs typeface="Arial"/>
            </a:endParaRPr>
          </a:p>
          <a:p>
            <a:pPr marL="171450" indent="-171450">
              <a:spcBef>
                <a:spcPts val="500"/>
              </a:spcBef>
              <a:buFont typeface="Wingdings" panose="05000000000000000000" pitchFamily="2" charset="2"/>
              <a:buChar char="Ø"/>
              <a:defRPr/>
            </a:pPr>
            <a:r>
              <a:rPr lang="en-CA" sz="800" kern="0">
                <a:solidFill>
                  <a:srgbClr val="000000"/>
                </a:solidFill>
                <a:latin typeface="Arial" panose="020B0604020202020204"/>
              </a:rPr>
              <a:t>Proficiency in MRL Processes &amp; Tools </a:t>
            </a:r>
            <a:endParaRPr lang="en-CA" sz="800" kern="0">
              <a:solidFill>
                <a:srgbClr val="000000"/>
              </a:solidFill>
              <a:latin typeface="Arial" panose="020B0604020202020204"/>
              <a:cs typeface="Arial"/>
            </a:endParaRPr>
          </a:p>
          <a:p>
            <a:pPr marL="171450" indent="-171450">
              <a:spcBef>
                <a:spcPts val="500"/>
              </a:spcBef>
              <a:buFont typeface="Wingdings" panose="05000000000000000000" pitchFamily="2" charset="2"/>
              <a:buChar char="Ø"/>
              <a:defRPr/>
            </a:pPr>
            <a:r>
              <a:rPr lang="en-CA" sz="800" kern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/>
              </a:rPr>
              <a:t>Understanding of operational &amp; engineering practices</a:t>
            </a:r>
            <a:endParaRPr lang="en-CA" sz="800" kern="0">
              <a:solidFill>
                <a:srgbClr val="000000"/>
              </a:solidFill>
              <a:highlight>
                <a:srgbClr val="FFFF00"/>
              </a:highlight>
              <a:latin typeface="Arial" panose="020B0604020202020204"/>
              <a:cs typeface="Arial"/>
            </a:endParaRPr>
          </a:p>
          <a:p>
            <a:pPr marL="171450" indent="-171450">
              <a:spcBef>
                <a:spcPts val="500"/>
              </a:spcBef>
              <a:buFont typeface="Wingdings" panose="05000000000000000000" pitchFamily="2" charset="2"/>
              <a:buChar char="Ø"/>
              <a:defRPr/>
            </a:pPr>
            <a:r>
              <a:rPr lang="en-CA" sz="800" kern="0">
                <a:solidFill>
                  <a:srgbClr val="000000"/>
                </a:solidFill>
                <a:latin typeface="Arial" panose="020B0604020202020204"/>
              </a:rPr>
              <a:t>Cost-Conscious Decision Making</a:t>
            </a:r>
            <a:endParaRPr lang="en-CA" sz="800" kern="0">
              <a:solidFill>
                <a:srgbClr val="000000"/>
              </a:solidFill>
              <a:latin typeface="Arial" panose="020B0604020202020204"/>
              <a:cs typeface="Arial"/>
            </a:endParaRPr>
          </a:p>
          <a:p>
            <a:pPr marL="171450" indent="-171450">
              <a:spcBef>
                <a:spcPts val="500"/>
              </a:spcBef>
              <a:buFont typeface="Wingdings" panose="05000000000000000000" pitchFamily="2" charset="2"/>
              <a:buChar char="Ø"/>
              <a:defRPr/>
            </a:pPr>
            <a:r>
              <a:rPr lang="en-CA" sz="800" kern="0">
                <a:solidFill>
                  <a:srgbClr val="FF0000"/>
                </a:solidFill>
                <a:latin typeface="Arial" panose="020B0604020202020204"/>
                <a:cs typeface="Arial"/>
              </a:rPr>
              <a:t>Priority &amp; Risk Management  (operational)</a:t>
            </a:r>
            <a:endParaRPr lang="en-CA" sz="85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cs typeface="Arial"/>
            </a:endParaRPr>
          </a:p>
          <a:p>
            <a:pPr marL="171450" indent="-171450">
              <a:spcBef>
                <a:spcPts val="500"/>
              </a:spcBef>
              <a:buFont typeface="Wingdings" panose="05000000000000000000" pitchFamily="2" charset="2"/>
              <a:buChar char="Ø"/>
              <a:defRPr/>
            </a:pPr>
            <a:r>
              <a:rPr lang="en-CA" sz="800" kern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RLPM Expertise</a:t>
            </a:r>
          </a:p>
          <a:p>
            <a:pPr marL="171450" indent="-171450">
              <a:spcBef>
                <a:spcPts val="500"/>
              </a:spcBef>
              <a:buFont typeface="Wingdings" panose="05000000000000000000" pitchFamily="2" charset="2"/>
              <a:buChar char="Ø"/>
              <a:defRPr/>
            </a:pPr>
            <a:r>
              <a:rPr lang="en-CA" sz="800" kern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Cross functional proficiency in interfacing departments Procedures &amp; Policies</a:t>
            </a:r>
          </a:p>
          <a:p>
            <a:pPr marL="171450" indent="-171450">
              <a:spcBef>
                <a:spcPts val="500"/>
              </a:spcBef>
              <a:buFont typeface="Wingdings" panose="05000000000000000000" pitchFamily="2" charset="2"/>
              <a:buChar char="Ø"/>
              <a:defRPr/>
            </a:pPr>
            <a:r>
              <a:rPr lang="en-CA" sz="800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Cross functional project/ program  industrialization (MRL) coordination &amp; leadership</a:t>
            </a:r>
          </a:p>
          <a:p>
            <a:pPr marL="171450" indent="-171450">
              <a:spcBef>
                <a:spcPts val="500"/>
              </a:spcBef>
              <a:buFont typeface="Wingdings" panose="05000000000000000000" pitchFamily="2" charset="2"/>
              <a:buChar char="Ø"/>
              <a:defRPr/>
            </a:pPr>
            <a:endParaRPr lang="en-CA" sz="800" kern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  <a:p>
            <a:pPr marL="171450" indent="-171450">
              <a:spcBef>
                <a:spcPts val="500"/>
              </a:spcBef>
              <a:buFont typeface="Wingdings" panose="05000000000000000000" pitchFamily="2" charset="2"/>
              <a:buChar char="Ø"/>
              <a:defRPr/>
            </a:pPr>
            <a:endParaRPr lang="en-CA" sz="800" kern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  <a:p>
            <a:pPr marL="107950" indent="-107950">
              <a:spcBef>
                <a:spcPts val="500"/>
              </a:spcBef>
              <a:buFont typeface="Wingdings"/>
              <a:buChar char="Ø"/>
              <a:defRPr/>
            </a:pPr>
            <a:endParaRPr lang="en-CA" sz="850" kern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BF9D0E27-62B4-4D06-7A1E-B7E4719C8484}"/>
              </a:ext>
            </a:extLst>
          </p:cNvPr>
          <p:cNvSpPr/>
          <p:nvPr/>
        </p:nvSpPr>
        <p:spPr>
          <a:xfrm>
            <a:off x="6142890" y="1554659"/>
            <a:ext cx="1403997" cy="3614559"/>
          </a:xfrm>
          <a:prstGeom prst="rect">
            <a:avLst/>
          </a:prstGeom>
          <a:solidFill>
            <a:srgbClr val="FFFFFF">
              <a:lumMod val="85000"/>
            </a:srgbClr>
          </a:solidFill>
          <a:ln w="12700" cap="flat" cmpd="sng" algn="ctr">
            <a:solidFill>
              <a:srgbClr val="B9B9B1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t"/>
          <a:lstStyle/>
          <a:p>
            <a:pPr marL="107950" marR="0" lvl="0" indent="-1079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/>
              <a:buChar char="Ø"/>
              <a:tabLst/>
              <a:defRPr/>
            </a:pP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</a:rPr>
              <a:t>Digital Fluency in Process &amp; Tools </a:t>
            </a:r>
            <a:endParaRPr lang="en-CA" sz="8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</a:endParaRPr>
          </a:p>
          <a:p>
            <a:pPr marL="107950" marR="0" lvl="0" indent="-1079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/>
              <a:buChar char="Ø"/>
              <a:tabLst/>
              <a:defRPr/>
            </a:pP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Process, Compliance &amp; Documentation Control​</a:t>
            </a:r>
            <a:endParaRPr lang="en-CA" sz="8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</a:endParaRPr>
          </a:p>
          <a:p>
            <a:pPr marL="107950" indent="-107950">
              <a:spcBef>
                <a:spcPts val="500"/>
              </a:spcBef>
              <a:buFont typeface="Wingdings"/>
              <a:buChar char="Ø"/>
              <a:defRPr/>
            </a:pP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Cost Structure &amp; Control​</a:t>
            </a:r>
            <a:endParaRPr lang="en-CA" sz="8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</a:endParaRPr>
          </a:p>
          <a:p>
            <a:pPr marL="107950" indent="-107950">
              <a:spcBef>
                <a:spcPts val="500"/>
              </a:spcBef>
              <a:buFont typeface="Wingdings"/>
              <a:buChar char="Ø"/>
              <a:defRPr/>
            </a:pPr>
            <a:r>
              <a:rPr lang="en-CA" sz="850" kern="0" noProof="0">
                <a:solidFill>
                  <a:srgbClr val="000000"/>
                </a:solidFill>
                <a:latin typeface="Arial" panose="020B0604020202020204"/>
                <a:cs typeface="Arial"/>
              </a:rPr>
              <a:t>Budget Ownership and Financial Accountability </a:t>
            </a:r>
            <a:endParaRPr lang="en-CA" sz="850" kern="0" noProof="0">
              <a:solidFill>
                <a:srgbClr val="000000"/>
              </a:solidFill>
              <a:latin typeface="Arial" panose="020B0604020202020204"/>
            </a:endParaRPr>
          </a:p>
          <a:p>
            <a:pPr marL="107950" indent="-107950">
              <a:spcBef>
                <a:spcPts val="500"/>
              </a:spcBef>
              <a:buFont typeface="Wingdings"/>
              <a:buChar char="Ø"/>
              <a:defRPr/>
            </a:pPr>
            <a:endParaRPr lang="en-CA" sz="850" kern="0">
              <a:solidFill>
                <a:srgbClr val="000000"/>
              </a:solidFill>
              <a:cs typeface="Arial"/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80D38DED-B71C-8644-C11D-84D525345917}"/>
              </a:ext>
            </a:extLst>
          </p:cNvPr>
          <p:cNvSpPr/>
          <p:nvPr/>
        </p:nvSpPr>
        <p:spPr>
          <a:xfrm>
            <a:off x="7624992" y="1554659"/>
            <a:ext cx="1403997" cy="3614559"/>
          </a:xfrm>
          <a:prstGeom prst="rect">
            <a:avLst/>
          </a:prstGeom>
          <a:solidFill>
            <a:srgbClr val="FFFFFF">
              <a:lumMod val="85000"/>
            </a:srgbClr>
          </a:solidFill>
          <a:ln w="12700" cap="flat" cmpd="sng" algn="ctr">
            <a:solidFill>
              <a:srgbClr val="B9B9B1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t"/>
          <a:lstStyle/>
          <a:p>
            <a:pPr marL="107950" indent="-107950">
              <a:spcBef>
                <a:spcPts val="500"/>
              </a:spcBef>
              <a:buFont typeface="Wingdings"/>
              <a:buChar char="Ø"/>
              <a:defRPr/>
            </a:pPr>
            <a:r>
              <a:rPr lang="en-CA" sz="900" kern="0">
                <a:solidFill>
                  <a:srgbClr val="000000"/>
                </a:solidFill>
              </a:rPr>
              <a:t>CORE proficiency</a:t>
            </a:r>
            <a:endParaRPr lang="en-US"/>
          </a:p>
          <a:p>
            <a:pPr marL="107950" lvl="0" indent="-107950">
              <a:spcBef>
                <a:spcPts val="500"/>
              </a:spcBef>
              <a:buFont typeface="Wingdings"/>
              <a:buChar char="Ø"/>
              <a:defRPr/>
            </a:pPr>
            <a:r>
              <a:rPr lang="en-CA" sz="900" kern="0">
                <a:solidFill>
                  <a:srgbClr val="000000"/>
                </a:solidFill>
              </a:rPr>
              <a:t>QMS, Regulatory Compliance &amp; Industry Standards</a:t>
            </a:r>
            <a:endParaRPr lang="en-CA" sz="900" kern="0">
              <a:solidFill>
                <a:srgbClr val="000000"/>
              </a:solidFill>
              <a:cs typeface="Arial"/>
            </a:endParaRPr>
          </a:p>
          <a:p>
            <a:pPr marL="107950" lvl="0" indent="-107950">
              <a:spcBef>
                <a:spcPts val="500"/>
              </a:spcBef>
              <a:buFont typeface="Wingdings"/>
              <a:buChar char="Ø"/>
              <a:defRPr/>
            </a:pPr>
            <a:r>
              <a:rPr lang="en-CA" sz="900" kern="0">
                <a:solidFill>
                  <a:srgbClr val="000000"/>
                </a:solidFill>
              </a:rPr>
              <a:t>Processes, Documentation &amp; Records practices</a:t>
            </a:r>
            <a:endParaRPr lang="en-CA" sz="900" kern="0">
              <a:solidFill>
                <a:srgbClr val="000000"/>
              </a:solidFill>
              <a:cs typeface="Arial" panose="020B0604020202020204"/>
            </a:endParaRPr>
          </a:p>
          <a:p>
            <a:pPr marL="107950" lvl="0" indent="-107950">
              <a:spcBef>
                <a:spcPts val="500"/>
              </a:spcBef>
              <a:buFont typeface="Wingdings"/>
              <a:buChar char="Ø"/>
              <a:defRPr/>
            </a:pPr>
            <a:r>
              <a:rPr lang="en-CA" sz="900" kern="0">
                <a:solidFill>
                  <a:srgbClr val="FF0000"/>
                </a:solidFill>
              </a:rPr>
              <a:t>Project Management​</a:t>
            </a:r>
            <a:endParaRPr lang="en-CA" sz="900" kern="0">
              <a:solidFill>
                <a:srgbClr val="FF0000"/>
              </a:solidFill>
              <a:cs typeface="Arial"/>
            </a:endParaRPr>
          </a:p>
          <a:p>
            <a:pPr marL="107950" lvl="0" indent="-107950">
              <a:spcBef>
                <a:spcPts val="500"/>
              </a:spcBef>
              <a:buFont typeface="Wingdings"/>
              <a:buChar char="Ø"/>
              <a:defRPr/>
            </a:pPr>
            <a:r>
              <a:rPr lang="en-CA" sz="900" kern="0">
                <a:solidFill>
                  <a:srgbClr val="000000"/>
                </a:solidFill>
              </a:rPr>
              <a:t>DT strategy &amp; implementation</a:t>
            </a:r>
            <a:endParaRPr lang="en-CA" sz="900" kern="0">
              <a:solidFill>
                <a:srgbClr val="000000"/>
              </a:solidFill>
              <a:cs typeface="Arial"/>
            </a:endParaRPr>
          </a:p>
          <a:p>
            <a:pPr marL="107950" indent="-107950">
              <a:spcBef>
                <a:spcPts val="500"/>
              </a:spcBef>
              <a:buFont typeface="Wingdings"/>
              <a:buChar char="Ø"/>
              <a:defRPr/>
            </a:pPr>
            <a:r>
              <a:rPr lang="en-CA" sz="900" kern="0">
                <a:solidFill>
                  <a:srgbClr val="000000"/>
                </a:solidFill>
              </a:rPr>
              <a:t>Change Management, Training &amp; Capability Building</a:t>
            </a:r>
            <a:endParaRPr lang="en-CA" sz="900" kern="0">
              <a:solidFill>
                <a:srgbClr val="000000"/>
              </a:solidFill>
              <a:cs typeface="Arial"/>
            </a:endParaRPr>
          </a:p>
          <a:p>
            <a:pPr marL="107950" lvl="0" indent="-107950">
              <a:spcBef>
                <a:spcPts val="500"/>
              </a:spcBef>
              <a:buFont typeface="Wingdings"/>
              <a:buChar char="Ø"/>
              <a:defRPr/>
            </a:pPr>
            <a:endParaRPr lang="en-CA" sz="900" kern="0">
              <a:solidFill>
                <a:srgbClr val="FF0000"/>
              </a:solidFill>
              <a:cs typeface="Arial"/>
            </a:endParaRP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56D5E776-D611-6E6D-BF74-50094D02E310}"/>
              </a:ext>
            </a:extLst>
          </p:cNvPr>
          <p:cNvSpPr/>
          <p:nvPr/>
        </p:nvSpPr>
        <p:spPr>
          <a:xfrm>
            <a:off x="10540652" y="1554659"/>
            <a:ext cx="1498974" cy="3614559"/>
          </a:xfrm>
          <a:prstGeom prst="rect">
            <a:avLst/>
          </a:prstGeom>
          <a:solidFill>
            <a:srgbClr val="FFFFFF">
              <a:lumMod val="85000"/>
            </a:srgbClr>
          </a:solidFill>
          <a:ln w="12700" cap="flat" cmpd="sng" algn="ctr">
            <a:solidFill>
              <a:srgbClr val="B9B9B1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t"/>
          <a:lstStyle/>
          <a:p>
            <a:pPr marL="171450" indent="-171450">
              <a:spcBef>
                <a:spcPts val="500"/>
              </a:spcBef>
              <a:buFont typeface="Wingdings"/>
              <a:buChar char="Ø"/>
              <a:defRPr/>
            </a:pPr>
            <a:r>
              <a:rPr lang="en-CA" sz="850" kern="0" noProof="0">
                <a:solidFill>
                  <a:srgbClr val="000000"/>
                </a:solidFill>
              </a:rPr>
              <a:t>Manufacturing and Production </a:t>
            </a:r>
            <a:r>
              <a:rPr lang="en-CA" sz="850" kern="0">
                <a:solidFill>
                  <a:srgbClr val="000000"/>
                </a:solidFill>
              </a:rPr>
              <a:t>Readiness Governance</a:t>
            </a:r>
            <a:r>
              <a:rPr lang="en-CA" sz="850" kern="0">
                <a:solidFill>
                  <a:srgbClr val="000000"/>
                </a:solidFill>
                <a:latin typeface="Arial" panose="020B0604020202020204"/>
                <a:cs typeface="Arial"/>
              </a:rPr>
              <a:t> for Partners</a:t>
            </a:r>
            <a:endParaRPr lang="en-CA" sz="850" kern="0">
              <a:solidFill>
                <a:srgbClr val="FF0000"/>
              </a:solidFill>
              <a:latin typeface="Arial" panose="020B0604020202020204"/>
              <a:cs typeface="Arial"/>
            </a:endParaRPr>
          </a:p>
          <a:p>
            <a:pPr marL="107950" indent="-107950">
              <a:spcBef>
                <a:spcPts val="500"/>
              </a:spcBef>
              <a:buFont typeface="Wingdings"/>
              <a:buChar char="Ø"/>
              <a:defRPr/>
            </a:pPr>
            <a:r>
              <a:rPr lang="en-CA" sz="850" kern="0">
                <a:solidFill>
                  <a:srgbClr val="000000"/>
                </a:solidFill>
                <a:latin typeface="Arial" panose="020B0604020202020204"/>
                <a:cs typeface="Arial"/>
              </a:rPr>
              <a:t>Quality (QAP / QMS) governance for Partners</a:t>
            </a:r>
          </a:p>
          <a:p>
            <a:pPr marL="107950" indent="-107950">
              <a:spcBef>
                <a:spcPts val="500"/>
              </a:spcBef>
              <a:buFont typeface="Wingdings"/>
              <a:buChar char="Ø"/>
              <a:defRPr/>
            </a:pPr>
            <a:r>
              <a:rPr lang="en-CA" sz="850" kern="0">
                <a:latin typeface="Arial" panose="020B0604020202020204"/>
              </a:rPr>
              <a:t> Modules configuration knowledge for delivery requirements</a:t>
            </a:r>
            <a:endParaRPr lang="en-CA" sz="85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/>
              <a:cs typeface="Arial" panose="020B0604020202020204"/>
            </a:endParaRPr>
          </a:p>
          <a:p>
            <a:pPr marL="107950" indent="-107950">
              <a:spcBef>
                <a:spcPts val="500"/>
              </a:spcBef>
              <a:buFont typeface="Wingdings"/>
              <a:buChar char="Ø"/>
              <a:defRPr/>
            </a:pPr>
            <a:endParaRPr lang="en-CA" sz="850" kern="0">
              <a:solidFill>
                <a:srgbClr val="000000"/>
              </a:solidFill>
              <a:highlight>
                <a:srgbClr val="00FFFF"/>
              </a:highlight>
              <a:cs typeface="Arial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CA" sz="850" b="0" i="0" u="none" strike="noStrike" kern="0" cap="none" spc="0" normalizeH="0" baseline="0" noProof="0">
              <a:ln>
                <a:noFill/>
              </a:ln>
              <a:solidFill>
                <a:srgbClr val="00B050"/>
              </a:solidFill>
              <a:effectLst/>
              <a:highlight>
                <a:srgbClr val="FFFF00"/>
              </a:highlight>
              <a:uLnTx/>
              <a:uFillTx/>
              <a:latin typeface="Arial" panose="020B0604020202020204"/>
              <a:cs typeface="Arial"/>
            </a:endParaRPr>
          </a:p>
          <a:p>
            <a:pPr marL="107950" marR="0" lvl="0" indent="-1079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/>
              <a:buChar char="Ø"/>
              <a:tabLst/>
              <a:defRPr/>
            </a:pPr>
            <a:endParaRPr lang="en-CA" sz="8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</a:endParaRPr>
          </a:p>
          <a:p>
            <a:pPr marL="107950" marR="0" lvl="0" indent="-1079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/>
              <a:buChar char="Ø"/>
              <a:tabLst/>
              <a:defRPr/>
            </a:pPr>
            <a:endParaRPr lang="en-CA" sz="8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</a:endParaRPr>
          </a:p>
          <a:p>
            <a:pPr marL="107950" indent="-107950">
              <a:spcBef>
                <a:spcPts val="500"/>
              </a:spcBef>
              <a:buFont typeface="Wingdings"/>
              <a:buChar char="Ø"/>
              <a:defRPr/>
            </a:pPr>
            <a:endParaRPr lang="en-CA" sz="8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</a:endParaRPr>
          </a:p>
          <a:p>
            <a:pPr marL="107950" indent="-107950">
              <a:spcBef>
                <a:spcPts val="500"/>
              </a:spcBef>
              <a:buFont typeface="Wingdings"/>
              <a:buChar char="Ø"/>
              <a:defRPr/>
            </a:pPr>
            <a:endParaRPr lang="en-CA" sz="850" kern="0">
              <a:solidFill>
                <a:srgbClr val="00B050"/>
              </a:solidFill>
              <a:latin typeface="Arial" panose="020B0604020202020204"/>
              <a:cs typeface="Arial" panose="020B0604020202020204"/>
            </a:endParaRPr>
          </a:p>
          <a:p>
            <a:pPr>
              <a:spcBef>
                <a:spcPts val="500"/>
              </a:spcBef>
              <a:defRPr/>
            </a:pPr>
            <a:endParaRPr lang="en-CA" sz="850" kern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70D863BA-2809-AB42-8E84-C9FEEE52AF85}"/>
              </a:ext>
            </a:extLst>
          </p:cNvPr>
          <p:cNvSpPr/>
          <p:nvPr/>
        </p:nvSpPr>
        <p:spPr>
          <a:xfrm>
            <a:off x="9107094" y="1554659"/>
            <a:ext cx="1347514" cy="3614559"/>
          </a:xfrm>
          <a:prstGeom prst="rect">
            <a:avLst/>
          </a:prstGeom>
          <a:solidFill>
            <a:srgbClr val="FFFFFF">
              <a:lumMod val="85000"/>
            </a:srgbClr>
          </a:solidFill>
          <a:ln w="12700" cap="flat" cmpd="sng" algn="ctr">
            <a:solidFill>
              <a:srgbClr val="B9B9B1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t"/>
          <a:lstStyle/>
          <a:p>
            <a:pPr marL="171450" indent="-171450">
              <a:spcBef>
                <a:spcPts val="500"/>
              </a:spcBef>
              <a:buFont typeface="Wingdings"/>
              <a:buChar char="Ø"/>
              <a:defRPr/>
            </a:pP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Chemical </a:t>
            </a:r>
            <a:r>
              <a:rPr lang="en-CA" sz="850" kern="0">
                <a:solidFill>
                  <a:srgbClr val="000000"/>
                </a:solidFill>
                <a:latin typeface="Arial" panose="020B0604020202020204"/>
              </a:rPr>
              <a:t>Knowledge​</a:t>
            </a:r>
          </a:p>
          <a:p>
            <a:pPr marL="107950" indent="-107950">
              <a:spcBef>
                <a:spcPts val="500"/>
              </a:spcBef>
              <a:buFont typeface="Wingdings"/>
              <a:buChar char="Ø"/>
              <a:defRPr/>
            </a:pPr>
            <a:r>
              <a:rPr lang="en-CA" sz="850" kern="0">
                <a:solidFill>
                  <a:srgbClr val="000000"/>
                </a:solidFill>
                <a:latin typeface="Arial" panose="020B0604020202020204"/>
              </a:rPr>
              <a:t>Chemical Regulatory</a:t>
            </a: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Compliance</a:t>
            </a:r>
            <a:r>
              <a:rPr lang="en-CA" sz="850" kern="0" noProof="0">
                <a:solidFill>
                  <a:srgbClr val="000000"/>
                </a:solidFill>
                <a:latin typeface="Arial" panose="020B0604020202020204"/>
                <a:cs typeface="Arial"/>
              </a:rPr>
              <a:t> &amp; </a:t>
            </a: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Risk Assessment​</a:t>
            </a:r>
            <a:endParaRPr lang="en-CA" sz="8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</a:endParaRPr>
          </a:p>
          <a:p>
            <a:pPr marL="107950" marR="0" lvl="0" indent="-1079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Ø"/>
              <a:tabLst/>
              <a:defRPr/>
            </a:pP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Digital Tools for Chemical Compliance​</a:t>
            </a:r>
            <a:endParaRPr lang="en-CA" sz="8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</a:endParaRPr>
          </a:p>
          <a:p>
            <a:pPr>
              <a:spcBef>
                <a:spcPts val="500"/>
              </a:spcBef>
              <a:defRPr/>
            </a:pPr>
            <a:endParaRPr lang="en-CA" sz="850" kern="0" noProof="0">
              <a:solidFill>
                <a:srgbClr val="000000"/>
              </a:solidFill>
              <a:latin typeface="Arial" panose="020B0604020202020204"/>
              <a:cs typeface="Arial"/>
            </a:endParaRPr>
          </a:p>
          <a:p>
            <a:pPr>
              <a:spcBef>
                <a:spcPts val="500"/>
              </a:spcBef>
              <a:defRPr/>
            </a:pPr>
            <a:endParaRPr lang="en-CA" sz="850" kern="0">
              <a:solidFill>
                <a:srgbClr val="000000"/>
              </a:solidFill>
              <a:latin typeface="Arial" panose="020B0604020202020204"/>
              <a:cs typeface="Arial"/>
            </a:endParaRPr>
          </a:p>
          <a:p>
            <a:pPr marL="107950" indent="-107950">
              <a:spcBef>
                <a:spcPts val="500"/>
              </a:spcBef>
              <a:buFont typeface="Wingdings" panose="020B0604020202020204" pitchFamily="34" charset="0"/>
              <a:buChar char="Ø"/>
              <a:defRPr/>
            </a:pPr>
            <a:endParaRPr lang="en-CA" sz="850" kern="0" noProof="0">
              <a:solidFill>
                <a:srgbClr val="000000"/>
              </a:solidFill>
              <a:latin typeface="Arial" panose="020B0604020202020204"/>
              <a:cs typeface="Arial"/>
            </a:endParaRPr>
          </a:p>
          <a:p>
            <a:pPr>
              <a:spcBef>
                <a:spcPts val="500"/>
              </a:spcBef>
              <a:defRPr/>
            </a:pPr>
            <a:endParaRPr lang="en-CA" sz="850" kern="0" noProof="0">
              <a:solidFill>
                <a:srgbClr val="000000"/>
              </a:solidFill>
              <a:latin typeface="Arial" panose="020B0604020202020204"/>
            </a:endParaRPr>
          </a:p>
          <a:p>
            <a:pPr>
              <a:spcBef>
                <a:spcPts val="500"/>
              </a:spcBef>
              <a:defRPr/>
            </a:pPr>
            <a:endParaRPr lang="en-CA" sz="850" kern="0" noProof="0">
              <a:solidFill>
                <a:srgbClr val="000000"/>
              </a:solidFill>
              <a:latin typeface="Arial" panose="020B0604020202020204"/>
            </a:endParaRPr>
          </a:p>
          <a:p>
            <a:pPr marL="107950" indent="-107950">
              <a:spcBef>
                <a:spcPts val="500"/>
              </a:spcBef>
              <a:buFont typeface="Wingdings" panose="020B0604020202020204" pitchFamily="34" charset="0"/>
              <a:buChar char="Ø"/>
              <a:defRPr/>
            </a:pPr>
            <a:endParaRPr lang="en-CA" sz="850" kern="0" noProof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95807A-5259-5CBB-049D-F5955369685D}"/>
              </a:ext>
            </a:extLst>
          </p:cNvPr>
          <p:cNvSpPr/>
          <p:nvPr/>
        </p:nvSpPr>
        <p:spPr>
          <a:xfrm>
            <a:off x="124971" y="5251932"/>
            <a:ext cx="11915276" cy="1077620"/>
          </a:xfrm>
          <a:prstGeom prst="rect">
            <a:avLst/>
          </a:prstGeom>
          <a:solidFill>
            <a:srgbClr val="FFFFFF">
              <a:lumMod val="85000"/>
            </a:srgbClr>
          </a:solidFill>
          <a:ln w="12700" cap="flat" cmpd="sng" algn="ctr">
            <a:solidFill>
              <a:srgbClr val="B9B9B1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t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​</a:t>
            </a:r>
            <a:r>
              <a:rPr lang="en-CA" sz="850" kern="0">
                <a:solidFill>
                  <a:srgbClr val="000000"/>
                </a:solidFill>
                <a:latin typeface="Arial" panose="020B0604020202020204"/>
              </a:rPr>
              <a:t>*</a:t>
            </a:r>
            <a:r>
              <a:rPr kumimoji="0" lang="en-CA" sz="8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Common Disciplines across groups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CA" sz="1000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Project Management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CA" sz="1000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Priority &amp; Risk Management</a:t>
            </a:r>
            <a:endParaRPr lang="en-US" sz="1000" kern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  <a:p>
            <a:pPr marL="171450" indent="-171450">
              <a:spcBef>
                <a:spcPts val="500"/>
              </a:spcBef>
              <a:buFont typeface="Wingdings" panose="05000000000000000000" pitchFamily="2" charset="2"/>
              <a:buChar char="Ø"/>
              <a:defRPr/>
            </a:pPr>
            <a:r>
              <a:rPr lang="en-CA" sz="1000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Communication,</a:t>
            </a:r>
            <a:r>
              <a:rPr lang="en-CA" sz="700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 </a:t>
            </a:r>
            <a:r>
              <a:rPr lang="en-CA" sz="1000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Presentation skills, stakeholders &amp; executive reporting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CA" sz="1000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RLPM (RTX Lifecycle Program Management) expertise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E918B1-8048-4781-D39D-69EC05012B20}"/>
              </a:ext>
            </a:extLst>
          </p:cNvPr>
          <p:cNvSpPr/>
          <p:nvPr/>
        </p:nvSpPr>
        <p:spPr>
          <a:xfrm>
            <a:off x="10522959" y="-2166"/>
            <a:ext cx="1666875" cy="671079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cs typeface="Arial"/>
              </a:rPr>
              <a:t>WIP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9318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55D07-B5F7-E230-8FD5-708406EC0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BE193C-965F-BEBD-0B3F-C3FD5E464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66348"/>
            <a:ext cx="8278368" cy="676653"/>
          </a:xfrm>
        </p:spPr>
        <p:txBody>
          <a:bodyPr/>
          <a:lstStyle/>
          <a:p>
            <a:r>
              <a:rPr lang="en-US"/>
              <a:t>OPO Roles Profile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9BAA0-759A-4C00-86D0-D505B5327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4812283"/>
            <a:ext cx="9144000" cy="80792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lang="en-US" sz="5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>
              <a:defRPr/>
            </a:pPr>
            <a:r>
              <a:rPr lang="en-CA"/>
              <a:t>EXPORT MARKING: (Insert Export Marking) [TO CHANGE GO TO INSERT &gt; HEADER &amp; FOOTER] </a:t>
            </a:r>
            <a:endParaRPr lang="en-US" sz="70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038ACE5-65B6-B8C8-6D9F-667096264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>
              <a:defRPr/>
            </a:pPr>
            <a:fld id="{07165E6F-54ED-4977-A15E-D44BE7238A65}" type="slidenum">
              <a:rPr lang="en-US">
                <a:solidFill>
                  <a:srgbClr val="63666A"/>
                </a:solidFill>
                <a:latin typeface="Arial" panose="020B0604020202020204"/>
              </a:rPr>
              <a:pPr defTabSz="914377">
                <a:defRPr/>
              </a:pPr>
              <a:t>2</a:t>
            </a:fld>
            <a:endParaRPr lang="en-US">
              <a:solidFill>
                <a:srgbClr val="63666A"/>
              </a:solidFill>
              <a:latin typeface="Arial" panose="020B0604020202020204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D1A4992-A3EE-5EC4-9BB3-D2A9ABCCB52F}"/>
              </a:ext>
            </a:extLst>
          </p:cNvPr>
          <p:cNvGrpSpPr/>
          <p:nvPr/>
        </p:nvGrpSpPr>
        <p:grpSpPr>
          <a:xfrm>
            <a:off x="690373" y="1522278"/>
            <a:ext cx="10811255" cy="3945569"/>
            <a:chOff x="517779" y="1121083"/>
            <a:chExt cx="8108441" cy="295917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D3F380E-D958-45DC-0BC1-E82F5B09DAB5}"/>
                </a:ext>
              </a:extLst>
            </p:cNvPr>
            <p:cNvGrpSpPr/>
            <p:nvPr/>
          </p:nvGrpSpPr>
          <p:grpSpPr>
            <a:xfrm>
              <a:off x="517779" y="1121083"/>
              <a:ext cx="8108441" cy="228600"/>
              <a:chOff x="521208" y="1121083"/>
              <a:chExt cx="8108441" cy="22860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78AF302-4183-1D07-32B9-089D830B4F58}"/>
                  </a:ext>
                </a:extLst>
              </p:cNvPr>
              <p:cNvSpPr/>
              <p:nvPr/>
            </p:nvSpPr>
            <p:spPr>
              <a:xfrm>
                <a:off x="521208" y="1121083"/>
                <a:ext cx="1828800" cy="22860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>
                  <a:defRPr/>
                </a:pPr>
                <a:r>
                  <a:rPr lang="fr-CA" sz="1200">
                    <a:solidFill>
                      <a:prstClr val="white"/>
                    </a:solidFill>
                    <a:latin typeface="Arial" panose="020B0604020202020204"/>
                  </a:rPr>
                  <a:t>O</a:t>
                </a:r>
                <a:r>
                  <a:rPr lang="en-US" sz="1200">
                    <a:solidFill>
                      <a:prstClr val="white"/>
                    </a:solidFill>
                    <a:latin typeface="Arial" panose="020B0604020202020204"/>
                  </a:rPr>
                  <a:t>PM Legacy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CDE034A-BA5B-F83E-2C46-890806B7B10F}"/>
                  </a:ext>
                </a:extLst>
              </p:cNvPr>
              <p:cNvSpPr/>
              <p:nvPr/>
            </p:nvSpPr>
            <p:spPr>
              <a:xfrm>
                <a:off x="2614422" y="1121083"/>
                <a:ext cx="1828800" cy="22860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>
                  <a:defRPr/>
                </a:pPr>
                <a:r>
                  <a:rPr lang="en-US" sz="1200">
                    <a:solidFill>
                      <a:prstClr val="white"/>
                    </a:solidFill>
                    <a:latin typeface="Arial" panose="020B0604020202020204"/>
                  </a:rPr>
                  <a:t>OPM NPI</a:t>
                </a: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C69962F-5054-52F4-2019-B0495C306BDE}"/>
                  </a:ext>
                </a:extLst>
              </p:cNvPr>
              <p:cNvSpPr/>
              <p:nvPr/>
            </p:nvSpPr>
            <p:spPr>
              <a:xfrm>
                <a:off x="4707636" y="1121083"/>
                <a:ext cx="1828800" cy="22860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>
                  <a:defRPr/>
                </a:pPr>
                <a:r>
                  <a:rPr lang="en-US" sz="1200">
                    <a:solidFill>
                      <a:prstClr val="white"/>
                    </a:solidFill>
                    <a:latin typeface="Arial" panose="020B0604020202020204"/>
                  </a:rPr>
                  <a:t>OPM Planning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1278E99-FC73-B148-302C-606D2D5F630D}"/>
                  </a:ext>
                </a:extLst>
              </p:cNvPr>
              <p:cNvSpPr/>
              <p:nvPr/>
            </p:nvSpPr>
            <p:spPr>
              <a:xfrm>
                <a:off x="6800849" y="1121083"/>
                <a:ext cx="1828800" cy="22860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>
                  <a:defRPr/>
                </a:pPr>
                <a:r>
                  <a:rPr lang="en-US" sz="1200">
                    <a:solidFill>
                      <a:prstClr val="white"/>
                    </a:solidFill>
                    <a:latin typeface="Arial" panose="020B0604020202020204"/>
                  </a:rPr>
                  <a:t>Production Readiness</a:t>
                </a: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9D14F2-8657-630F-D025-E8B937127ABB}"/>
                </a:ext>
              </a:extLst>
            </p:cNvPr>
            <p:cNvSpPr/>
            <p:nvPr/>
          </p:nvSpPr>
          <p:spPr>
            <a:xfrm>
              <a:off x="517779" y="1380792"/>
              <a:ext cx="3922014" cy="1143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r>
                <a:rPr lang="en-US" sz="667" dirty="0">
                  <a:solidFill>
                    <a:sysClr val="windowText" lastClr="000000"/>
                  </a:solidFill>
                  <a:latin typeface="Arial" panose="020B0604020202020204"/>
                </a:rPr>
                <a:t>Program operations risk management leadership enterprise wide</a:t>
              </a:r>
            </a:p>
            <a:p>
              <a:pPr algn="ctr" defTabSz="914377">
                <a:defRPr/>
              </a:pPr>
              <a:endParaRPr lang="en-US" sz="667" dirty="0">
                <a:solidFill>
                  <a:sysClr val="windowText" lastClr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US" sz="667" dirty="0">
                  <a:solidFill>
                    <a:sysClr val="windowText" lastClr="000000"/>
                  </a:solidFill>
                  <a:latin typeface="Arial" panose="020B0604020202020204"/>
                </a:rPr>
                <a:t>Well established network, knowledge of Program Management processes, R&amp;R, and overall Operations</a:t>
              </a:r>
            </a:p>
            <a:p>
              <a:pPr algn="ctr" defTabSz="914377">
                <a:defRPr/>
              </a:pPr>
              <a:endParaRPr lang="en-US" sz="667" dirty="0">
                <a:solidFill>
                  <a:sysClr val="windowText" lastClr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US" sz="667" dirty="0">
                  <a:solidFill>
                    <a:sysClr val="windowText" lastClr="000000"/>
                  </a:solidFill>
                  <a:latin typeface="Arial" panose="020B0604020202020204"/>
                </a:rPr>
                <a:t>System thinker &amp; Operations liaison with customer, engineering, marketing, aftermarket, and Ops Business Units</a:t>
              </a:r>
            </a:p>
            <a:p>
              <a:pPr algn="ctr" defTabSz="914377">
                <a:defRPr/>
              </a:pPr>
              <a:endParaRPr lang="en-US" sz="667" dirty="0">
                <a:solidFill>
                  <a:sysClr val="windowText" lastClr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US" sz="667" dirty="0">
                  <a:solidFill>
                    <a:sysClr val="windowText" lastClr="000000"/>
                  </a:solidFill>
                  <a:latin typeface="Arial" panose="020B0604020202020204"/>
                </a:rPr>
                <a:t>Ability to adequately support PMMT, PMT structure; coach for new OPEs</a:t>
              </a:r>
            </a:p>
            <a:p>
              <a:pPr algn="ctr" defTabSz="914377">
                <a:defRPr/>
              </a:pPr>
              <a:endParaRPr lang="en-US" sz="667" dirty="0">
                <a:solidFill>
                  <a:sysClr val="windowText" lastClr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US" sz="667" dirty="0">
                  <a:solidFill>
                    <a:sysClr val="windowText" lastClr="000000"/>
                  </a:solidFill>
                  <a:latin typeface="Arial" panose="020B0604020202020204"/>
                </a:rPr>
                <a:t>Great communicator, “boardroom ready”; experience in management 10-15 years</a:t>
              </a:r>
            </a:p>
            <a:p>
              <a:pPr algn="ctr" defTabSz="914377">
                <a:defRPr/>
              </a:pPr>
              <a:endParaRPr lang="en-US" sz="667" dirty="0">
                <a:solidFill>
                  <a:sysClr val="windowText" lastClr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US" sz="667" dirty="0">
                  <a:solidFill>
                    <a:sysClr val="windowText" lastClr="000000"/>
                  </a:solidFill>
                  <a:latin typeface="Arial" panose="020B0604020202020204"/>
                </a:rPr>
                <a:t>Extensive operational knowledge (SM, manufacturing, engine center, engineering)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E523E1-DDAF-E37C-1D45-AF7E701E6CED}"/>
                </a:ext>
              </a:extLst>
            </p:cNvPr>
            <p:cNvSpPr/>
            <p:nvPr/>
          </p:nvSpPr>
          <p:spPr>
            <a:xfrm>
              <a:off x="4704207" y="1380792"/>
              <a:ext cx="1828800" cy="1143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r>
                <a:rPr lang="en-US" sz="667">
                  <a:solidFill>
                    <a:srgbClr val="000000"/>
                  </a:solidFill>
                  <a:latin typeface="Arial" panose="020B0604020202020204"/>
                </a:rPr>
                <a:t>Monitor and report BOM changes and approval flows + procurement activities involving RFQ and material shortages impacting engine deliveries</a:t>
              </a:r>
            </a:p>
            <a:p>
              <a:pPr algn="ctr" defTabSz="914377">
                <a:defRPr/>
              </a:pPr>
              <a:endParaRPr lang="en-US" sz="667">
                <a:solidFill>
                  <a:srgbClr val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US" sz="667">
                  <a:solidFill>
                    <a:srgbClr val="000000"/>
                  </a:solidFill>
                  <a:latin typeface="Arial" panose="020B0604020202020204"/>
                </a:rPr>
                <a:t>Place production and engineering demand + manage priority at receiving and inspection to clear material and reduce engine delivery impact</a:t>
              </a:r>
            </a:p>
            <a:p>
              <a:pPr algn="ctr" defTabSz="914377">
                <a:defRPr/>
              </a:pPr>
              <a:endParaRPr lang="en-US" sz="667">
                <a:solidFill>
                  <a:srgbClr val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US" sz="667">
                  <a:solidFill>
                    <a:srgbClr val="000000"/>
                  </a:solidFill>
                  <a:latin typeface="Arial" panose="020B0604020202020204"/>
                </a:rPr>
                <a:t>Create and monitor procurement requests</a:t>
              </a:r>
            </a:p>
            <a:p>
              <a:pPr algn="ctr" defTabSz="914377">
                <a:defRPr/>
              </a:pPr>
              <a:endParaRPr lang="en-US" sz="667">
                <a:solidFill>
                  <a:srgbClr val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US" sz="667">
                  <a:solidFill>
                    <a:srgbClr val="000000"/>
                  </a:solidFill>
                  <a:latin typeface="Arial" panose="020B0604020202020204"/>
                </a:rPr>
                <a:t>Support status tracking and follow-up of material at inspection due to QN + material with rework or modification until job order completion​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5C2AC56-D981-8941-C9BC-1DA7369F73B1}"/>
                </a:ext>
              </a:extLst>
            </p:cNvPr>
            <p:cNvSpPr/>
            <p:nvPr/>
          </p:nvSpPr>
          <p:spPr>
            <a:xfrm>
              <a:off x="6797420" y="1380792"/>
              <a:ext cx="1828800" cy="1143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r>
                <a:rPr lang="en-US" sz="667">
                  <a:solidFill>
                    <a:sysClr val="windowText" lastClr="000000"/>
                  </a:solidFill>
                  <a:latin typeface="Arial" panose="020B0604020202020204"/>
                </a:rPr>
                <a:t>Technical acumen + analytic skills</a:t>
              </a:r>
            </a:p>
            <a:p>
              <a:pPr algn="ctr" defTabSz="914377">
                <a:defRPr/>
              </a:pPr>
              <a:endParaRPr lang="en-US" sz="667">
                <a:solidFill>
                  <a:sysClr val="windowText" lastClr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US" sz="667">
                  <a:solidFill>
                    <a:sysClr val="windowText" lastClr="000000"/>
                  </a:solidFill>
                  <a:latin typeface="Arial" panose="020B0604020202020204"/>
                </a:rPr>
                <a:t>Problem solving mindset + CORE toolbox</a:t>
              </a:r>
            </a:p>
            <a:p>
              <a:pPr algn="ctr" defTabSz="914377">
                <a:defRPr/>
              </a:pPr>
              <a:endParaRPr lang="en-US" sz="667">
                <a:solidFill>
                  <a:sysClr val="windowText" lastClr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US" sz="667">
                  <a:solidFill>
                    <a:sysClr val="windowText" lastClr="000000"/>
                  </a:solidFill>
                  <a:latin typeface="Arial" panose="020B0604020202020204"/>
                </a:rPr>
                <a:t>Action oriented + production risk management expert</a:t>
              </a:r>
            </a:p>
            <a:p>
              <a:pPr algn="ctr" defTabSz="914377">
                <a:defRPr/>
              </a:pPr>
              <a:endParaRPr lang="en-US" sz="667">
                <a:solidFill>
                  <a:sysClr val="windowText" lastClr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US" sz="667">
                  <a:solidFill>
                    <a:sysClr val="windowText" lastClr="000000"/>
                  </a:solidFill>
                  <a:latin typeface="Arial" panose="020B0604020202020204"/>
                </a:rPr>
                <a:t>Extensive manufacturing experience and engineering knowledge</a:t>
              </a:r>
            </a:p>
            <a:p>
              <a:pPr algn="ctr" defTabSz="914377">
                <a:defRPr/>
              </a:pPr>
              <a:endParaRPr lang="en-US" sz="667">
                <a:solidFill>
                  <a:sysClr val="windowText" lastClr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US" sz="667">
                  <a:solidFill>
                    <a:sysClr val="windowText" lastClr="000000"/>
                  </a:solidFill>
                  <a:latin typeface="Arial" panose="020B0604020202020204"/>
                </a:rPr>
                <a:t>10+ years Business Unit manufacturing / SM experience</a:t>
              </a:r>
            </a:p>
            <a:p>
              <a:pPr algn="ctr" defTabSz="914377">
                <a:defRPr/>
              </a:pPr>
              <a:endParaRPr lang="en-US" sz="667">
                <a:solidFill>
                  <a:sysClr val="windowText" lastClr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US" sz="667">
                  <a:solidFill>
                    <a:sysClr val="windowText" lastClr="000000"/>
                  </a:solidFill>
                  <a:latin typeface="Arial" panose="020B0604020202020204"/>
                </a:rPr>
                <a:t>Ability to effectively mobilize Program community to industrialize product</a:t>
              </a:r>
            </a:p>
            <a:p>
              <a:pPr algn="ctr" defTabSz="914377">
                <a:defRPr/>
              </a:pPr>
              <a:endParaRPr lang="en-US" sz="667">
                <a:solidFill>
                  <a:sysClr val="windowText" lastClr="000000"/>
                </a:solidFill>
                <a:latin typeface="Arial" panose="020B0604020202020204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B7E1BD9-F7E9-5B96-1D46-17DAEE7E30B3}"/>
                </a:ext>
              </a:extLst>
            </p:cNvPr>
            <p:cNvGrpSpPr/>
            <p:nvPr/>
          </p:nvGrpSpPr>
          <p:grpSpPr>
            <a:xfrm>
              <a:off x="517779" y="2677551"/>
              <a:ext cx="8108441" cy="228600"/>
              <a:chOff x="521208" y="1121083"/>
              <a:chExt cx="8108441" cy="2286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89E7DBB-70FA-BEBC-56F3-63A5FD40F02B}"/>
                  </a:ext>
                </a:extLst>
              </p:cNvPr>
              <p:cNvSpPr/>
              <p:nvPr/>
            </p:nvSpPr>
            <p:spPr>
              <a:xfrm>
                <a:off x="521208" y="1121083"/>
                <a:ext cx="1828800" cy="22860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>
                  <a:defRPr/>
                </a:pPr>
                <a:r>
                  <a:rPr lang="en-US" sz="1200">
                    <a:solidFill>
                      <a:prstClr val="white"/>
                    </a:solidFill>
                    <a:latin typeface="Arial" panose="020B0604020202020204"/>
                  </a:rPr>
                  <a:t>Product FSC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0830141-7CB1-E948-2A4F-C057FD48CFB5}"/>
                  </a:ext>
                </a:extLst>
              </p:cNvPr>
              <p:cNvSpPr/>
              <p:nvPr/>
            </p:nvSpPr>
            <p:spPr>
              <a:xfrm>
                <a:off x="2614422" y="1121083"/>
                <a:ext cx="1828800" cy="22860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>
                  <a:defRPr/>
                </a:pPr>
                <a:r>
                  <a:rPr lang="en-US" sz="1200">
                    <a:solidFill>
                      <a:prstClr val="white"/>
                    </a:solidFill>
                    <a:latin typeface="Arial" panose="020B0604020202020204"/>
                  </a:rPr>
                  <a:t>Partnership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3E149C4-0A2C-A456-E71E-09EF813BCB2B}"/>
                  </a:ext>
                </a:extLst>
              </p:cNvPr>
              <p:cNvSpPr/>
              <p:nvPr/>
            </p:nvSpPr>
            <p:spPr>
              <a:xfrm>
                <a:off x="4707636" y="1121083"/>
                <a:ext cx="1828800" cy="22860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>
                  <a:defRPr/>
                </a:pPr>
                <a:r>
                  <a:rPr lang="en-US" sz="1200">
                    <a:solidFill>
                      <a:prstClr val="white"/>
                    </a:solidFill>
                    <a:latin typeface="Arial" panose="020B0604020202020204"/>
                  </a:rPr>
                  <a:t>Global Chemical Regulation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EE506D8-D5BD-009D-6568-FC8433CE224C}"/>
                  </a:ext>
                </a:extLst>
              </p:cNvPr>
              <p:cNvSpPr/>
              <p:nvPr/>
            </p:nvSpPr>
            <p:spPr>
              <a:xfrm>
                <a:off x="6800849" y="1121083"/>
                <a:ext cx="1828800" cy="22860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>
                  <a:defRPr/>
                </a:pPr>
                <a:r>
                  <a:rPr lang="en-US" sz="1200">
                    <a:solidFill>
                      <a:prstClr val="white"/>
                    </a:solidFill>
                    <a:latin typeface="Arial" panose="020B0604020202020204"/>
                  </a:rPr>
                  <a:t>Process &amp; Compliance</a:t>
                </a: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D4FF167-D4FD-118B-D129-7D58B307AFC5}"/>
                </a:ext>
              </a:extLst>
            </p:cNvPr>
            <p:cNvSpPr/>
            <p:nvPr/>
          </p:nvSpPr>
          <p:spPr>
            <a:xfrm>
              <a:off x="517779" y="2937260"/>
              <a:ext cx="1828800" cy="1143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r>
                <a:rPr lang="en-US" sz="667">
                  <a:solidFill>
                    <a:sysClr val="windowText" lastClr="000000"/>
                  </a:solidFill>
                  <a:latin typeface="Arial" panose="020B0604020202020204"/>
                </a:rPr>
                <a:t>Ability to connect BU-level cost drivers to program-level</a:t>
              </a:r>
            </a:p>
            <a:p>
              <a:pPr algn="ctr" defTabSz="914377">
                <a:defRPr/>
              </a:pPr>
              <a:endParaRPr lang="en-US" sz="667">
                <a:solidFill>
                  <a:sysClr val="windowText" lastClr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US" sz="667">
                  <a:solidFill>
                    <a:sysClr val="windowText" lastClr="000000"/>
                  </a:solidFill>
                  <a:latin typeface="Arial" panose="020B0604020202020204"/>
                </a:rPr>
                <a:t>Sourcing / Financial exposure acumen </a:t>
              </a:r>
            </a:p>
            <a:p>
              <a:pPr algn="ctr" defTabSz="914377">
                <a:defRPr/>
              </a:pPr>
              <a:endParaRPr lang="en-US" sz="667">
                <a:solidFill>
                  <a:sysClr val="windowText" lastClr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US" sz="667">
                  <a:solidFill>
                    <a:sysClr val="windowText" lastClr="000000"/>
                  </a:solidFill>
                  <a:latin typeface="Arial" panose="020B0604020202020204"/>
                </a:rPr>
                <a:t>Ability to conduct benchmarking across Business Units, entities, and companies</a:t>
              </a:r>
            </a:p>
            <a:p>
              <a:pPr algn="ctr" defTabSz="914377">
                <a:defRPr/>
              </a:pPr>
              <a:endParaRPr lang="en-US" sz="667">
                <a:solidFill>
                  <a:sysClr val="windowText" lastClr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US" sz="667">
                  <a:solidFill>
                    <a:sysClr val="windowText" lastClr="000000"/>
                  </a:solidFill>
                  <a:latin typeface="Arial" panose="020B0604020202020204"/>
                </a:rPr>
                <a:t>Structured approach for aligning between SM, Ops, Engineering, and Finance</a:t>
              </a:r>
            </a:p>
            <a:p>
              <a:pPr algn="ctr" defTabSz="914377">
                <a:defRPr/>
              </a:pPr>
              <a:endParaRPr lang="en-US" sz="667">
                <a:solidFill>
                  <a:sysClr val="windowText" lastClr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US" sz="667">
                  <a:solidFill>
                    <a:sysClr val="windowText" lastClr="000000"/>
                  </a:solidFill>
                  <a:latin typeface="Arial" panose="020B0604020202020204"/>
                </a:rPr>
                <a:t>Engineering / Operations background</a:t>
              </a:r>
            </a:p>
            <a:p>
              <a:pPr algn="ctr" defTabSz="914377">
                <a:defRPr/>
              </a:pPr>
              <a:endParaRPr lang="en-US" sz="667">
                <a:solidFill>
                  <a:sysClr val="windowText" lastClr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US" sz="667">
                  <a:solidFill>
                    <a:sysClr val="windowText" lastClr="000000"/>
                  </a:solidFill>
                  <a:latin typeface="Arial" panose="020B0604020202020204"/>
                </a:rPr>
                <a:t>Strong product experience (parts / processes)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3F74914-1BB3-199B-40BA-AAA51AB314A6}"/>
                </a:ext>
              </a:extLst>
            </p:cNvPr>
            <p:cNvSpPr/>
            <p:nvPr/>
          </p:nvSpPr>
          <p:spPr>
            <a:xfrm>
              <a:off x="2610993" y="2937260"/>
              <a:ext cx="1828800" cy="1143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r>
                <a:rPr lang="en-US" sz="667">
                  <a:solidFill>
                    <a:srgbClr val="000000"/>
                  </a:solidFill>
                  <a:latin typeface="Arial" panose="020B0604020202020204"/>
                </a:rPr>
                <a:t>Ability to assess any operational gap of the partner plan based on the agreed terms and conditions of the CA</a:t>
              </a:r>
            </a:p>
            <a:p>
              <a:pPr algn="ctr" defTabSz="914377">
                <a:defRPr/>
              </a:pPr>
              <a:endParaRPr lang="en-US" sz="667">
                <a:solidFill>
                  <a:srgbClr val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US" sz="667">
                  <a:solidFill>
                    <a:srgbClr val="000000"/>
                  </a:solidFill>
                  <a:latin typeface="Arial" panose="020B0604020202020204"/>
                </a:rPr>
                <a:t>Ability to negotiate + partner/PWC requirements + partnership office/partner, so that program milestones are met on time</a:t>
              </a:r>
            </a:p>
            <a:p>
              <a:pPr algn="ctr" defTabSz="914377">
                <a:defRPr/>
              </a:pPr>
              <a:endParaRPr lang="en-US" sz="667">
                <a:solidFill>
                  <a:srgbClr val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US" sz="667">
                  <a:solidFill>
                    <a:srgbClr val="000000"/>
                  </a:solidFill>
                  <a:latin typeface="Arial" panose="020B0604020202020204"/>
                </a:rPr>
                <a:t>Be able to assess any quality gap of the partner plan based on the agreed terms and conditions</a:t>
              </a:r>
            </a:p>
            <a:p>
              <a:pPr algn="ctr" defTabSz="914377">
                <a:defRPr/>
              </a:pPr>
              <a:r>
                <a:rPr lang="en-US" sz="667">
                  <a:solidFill>
                    <a:srgbClr val="000000"/>
                  </a:solidFill>
                  <a:latin typeface="Arial" panose="020B0604020202020204"/>
                </a:rPr>
                <a:t>of the Quality plan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BE78063-D767-C30A-31B1-F367CEA0E23A}"/>
                </a:ext>
              </a:extLst>
            </p:cNvPr>
            <p:cNvSpPr/>
            <p:nvPr/>
          </p:nvSpPr>
          <p:spPr>
            <a:xfrm>
              <a:off x="4704207" y="2937260"/>
              <a:ext cx="1828800" cy="1143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r>
                <a:rPr lang="en-US" sz="667">
                  <a:solidFill>
                    <a:sysClr val="windowText" lastClr="000000"/>
                  </a:solidFill>
                  <a:latin typeface="Arial" panose="020B0604020202020204"/>
                </a:rPr>
                <a:t>Technical competency in chemical families, design of experiments, analysis of results</a:t>
              </a:r>
            </a:p>
            <a:p>
              <a:pPr algn="ctr" defTabSz="914377">
                <a:defRPr/>
              </a:pPr>
              <a:endParaRPr lang="en-US" sz="667">
                <a:solidFill>
                  <a:sysClr val="windowText" lastClr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US" sz="667">
                  <a:solidFill>
                    <a:sysClr val="windowText" lastClr="000000"/>
                  </a:solidFill>
                  <a:latin typeface="Arial" panose="020B0604020202020204"/>
                </a:rPr>
                <a:t>Apply CMP process and other relevant regulations (PCTSR, etc.)</a:t>
              </a:r>
            </a:p>
            <a:p>
              <a:pPr algn="ctr" defTabSz="914377">
                <a:defRPr/>
              </a:pPr>
              <a:endParaRPr lang="en-US" sz="667">
                <a:solidFill>
                  <a:sysClr val="windowText" lastClr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US" sz="667">
                  <a:solidFill>
                    <a:sysClr val="windowText" lastClr="000000"/>
                  </a:solidFill>
                  <a:latin typeface="Arial" panose="020B0604020202020204"/>
                </a:rPr>
                <a:t>Apply REACH process (Candidate list, Authorizations, Restrictions, etc.) and other relevant regulations and databases (CLP, POPs, SCIP, etc.) to US, EU and Emerging countries</a:t>
              </a:r>
            </a:p>
            <a:p>
              <a:pPr algn="ctr" defTabSz="914377">
                <a:defRPr/>
              </a:pPr>
              <a:endParaRPr lang="en-US" sz="667">
                <a:solidFill>
                  <a:sysClr val="windowText" lastClr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US" sz="667">
                  <a:solidFill>
                    <a:sysClr val="windowText" lastClr="000000"/>
                  </a:solidFill>
                  <a:latin typeface="Arial" panose="020B0604020202020204"/>
                </a:rPr>
                <a:t>Material, specifications, legislations, SFI parts &amp; suppliers</a:t>
              </a:r>
            </a:p>
            <a:p>
              <a:pPr algn="ctr" defTabSz="914377">
                <a:defRPr/>
              </a:pPr>
              <a:endParaRPr lang="en-US" sz="667">
                <a:solidFill>
                  <a:sysClr val="windowText" lastClr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US" sz="667">
                  <a:solidFill>
                    <a:sysClr val="windowText" lastClr="000000"/>
                  </a:solidFill>
                  <a:latin typeface="Arial" panose="020B0604020202020204"/>
                </a:rPr>
                <a:t>Approve new chemical products in the EMOC module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CC57BBC-14BE-3A1D-A18D-9680FEC7AF29}"/>
                </a:ext>
              </a:extLst>
            </p:cNvPr>
            <p:cNvSpPr/>
            <p:nvPr/>
          </p:nvSpPr>
          <p:spPr>
            <a:xfrm>
              <a:off x="6797420" y="2937260"/>
              <a:ext cx="1828800" cy="1143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r>
                <a:rPr lang="en-CA" sz="667">
                  <a:solidFill>
                    <a:sysClr val="windowText" lastClr="000000"/>
                  </a:solidFill>
                  <a:latin typeface="Arial" panose="020B0604020202020204"/>
                </a:rPr>
                <a:t>Establish, implement, and oversee quality system frameworks to ensure consistency and effectiveness</a:t>
              </a:r>
            </a:p>
            <a:p>
              <a:pPr algn="ctr" defTabSz="914377">
                <a:defRPr/>
              </a:pPr>
              <a:endParaRPr lang="en-CA" sz="667">
                <a:solidFill>
                  <a:sysClr val="windowText" lastClr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CA" sz="667">
                  <a:solidFill>
                    <a:sysClr val="windowText" lastClr="000000"/>
                  </a:solidFill>
                  <a:latin typeface="Arial" panose="020B0604020202020204"/>
                </a:rPr>
                <a:t>Promote operational discipline health management, process optimization, and regulatory compliance</a:t>
              </a:r>
            </a:p>
            <a:p>
              <a:pPr algn="ctr" defTabSz="914377">
                <a:defRPr/>
              </a:pPr>
              <a:endParaRPr lang="en-CA" sz="667">
                <a:solidFill>
                  <a:sysClr val="windowText" lastClr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CA" sz="667">
                  <a:solidFill>
                    <a:sysClr val="windowText" lastClr="000000"/>
                  </a:solidFill>
                  <a:latin typeface="Arial" panose="020B0604020202020204"/>
                </a:rPr>
                <a:t>Lead CORE &amp; transformation initiatives by developing dashboards, leveraging data &amp; driving process digitization</a:t>
              </a:r>
            </a:p>
            <a:p>
              <a:pPr algn="ctr" defTabSz="914377">
                <a:defRPr/>
              </a:pPr>
              <a:endParaRPr lang="en-CA" sz="667">
                <a:solidFill>
                  <a:sysClr val="windowText" lastClr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CA" sz="667">
                  <a:solidFill>
                    <a:sysClr val="windowText" lastClr="000000"/>
                  </a:solidFill>
                  <a:latin typeface="Arial" panose="020B0604020202020204"/>
                </a:rPr>
                <a:t>Implement and deliver training programs and develop technical skill matrix aligned with gap analysis</a:t>
              </a:r>
            </a:p>
            <a:p>
              <a:pPr algn="ctr" defTabSz="914377">
                <a:defRPr/>
              </a:pPr>
              <a:endParaRPr lang="en-CA" sz="667">
                <a:solidFill>
                  <a:sysClr val="windowText" lastClr="000000"/>
                </a:solidFill>
                <a:latin typeface="Arial" panose="020B0604020202020204"/>
              </a:endParaRPr>
            </a:p>
            <a:p>
              <a:pPr algn="ctr" defTabSz="914377">
                <a:defRPr/>
              </a:pPr>
              <a:r>
                <a:rPr lang="en-CA" sz="667">
                  <a:solidFill>
                    <a:sysClr val="windowText" lastClr="000000"/>
                  </a:solidFill>
                  <a:latin typeface="Arial" panose="020B0604020202020204"/>
                </a:rPr>
                <a:t>Provide accurate cost assessments through structured should-cost analysis</a:t>
              </a:r>
              <a:endParaRPr lang="en-US" sz="667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1499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EDEC2-DE14-4471-6438-D49DC9316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D7799DF-C0D6-4C13-E578-5AEC770229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>
            <a:defPPr>
              <a:defRPr lang="en-US"/>
            </a:defPPr>
            <a:lvl1pPr marL="0" algn="l" defTabSz="685783" rtl="0" eaLnBrk="1" latinLnBrk="0" hangingPunct="1"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1" algn="l" defTabSz="685783" rtl="0" eaLnBrk="1" latinLnBrk="0" hangingPunct="1"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4" algn="l" defTabSz="685783" rtl="0" eaLnBrk="1" latinLnBrk="0" hangingPunct="1"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9" algn="l" defTabSz="685783" rtl="0" eaLnBrk="1" latinLnBrk="0" hangingPunct="1"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1" algn="l" defTabSz="685783" rtl="0" eaLnBrk="1" latinLnBrk="0" hangingPunct="1"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54">
              <a:defRPr/>
            </a:pPr>
            <a:fld id="{07165E6F-54ED-4977-A15E-D44BE7238A65}" type="slidenum">
              <a:rPr lang="en-US">
                <a:solidFill>
                  <a:srgbClr val="63666A"/>
                </a:solidFill>
                <a:latin typeface="Arial" panose="020B0604020202020204"/>
              </a:rPr>
              <a:pPr defTabSz="914354">
                <a:defRPr/>
              </a:pPr>
              <a:t>3</a:t>
            </a:fld>
            <a:endParaRPr lang="en-US">
              <a:solidFill>
                <a:srgbClr val="63666A"/>
              </a:solidFill>
              <a:latin typeface="Arial" panose="020B060402020202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4873C2-BBCD-9B6F-8AFA-3C7288B88BD6}"/>
              </a:ext>
            </a:extLst>
          </p:cNvPr>
          <p:cNvSpPr txBox="1"/>
          <p:nvPr/>
        </p:nvSpPr>
        <p:spPr>
          <a:xfrm>
            <a:off x="704088" y="5763093"/>
            <a:ext cx="10802113" cy="40134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4">
              <a:spcBef>
                <a:spcPts val="600"/>
              </a:spcBef>
              <a:defRPr/>
            </a:pPr>
            <a:r>
              <a:rPr lang="en-US" sz="1600" dirty="0">
                <a:solidFill>
                  <a:prstClr val="white"/>
                </a:solidFill>
                <a:latin typeface="Arial" panose="020B0604020202020204"/>
              </a:rPr>
              <a:t>Drive PR Earned Value and MRL maturity to achieve a flawless Entry Into Production (EIP)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60CC82-E74E-8471-9D2A-03E46BAADABB}"/>
              </a:ext>
            </a:extLst>
          </p:cNvPr>
          <p:cNvSpPr txBox="1"/>
          <p:nvPr/>
        </p:nvSpPr>
        <p:spPr>
          <a:xfrm>
            <a:off x="704085" y="3029029"/>
            <a:ext cx="10811256" cy="2218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121920" tIns="60960" rIns="121920" bIns="6096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400"/>
              </a:spcBef>
            </a:pPr>
            <a:r>
              <a:rPr lang="en-CA" sz="1600" b="1" dirty="0"/>
              <a:t>End State Transformation</a:t>
            </a:r>
          </a:p>
          <a:p>
            <a:pPr algn="ctr">
              <a:spcBef>
                <a:spcPts val="400"/>
              </a:spcBef>
            </a:pPr>
            <a:endParaRPr lang="en-CA" sz="667" dirty="0"/>
          </a:p>
          <a:p>
            <a:pPr algn="ctr">
              <a:spcBef>
                <a:spcPts val="400"/>
              </a:spcBef>
            </a:pPr>
            <a:r>
              <a:rPr lang="en-CA" sz="1400" dirty="0"/>
              <a:t>Drive PW MRL methodology harmonization within RLPM lifecycle management.</a:t>
            </a:r>
          </a:p>
          <a:p>
            <a:pPr algn="ctr">
              <a:spcBef>
                <a:spcPts val="400"/>
              </a:spcBef>
            </a:pPr>
            <a:r>
              <a:rPr lang="en-CA" sz="1400" dirty="0"/>
              <a:t>Achieve MRL integrity/maturity through unified real-time program dashboards structured in “push system” data. </a:t>
            </a:r>
          </a:p>
          <a:p>
            <a:pPr algn="ctr">
              <a:spcBef>
                <a:spcPts val="400"/>
              </a:spcBef>
            </a:pPr>
            <a:r>
              <a:rPr lang="en-CA" sz="1400" dirty="0"/>
              <a:t>Develop predictive industrialization analytics that catalogue lessons learned to influence future design trade-off decisions.</a:t>
            </a:r>
          </a:p>
          <a:p>
            <a:pPr algn="ctr">
              <a:spcBef>
                <a:spcPts val="400"/>
              </a:spcBef>
            </a:pPr>
            <a:r>
              <a:rPr lang="en-CA" sz="1400" dirty="0"/>
              <a:t>Create &amp; manage an Ops “Cardinal Rules” library + grow enterprise MRL proficiency &amp; adoption.</a:t>
            </a:r>
          </a:p>
          <a:p>
            <a:pPr algn="ctr">
              <a:spcBef>
                <a:spcPts val="400"/>
              </a:spcBef>
            </a:pPr>
            <a:r>
              <a:rPr lang="en-CA" sz="1400" dirty="0"/>
              <a:t>Centralize Industrialization governance under OPM responsibility “one voice” support by standards team.   </a:t>
            </a:r>
            <a:endParaRPr lang="en-CA" sz="1400" dirty="0">
              <a:cs typeface="Arial"/>
            </a:endParaRPr>
          </a:p>
          <a:p>
            <a:pPr algn="ctr">
              <a:spcBef>
                <a:spcPts val="400"/>
              </a:spcBef>
            </a:pPr>
            <a:r>
              <a:rPr lang="en-CA" sz="1400" dirty="0"/>
              <a:t>Expand MRL methodology to engine assembly and critical legacy CO’s.   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63860C7A-FF11-31E7-559B-9E5107948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66348"/>
            <a:ext cx="9696609" cy="676653"/>
          </a:xfrm>
        </p:spPr>
        <p:txBody>
          <a:bodyPr/>
          <a:lstStyle/>
          <a:p>
            <a:r>
              <a:rPr lang="en-US" sz="3200" dirty="0"/>
              <a:t>OPO Disciplines - Production Readiness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37AEFAF-DBB1-3778-3442-BF219EB1C9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4812283"/>
            <a:ext cx="9144000" cy="8079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lang="en-US" sz="5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>
              <a:defRPr/>
            </a:pPr>
            <a:r>
              <a:rPr lang="en-CA"/>
              <a:t>EXPORT MARKING: (Insert Export Marking) [TO CHANGE GO TO INSERT &gt; HEADER &amp; FOOTER] </a:t>
            </a:r>
            <a:endParaRPr lang="en-US" sz="70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41730-0B60-F0B5-60BC-F7961A29B2B6}"/>
              </a:ext>
            </a:extLst>
          </p:cNvPr>
          <p:cNvSpPr txBox="1"/>
          <p:nvPr/>
        </p:nvSpPr>
        <p:spPr>
          <a:xfrm>
            <a:off x="704086" y="1365212"/>
            <a:ext cx="10811257" cy="14230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121920" tIns="60960" rIns="121920" bIns="6096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sz="1600" b="1" dirty="0">
                <a:solidFill>
                  <a:schemeClr val="bg1"/>
                </a:solidFill>
                <a:ea typeface="Aptos" panose="020B0004020202020204" pitchFamily="34" charset="0"/>
                <a:cs typeface="Aptos" panose="020B0004020202020204" pitchFamily="34" charset="0"/>
              </a:rPr>
              <a:t>Vision</a:t>
            </a:r>
          </a:p>
          <a:p>
            <a:pPr algn="ctr"/>
            <a:endParaRPr lang="en-CA" sz="667" dirty="0">
              <a:solidFill>
                <a:schemeClr val="bg1"/>
              </a:solidFill>
              <a:ea typeface="Aptos" panose="020B0004020202020204" pitchFamily="34" charset="0"/>
              <a:cs typeface="Aptos" panose="020B0004020202020204" pitchFamily="34" charset="0"/>
            </a:endParaRPr>
          </a:p>
          <a:p>
            <a:pPr algn="ctr"/>
            <a:r>
              <a:rPr lang="en-CA" sz="1400" dirty="0">
                <a:solidFill>
                  <a:schemeClr val="bg1"/>
                </a:solidFill>
                <a:ea typeface="Aptos" panose="020B0004020202020204" pitchFamily="34" charset="0"/>
                <a:cs typeface="Aptos" panose="020B0004020202020204" pitchFamily="34" charset="0"/>
              </a:rPr>
              <a:t>Transform Production Readiness from a data/process management centric to an “Industrialization Performance &amp; Standards” team, in a structured push mode, to provide predictive Industrialization analytics supporting emerging program risks and building lessons learned to guide trade-off decisions on Advanced Industrialization readiness for future programs</a:t>
            </a:r>
            <a:endParaRPr lang="en-CA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337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7C041-4763-BB3B-4CCD-FA761DFA3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FC0781E-BCE8-72BA-C953-594B13CC4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66348"/>
            <a:ext cx="8278368" cy="676653"/>
          </a:xfrm>
        </p:spPr>
        <p:txBody>
          <a:bodyPr/>
          <a:lstStyle/>
          <a:p>
            <a:r>
              <a:rPr lang="en-US" dirty="0"/>
              <a:t>OPO Disciplines - Partnerships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0DA8EB-308C-9711-1441-FBAA17530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4812283"/>
            <a:ext cx="9144000" cy="80792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lang="en-US" sz="5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>
              <a:defRPr/>
            </a:pPr>
            <a:r>
              <a:rPr lang="en-CA"/>
              <a:t>EXPORT MARKING: (Insert Export Marking) [TO CHANGE GO TO INSERT &gt; HEADER &amp; FOOTER] </a:t>
            </a:r>
            <a:endParaRPr lang="en-US" sz="70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1C76DE3-FF59-4A53-9C41-7463CB271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>
              <a:defRPr/>
            </a:pPr>
            <a:fld id="{07165E6F-54ED-4977-A15E-D44BE7238A65}" type="slidenum">
              <a:rPr lang="en-US">
                <a:solidFill>
                  <a:srgbClr val="63666A"/>
                </a:solidFill>
                <a:latin typeface="Arial" panose="020B0604020202020204"/>
              </a:rPr>
              <a:pPr defTabSz="914377">
                <a:defRPr/>
              </a:pPr>
              <a:t>4</a:t>
            </a:fld>
            <a:endParaRPr lang="en-US">
              <a:solidFill>
                <a:srgbClr val="63666A"/>
              </a:solidFill>
              <a:latin typeface="Arial" panose="020B060402020202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DDC124-77E0-7031-C04C-1F146A419BC6}"/>
              </a:ext>
            </a:extLst>
          </p:cNvPr>
          <p:cNvSpPr txBox="1"/>
          <p:nvPr/>
        </p:nvSpPr>
        <p:spPr>
          <a:xfrm>
            <a:off x="704086" y="5763093"/>
            <a:ext cx="10802113" cy="40134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/>
          <a:p>
            <a:pPr algn="ctr" defTabSz="914377">
              <a:spcBef>
                <a:spcPts val="600"/>
              </a:spcBef>
              <a:defRPr/>
            </a:pPr>
            <a:r>
              <a:rPr lang="en-US" sz="1600">
                <a:solidFill>
                  <a:prstClr val="white"/>
                </a:solidFill>
                <a:latin typeface="Arial" panose="020B0604020202020204"/>
              </a:rPr>
              <a:t>Ensure production readiness by developing a partner relationship and core competences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187B6E-92A2-92C6-CC4B-0D93F8D429C1}"/>
              </a:ext>
            </a:extLst>
          </p:cNvPr>
          <p:cNvSpPr txBox="1"/>
          <p:nvPr/>
        </p:nvSpPr>
        <p:spPr>
          <a:xfrm>
            <a:off x="694945" y="1534606"/>
            <a:ext cx="5475268" cy="34620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54">
              <a:defRPr/>
            </a:pPr>
            <a:r>
              <a:rPr lang="en-CA" sz="1867" b="1" dirty="0">
                <a:solidFill>
                  <a:prstClr val="black"/>
                </a:solidFill>
                <a:latin typeface="Arial" panose="020B0604020202020204"/>
              </a:rPr>
              <a:t>Current State Activities</a:t>
            </a:r>
          </a:p>
          <a:p>
            <a:pPr defTabSz="914354">
              <a:defRPr/>
            </a:pPr>
            <a:r>
              <a:rPr lang="en-CA" sz="1867" dirty="0">
                <a:solidFill>
                  <a:prstClr val="black"/>
                </a:solidFill>
                <a:latin typeface="Arial" panose="020B0604020202020204"/>
              </a:rPr>
              <a:t>PWC Production Readiness Process deployment</a:t>
            </a:r>
          </a:p>
          <a:p>
            <a:pPr defTabSz="914354">
              <a:defRPr/>
            </a:pPr>
            <a:r>
              <a:rPr lang="en-CA" sz="1867" dirty="0">
                <a:solidFill>
                  <a:prstClr val="black"/>
                </a:solidFill>
                <a:latin typeface="Arial" panose="020B0604020202020204"/>
              </a:rPr>
              <a:t>Quality and Operations support</a:t>
            </a:r>
          </a:p>
          <a:p>
            <a:pPr defTabSz="914354">
              <a:defRPr/>
            </a:pPr>
            <a:r>
              <a:rPr lang="en-CA" sz="1867" dirty="0">
                <a:solidFill>
                  <a:prstClr val="black"/>
                </a:solidFill>
                <a:latin typeface="Arial" panose="020B0604020202020204"/>
              </a:rPr>
              <a:t>On time and flawless communication</a:t>
            </a:r>
          </a:p>
          <a:p>
            <a:pPr defTabSz="914354">
              <a:defRPr/>
            </a:pPr>
            <a:r>
              <a:rPr lang="en-CA" sz="1867" dirty="0">
                <a:solidFill>
                  <a:prstClr val="black"/>
                </a:solidFill>
                <a:latin typeface="Arial" panose="020B0604020202020204"/>
              </a:rPr>
              <a:t>Internal &amp; external customer support</a:t>
            </a:r>
          </a:p>
          <a:p>
            <a:pPr defTabSz="914354">
              <a:defRPr/>
            </a:pPr>
            <a:endParaRPr lang="en-CA" sz="1867" dirty="0">
              <a:solidFill>
                <a:prstClr val="black"/>
              </a:solidFill>
              <a:latin typeface="Arial" panose="020B0604020202020204"/>
            </a:endParaRPr>
          </a:p>
          <a:p>
            <a:pPr defTabSz="914354">
              <a:defRPr/>
            </a:pPr>
            <a:r>
              <a:rPr lang="en-CA" sz="1867" b="1" dirty="0">
                <a:solidFill>
                  <a:prstClr val="black"/>
                </a:solidFill>
                <a:latin typeface="Arial" panose="020B0604020202020204"/>
              </a:rPr>
              <a:t>5 Major Partnership Agreements</a:t>
            </a:r>
          </a:p>
          <a:p>
            <a:pPr defTabSz="914354">
              <a:defRPr/>
            </a:pPr>
            <a:r>
              <a:rPr lang="en-CA" sz="1867" dirty="0">
                <a:solidFill>
                  <a:prstClr val="black"/>
                </a:solidFill>
                <a:latin typeface="Arial" panose="020B0604020202020204"/>
              </a:rPr>
              <a:t>Avio Aero</a:t>
            </a:r>
          </a:p>
          <a:p>
            <a:pPr defTabSz="914354">
              <a:defRPr/>
            </a:pPr>
            <a:r>
              <a:rPr lang="en-CA" sz="1867" dirty="0">
                <a:solidFill>
                  <a:prstClr val="black"/>
                </a:solidFill>
                <a:latin typeface="Arial" panose="020B0604020202020204"/>
              </a:rPr>
              <a:t>ITP Aero</a:t>
            </a:r>
          </a:p>
          <a:p>
            <a:pPr defTabSz="914354">
              <a:defRPr/>
            </a:pPr>
            <a:r>
              <a:rPr lang="en-CA" sz="1867" dirty="0">
                <a:solidFill>
                  <a:prstClr val="black"/>
                </a:solidFill>
                <a:latin typeface="Arial" panose="020B0604020202020204"/>
              </a:rPr>
              <a:t>MTU</a:t>
            </a:r>
          </a:p>
          <a:p>
            <a:pPr defTabSz="914354">
              <a:defRPr/>
            </a:pPr>
            <a:r>
              <a:rPr lang="en-CA" sz="1867" dirty="0">
                <a:solidFill>
                  <a:prstClr val="black"/>
                </a:solidFill>
                <a:latin typeface="Arial" panose="020B0604020202020204"/>
              </a:rPr>
              <a:t>Hanwha</a:t>
            </a:r>
          </a:p>
          <a:p>
            <a:pPr defTabSz="914354">
              <a:defRPr/>
            </a:pPr>
            <a:r>
              <a:rPr lang="en-CA" sz="1867" dirty="0">
                <a:solidFill>
                  <a:prstClr val="black"/>
                </a:solidFill>
                <a:latin typeface="Arial" panose="020B0604020202020204"/>
              </a:rPr>
              <a:t>Kawasaki</a:t>
            </a:r>
          </a:p>
          <a:p>
            <a:pPr defTabSz="914354">
              <a:defRPr/>
            </a:pPr>
            <a:endParaRPr lang="en-CA" sz="1867" dirty="0">
              <a:solidFill>
                <a:prstClr val="black"/>
              </a:solidFill>
              <a:latin typeface="Arial" panose="020B0604020202020204"/>
            </a:endParaRPr>
          </a:p>
          <a:p>
            <a:pPr marL="182870" indent="-182870" defTabSz="914354">
              <a:spcBef>
                <a:spcPts val="1200"/>
              </a:spcBef>
              <a:buClr>
                <a:prstClr val="black"/>
              </a:buClr>
              <a:buSzPct val="100000"/>
              <a:buFont typeface="Arial"/>
              <a:buChar char="•"/>
              <a:defRPr/>
            </a:pPr>
            <a:endParaRPr lang="en-CA" sz="1867" dirty="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5A721-01D2-3970-D06E-E34EFF8E894D}"/>
              </a:ext>
            </a:extLst>
          </p:cNvPr>
          <p:cNvSpPr txBox="1"/>
          <p:nvPr/>
        </p:nvSpPr>
        <p:spPr>
          <a:xfrm>
            <a:off x="6418538" y="1534606"/>
            <a:ext cx="5083092" cy="40134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4">
              <a:defRPr/>
            </a:pPr>
            <a:r>
              <a:rPr lang="en-CA" sz="1867" b="1" dirty="0">
                <a:solidFill>
                  <a:prstClr val="black"/>
                </a:solidFill>
                <a:latin typeface="Arial" panose="020B0604020202020204"/>
              </a:rPr>
              <a:t>End </a:t>
            </a:r>
            <a:r>
              <a:rPr lang="en-CA" sz="1867" b="1">
                <a:solidFill>
                  <a:prstClr val="black"/>
                </a:solidFill>
                <a:latin typeface="Arial" panose="020B0604020202020204"/>
              </a:rPr>
              <a:t>State Transformation</a:t>
            </a:r>
            <a:endParaRPr lang="en-CA" sz="1867" b="1" dirty="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41B54-5145-5292-FE93-29EF8581B9CF}"/>
              </a:ext>
            </a:extLst>
          </p:cNvPr>
          <p:cNvSpPr txBox="1"/>
          <p:nvPr/>
        </p:nvSpPr>
        <p:spPr>
          <a:xfrm>
            <a:off x="6418538" y="1935954"/>
            <a:ext cx="5083092" cy="30606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4">
              <a:defRPr/>
            </a:pPr>
            <a:r>
              <a:rPr lang="en-CA" sz="1400">
                <a:solidFill>
                  <a:prstClr val="black"/>
                </a:solidFill>
                <a:latin typeface="Arial" panose="020B0604020202020204"/>
              </a:rPr>
              <a:t>Organizational Structure</a:t>
            </a:r>
          </a:p>
          <a:p>
            <a:pPr algn="ctr" defTabSz="914354">
              <a:defRPr/>
            </a:pPr>
            <a:endParaRPr lang="en-CA" sz="1400">
              <a:solidFill>
                <a:prstClr val="black"/>
              </a:solidFill>
              <a:latin typeface="Arial" panose="020B0604020202020204"/>
            </a:endParaRPr>
          </a:p>
          <a:p>
            <a:pPr algn="ctr" defTabSz="914354">
              <a:defRPr/>
            </a:pPr>
            <a:r>
              <a:rPr lang="en-CA" sz="1400">
                <a:solidFill>
                  <a:prstClr val="black"/>
                </a:solidFill>
                <a:latin typeface="Arial" panose="020B0604020202020204"/>
              </a:rPr>
              <a:t>Legacy Program Involvement</a:t>
            </a:r>
          </a:p>
          <a:p>
            <a:pPr algn="ctr" defTabSz="914354">
              <a:defRPr/>
            </a:pPr>
            <a:endParaRPr lang="en-CA" sz="1400">
              <a:solidFill>
                <a:prstClr val="black"/>
              </a:solidFill>
              <a:latin typeface="Arial" panose="020B0604020202020204"/>
            </a:endParaRPr>
          </a:p>
          <a:p>
            <a:pPr algn="ctr" defTabSz="914354">
              <a:defRPr/>
            </a:pPr>
            <a:r>
              <a:rPr lang="en-CA" sz="1400">
                <a:solidFill>
                  <a:prstClr val="black"/>
                </a:solidFill>
                <a:latin typeface="Arial" panose="020B0604020202020204"/>
              </a:rPr>
              <a:t>Quality Mandate Alignment</a:t>
            </a:r>
          </a:p>
          <a:p>
            <a:pPr algn="ctr" defTabSz="914354">
              <a:defRPr/>
            </a:pPr>
            <a:endParaRPr lang="en-CA" sz="1400">
              <a:solidFill>
                <a:prstClr val="black"/>
              </a:solidFill>
              <a:latin typeface="Arial" panose="020B0604020202020204"/>
            </a:endParaRPr>
          </a:p>
          <a:p>
            <a:pPr algn="ctr" defTabSz="914354">
              <a:defRPr/>
            </a:pPr>
            <a:r>
              <a:rPr lang="en-CA" sz="1400">
                <a:solidFill>
                  <a:prstClr val="black"/>
                </a:solidFill>
                <a:latin typeface="Arial" panose="020B0604020202020204"/>
              </a:rPr>
              <a:t>RLPM Alignment</a:t>
            </a:r>
          </a:p>
          <a:p>
            <a:pPr algn="ctr" defTabSz="914354">
              <a:defRPr/>
            </a:pPr>
            <a:endParaRPr lang="en-CA" sz="1400">
              <a:solidFill>
                <a:prstClr val="black"/>
              </a:solidFill>
              <a:latin typeface="Arial" panose="020B0604020202020204"/>
            </a:endParaRPr>
          </a:p>
          <a:p>
            <a:pPr algn="ctr" defTabSz="914354">
              <a:defRPr/>
            </a:pPr>
            <a:r>
              <a:rPr lang="en-CA" sz="1400">
                <a:solidFill>
                  <a:prstClr val="black"/>
                </a:solidFill>
                <a:latin typeface="Arial" panose="020B0604020202020204"/>
              </a:rPr>
              <a:t>Digital Tool</a:t>
            </a:r>
          </a:p>
          <a:p>
            <a:pPr algn="ctr" defTabSz="914354">
              <a:defRPr/>
            </a:pPr>
            <a:endParaRPr lang="en-CA" sz="1400">
              <a:solidFill>
                <a:prstClr val="black"/>
              </a:solidFill>
              <a:latin typeface="Arial" panose="020B0604020202020204"/>
            </a:endParaRPr>
          </a:p>
          <a:p>
            <a:pPr algn="ctr" defTabSz="914354">
              <a:defRPr/>
            </a:pPr>
            <a:r>
              <a:rPr lang="en-CA" sz="1400">
                <a:solidFill>
                  <a:prstClr val="black"/>
                </a:solidFill>
                <a:latin typeface="Arial" panose="020B0604020202020204"/>
              </a:rPr>
              <a:t>Process Adjustment Burn-down</a:t>
            </a:r>
          </a:p>
        </p:txBody>
      </p:sp>
    </p:spTree>
    <p:extLst>
      <p:ext uri="{BB962C8B-B14F-4D97-AF65-F5344CB8AC3E}">
        <p14:creationId xmlns:p14="http://schemas.microsoft.com/office/powerpoint/2010/main" val="2452700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794C2-6152-932D-DD96-149A341BE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275396B-7DF1-C02C-9393-AB818967A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OPO Disciplines - Product FSC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6D0A4-9930-9EB5-1FA3-32FFD43D4B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4812283"/>
            <a:ext cx="9144000" cy="80792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lang="en-US" sz="5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>
              <a:defRPr/>
            </a:pPr>
            <a:r>
              <a:rPr lang="en-CA"/>
              <a:t>EXPORT MARKING: (Insert Export Marking) [TO CHANGE GO TO INSERT &gt; HEADER &amp; FOOTER] </a:t>
            </a:r>
            <a:endParaRPr lang="en-US" sz="70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97C5C8E-ECAA-2FD6-C637-3CCB74777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>
              <a:defRPr/>
            </a:pPr>
            <a:fld id="{07165E6F-54ED-4977-A15E-D44BE7238A65}" type="slidenum">
              <a:rPr lang="en-US">
                <a:solidFill>
                  <a:srgbClr val="63666A"/>
                </a:solidFill>
                <a:latin typeface="Arial" panose="020B0604020202020204"/>
              </a:rPr>
              <a:pPr defTabSz="914377">
                <a:defRPr/>
              </a:pPr>
              <a:t>5</a:t>
            </a:fld>
            <a:endParaRPr lang="en-US">
              <a:solidFill>
                <a:srgbClr val="63666A"/>
              </a:solidFill>
              <a:latin typeface="Arial" panose="020B060402020202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A74AFF-DC9A-1618-83F9-8DC968220DB6}"/>
              </a:ext>
            </a:extLst>
          </p:cNvPr>
          <p:cNvSpPr/>
          <p:nvPr/>
        </p:nvSpPr>
        <p:spPr>
          <a:xfrm>
            <a:off x="704061" y="3465731"/>
            <a:ext cx="10811256" cy="205189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/>
            </a:pPr>
            <a:endParaRPr lang="en-US" sz="133" b="1">
              <a:solidFill>
                <a:prstClr val="white"/>
              </a:solidFill>
              <a:latin typeface="Arial" panose="020B0604020202020204"/>
            </a:endParaRPr>
          </a:p>
          <a:p>
            <a:pPr>
              <a:defRPr/>
            </a:pPr>
            <a:endParaRPr lang="en-US" sz="251" b="1">
              <a:solidFill>
                <a:prstClr val="white"/>
              </a:solidFill>
              <a:latin typeface="Arial" panose="020B0604020202020204"/>
            </a:endParaRPr>
          </a:p>
          <a:p>
            <a:pPr>
              <a:defRPr/>
            </a:pPr>
            <a:r>
              <a:rPr lang="en-US" sz="2000" b="1">
                <a:solidFill>
                  <a:prstClr val="white"/>
                </a:solidFill>
                <a:latin typeface="Arial" panose="020B0604020202020204"/>
              </a:rPr>
              <a:t>End State Transformation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E3B5F-F35B-453C-359A-3BEAF8037E1E}"/>
              </a:ext>
            </a:extLst>
          </p:cNvPr>
          <p:cNvSpPr/>
          <p:nvPr/>
        </p:nvSpPr>
        <p:spPr>
          <a:xfrm>
            <a:off x="694943" y="1278283"/>
            <a:ext cx="10811256" cy="205189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/>
            </a:pPr>
            <a:endParaRPr lang="en-US" sz="133" b="1">
              <a:solidFill>
                <a:prstClr val="white"/>
              </a:solidFill>
              <a:latin typeface="Arial" panose="020B0604020202020204"/>
            </a:endParaRPr>
          </a:p>
          <a:p>
            <a:pPr>
              <a:defRPr/>
            </a:pPr>
            <a:endParaRPr lang="en-US" sz="251" b="1">
              <a:solidFill>
                <a:prstClr val="white"/>
              </a:solidFill>
              <a:latin typeface="Arial" panose="020B0604020202020204"/>
            </a:endParaRPr>
          </a:p>
          <a:p>
            <a:pPr>
              <a:defRPr/>
            </a:pPr>
            <a:r>
              <a:rPr lang="en-US" sz="2000" b="1">
                <a:solidFill>
                  <a:prstClr val="white"/>
                </a:solidFill>
                <a:latin typeface="Arial" panose="020B0604020202020204"/>
              </a:rPr>
              <a:t>Current State Activities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F623AAA-20A7-7BBE-9FAC-22ADC0F9B741}"/>
              </a:ext>
            </a:extLst>
          </p:cNvPr>
          <p:cNvGrpSpPr/>
          <p:nvPr/>
        </p:nvGrpSpPr>
        <p:grpSpPr>
          <a:xfrm>
            <a:off x="899091" y="1811172"/>
            <a:ext cx="6468439" cy="1312765"/>
            <a:chOff x="1016165" y="1811171"/>
            <a:chExt cx="10177954" cy="146304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896DED1-00B1-07CA-7AC2-1ED897212817}"/>
                </a:ext>
              </a:extLst>
            </p:cNvPr>
            <p:cNvSpPr/>
            <p:nvPr/>
          </p:nvSpPr>
          <p:spPr>
            <a:xfrm>
              <a:off x="1016165" y="1811171"/>
              <a:ext cx="3200400" cy="1463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1000" b="1">
                  <a:solidFill>
                    <a:prstClr val="black"/>
                  </a:solidFill>
                  <a:latin typeface="Arial" panose="020B0604020202020204"/>
                </a:rPr>
                <a:t>Investment Audit / CBN</a:t>
              </a:r>
            </a:p>
            <a:p>
              <a:pPr algn="ctr">
                <a:defRPr/>
              </a:pPr>
              <a:r>
                <a:rPr lang="en-US" sz="1000" b="1">
                  <a:solidFill>
                    <a:prstClr val="black"/>
                  </a:solidFill>
                  <a:latin typeface="Arial" panose="020B0604020202020204"/>
                </a:rPr>
                <a:t>Factory Standard Cost</a:t>
              </a:r>
            </a:p>
            <a:p>
              <a:pPr algn="ctr">
                <a:defRPr/>
              </a:pPr>
              <a:endParaRPr lang="en-US" sz="1000" b="1">
                <a:solidFill>
                  <a:prstClr val="black"/>
                </a:solidFill>
                <a:latin typeface="Arial" panose="020B0604020202020204"/>
              </a:endParaRPr>
            </a:p>
            <a:p>
              <a:pPr algn="ctr">
                <a:defRPr/>
              </a:pPr>
              <a:r>
                <a:rPr lang="en-US" sz="1000">
                  <a:solidFill>
                    <a:prstClr val="black"/>
                  </a:solidFill>
                  <a:latin typeface="Arial" panose="020B0604020202020204"/>
                </a:rPr>
                <a:t>PW800, Elevate </a:t>
              </a:r>
            </a:p>
            <a:p>
              <a:pPr algn="ctr">
                <a:defRPr/>
              </a:pPr>
              <a:r>
                <a:rPr lang="en-US" sz="1000" err="1">
                  <a:solidFill>
                    <a:prstClr val="black"/>
                  </a:solidFill>
                  <a:latin typeface="Arial" panose="020B0604020202020204"/>
                </a:rPr>
                <a:t>Citadelle</a:t>
              </a:r>
              <a:r>
                <a:rPr lang="en-US" sz="1000">
                  <a:solidFill>
                    <a:prstClr val="black"/>
                  </a:solidFill>
                  <a:latin typeface="Arial" panose="020B0604020202020204"/>
                </a:rPr>
                <a:t> &amp; Aspen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F28A5-2A13-53D7-CAFF-CB58DCA36F70}"/>
                </a:ext>
              </a:extLst>
            </p:cNvPr>
            <p:cNvSpPr/>
            <p:nvPr/>
          </p:nvSpPr>
          <p:spPr>
            <a:xfrm>
              <a:off x="4504942" y="1811171"/>
              <a:ext cx="3200400" cy="1463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1000" b="1">
                  <a:solidFill>
                    <a:prstClr val="black"/>
                  </a:solidFill>
                  <a:latin typeface="Arial" panose="020B0604020202020204"/>
                </a:rPr>
                <a:t>MMP501</a:t>
              </a:r>
            </a:p>
            <a:p>
              <a:pPr algn="ctr">
                <a:defRPr/>
              </a:pPr>
              <a:endParaRPr lang="en-US" sz="1000">
                <a:solidFill>
                  <a:prstClr val="black"/>
                </a:solidFill>
                <a:latin typeface="Arial" panose="020B0604020202020204"/>
              </a:endParaRPr>
            </a:p>
            <a:p>
              <a:pPr algn="ctr">
                <a:defRPr/>
              </a:pPr>
              <a:endParaRPr lang="en-US" sz="1000">
                <a:solidFill>
                  <a:prstClr val="black"/>
                </a:solidFill>
                <a:latin typeface="Arial" panose="020B0604020202020204"/>
              </a:endParaRPr>
            </a:p>
            <a:p>
              <a:pPr algn="ctr">
                <a:defRPr/>
              </a:pPr>
              <a:r>
                <a:rPr lang="en-US" sz="1000">
                  <a:solidFill>
                    <a:prstClr val="black"/>
                  </a:solidFill>
                  <a:latin typeface="Arial" panose="020B0604020202020204"/>
                </a:rPr>
                <a:t>RLPM</a:t>
              </a:r>
            </a:p>
            <a:p>
              <a:pPr algn="ctr">
                <a:defRPr/>
              </a:pPr>
              <a:r>
                <a:rPr lang="en-US" sz="1000">
                  <a:solidFill>
                    <a:prstClr val="black"/>
                  </a:solidFill>
                  <a:latin typeface="Arial" panose="020B0604020202020204"/>
                </a:rPr>
                <a:t>General Update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661B5F5-07C2-72C7-694B-634575F2AB6B}"/>
                </a:ext>
              </a:extLst>
            </p:cNvPr>
            <p:cNvSpPr/>
            <p:nvPr/>
          </p:nvSpPr>
          <p:spPr>
            <a:xfrm>
              <a:off x="7993719" y="1811171"/>
              <a:ext cx="3200400" cy="1463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1000" b="1">
                  <a:solidFill>
                    <a:prstClr val="black"/>
                  </a:solidFill>
                  <a:latin typeface="Arial" panose="020B0604020202020204"/>
                </a:rPr>
                <a:t>Estimates</a:t>
              </a:r>
            </a:p>
            <a:p>
              <a:pPr algn="ctr">
                <a:defRPr/>
              </a:pPr>
              <a:endParaRPr lang="en-US" sz="1000">
                <a:solidFill>
                  <a:prstClr val="black"/>
                </a:solidFill>
                <a:latin typeface="Arial" panose="020B0604020202020204"/>
              </a:endParaRPr>
            </a:p>
            <a:p>
              <a:pPr algn="ctr">
                <a:defRPr/>
              </a:pPr>
              <a:endParaRPr lang="en-US" sz="1000">
                <a:solidFill>
                  <a:prstClr val="black"/>
                </a:solidFill>
                <a:latin typeface="Arial" panose="020B0604020202020204"/>
              </a:endParaRPr>
            </a:p>
            <a:p>
              <a:pPr algn="ctr">
                <a:defRPr/>
              </a:pPr>
              <a:r>
                <a:rPr lang="en-US" sz="1000">
                  <a:solidFill>
                    <a:prstClr val="black"/>
                  </a:solidFill>
                  <a:latin typeface="Arial" panose="020B0604020202020204"/>
                </a:rPr>
                <a:t>Manual estimates</a:t>
              </a:r>
            </a:p>
            <a:p>
              <a:pPr algn="ctr">
                <a:defRPr/>
              </a:pPr>
              <a:r>
                <a:rPr lang="en-US" sz="1000">
                  <a:solidFill>
                    <a:prstClr val="black"/>
                  </a:solidFill>
                  <a:latin typeface="Arial" panose="020B0604020202020204"/>
                </a:rPr>
                <a:t>Should-cost estimates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E68305A-7612-9104-D17C-EF68CE357B41}"/>
              </a:ext>
            </a:extLst>
          </p:cNvPr>
          <p:cNvGrpSpPr/>
          <p:nvPr/>
        </p:nvGrpSpPr>
        <p:grpSpPr>
          <a:xfrm>
            <a:off x="908209" y="4015643"/>
            <a:ext cx="6468440" cy="1312765"/>
            <a:chOff x="1016165" y="4235810"/>
            <a:chExt cx="10211403" cy="146304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2BCC9BA-6791-EE79-A334-92F972EA259B}"/>
                </a:ext>
              </a:extLst>
            </p:cNvPr>
            <p:cNvSpPr/>
            <p:nvPr/>
          </p:nvSpPr>
          <p:spPr>
            <a:xfrm>
              <a:off x="3650845" y="4235810"/>
              <a:ext cx="2322576" cy="1463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1000" b="1">
                  <a:solidFill>
                    <a:prstClr val="black"/>
                  </a:solidFill>
                  <a:latin typeface="Arial" panose="020B0604020202020204"/>
                </a:rPr>
                <a:t>Parametric</a:t>
              </a:r>
            </a:p>
            <a:p>
              <a:pPr algn="ctr">
                <a:defRPr/>
              </a:pPr>
              <a:endParaRPr lang="en-US" sz="1000" b="1">
                <a:solidFill>
                  <a:prstClr val="black"/>
                </a:solidFill>
                <a:latin typeface="Arial" panose="020B0604020202020204"/>
              </a:endParaRPr>
            </a:p>
            <a:p>
              <a:pPr algn="ctr">
                <a:defRPr/>
              </a:pPr>
              <a:r>
                <a:rPr lang="en-US" sz="1000">
                  <a:solidFill>
                    <a:prstClr val="black"/>
                  </a:solidFill>
                  <a:latin typeface="Arial" panose="020B0604020202020204"/>
                </a:rPr>
                <a:t>Tubes, Gears, </a:t>
              </a:r>
            </a:p>
            <a:p>
              <a:pPr algn="ctr">
                <a:defRPr/>
              </a:pPr>
              <a:r>
                <a:rPr lang="en-US" sz="1000">
                  <a:solidFill>
                    <a:prstClr val="black"/>
                  </a:solidFill>
                  <a:latin typeface="Arial" panose="020B0604020202020204"/>
                </a:rPr>
                <a:t>Forgings &amp; Castings</a:t>
              </a:r>
            </a:p>
            <a:p>
              <a:pPr algn="ctr">
                <a:defRPr/>
              </a:pPr>
              <a:r>
                <a:rPr lang="en-US" sz="1000">
                  <a:solidFill>
                    <a:prstClr val="black"/>
                  </a:solidFill>
                  <a:latin typeface="Arial" panose="020B0604020202020204"/>
                </a:rPr>
                <a:t>Database &amp; Library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44DB114-857E-78AC-8583-AB16F9BD030A}"/>
                </a:ext>
              </a:extLst>
            </p:cNvPr>
            <p:cNvSpPr/>
            <p:nvPr/>
          </p:nvSpPr>
          <p:spPr>
            <a:xfrm>
              <a:off x="6285525" y="4235810"/>
              <a:ext cx="2322576" cy="1463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1000" b="1" err="1">
                  <a:solidFill>
                    <a:prstClr val="black"/>
                  </a:solidFill>
                  <a:latin typeface="Arial" panose="020B0604020202020204"/>
                </a:rPr>
                <a:t>aPriori</a:t>
              </a:r>
              <a:endParaRPr lang="en-US" sz="1000" b="1">
                <a:solidFill>
                  <a:prstClr val="black"/>
                </a:solidFill>
                <a:latin typeface="Arial" panose="020B0604020202020204"/>
              </a:endParaRPr>
            </a:p>
            <a:p>
              <a:pPr algn="ctr">
                <a:defRPr/>
              </a:pPr>
              <a:endParaRPr lang="en-US" sz="1000">
                <a:solidFill>
                  <a:prstClr val="black"/>
                </a:solidFill>
                <a:latin typeface="Arial" panose="020B0604020202020204"/>
              </a:endParaRPr>
            </a:p>
            <a:p>
              <a:pPr algn="ctr">
                <a:defRPr/>
              </a:pPr>
              <a:r>
                <a:rPr lang="en-US" sz="1000">
                  <a:solidFill>
                    <a:prstClr val="black"/>
                  </a:solidFill>
                  <a:latin typeface="Arial" panose="020B0604020202020204"/>
                </a:rPr>
                <a:t>New Tech MOS</a:t>
              </a:r>
            </a:p>
            <a:p>
              <a:pPr algn="ctr">
                <a:defRPr/>
              </a:pPr>
              <a:r>
                <a:rPr lang="en-US" sz="1000">
                  <a:solidFill>
                    <a:prstClr val="black"/>
                  </a:solidFill>
                  <a:latin typeface="Arial" panose="020B0604020202020204"/>
                </a:rPr>
                <a:t>Proof of Concept</a:t>
              </a:r>
            </a:p>
            <a:p>
              <a:pPr algn="ctr">
                <a:defRPr/>
              </a:pPr>
              <a:r>
                <a:rPr lang="en-US" sz="1000">
                  <a:solidFill>
                    <a:prstClr val="black"/>
                  </a:solidFill>
                  <a:latin typeface="Arial" panose="020B0604020202020204"/>
                </a:rPr>
                <a:t>Data-base P&amp;WC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91288B3-1238-5B93-A628-4A21A245F7C6}"/>
                </a:ext>
              </a:extLst>
            </p:cNvPr>
            <p:cNvSpPr/>
            <p:nvPr/>
          </p:nvSpPr>
          <p:spPr>
            <a:xfrm>
              <a:off x="8904992" y="4235810"/>
              <a:ext cx="2322576" cy="1463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1000" b="1">
                  <a:solidFill>
                    <a:prstClr val="black"/>
                  </a:solidFill>
                  <a:latin typeface="Arial" panose="020B0604020202020204"/>
                </a:rPr>
                <a:t>Dashboard / </a:t>
              </a:r>
              <a:r>
                <a:rPr lang="en-US" sz="1000" b="1" err="1">
                  <a:solidFill>
                    <a:prstClr val="black"/>
                  </a:solidFill>
                  <a:latin typeface="Arial" panose="020B0604020202020204"/>
                </a:rPr>
                <a:t>PowerBI</a:t>
              </a:r>
              <a:endParaRPr lang="en-US" sz="1000" b="1">
                <a:solidFill>
                  <a:prstClr val="black"/>
                </a:solidFill>
                <a:latin typeface="Arial" panose="020B0604020202020204"/>
              </a:endParaRPr>
            </a:p>
            <a:p>
              <a:pPr algn="ctr">
                <a:defRPr/>
              </a:pPr>
              <a:endParaRPr lang="en-US" sz="1000">
                <a:solidFill>
                  <a:prstClr val="black"/>
                </a:solidFill>
                <a:latin typeface="Arial" panose="020B0604020202020204"/>
              </a:endParaRPr>
            </a:p>
            <a:p>
              <a:pPr algn="ctr">
                <a:defRPr/>
              </a:pPr>
              <a:r>
                <a:rPr lang="en-US" sz="1000">
                  <a:solidFill>
                    <a:prstClr val="black"/>
                  </a:solidFill>
                  <a:latin typeface="Arial" panose="020B0604020202020204"/>
                </a:rPr>
                <a:t>Selection</a:t>
              </a:r>
            </a:p>
            <a:p>
              <a:pPr algn="ctr">
                <a:defRPr/>
              </a:pPr>
              <a:r>
                <a:rPr lang="en-US" sz="1000">
                  <a:solidFill>
                    <a:prstClr val="black"/>
                  </a:solidFill>
                  <a:latin typeface="Arial" panose="020B0604020202020204"/>
                </a:rPr>
                <a:t>Stakeholders Review</a:t>
              </a:r>
            </a:p>
            <a:p>
              <a:pPr algn="ctr">
                <a:defRPr/>
              </a:pPr>
              <a:r>
                <a:rPr lang="en-US" sz="1000">
                  <a:solidFill>
                    <a:prstClr val="black"/>
                  </a:solidFill>
                  <a:latin typeface="Arial" panose="020B0604020202020204"/>
                </a:rPr>
                <a:t>Go-Live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12C89D8-C6B4-B940-D988-87CC12068C1B}"/>
                </a:ext>
              </a:extLst>
            </p:cNvPr>
            <p:cNvSpPr/>
            <p:nvPr/>
          </p:nvSpPr>
          <p:spPr>
            <a:xfrm>
              <a:off x="1016165" y="4235810"/>
              <a:ext cx="2322576" cy="1463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1000" b="1">
                  <a:solidFill>
                    <a:prstClr val="black"/>
                  </a:solidFill>
                  <a:latin typeface="Arial" panose="020B0604020202020204"/>
                </a:rPr>
                <a:t>ABC Tool</a:t>
              </a:r>
            </a:p>
            <a:p>
              <a:pPr algn="ctr">
                <a:defRPr/>
              </a:pPr>
              <a:endParaRPr lang="en-US" sz="1000">
                <a:solidFill>
                  <a:prstClr val="black"/>
                </a:solidFill>
                <a:latin typeface="Arial" panose="020B0604020202020204"/>
              </a:endParaRPr>
            </a:p>
            <a:p>
              <a:pPr algn="ctr">
                <a:defRPr/>
              </a:pPr>
              <a:r>
                <a:rPr lang="en-US" sz="1000">
                  <a:solidFill>
                    <a:prstClr val="black"/>
                  </a:solidFill>
                  <a:latin typeface="Arial" panose="020B0604020202020204"/>
                </a:rPr>
                <a:t>Phase 1</a:t>
              </a:r>
            </a:p>
            <a:p>
              <a:pPr algn="ctr">
                <a:defRPr/>
              </a:pPr>
              <a:r>
                <a:rPr lang="en-US" sz="1000">
                  <a:solidFill>
                    <a:prstClr val="black"/>
                  </a:solidFill>
                  <a:latin typeface="Arial" panose="020B0604020202020204"/>
                </a:rPr>
                <a:t>Phase 2</a:t>
              </a:r>
            </a:p>
            <a:p>
              <a:pPr algn="ctr">
                <a:defRPr/>
              </a:pPr>
              <a:r>
                <a:rPr lang="en-US" sz="1000">
                  <a:solidFill>
                    <a:prstClr val="black"/>
                  </a:solidFill>
                  <a:latin typeface="Arial" panose="020B0604020202020204"/>
                </a:rPr>
                <a:t>Phase 3 (TBC)</a:t>
              </a:r>
            </a:p>
          </p:txBody>
        </p:sp>
      </p:grpSp>
      <p:pic>
        <p:nvPicPr>
          <p:cNvPr id="17" name="Graphic 16" descr="Stopwatch 75% with solid fill">
            <a:extLst>
              <a:ext uri="{FF2B5EF4-FFF2-40B4-BE49-F238E27FC236}">
                <a16:creationId xmlns:a16="http://schemas.microsoft.com/office/drawing/2014/main" id="{A0C81461-AAB7-14DC-792A-B98E4FCA2398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0804" y="1951448"/>
            <a:ext cx="1032211" cy="10322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16EB40-5E16-22B5-5A3D-A97C5D16AFF5}"/>
              </a:ext>
            </a:extLst>
          </p:cNvPr>
          <p:cNvSpPr txBox="1"/>
          <p:nvPr/>
        </p:nvSpPr>
        <p:spPr>
          <a:xfrm>
            <a:off x="704086" y="5763093"/>
            <a:ext cx="10802113" cy="40134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/>
          <a:p>
            <a:pPr algn="ctr">
              <a:spcBef>
                <a:spcPts val="600"/>
              </a:spcBef>
              <a:defRPr/>
            </a:pPr>
            <a:r>
              <a:rPr lang="en-CA" sz="1600">
                <a:solidFill>
                  <a:prstClr val="white"/>
                </a:solidFill>
                <a:latin typeface="Arial" panose="020B0604020202020204"/>
              </a:rPr>
              <a:t>Cost Tools adaptability to RLPM Maturity Level &amp; grow P&amp;WC competitive advantage</a:t>
            </a:r>
            <a:endParaRPr lang="en-CA" sz="1600" b="1">
              <a:solidFill>
                <a:prstClr val="white"/>
              </a:solidFill>
              <a:latin typeface="Arial" panose="020B0604020202020204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411DF01-99EE-F7C5-85FD-04912D319BF8}"/>
              </a:ext>
            </a:extLst>
          </p:cNvPr>
          <p:cNvSpPr/>
          <p:nvPr/>
        </p:nvSpPr>
        <p:spPr>
          <a:xfrm>
            <a:off x="7698993" y="4232366"/>
            <a:ext cx="733947" cy="841252"/>
          </a:xfrm>
          <a:custGeom>
            <a:avLst/>
            <a:gdLst>
              <a:gd name="connsiteX0" fmla="*/ 367455 w 733946"/>
              <a:gd name="connsiteY0" fmla="*/ 775115 h 841252"/>
              <a:gd name="connsiteX1" fmla="*/ 65912 w 733946"/>
              <a:gd name="connsiteY1" fmla="*/ 473744 h 841252"/>
              <a:gd name="connsiteX2" fmla="*/ 367283 w 733946"/>
              <a:gd name="connsiteY2" fmla="*/ 172201 h 841252"/>
              <a:gd name="connsiteX3" fmla="*/ 668826 w 733946"/>
              <a:gd name="connsiteY3" fmla="*/ 473572 h 841252"/>
              <a:gd name="connsiteX4" fmla="*/ 668826 w 733946"/>
              <a:gd name="connsiteY4" fmla="*/ 473658 h 841252"/>
              <a:gd name="connsiteX5" fmla="*/ 368446 w 733946"/>
              <a:gd name="connsiteY5" fmla="*/ 775115 h 841252"/>
              <a:gd name="connsiteX6" fmla="*/ 367455 w 733946"/>
              <a:gd name="connsiteY6" fmla="*/ 775115 h 841252"/>
              <a:gd name="connsiteX7" fmla="*/ 622544 w 733946"/>
              <a:gd name="connsiteY7" fmla="*/ 210960 h 841252"/>
              <a:gd name="connsiteX8" fmla="*/ 654834 w 733946"/>
              <a:gd name="connsiteY8" fmla="*/ 178670 h 841252"/>
              <a:gd name="connsiteX9" fmla="*/ 653757 w 733946"/>
              <a:gd name="connsiteY9" fmla="*/ 133464 h 841252"/>
              <a:gd name="connsiteX10" fmla="*/ 608552 w 733946"/>
              <a:gd name="connsiteY10" fmla="*/ 132388 h 841252"/>
              <a:gd name="connsiteX11" fmla="*/ 571957 w 733946"/>
              <a:gd name="connsiteY11" fmla="*/ 170059 h 841252"/>
              <a:gd name="connsiteX12" fmla="*/ 399745 w 733946"/>
              <a:gd name="connsiteY12" fmla="*/ 109785 h 841252"/>
              <a:gd name="connsiteX13" fmla="*/ 399745 w 733946"/>
              <a:gd name="connsiteY13" fmla="*/ 64580 h 841252"/>
              <a:gd name="connsiteX14" fmla="*/ 496614 w 733946"/>
              <a:gd name="connsiteY14" fmla="*/ 64580 h 841252"/>
              <a:gd name="connsiteX15" fmla="*/ 496614 w 733946"/>
              <a:gd name="connsiteY15" fmla="*/ 0 h 841252"/>
              <a:gd name="connsiteX16" fmla="*/ 238296 w 733946"/>
              <a:gd name="connsiteY16" fmla="*/ 0 h 841252"/>
              <a:gd name="connsiteX17" fmla="*/ 238296 w 733946"/>
              <a:gd name="connsiteY17" fmla="*/ 64580 h 841252"/>
              <a:gd name="connsiteX18" fmla="*/ 335165 w 733946"/>
              <a:gd name="connsiteY18" fmla="*/ 64580 h 841252"/>
              <a:gd name="connsiteX19" fmla="*/ 335165 w 733946"/>
              <a:gd name="connsiteY19" fmla="*/ 108709 h 841252"/>
              <a:gd name="connsiteX20" fmla="*/ 1403 w 733946"/>
              <a:gd name="connsiteY20" fmla="*/ 506087 h 841252"/>
              <a:gd name="connsiteX21" fmla="*/ 398781 w 733946"/>
              <a:gd name="connsiteY21" fmla="*/ 839850 h 841252"/>
              <a:gd name="connsiteX22" fmla="*/ 732543 w 733946"/>
              <a:gd name="connsiteY22" fmla="*/ 442471 h 841252"/>
              <a:gd name="connsiteX23" fmla="*/ 622544 w 733946"/>
              <a:gd name="connsiteY23" fmla="*/ 210960 h 841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3946" h="841252">
                <a:moveTo>
                  <a:pt x="367455" y="775115"/>
                </a:moveTo>
                <a:cubicBezTo>
                  <a:pt x="200965" y="775163"/>
                  <a:pt x="65959" y="640235"/>
                  <a:pt x="65912" y="473744"/>
                </a:cubicBezTo>
                <a:cubicBezTo>
                  <a:pt x="65864" y="307254"/>
                  <a:pt x="200792" y="172249"/>
                  <a:pt x="367283" y="172201"/>
                </a:cubicBezTo>
                <a:cubicBezTo>
                  <a:pt x="533773" y="172154"/>
                  <a:pt x="668779" y="307082"/>
                  <a:pt x="668826" y="473572"/>
                </a:cubicBezTo>
                <a:cubicBezTo>
                  <a:pt x="668826" y="473601"/>
                  <a:pt x="668826" y="473629"/>
                  <a:pt x="668826" y="473658"/>
                </a:cubicBezTo>
                <a:cubicBezTo>
                  <a:pt x="669123" y="639852"/>
                  <a:pt x="534638" y="774818"/>
                  <a:pt x="368446" y="775115"/>
                </a:cubicBezTo>
                <a:cubicBezTo>
                  <a:pt x="368116" y="775115"/>
                  <a:pt x="367785" y="775115"/>
                  <a:pt x="367455" y="775115"/>
                </a:cubicBezTo>
                <a:close/>
                <a:moveTo>
                  <a:pt x="622544" y="210960"/>
                </a:moveTo>
                <a:lnTo>
                  <a:pt x="654834" y="178670"/>
                </a:lnTo>
                <a:cubicBezTo>
                  <a:pt x="666899" y="165843"/>
                  <a:pt x="666419" y="145702"/>
                  <a:pt x="653757" y="133464"/>
                </a:cubicBezTo>
                <a:cubicBezTo>
                  <a:pt x="641297" y="121321"/>
                  <a:pt x="621576" y="120851"/>
                  <a:pt x="608552" y="132388"/>
                </a:cubicBezTo>
                <a:lnTo>
                  <a:pt x="571957" y="170059"/>
                </a:lnTo>
                <a:cubicBezTo>
                  <a:pt x="520753" y="135369"/>
                  <a:pt x="461405" y="114597"/>
                  <a:pt x="399745" y="109785"/>
                </a:cubicBezTo>
                <a:lnTo>
                  <a:pt x="399745" y="64580"/>
                </a:lnTo>
                <a:lnTo>
                  <a:pt x="496614" y="64580"/>
                </a:lnTo>
                <a:lnTo>
                  <a:pt x="496614" y="0"/>
                </a:lnTo>
                <a:lnTo>
                  <a:pt x="238296" y="0"/>
                </a:lnTo>
                <a:lnTo>
                  <a:pt x="238296" y="64580"/>
                </a:lnTo>
                <a:lnTo>
                  <a:pt x="335165" y="64580"/>
                </a:lnTo>
                <a:lnTo>
                  <a:pt x="335165" y="108709"/>
                </a:lnTo>
                <a:cubicBezTo>
                  <a:pt x="133266" y="126276"/>
                  <a:pt x="-16165" y="304189"/>
                  <a:pt x="1403" y="506087"/>
                </a:cubicBezTo>
                <a:cubicBezTo>
                  <a:pt x="18970" y="707986"/>
                  <a:pt x="196883" y="857417"/>
                  <a:pt x="398781" y="839850"/>
                </a:cubicBezTo>
                <a:cubicBezTo>
                  <a:pt x="600681" y="822282"/>
                  <a:pt x="750111" y="644370"/>
                  <a:pt x="732543" y="442471"/>
                </a:cubicBezTo>
                <a:cubicBezTo>
                  <a:pt x="724897" y="354587"/>
                  <a:pt x="685847" y="272400"/>
                  <a:pt x="622544" y="210960"/>
                </a:cubicBezTo>
                <a:close/>
              </a:path>
            </a:pathLst>
          </a:custGeom>
          <a:solidFill>
            <a:schemeClr val="bg1"/>
          </a:solidFill>
          <a:ln w="1071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CA" sz="240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0BC6228-856D-2FA0-C2D0-5AC21A6E1AA8}"/>
              </a:ext>
            </a:extLst>
          </p:cNvPr>
          <p:cNvSpPr/>
          <p:nvPr/>
        </p:nvSpPr>
        <p:spPr>
          <a:xfrm>
            <a:off x="8066429" y="4447544"/>
            <a:ext cx="258319" cy="258317"/>
          </a:xfrm>
          <a:custGeom>
            <a:avLst/>
            <a:gdLst>
              <a:gd name="connsiteX0" fmla="*/ 258318 w 258318"/>
              <a:gd name="connsiteY0" fmla="*/ 258318 h 258317"/>
              <a:gd name="connsiteX1" fmla="*/ 0 w 258318"/>
              <a:gd name="connsiteY1" fmla="*/ 0 h 258317"/>
              <a:gd name="connsiteX2" fmla="*/ 0 w 258318"/>
              <a:gd name="connsiteY2" fmla="*/ 258318 h 25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8318" h="258317">
                <a:moveTo>
                  <a:pt x="258318" y="258318"/>
                </a:moveTo>
                <a:cubicBezTo>
                  <a:pt x="258152" y="115722"/>
                  <a:pt x="142596" y="166"/>
                  <a:pt x="0" y="0"/>
                </a:cubicBezTo>
                <a:lnTo>
                  <a:pt x="0" y="258318"/>
                </a:lnTo>
                <a:close/>
              </a:path>
            </a:pathLst>
          </a:custGeom>
          <a:solidFill>
            <a:schemeClr val="bg1"/>
          </a:solidFill>
          <a:ln w="1071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CA" sz="240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C68C22-888C-9B52-5C52-9CBD750CAAA7}"/>
              </a:ext>
            </a:extLst>
          </p:cNvPr>
          <p:cNvSpPr/>
          <p:nvPr/>
        </p:nvSpPr>
        <p:spPr>
          <a:xfrm>
            <a:off x="7550805" y="1811172"/>
            <a:ext cx="3742105" cy="13127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5840" rtlCol="0" anchor="ctr"/>
          <a:lstStyle/>
          <a:p>
            <a:pPr>
              <a:defRPr/>
            </a:pPr>
            <a:r>
              <a:rPr lang="en-US" sz="1000" b="1">
                <a:solidFill>
                  <a:prstClr val="white"/>
                </a:solidFill>
                <a:latin typeface="Arial" panose="020B0604020202020204"/>
              </a:rPr>
              <a:t>Long Lead-Times &amp; Inefficiencies</a:t>
            </a:r>
          </a:p>
          <a:p>
            <a:pPr>
              <a:defRPr/>
            </a:pPr>
            <a:endParaRPr lang="en-US" sz="1000" b="1">
              <a:solidFill>
                <a:prstClr val="white"/>
              </a:solidFill>
              <a:latin typeface="Arial" panose="020B0604020202020204"/>
            </a:endParaRPr>
          </a:p>
          <a:p>
            <a:pPr>
              <a:defRPr/>
            </a:pPr>
            <a:r>
              <a:rPr lang="en-US" sz="1000">
                <a:solidFill>
                  <a:prstClr val="white"/>
                </a:solidFill>
                <a:latin typeface="Arial" panose="020B0604020202020204"/>
              </a:rPr>
              <a:t>SME based</a:t>
            </a:r>
          </a:p>
          <a:p>
            <a:pPr>
              <a:defRPr/>
            </a:pPr>
            <a:r>
              <a:rPr lang="en-US" sz="1000">
                <a:solidFill>
                  <a:prstClr val="white"/>
                </a:solidFill>
                <a:latin typeface="Arial" panose="020B0604020202020204"/>
              </a:rPr>
              <a:t>New designs/parts with no costs</a:t>
            </a:r>
          </a:p>
          <a:p>
            <a:pPr>
              <a:defRPr/>
            </a:pPr>
            <a:r>
              <a:rPr lang="en-US" sz="1000">
                <a:solidFill>
                  <a:prstClr val="white"/>
                </a:solidFill>
                <a:latin typeface="Arial" panose="020B0604020202020204"/>
              </a:rPr>
              <a:t>Limited should-cost options</a:t>
            </a:r>
            <a:endParaRPr lang="en-US" sz="100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65BCFD-665E-F4D3-3A1C-7158EC12F38B}"/>
              </a:ext>
            </a:extLst>
          </p:cNvPr>
          <p:cNvSpPr/>
          <p:nvPr/>
        </p:nvSpPr>
        <p:spPr>
          <a:xfrm>
            <a:off x="7550805" y="4015643"/>
            <a:ext cx="3742105" cy="13127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5840" rtlCol="0" anchor="ctr"/>
          <a:lstStyle/>
          <a:p>
            <a:pPr>
              <a:defRPr/>
            </a:pPr>
            <a:r>
              <a:rPr lang="en-US" sz="1000" b="1">
                <a:solidFill>
                  <a:prstClr val="white"/>
                </a:solidFill>
                <a:latin typeface="Arial" panose="020B0604020202020204"/>
              </a:rPr>
              <a:t>Competitive Advantage</a:t>
            </a:r>
          </a:p>
          <a:p>
            <a:pPr>
              <a:defRPr/>
            </a:pPr>
            <a:endParaRPr lang="en-US" sz="1000" b="1">
              <a:solidFill>
                <a:prstClr val="white"/>
              </a:solidFill>
              <a:latin typeface="Arial" panose="020B0604020202020204"/>
            </a:endParaRPr>
          </a:p>
          <a:p>
            <a:pPr>
              <a:defRPr/>
            </a:pPr>
            <a:r>
              <a:rPr lang="en-US" sz="1000">
                <a:solidFill>
                  <a:prstClr val="white"/>
                </a:solidFill>
                <a:latin typeface="Arial" panose="020B0604020202020204"/>
              </a:rPr>
              <a:t>Fastest turn-around times</a:t>
            </a:r>
          </a:p>
          <a:p>
            <a:pPr>
              <a:defRPr/>
            </a:pPr>
            <a:r>
              <a:rPr lang="en-US" sz="1000">
                <a:solidFill>
                  <a:prstClr val="white"/>
                </a:solidFill>
                <a:latin typeface="Arial" panose="020B0604020202020204"/>
              </a:rPr>
              <a:t>Best cost accuracy</a:t>
            </a:r>
          </a:p>
          <a:p>
            <a:pPr>
              <a:defRPr/>
            </a:pPr>
            <a:r>
              <a:rPr lang="en-US" sz="1000">
                <a:solidFill>
                  <a:prstClr val="white"/>
                </a:solidFill>
                <a:latin typeface="Arial" panose="020B0604020202020204"/>
              </a:rPr>
              <a:t>Advanced cost knowledge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B23C117A-DD6F-3F4E-B7CA-EE7BC244A0F4}"/>
              </a:ext>
            </a:extLst>
          </p:cNvPr>
          <p:cNvSpPr/>
          <p:nvPr/>
        </p:nvSpPr>
        <p:spPr>
          <a:xfrm>
            <a:off x="9001870" y="3214195"/>
            <a:ext cx="839972" cy="71007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prstClr val="white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770347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201FE-F555-F42E-E5B7-248D2C820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352A4FBA-3F09-61DF-BBB1-440A6009B223}"/>
              </a:ext>
            </a:extLst>
          </p:cNvPr>
          <p:cNvGrpSpPr/>
          <p:nvPr/>
        </p:nvGrpSpPr>
        <p:grpSpPr>
          <a:xfrm>
            <a:off x="7322523" y="457264"/>
            <a:ext cx="4404840" cy="4776926"/>
            <a:chOff x="7511604" y="580146"/>
            <a:chExt cx="4404840" cy="4776925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E3FE915-6ECC-BE2C-32B1-82F778D2073E}"/>
                </a:ext>
              </a:extLst>
            </p:cNvPr>
            <p:cNvGrpSpPr/>
            <p:nvPr/>
          </p:nvGrpSpPr>
          <p:grpSpPr>
            <a:xfrm>
              <a:off x="7511604" y="580146"/>
              <a:ext cx="4404840" cy="4776925"/>
              <a:chOff x="7643137" y="-109448"/>
              <a:chExt cx="4404840" cy="4716379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2EA17C85-7922-F9D6-A343-7C9CDB98B207}"/>
                  </a:ext>
                </a:extLst>
              </p:cNvPr>
              <p:cNvGrpSpPr/>
              <p:nvPr/>
            </p:nvGrpSpPr>
            <p:grpSpPr>
              <a:xfrm>
                <a:off x="7643137" y="-109448"/>
                <a:ext cx="4404840" cy="4716379"/>
                <a:chOff x="7990297" y="360856"/>
                <a:chExt cx="5418162" cy="3534872"/>
              </a:xfrm>
            </p:grpSpPr>
            <p:graphicFrame>
              <p:nvGraphicFramePr>
                <p:cNvPr id="43" name="Diagram 42">
                  <a:extLst>
                    <a:ext uri="{FF2B5EF4-FFF2-40B4-BE49-F238E27FC236}">
                      <a16:creationId xmlns:a16="http://schemas.microsoft.com/office/drawing/2014/main" id="{344DBBA1-12D5-64C8-8FE6-789039E06022}"/>
                    </a:ext>
                  </a:extLst>
                </p:cNvPr>
                <p:cNvGraphicFramePr/>
                <p:nvPr/>
              </p:nvGraphicFramePr>
              <p:xfrm>
                <a:off x="7990297" y="360856"/>
                <a:ext cx="5418162" cy="3534872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3" r:lo="rId4" r:qs="rId5" r:cs="rId6"/>
                </a:graphicData>
              </a:graphic>
            </p:graphicFrame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A86B86FC-91F5-C9D0-DA76-3E7019D30F50}"/>
                    </a:ext>
                  </a:extLst>
                </p:cNvPr>
                <p:cNvGrpSpPr/>
                <p:nvPr/>
              </p:nvGrpSpPr>
              <p:grpSpPr>
                <a:xfrm>
                  <a:off x="8332266" y="1645484"/>
                  <a:ext cx="5026707" cy="1246640"/>
                  <a:chOff x="8250379" y="1563598"/>
                  <a:chExt cx="5026707" cy="1246640"/>
                </a:xfrm>
              </p:grpSpPr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136136B7-FC7A-F5D2-41E5-3EE13B69D4A3}"/>
                      </a:ext>
                    </a:extLst>
                  </p:cNvPr>
                  <p:cNvSpPr txBox="1"/>
                  <p:nvPr/>
                </p:nvSpPr>
                <p:spPr>
                  <a:xfrm>
                    <a:off x="8250379" y="2410862"/>
                    <a:ext cx="1729534" cy="3416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sz="1200" b="1">
                        <a:solidFill>
                          <a:prstClr val="black"/>
                        </a:solidFill>
                        <a:latin typeface="Arial"/>
                      </a:rPr>
                      <a:t>Environment, Health &amp; Safety</a:t>
                    </a:r>
                  </a:p>
                </p:txBody>
              </p:sp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8641C68C-49D0-9FF6-A070-99EA8F3F2882}"/>
                      </a:ext>
                    </a:extLst>
                  </p:cNvPr>
                  <p:cNvSpPr txBox="1"/>
                  <p:nvPr/>
                </p:nvSpPr>
                <p:spPr>
                  <a:xfrm>
                    <a:off x="9492509" y="1563598"/>
                    <a:ext cx="2197650" cy="47827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US" sz="1200" b="1">
                        <a:solidFill>
                          <a:prstClr val="black"/>
                        </a:solidFill>
                        <a:latin typeface="Arial"/>
                      </a:rPr>
                      <a:t>Chemical</a:t>
                    </a:r>
                  </a:p>
                  <a:p>
                    <a:pPr algn="ctr">
                      <a:defRPr/>
                    </a:pPr>
                    <a:r>
                      <a:rPr lang="en-US" sz="1200" b="1">
                        <a:solidFill>
                          <a:prstClr val="black"/>
                        </a:solidFill>
                        <a:latin typeface="Arial"/>
                      </a:rPr>
                      <a:t>&amp; Product Regulations</a:t>
                    </a:r>
                  </a:p>
                </p:txBody>
              </p:sp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03E32266-5DA1-9B02-973E-6BDFAF80B538}"/>
                      </a:ext>
                    </a:extLst>
                  </p:cNvPr>
                  <p:cNvSpPr txBox="1"/>
                  <p:nvPr/>
                </p:nvSpPr>
                <p:spPr>
                  <a:xfrm>
                    <a:off x="11553844" y="2331960"/>
                    <a:ext cx="1723242" cy="47827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sz="1200" b="1">
                        <a:solidFill>
                          <a:prstClr val="black"/>
                        </a:solidFill>
                        <a:latin typeface="Arial"/>
                      </a:rPr>
                      <a:t>Sourcing Controls &amp; Requirements</a:t>
                    </a:r>
                  </a:p>
                </p:txBody>
              </p:sp>
            </p:grp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529BE63-E243-2BB4-9C8C-B935A5DEEB6B}"/>
                  </a:ext>
                </a:extLst>
              </p:cNvPr>
              <p:cNvSpPr txBox="1"/>
              <p:nvPr/>
            </p:nvSpPr>
            <p:spPr>
              <a:xfrm>
                <a:off x="9042932" y="3571225"/>
                <a:ext cx="1786639" cy="8204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 sz="1200" b="1">
                    <a:solidFill>
                      <a:prstClr val="black"/>
                    </a:solidFill>
                    <a:latin typeface="Arial"/>
                  </a:rPr>
                  <a:t>Customer Requirements</a:t>
                </a:r>
              </a:p>
              <a:p>
                <a:pPr algn="ctr">
                  <a:defRPr/>
                </a:pPr>
                <a:endParaRPr lang="en-US" sz="1200" b="1">
                  <a:solidFill>
                    <a:prstClr val="black"/>
                  </a:solidFill>
                  <a:latin typeface="Arial"/>
                </a:endParaRPr>
              </a:p>
              <a:p>
                <a:pPr algn="ctr">
                  <a:defRPr/>
                </a:pPr>
                <a:r>
                  <a:rPr lang="en-US" sz="1200" b="1">
                    <a:solidFill>
                      <a:prstClr val="black"/>
                    </a:solidFill>
                    <a:latin typeface="Arial"/>
                  </a:rPr>
                  <a:t>Design</a:t>
                </a: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0B4465C-5F3A-019E-3745-C0EB4D959D24}"/>
                </a:ext>
              </a:extLst>
            </p:cNvPr>
            <p:cNvSpPr txBox="1"/>
            <p:nvPr/>
          </p:nvSpPr>
          <p:spPr>
            <a:xfrm>
              <a:off x="7643868" y="1466854"/>
              <a:ext cx="4272576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CA" sz="1600" b="1">
                  <a:solidFill>
                    <a:schemeClr val="accent4">
                      <a:lumMod val="50000"/>
                    </a:schemeClr>
                  </a:solidFill>
                  <a:latin typeface="Arial" panose="020B0604020202020204"/>
                </a:rPr>
                <a:t>Chemical Substances Risk Management</a:t>
              </a:r>
            </a:p>
          </p:txBody>
        </p:sp>
      </p:grpSp>
      <p:sp>
        <p:nvSpPr>
          <p:cNvPr id="8" name="Title 7">
            <a:extLst>
              <a:ext uri="{FF2B5EF4-FFF2-40B4-BE49-F238E27FC236}">
                <a16:creationId xmlns:a16="http://schemas.microsoft.com/office/drawing/2014/main" id="{8C767411-CFEC-F972-0DFA-793EB5340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OPO Disciplines - Global Chemical Regulation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0AE60-3366-2E72-7816-87C484433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4812283"/>
            <a:ext cx="9144000" cy="80792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lang="en-US" sz="5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>
              <a:defRPr/>
            </a:pPr>
            <a:r>
              <a:rPr lang="en-CA"/>
              <a:t>EXPORT MARKING: (Insert Export Marking) [TO CHANGE GO TO INSERT &gt; HEADER &amp; FOOTER] </a:t>
            </a:r>
            <a:endParaRPr lang="en-US" sz="70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2D2711A-9240-60A6-1CA7-85CB49CC90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>
              <a:defRPr/>
            </a:pPr>
            <a:fld id="{07165E6F-54ED-4977-A15E-D44BE7238A65}" type="slidenum">
              <a:rPr lang="en-US">
                <a:solidFill>
                  <a:srgbClr val="63666A"/>
                </a:solidFill>
                <a:latin typeface="Arial" panose="020B0604020202020204"/>
              </a:rPr>
              <a:pPr defTabSz="914377">
                <a:defRPr/>
              </a:pPr>
              <a:t>6</a:t>
            </a:fld>
            <a:endParaRPr lang="en-US">
              <a:solidFill>
                <a:srgbClr val="63666A"/>
              </a:solidFill>
              <a:latin typeface="Arial" panose="020B060402020202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A31263-6810-A4BA-E7BC-389B33222EE3}"/>
              </a:ext>
            </a:extLst>
          </p:cNvPr>
          <p:cNvSpPr txBox="1"/>
          <p:nvPr/>
        </p:nvSpPr>
        <p:spPr>
          <a:xfrm>
            <a:off x="704086" y="5763093"/>
            <a:ext cx="10802113" cy="40134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/>
          <a:p>
            <a:pPr algn="ctr">
              <a:spcBef>
                <a:spcPts val="600"/>
              </a:spcBef>
              <a:defRPr/>
            </a:pPr>
            <a:r>
              <a:rPr lang="en-US" sz="1600">
                <a:solidFill>
                  <a:prstClr val="white"/>
                </a:solidFill>
                <a:latin typeface="Arial" panose="020B0604020202020204"/>
              </a:rPr>
              <a:t>Ensure no business disruption due to global chemical regulation whilst being compliant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666E7ED-B5D6-04C4-2C16-3EE542A5D27B}"/>
              </a:ext>
            </a:extLst>
          </p:cNvPr>
          <p:cNvSpPr/>
          <p:nvPr/>
        </p:nvSpPr>
        <p:spPr>
          <a:xfrm>
            <a:off x="5213693" y="2235545"/>
            <a:ext cx="1949107" cy="30183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  <a:latin typeface="Arial" panose="020B0604020202020204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32C6F02-ACFA-D0D3-27F9-66BF1898D114}"/>
              </a:ext>
            </a:extLst>
          </p:cNvPr>
          <p:cNvSpPr/>
          <p:nvPr/>
        </p:nvSpPr>
        <p:spPr>
          <a:xfrm>
            <a:off x="702120" y="2235545"/>
            <a:ext cx="1949107" cy="30183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  <a:latin typeface="Arial" panose="020B0604020202020204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DD9D536-67B3-4973-D059-08F92CE96B4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8094"/>
          <a:stretch/>
        </p:blipFill>
        <p:spPr>
          <a:xfrm>
            <a:off x="5404003" y="2489189"/>
            <a:ext cx="564372" cy="584423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F9D5C787-C083-5808-A824-39387ECED087}"/>
              </a:ext>
            </a:extLst>
          </p:cNvPr>
          <p:cNvSpPr/>
          <p:nvPr/>
        </p:nvSpPr>
        <p:spPr>
          <a:xfrm>
            <a:off x="2957907" y="2235545"/>
            <a:ext cx="1949107" cy="30183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  <a:latin typeface="Arial" panose="020B0604020202020204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BBABB63-40C8-9F72-B1F2-748BAF63718E}"/>
              </a:ext>
            </a:extLst>
          </p:cNvPr>
          <p:cNvGrpSpPr/>
          <p:nvPr/>
        </p:nvGrpSpPr>
        <p:grpSpPr>
          <a:xfrm>
            <a:off x="702121" y="1444847"/>
            <a:ext cx="6460681" cy="676652"/>
            <a:chOff x="702119" y="2113626"/>
            <a:chExt cx="6460681" cy="3018314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937158D-33D3-1102-BCB5-25595789EB66}"/>
                </a:ext>
              </a:extLst>
            </p:cNvPr>
            <p:cNvSpPr/>
            <p:nvPr/>
          </p:nvSpPr>
          <p:spPr>
            <a:xfrm>
              <a:off x="702119" y="2113626"/>
              <a:ext cx="1949107" cy="301831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sz="1600" b="1">
                  <a:solidFill>
                    <a:prstClr val="black"/>
                  </a:solidFill>
                  <a:latin typeface="Arial" panose="020B0604020202020204"/>
                </a:rPr>
                <a:t>Monitor</a:t>
              </a:r>
              <a:endParaRPr lang="en-US" sz="1600" b="1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FCE8317-FD00-9984-8669-ECEAA74BE79D}"/>
                </a:ext>
              </a:extLst>
            </p:cNvPr>
            <p:cNvSpPr/>
            <p:nvPr/>
          </p:nvSpPr>
          <p:spPr>
            <a:xfrm>
              <a:off x="2957906" y="2113626"/>
              <a:ext cx="1949107" cy="301831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sz="1600" b="1">
                  <a:solidFill>
                    <a:prstClr val="black"/>
                  </a:solidFill>
                  <a:latin typeface="Arial" panose="020B0604020202020204"/>
                </a:rPr>
                <a:t>Assess</a:t>
              </a:r>
              <a:endParaRPr lang="en-US" sz="1600" b="1">
                <a:solidFill>
                  <a:prstClr val="black"/>
                </a:solidFill>
                <a:latin typeface="Arial" panose="020B0604020202020204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41001BC-4709-65A5-07F7-93141385EB35}"/>
                </a:ext>
              </a:extLst>
            </p:cNvPr>
            <p:cNvSpPr/>
            <p:nvPr/>
          </p:nvSpPr>
          <p:spPr>
            <a:xfrm>
              <a:off x="5213693" y="2113626"/>
              <a:ext cx="1949107" cy="301831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sz="1600" b="1">
                  <a:solidFill>
                    <a:prstClr val="black"/>
                  </a:solidFill>
                  <a:latin typeface="Arial" panose="020B0604020202020204"/>
                </a:rPr>
                <a:t>Advocate</a:t>
              </a:r>
              <a:endParaRPr lang="en-US" sz="1600" b="1">
                <a:solidFill>
                  <a:prstClr val="black"/>
                </a:solidFill>
                <a:latin typeface="Arial" panose="020B0604020202020204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34E0EAE-00D6-F25B-CA18-9D8E23C0A6C5}"/>
              </a:ext>
            </a:extLst>
          </p:cNvPr>
          <p:cNvGrpSpPr/>
          <p:nvPr/>
        </p:nvGrpSpPr>
        <p:grpSpPr>
          <a:xfrm>
            <a:off x="1131290" y="2339574"/>
            <a:ext cx="1090761" cy="966737"/>
            <a:chOff x="655436" y="3030777"/>
            <a:chExt cx="1090761" cy="96673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79A798A-CBBF-1B86-D4C2-65C6E9F3B54D}"/>
                </a:ext>
              </a:extLst>
            </p:cNvPr>
            <p:cNvSpPr txBox="1"/>
            <p:nvPr/>
          </p:nvSpPr>
          <p:spPr>
            <a:xfrm>
              <a:off x="666290" y="3802706"/>
              <a:ext cx="1069059" cy="1948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buClr>
                  <a:prstClr val="black"/>
                </a:buClr>
                <a:buSzPct val="100000"/>
              </a:pPr>
              <a:r>
                <a:rPr lang="en-US" sz="1200">
                  <a:solidFill>
                    <a:prstClr val="black"/>
                  </a:solidFill>
                  <a:latin typeface="Arial" panose="020B0604020202020204"/>
                </a:rPr>
                <a:t>Scientific &amp; Political Community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1CB2E1A-8961-79AA-F096-D0078C228A00}"/>
                </a:ext>
              </a:extLst>
            </p:cNvPr>
            <p:cNvGrpSpPr/>
            <p:nvPr/>
          </p:nvGrpSpPr>
          <p:grpSpPr>
            <a:xfrm>
              <a:off x="655436" y="3030777"/>
              <a:ext cx="1090761" cy="729080"/>
              <a:chOff x="1494512" y="2656608"/>
              <a:chExt cx="1428340" cy="975897"/>
            </a:xfrm>
          </p:grpSpPr>
          <p:pic>
            <p:nvPicPr>
              <p:cNvPr id="30" name="Graphic 29" descr="Flask outline">
                <a:extLst>
                  <a:ext uri="{FF2B5EF4-FFF2-40B4-BE49-F238E27FC236}">
                    <a16:creationId xmlns:a16="http://schemas.microsoft.com/office/drawing/2014/main" id="{702D5A82-A13C-28B6-DDAF-AE2F724A0C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494512" y="2848738"/>
                <a:ext cx="790177" cy="768996"/>
              </a:xfrm>
              <a:prstGeom prst="rect">
                <a:avLst/>
              </a:prstGeom>
            </p:spPr>
          </p:pic>
          <p:pic>
            <p:nvPicPr>
              <p:cNvPr id="10" name="Graphic 9" descr="Microscope outline">
                <a:extLst>
                  <a:ext uri="{FF2B5EF4-FFF2-40B4-BE49-F238E27FC236}">
                    <a16:creationId xmlns:a16="http://schemas.microsoft.com/office/drawing/2014/main" id="{E34E49C1-D1EC-C731-064C-3AF7AFB42D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2153856" y="2863509"/>
                <a:ext cx="768996" cy="768996"/>
              </a:xfrm>
              <a:prstGeom prst="rect">
                <a:avLst/>
              </a:prstGeom>
            </p:spPr>
          </p:pic>
          <p:pic>
            <p:nvPicPr>
              <p:cNvPr id="32" name="Graphic 31" descr="Group brainstorm outline">
                <a:extLst>
                  <a:ext uri="{FF2B5EF4-FFF2-40B4-BE49-F238E27FC236}">
                    <a16:creationId xmlns:a16="http://schemas.microsoft.com/office/drawing/2014/main" id="{CB094D51-153C-8197-C8EC-B08F275BF4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916966" y="2656608"/>
                <a:ext cx="645987" cy="645987"/>
              </a:xfrm>
              <a:prstGeom prst="rect">
                <a:avLst/>
              </a:prstGeom>
            </p:spPr>
          </p:pic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CC8D41D-0350-3438-3917-F51D97B5BA32}"/>
              </a:ext>
            </a:extLst>
          </p:cNvPr>
          <p:cNvGrpSpPr/>
          <p:nvPr/>
        </p:nvGrpSpPr>
        <p:grpSpPr>
          <a:xfrm>
            <a:off x="1166028" y="3773539"/>
            <a:ext cx="1069059" cy="975621"/>
            <a:chOff x="2136637" y="3021893"/>
            <a:chExt cx="1069059" cy="97562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EC16A50-A932-89BF-0BDE-6E888B59D813}"/>
                </a:ext>
              </a:extLst>
            </p:cNvPr>
            <p:cNvSpPr txBox="1"/>
            <p:nvPr/>
          </p:nvSpPr>
          <p:spPr>
            <a:xfrm>
              <a:off x="2136637" y="3802706"/>
              <a:ext cx="1069059" cy="1948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buClr>
                  <a:prstClr val="black"/>
                </a:buClr>
                <a:buSzPct val="100000"/>
              </a:pPr>
              <a:r>
                <a:rPr lang="en-US" sz="1200">
                  <a:solidFill>
                    <a:prstClr val="black"/>
                  </a:solidFill>
                  <a:latin typeface="Arial" panose="020B0604020202020204"/>
                </a:rPr>
                <a:t>Proposed &amp; Final Requirements</a:t>
              </a:r>
            </a:p>
          </p:txBody>
        </p:sp>
        <p:pic>
          <p:nvPicPr>
            <p:cNvPr id="37" name="Graphic 36" descr="Contract outline">
              <a:extLst>
                <a:ext uri="{FF2B5EF4-FFF2-40B4-BE49-F238E27FC236}">
                  <a16:creationId xmlns:a16="http://schemas.microsoft.com/office/drawing/2014/main" id="{2B8A0C9F-6810-1E8F-3ABD-B27C1D97F8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273674" y="3021893"/>
              <a:ext cx="794984" cy="794984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C5FBB14-DAA2-AECC-3317-1B249AA886A6}"/>
              </a:ext>
            </a:extLst>
          </p:cNvPr>
          <p:cNvGrpSpPr/>
          <p:nvPr/>
        </p:nvGrpSpPr>
        <p:grpSpPr>
          <a:xfrm>
            <a:off x="3302295" y="2886401"/>
            <a:ext cx="1257004" cy="1365347"/>
            <a:chOff x="3432881" y="2633399"/>
            <a:chExt cx="1257004" cy="136534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F44FBF3-7934-B08D-7759-557108635B67}"/>
                </a:ext>
              </a:extLst>
            </p:cNvPr>
            <p:cNvSpPr txBox="1"/>
            <p:nvPr/>
          </p:nvSpPr>
          <p:spPr>
            <a:xfrm>
              <a:off x="3432881" y="3803938"/>
              <a:ext cx="1257004" cy="1948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buClr>
                  <a:prstClr val="black"/>
                </a:buClr>
                <a:buSzPct val="100000"/>
              </a:pPr>
              <a:r>
                <a:rPr lang="en-US" sz="1200">
                  <a:solidFill>
                    <a:prstClr val="black"/>
                  </a:solidFill>
                  <a:latin typeface="Arial" panose="020B0604020202020204"/>
                </a:rPr>
                <a:t>Interpretation &amp; Impact Assessment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24C7DF4-AE94-D8BC-0FAD-BEB64B3FEF36}"/>
                </a:ext>
              </a:extLst>
            </p:cNvPr>
            <p:cNvSpPr txBox="1"/>
            <p:nvPr/>
          </p:nvSpPr>
          <p:spPr>
            <a:xfrm>
              <a:off x="3485774" y="2633399"/>
              <a:ext cx="1151218" cy="1948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buClr>
                  <a:prstClr val="black"/>
                </a:buClr>
                <a:buSzPct val="100000"/>
              </a:pPr>
              <a:r>
                <a:rPr lang="en-US" sz="1200">
                  <a:solidFill>
                    <a:prstClr val="black"/>
                  </a:solidFill>
                  <a:latin typeface="Arial" panose="020B0604020202020204"/>
                </a:rPr>
                <a:t>Product &amp; Substance Data</a:t>
              </a:r>
            </a:p>
          </p:txBody>
        </p:sp>
        <p:pic>
          <p:nvPicPr>
            <p:cNvPr id="53" name="Graphic 52" descr="Monitor outline">
              <a:extLst>
                <a:ext uri="{FF2B5EF4-FFF2-40B4-BE49-F238E27FC236}">
                  <a16:creationId xmlns:a16="http://schemas.microsoft.com/office/drawing/2014/main" id="{E6B1FF2A-0834-F25E-C0EE-B38E578D73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604183" y="2951356"/>
              <a:ext cx="914400" cy="914400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DE99AD1-E000-0FA1-8213-783F304E3913}"/>
              </a:ext>
            </a:extLst>
          </p:cNvPr>
          <p:cNvSpPr txBox="1"/>
          <p:nvPr/>
        </p:nvSpPr>
        <p:spPr>
          <a:xfrm>
            <a:off x="5828646" y="2811238"/>
            <a:ext cx="1351420" cy="196119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buClr>
                <a:prstClr val="black"/>
              </a:buClr>
              <a:buSzPct val="100000"/>
            </a:pPr>
            <a:r>
              <a:rPr lang="en-US" sz="1200">
                <a:solidFill>
                  <a:prstClr val="black"/>
                </a:solidFill>
                <a:latin typeface="Arial" panose="020B0604020202020204"/>
              </a:rPr>
              <a:t>Technology Substitution</a:t>
            </a:r>
          </a:p>
          <a:p>
            <a:pPr algn="ctr">
              <a:buClr>
                <a:prstClr val="black"/>
              </a:buClr>
              <a:buSzPct val="100000"/>
            </a:pPr>
            <a:endParaRPr lang="en-US" sz="1200">
              <a:solidFill>
                <a:prstClr val="black"/>
              </a:solidFill>
              <a:latin typeface="Arial" panose="020B0604020202020204"/>
            </a:endParaRPr>
          </a:p>
          <a:p>
            <a:pPr algn="ctr">
              <a:buClr>
                <a:prstClr val="black"/>
              </a:buClr>
              <a:buSzPct val="100000"/>
            </a:pPr>
            <a:r>
              <a:rPr lang="en-US" sz="1200">
                <a:solidFill>
                  <a:prstClr val="black"/>
                </a:solidFill>
                <a:latin typeface="Arial" panose="020B0604020202020204"/>
              </a:rPr>
              <a:t>Compliant</a:t>
            </a:r>
          </a:p>
          <a:p>
            <a:pPr algn="ctr">
              <a:buClr>
                <a:prstClr val="black"/>
              </a:buClr>
              <a:buSzPct val="100000"/>
            </a:pPr>
            <a:r>
              <a:rPr lang="en-US" sz="1200">
                <a:solidFill>
                  <a:prstClr val="black"/>
                </a:solidFill>
                <a:latin typeface="Arial" panose="020B0604020202020204"/>
              </a:rPr>
              <a:t>Business</a:t>
            </a:r>
          </a:p>
          <a:p>
            <a:pPr algn="ctr">
              <a:buClr>
                <a:prstClr val="black"/>
              </a:buClr>
              <a:buSzPct val="100000"/>
            </a:pPr>
            <a:r>
              <a:rPr lang="en-US" sz="1200">
                <a:solidFill>
                  <a:prstClr val="black"/>
                </a:solidFill>
                <a:latin typeface="Arial" panose="020B0604020202020204"/>
              </a:rPr>
              <a:t>Processes</a:t>
            </a:r>
          </a:p>
          <a:p>
            <a:pPr algn="ctr">
              <a:buClr>
                <a:prstClr val="black"/>
              </a:buClr>
              <a:buSzPct val="100000"/>
            </a:pPr>
            <a:endParaRPr lang="en-US" sz="1200">
              <a:solidFill>
                <a:prstClr val="black"/>
              </a:solidFill>
              <a:latin typeface="Arial" panose="020B0604020202020204"/>
            </a:endParaRPr>
          </a:p>
          <a:p>
            <a:pPr algn="ctr">
              <a:buClr>
                <a:prstClr val="black"/>
              </a:buClr>
              <a:buSzPct val="100000"/>
            </a:pPr>
            <a:endParaRPr lang="en-US" sz="1200">
              <a:solidFill>
                <a:prstClr val="black"/>
              </a:solidFill>
              <a:latin typeface="Arial" panose="020B0604020202020204"/>
            </a:endParaRPr>
          </a:p>
          <a:p>
            <a:pPr algn="ctr">
              <a:buClr>
                <a:prstClr val="black"/>
              </a:buClr>
              <a:buSzPct val="100000"/>
            </a:pPr>
            <a:r>
              <a:rPr lang="en-US" sz="1200">
                <a:solidFill>
                  <a:prstClr val="black"/>
                </a:solidFill>
                <a:latin typeface="Arial" panose="020B0604020202020204"/>
              </a:rPr>
              <a:t>Advocacy</a:t>
            </a:r>
          </a:p>
          <a:p>
            <a:pPr algn="ctr">
              <a:buClr>
                <a:prstClr val="black"/>
              </a:buClr>
              <a:buSzPct val="100000"/>
            </a:pPr>
            <a:endParaRPr lang="en-US" sz="1200">
              <a:solidFill>
                <a:prstClr val="black"/>
              </a:solidFill>
              <a:latin typeface="Arial" panose="020B0604020202020204"/>
            </a:endParaRPr>
          </a:p>
          <a:p>
            <a:pPr algn="ctr">
              <a:buClr>
                <a:prstClr val="black"/>
              </a:buClr>
              <a:buSzPct val="100000"/>
            </a:pPr>
            <a:endParaRPr lang="en-US" sz="1200">
              <a:solidFill>
                <a:prstClr val="black"/>
              </a:solidFill>
              <a:latin typeface="Arial" panose="020B0604020202020204"/>
            </a:endParaRPr>
          </a:p>
          <a:p>
            <a:pPr algn="ctr">
              <a:buClr>
                <a:prstClr val="black"/>
              </a:buClr>
              <a:buSzPct val="100000"/>
            </a:pPr>
            <a:endParaRPr lang="en-US" sz="1200">
              <a:solidFill>
                <a:prstClr val="black"/>
              </a:solidFill>
              <a:latin typeface="Arial" panose="020B0604020202020204"/>
            </a:endParaRPr>
          </a:p>
          <a:p>
            <a:pPr algn="ctr">
              <a:buClr>
                <a:prstClr val="black"/>
              </a:buClr>
              <a:buSzPct val="100000"/>
            </a:pPr>
            <a:r>
              <a:rPr lang="en-US" sz="1200">
                <a:solidFill>
                  <a:prstClr val="black"/>
                </a:solidFill>
                <a:latin typeface="Arial" panose="020B0604020202020204"/>
              </a:rPr>
              <a:t>Authorization</a:t>
            </a:r>
          </a:p>
        </p:txBody>
      </p:sp>
      <p:pic>
        <p:nvPicPr>
          <p:cNvPr id="27" name="Graphic 26" descr="Clipboard Badge outline">
            <a:extLst>
              <a:ext uri="{FF2B5EF4-FFF2-40B4-BE49-F238E27FC236}">
                <a16:creationId xmlns:a16="http://schemas.microsoft.com/office/drawing/2014/main" id="{4FCA4D25-D8DB-7456-A170-052F8872B3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25364" y="4572719"/>
            <a:ext cx="646843" cy="584423"/>
          </a:xfrm>
          <a:prstGeom prst="rect">
            <a:avLst/>
          </a:prstGeom>
        </p:spPr>
      </p:pic>
      <p:pic>
        <p:nvPicPr>
          <p:cNvPr id="26" name="Graphic 25" descr="Court outline">
            <a:extLst>
              <a:ext uri="{FF2B5EF4-FFF2-40B4-BE49-F238E27FC236}">
                <a16:creationId xmlns:a16="http://schemas.microsoft.com/office/drawing/2014/main" id="{F745CC3B-BC06-109B-C99B-F4F5FC63F2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425363" y="3830285"/>
            <a:ext cx="646843" cy="58442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39CDB0C-9317-4F20-5532-44F748156038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324333" y="3026402"/>
            <a:ext cx="813468" cy="734969"/>
          </a:xfrm>
          <a:prstGeom prst="rect">
            <a:avLst/>
          </a:prstGeom>
        </p:spPr>
      </p:pic>
      <p:sp>
        <p:nvSpPr>
          <p:cNvPr id="18" name="Right Arrow 18">
            <a:extLst>
              <a:ext uri="{FF2B5EF4-FFF2-40B4-BE49-F238E27FC236}">
                <a16:creationId xmlns:a16="http://schemas.microsoft.com/office/drawing/2014/main" id="{E1734732-2B72-1A4E-3842-FEA6B4B43650}"/>
              </a:ext>
            </a:extLst>
          </p:cNvPr>
          <p:cNvSpPr/>
          <p:nvPr/>
        </p:nvSpPr>
        <p:spPr>
          <a:xfrm>
            <a:off x="2682981" y="3599299"/>
            <a:ext cx="243171" cy="290811"/>
          </a:xfrm>
          <a:prstGeom prst="rightArrow">
            <a:avLst>
              <a:gd name="adj1" fmla="val 69316"/>
              <a:gd name="adj2" fmla="val 50000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prstClr val="white"/>
              </a:solidFill>
              <a:latin typeface="Arial" panose="020B0604020202020204"/>
            </a:endParaRPr>
          </a:p>
        </p:txBody>
      </p:sp>
      <p:sp>
        <p:nvSpPr>
          <p:cNvPr id="63" name="Right Arrow 18">
            <a:extLst>
              <a:ext uri="{FF2B5EF4-FFF2-40B4-BE49-F238E27FC236}">
                <a16:creationId xmlns:a16="http://schemas.microsoft.com/office/drawing/2014/main" id="{AD1A289D-8E48-68B0-24DF-780E50172F73}"/>
              </a:ext>
            </a:extLst>
          </p:cNvPr>
          <p:cNvSpPr/>
          <p:nvPr/>
        </p:nvSpPr>
        <p:spPr>
          <a:xfrm>
            <a:off x="4938768" y="3599299"/>
            <a:ext cx="243171" cy="290811"/>
          </a:xfrm>
          <a:prstGeom prst="rightArrow">
            <a:avLst>
              <a:gd name="adj1" fmla="val 69316"/>
              <a:gd name="adj2" fmla="val 50000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prstClr val="white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86829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FC71F-CD84-5D33-14F2-9A85A763A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09C0E79-4E59-7644-8D0E-21BD1A1FB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66348"/>
            <a:ext cx="10792971" cy="676653"/>
          </a:xfrm>
        </p:spPr>
        <p:txBody>
          <a:bodyPr/>
          <a:lstStyle/>
          <a:p>
            <a:r>
              <a:rPr lang="en-US" dirty="0"/>
              <a:t>OPO Disciplines - CORE &amp; Transformation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434A1-66CD-BF34-1BF5-F18142ED3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4812283"/>
            <a:ext cx="9144000" cy="80792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lang="en-US" sz="5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>
              <a:defRPr/>
            </a:pPr>
            <a:r>
              <a:rPr lang="en-CA"/>
              <a:t>EXPORT MARKING: (Insert Export Marking) [TO CHANGE GO TO INSERT &gt; HEADER &amp; FOOTER] </a:t>
            </a:r>
            <a:endParaRPr lang="en-US" sz="70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AE6E75-481C-8EF2-C36A-AE7DAD332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>
              <a:defRPr/>
            </a:pPr>
            <a:fld id="{07165E6F-54ED-4977-A15E-D44BE7238A65}" type="slidenum">
              <a:rPr lang="en-US">
                <a:solidFill>
                  <a:srgbClr val="63666A"/>
                </a:solidFill>
                <a:latin typeface="Arial" panose="020B0604020202020204"/>
              </a:rPr>
              <a:pPr defTabSz="914377">
                <a:defRPr/>
              </a:pPr>
              <a:t>7</a:t>
            </a:fld>
            <a:endParaRPr lang="en-US">
              <a:solidFill>
                <a:srgbClr val="63666A"/>
              </a:solidFill>
              <a:latin typeface="Arial" panose="020B060402020202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FAB27B-576D-36ED-E021-8CD73EAF449B}"/>
              </a:ext>
            </a:extLst>
          </p:cNvPr>
          <p:cNvSpPr txBox="1"/>
          <p:nvPr/>
        </p:nvSpPr>
        <p:spPr>
          <a:xfrm>
            <a:off x="704086" y="5763093"/>
            <a:ext cx="10802113" cy="40134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/>
          <a:p>
            <a:pPr algn="ctr">
              <a:spcBef>
                <a:spcPts val="600"/>
              </a:spcBef>
              <a:defRPr/>
            </a:pPr>
            <a:r>
              <a:rPr lang="en-US" sz="1600">
                <a:solidFill>
                  <a:schemeClr val="bg1"/>
                </a:solidFill>
                <a:latin typeface="Arial" panose="020B0604020202020204"/>
              </a:rPr>
              <a:t>Discipline Health Management Drives Transformation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F8D9B9D-B735-7E07-0ECD-B1F9A89F0373}"/>
              </a:ext>
            </a:extLst>
          </p:cNvPr>
          <p:cNvGrpSpPr/>
          <p:nvPr/>
        </p:nvGrpSpPr>
        <p:grpSpPr>
          <a:xfrm>
            <a:off x="704086" y="1320725"/>
            <a:ext cx="10783829" cy="4050084"/>
            <a:chOff x="528064" y="958644"/>
            <a:chExt cx="8087872" cy="30375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7FE6C1-5E9B-50C6-C1B7-F4EC00798D4D}"/>
                </a:ext>
              </a:extLst>
            </p:cNvPr>
            <p:cNvSpPr/>
            <p:nvPr/>
          </p:nvSpPr>
          <p:spPr>
            <a:xfrm>
              <a:off x="528064" y="958644"/>
              <a:ext cx="1828800" cy="3873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200" b="1"/>
                <a:t>Quality</a:t>
              </a:r>
              <a:r>
                <a:rPr lang="fr-CA" sz="1200" b="1"/>
                <a:t> Management System</a:t>
              </a:r>
              <a:endParaRPr lang="en-US" sz="1200" b="1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286DD02-B9F3-9CCA-F6C1-71256F7EF9CE}"/>
                </a:ext>
              </a:extLst>
            </p:cNvPr>
            <p:cNvSpPr/>
            <p:nvPr/>
          </p:nvSpPr>
          <p:spPr>
            <a:xfrm>
              <a:off x="528064" y="1400346"/>
              <a:ext cx="1828800" cy="3873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sz="1200" b="1"/>
                <a:t>Digital Data</a:t>
              </a:r>
              <a:endParaRPr lang="en-US" sz="1200" b="1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A873E99-A0C4-47A7-BDEB-16F7648A8564}"/>
                </a:ext>
              </a:extLst>
            </p:cNvPr>
            <p:cNvSpPr/>
            <p:nvPr/>
          </p:nvSpPr>
          <p:spPr>
            <a:xfrm>
              <a:off x="528064" y="1842048"/>
              <a:ext cx="1828800" cy="3873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Training &amp; TSD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DFA917-9380-A37F-9E06-96F1A8B646AC}"/>
                </a:ext>
              </a:extLst>
            </p:cNvPr>
            <p:cNvSpPr/>
            <p:nvPr/>
          </p:nvSpPr>
          <p:spPr>
            <a:xfrm>
              <a:off x="528064" y="2283750"/>
              <a:ext cx="1828800" cy="3873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CORE &amp; Continuous Improvement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9255644-BA5F-90C2-07A3-2BD32EDF273E}"/>
                </a:ext>
              </a:extLst>
            </p:cNvPr>
            <p:cNvSpPr/>
            <p:nvPr/>
          </p:nvSpPr>
          <p:spPr>
            <a:xfrm>
              <a:off x="528064" y="2725452"/>
              <a:ext cx="1828800" cy="3873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Cross-Functional Support</a:t>
              </a:r>
            </a:p>
            <a:p>
              <a:pPr algn="ctr"/>
              <a:r>
                <a:rPr lang="en-US" sz="1200" b="1"/>
                <a:t>&amp; Ad-Hoc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29C5943-0C4E-28AA-95D8-87414C315FE0}"/>
                </a:ext>
              </a:extLst>
            </p:cNvPr>
            <p:cNvSpPr/>
            <p:nvPr/>
          </p:nvSpPr>
          <p:spPr>
            <a:xfrm>
              <a:off x="528064" y="3167154"/>
              <a:ext cx="1828800" cy="3873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Should Cost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37717A0-B517-775E-EC0E-BA47A9685F72}"/>
                </a:ext>
              </a:extLst>
            </p:cNvPr>
            <p:cNvSpPr/>
            <p:nvPr/>
          </p:nvSpPr>
          <p:spPr>
            <a:xfrm>
              <a:off x="528064" y="3608858"/>
              <a:ext cx="1828800" cy="3873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PO Management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4E1E82-5FA2-8F86-E370-EAA85ED01477}"/>
                </a:ext>
              </a:extLst>
            </p:cNvPr>
            <p:cNvSpPr/>
            <p:nvPr/>
          </p:nvSpPr>
          <p:spPr>
            <a:xfrm>
              <a:off x="2426968" y="958644"/>
              <a:ext cx="6188968" cy="38734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CA" sz="1200">
                  <a:solidFill>
                    <a:schemeClr val="tx2"/>
                  </a:solidFill>
                </a:rPr>
                <a:t>Process </a:t>
              </a:r>
              <a:r>
                <a:rPr lang="en-029" sz="1200">
                  <a:solidFill>
                    <a:schemeClr val="tx2"/>
                  </a:solidFill>
                </a:rPr>
                <a:t>Optimization</a:t>
              </a:r>
              <a:r>
                <a:rPr lang="fr-CA" sz="1200">
                  <a:solidFill>
                    <a:schemeClr val="tx2"/>
                  </a:solidFill>
                </a:rPr>
                <a:t>, Audits &amp; </a:t>
              </a:r>
              <a:r>
                <a:rPr lang="en-CA" sz="1200">
                  <a:solidFill>
                    <a:schemeClr val="tx2"/>
                  </a:solidFill>
                </a:rPr>
                <a:t>Governance</a:t>
              </a:r>
              <a:r>
                <a:rPr lang="fr-CA" sz="1200">
                  <a:solidFill>
                    <a:schemeClr val="tx2"/>
                  </a:solidFill>
                </a:rPr>
                <a:t>, Regulatory Compliance, Risk &amp; Controls, Monitoring &amp; Auditing</a:t>
              </a:r>
              <a:endParaRPr lang="en-US" sz="1200">
                <a:solidFill>
                  <a:schemeClr val="tx2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27476AE-219E-F7CC-3F41-70C81A466E9C}"/>
                </a:ext>
              </a:extLst>
            </p:cNvPr>
            <p:cNvSpPr/>
            <p:nvPr/>
          </p:nvSpPr>
          <p:spPr>
            <a:xfrm>
              <a:off x="2426968" y="1400346"/>
              <a:ext cx="6188968" cy="38734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>
                  <a:solidFill>
                    <a:schemeClr val="tx2"/>
                  </a:solidFill>
                </a:rPr>
                <a:t>DT Projects Management (digital transformation &amp; digitization), Data (dashboards, reports, governance)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54541D9-003B-7E11-BC30-13589D0256FE}"/>
                </a:ext>
              </a:extLst>
            </p:cNvPr>
            <p:cNvSpPr/>
            <p:nvPr/>
          </p:nvSpPr>
          <p:spPr>
            <a:xfrm>
              <a:off x="2426968" y="1842048"/>
              <a:ext cx="6188968" cy="38734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>
                  <a:solidFill>
                    <a:schemeClr val="tx2"/>
                  </a:solidFill>
                </a:rPr>
                <a:t>Training &amp; Development (content &amp; platforms), Skills Matrix (competencies vs requirements)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12D62A7-952A-53B2-797D-BB3831C3E7ED}"/>
                </a:ext>
              </a:extLst>
            </p:cNvPr>
            <p:cNvSpPr/>
            <p:nvPr/>
          </p:nvSpPr>
          <p:spPr>
            <a:xfrm>
              <a:off x="2426968" y="2283750"/>
              <a:ext cx="6188968" cy="38734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>
                  <a:solidFill>
                    <a:schemeClr val="tx2"/>
                  </a:solidFill>
                </a:rPr>
                <a:t>CORE Maturity &amp; Alignment, CORE Engagement Events &amp; Initiatives, Best Practices Benchmarking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68FB71-3733-A55E-A210-2A2CC09D1999}"/>
                </a:ext>
              </a:extLst>
            </p:cNvPr>
            <p:cNvSpPr/>
            <p:nvPr/>
          </p:nvSpPr>
          <p:spPr>
            <a:xfrm>
              <a:off x="2426968" y="2725452"/>
              <a:ext cx="6188968" cy="38734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>
                  <a:solidFill>
                    <a:schemeClr val="tx2"/>
                  </a:solidFill>
                </a:rPr>
                <a:t>Process vs Business Objectives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A97BD6D-0379-0C9D-2700-E957B1CDE7CF}"/>
                </a:ext>
              </a:extLst>
            </p:cNvPr>
            <p:cNvSpPr/>
            <p:nvPr/>
          </p:nvSpPr>
          <p:spPr>
            <a:xfrm>
              <a:off x="2426968" y="3167154"/>
              <a:ext cx="6188968" cy="38734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>
                  <a:solidFill>
                    <a:schemeClr val="tx2"/>
                  </a:solidFill>
                </a:rPr>
                <a:t>Component Should Cost Estimates (</a:t>
              </a:r>
              <a:r>
                <a:rPr lang="en-US" sz="1200" err="1">
                  <a:solidFill>
                    <a:schemeClr val="tx2"/>
                  </a:solidFill>
                </a:rPr>
                <a:t>mfg</a:t>
              </a:r>
              <a:r>
                <a:rPr lang="en-US" sz="1200">
                  <a:solidFill>
                    <a:schemeClr val="tx2"/>
                  </a:solidFill>
                </a:rPr>
                <a:t> value)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9E9B46B-D2CB-EDF2-784F-A278F5B1ECAA}"/>
                </a:ext>
              </a:extLst>
            </p:cNvPr>
            <p:cNvSpPr/>
            <p:nvPr/>
          </p:nvSpPr>
          <p:spPr>
            <a:xfrm>
              <a:off x="2426968" y="3608858"/>
              <a:ext cx="6188968" cy="38734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>
                  <a:solidFill>
                    <a:schemeClr val="tx2"/>
                  </a:solidFill>
                </a:rPr>
                <a:t>Mobile Repair Team OEM Support (PWES, MTU, etc.), POs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3756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447dd6a-a4a1-440b-a6a3-9124ef1ee017}" enabled="1" method="Privileged" siteId="{7a18110d-ef9b-4274-acef-e62ab0fe28e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1555</Words>
  <Application>Microsoft Office PowerPoint</Application>
  <PresentationFormat>Widescreen</PresentationFormat>
  <Paragraphs>317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PowerPoint Presentation</vt:lpstr>
      <vt:lpstr>OPO Roles Profile</vt:lpstr>
      <vt:lpstr>OPO Disciplines - Production Readiness</vt:lpstr>
      <vt:lpstr>OPO Disciplines - Partnerships</vt:lpstr>
      <vt:lpstr>OPO Disciplines - Product FSC</vt:lpstr>
      <vt:lpstr>OPO Disciplines - Global Chemical Regulation</vt:lpstr>
      <vt:lpstr>OPO Disciplines - CORE &amp; Transformation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PANNU, GURLEEN (CAN)</dc:creator>
  <cp:lastModifiedBy>PANNU, GURLEEN (CAN)</cp:lastModifiedBy>
  <cp:revision>1</cp:revision>
  <dcterms:created xsi:type="dcterms:W3CDTF">2026-06-10T13:42:12Z</dcterms:created>
  <dcterms:modified xsi:type="dcterms:W3CDTF">2026-06-10T13:46:35Z</dcterms:modified>
</cp:coreProperties>
</file>