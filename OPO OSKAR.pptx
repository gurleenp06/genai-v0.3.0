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7"/>
    <p:sldMasterId id="2147483704" r:id="rId8"/>
    <p:sldMasterId id="2147483648" r:id="rId9"/>
  </p:sldMasterIdLst>
  <p:notesMasterIdLst>
    <p:notesMasterId r:id="rId39"/>
  </p:notesMasterIdLst>
  <p:handoutMasterIdLst>
    <p:handoutMasterId r:id="rId40"/>
  </p:handoutMasterIdLst>
  <p:sldIdLst>
    <p:sldId id="339" r:id="rId10"/>
    <p:sldId id="364" r:id="rId11"/>
    <p:sldId id="385" r:id="rId12"/>
    <p:sldId id="368" r:id="rId13"/>
    <p:sldId id="371" r:id="rId14"/>
    <p:sldId id="404" r:id="rId15"/>
    <p:sldId id="379" r:id="rId16"/>
    <p:sldId id="343" r:id="rId17"/>
    <p:sldId id="411" r:id="rId18"/>
    <p:sldId id="448" r:id="rId19"/>
    <p:sldId id="511" r:id="rId20"/>
    <p:sldId id="508" r:id="rId21"/>
    <p:sldId id="439" r:id="rId22"/>
    <p:sldId id="512" r:id="rId23"/>
    <p:sldId id="503" r:id="rId24"/>
    <p:sldId id="499" r:id="rId25"/>
    <p:sldId id="510" r:id="rId26"/>
    <p:sldId id="493" r:id="rId27"/>
    <p:sldId id="495" r:id="rId28"/>
    <p:sldId id="392" r:id="rId29"/>
    <p:sldId id="365" r:id="rId30"/>
    <p:sldId id="372" r:id="rId31"/>
    <p:sldId id="406" r:id="rId32"/>
    <p:sldId id="513" r:id="rId33"/>
    <p:sldId id="514" r:id="rId34"/>
    <p:sldId id="515" r:id="rId35"/>
    <p:sldId id="516" r:id="rId36"/>
    <p:sldId id="517" r:id="rId37"/>
    <p:sldId id="518" r:id="rId38"/>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7E605F5-24A2-6B8F-229D-2A3E07457F47}" name="Avitabile, Amy      RTX" initials="AAR" userId="S::E21161113@adxuser.com::50035740-67fe-4f30-8d66-cf523957c7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y Avitabile" initials="AA" lastIdx="1" clrIdx="0">
    <p:extLst>
      <p:ext uri="{19B8F6BF-5375-455C-9EA6-DF929625EA0E}">
        <p15:presenceInfo xmlns:p15="http://schemas.microsoft.com/office/powerpoint/2012/main" userId="S-1-5-21-1214440339-861567501-682003330-1365948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B3B3"/>
    <a:srgbClr val="EFB661"/>
    <a:srgbClr val="9ABEAA"/>
    <a:srgbClr val="E6E6E6"/>
    <a:srgbClr val="908CC2"/>
    <a:srgbClr val="D9D9D6"/>
    <a:srgbClr val="DFE0E0"/>
    <a:srgbClr val="F2F2F2"/>
    <a:srgbClr val="BFC1C2"/>
    <a:srgbClr val="6366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9BAD98-7C45-5ABF-E38F-0484E33979FE}" v="69" dt="2026-02-24T19:20:31.646"/>
  </p1510:revLst>
</p1510:revInfo>
</file>

<file path=ppt/tableStyles.xml><?xml version="1.0" encoding="utf-8"?>
<a:tblStyleLst xmlns:a="http://schemas.openxmlformats.org/drawingml/2006/main" def="{3B4B98B0-60AC-42C2-AFA5-B58CD77FA1E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46738" autoAdjust="0"/>
  </p:normalViewPr>
  <p:slideViewPr>
    <p:cSldViewPr snapToGrid="0">
      <p:cViewPr varScale="1">
        <p:scale>
          <a:sx n="122" d="100"/>
          <a:sy n="122" d="100"/>
        </p:scale>
        <p:origin x="114" y="204"/>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2.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slideMaster" Target="slideMasters/slideMaster1.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Master" Target="slideMasters/slideMaster3.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59DF50-1CED-417D-999C-DD8C231DB37A}" type="doc">
      <dgm:prSet loTypeId="urn:microsoft.com/office/officeart/2005/8/layout/chevron1" loCatId="process" qsTypeId="urn:microsoft.com/office/officeart/2005/8/quickstyle/simple1" qsCatId="simple" csTypeId="urn:microsoft.com/office/officeart/2005/8/colors/accent1_2" csCatId="accent1" phldr="1"/>
      <dgm:spPr/>
    </dgm:pt>
    <dgm:pt modelId="{49ED8402-ABB6-4443-A297-AC533451753B}">
      <dgm:prSet phldrT="[Text]"/>
      <dgm:spPr>
        <a:solidFill>
          <a:schemeClr val="accent2">
            <a:lumMod val="75000"/>
          </a:schemeClr>
        </a:solidFill>
      </dgm:spPr>
      <dgm:t>
        <a:bodyPr/>
        <a:lstStyle/>
        <a:p>
          <a:r>
            <a:rPr lang="en-CA"/>
            <a:t>Knowledge Base Identification (Data Collection)</a:t>
          </a:r>
        </a:p>
      </dgm:t>
    </dgm:pt>
    <dgm:pt modelId="{33007748-FEA2-4DC7-ADDC-D5AC3EA14ECF}" type="parTrans" cxnId="{DC01AF23-0996-490F-A78E-EACACC65812F}">
      <dgm:prSet/>
      <dgm:spPr/>
      <dgm:t>
        <a:bodyPr/>
        <a:lstStyle/>
        <a:p>
          <a:endParaRPr lang="en-CA"/>
        </a:p>
      </dgm:t>
    </dgm:pt>
    <dgm:pt modelId="{61FBF029-A957-4BEB-B765-3917B0B39A49}" type="sibTrans" cxnId="{DC01AF23-0996-490F-A78E-EACACC65812F}">
      <dgm:prSet/>
      <dgm:spPr/>
      <dgm:t>
        <a:bodyPr/>
        <a:lstStyle/>
        <a:p>
          <a:endParaRPr lang="en-CA"/>
        </a:p>
      </dgm:t>
    </dgm:pt>
    <dgm:pt modelId="{5DDB9C06-A197-4EA9-B12B-DB93F6D88AFA}">
      <dgm:prSet phldrT="[Text]"/>
      <dgm:spPr>
        <a:solidFill>
          <a:schemeClr val="accent2">
            <a:lumMod val="75000"/>
          </a:schemeClr>
        </a:solidFill>
      </dgm:spPr>
      <dgm:t>
        <a:bodyPr/>
        <a:lstStyle/>
        <a:p>
          <a:r>
            <a:rPr lang="en-CA"/>
            <a:t>Data Ingestion (APIs, Data lake)</a:t>
          </a:r>
        </a:p>
      </dgm:t>
    </dgm:pt>
    <dgm:pt modelId="{A06914B4-F3ED-49C5-B1E2-C57D3ECAEB96}" type="parTrans" cxnId="{EFD6EB9A-4384-48BB-A38A-E4FC1B7040D7}">
      <dgm:prSet/>
      <dgm:spPr/>
      <dgm:t>
        <a:bodyPr/>
        <a:lstStyle/>
        <a:p>
          <a:endParaRPr lang="en-CA"/>
        </a:p>
      </dgm:t>
    </dgm:pt>
    <dgm:pt modelId="{A093966D-F1A4-42F9-B353-67489AC1768A}" type="sibTrans" cxnId="{EFD6EB9A-4384-48BB-A38A-E4FC1B7040D7}">
      <dgm:prSet/>
      <dgm:spPr/>
      <dgm:t>
        <a:bodyPr/>
        <a:lstStyle/>
        <a:p>
          <a:endParaRPr lang="en-CA"/>
        </a:p>
      </dgm:t>
    </dgm:pt>
    <dgm:pt modelId="{3D587469-0E00-4448-8A4C-1425EF74DFD6}">
      <dgm:prSet phldrT="[Text]"/>
      <dgm:spPr>
        <a:solidFill>
          <a:schemeClr val="accent2">
            <a:lumMod val="75000"/>
          </a:schemeClr>
        </a:solidFill>
      </dgm:spPr>
      <dgm:t>
        <a:bodyPr/>
        <a:lstStyle/>
        <a:p>
          <a:r>
            <a:rPr lang="en-CA"/>
            <a:t>Data Preprocessing</a:t>
          </a:r>
        </a:p>
      </dgm:t>
    </dgm:pt>
    <dgm:pt modelId="{6926F0BD-8926-4D8C-B5D6-660332BB6DCE}" type="parTrans" cxnId="{1A86ABEF-E97E-4AF7-9938-64F04EEB9B6D}">
      <dgm:prSet/>
      <dgm:spPr/>
      <dgm:t>
        <a:bodyPr/>
        <a:lstStyle/>
        <a:p>
          <a:endParaRPr lang="en-CA"/>
        </a:p>
      </dgm:t>
    </dgm:pt>
    <dgm:pt modelId="{401181E3-2E5B-496D-A606-D063168ED6BB}" type="sibTrans" cxnId="{1A86ABEF-E97E-4AF7-9938-64F04EEB9B6D}">
      <dgm:prSet/>
      <dgm:spPr/>
      <dgm:t>
        <a:bodyPr/>
        <a:lstStyle/>
        <a:p>
          <a:endParaRPr lang="en-CA"/>
        </a:p>
      </dgm:t>
    </dgm:pt>
    <dgm:pt modelId="{D8CDE658-252D-4A74-9C60-EB21A670E85D}">
      <dgm:prSet phldrT="[Text]"/>
      <dgm:spPr>
        <a:solidFill>
          <a:schemeClr val="accent2">
            <a:lumMod val="75000"/>
          </a:schemeClr>
        </a:solidFill>
      </dgm:spPr>
      <dgm:t>
        <a:bodyPr/>
        <a:lstStyle/>
        <a:p>
          <a:r>
            <a:rPr lang="en-CA"/>
            <a:t>Embedding</a:t>
          </a:r>
        </a:p>
      </dgm:t>
    </dgm:pt>
    <dgm:pt modelId="{2CA8049D-B8E4-49E1-B5FF-52A54D2A1981}" type="parTrans" cxnId="{AE51D1F2-352F-4F5D-B562-E47771185E5C}">
      <dgm:prSet/>
      <dgm:spPr/>
      <dgm:t>
        <a:bodyPr/>
        <a:lstStyle/>
        <a:p>
          <a:endParaRPr lang="en-CA"/>
        </a:p>
      </dgm:t>
    </dgm:pt>
    <dgm:pt modelId="{191EE890-5728-426E-BB65-9D96436F22A1}" type="sibTrans" cxnId="{AE51D1F2-352F-4F5D-B562-E47771185E5C}">
      <dgm:prSet/>
      <dgm:spPr/>
      <dgm:t>
        <a:bodyPr/>
        <a:lstStyle/>
        <a:p>
          <a:endParaRPr lang="en-CA"/>
        </a:p>
      </dgm:t>
    </dgm:pt>
    <dgm:pt modelId="{8C9F0990-82B8-4767-A4F5-786B157064EF}">
      <dgm:prSet phldrT="[Text]"/>
      <dgm:spPr>
        <a:solidFill>
          <a:schemeClr val="accent2">
            <a:lumMod val="75000"/>
          </a:schemeClr>
        </a:solidFill>
      </dgm:spPr>
      <dgm:t>
        <a:bodyPr/>
        <a:lstStyle/>
        <a:p>
          <a:r>
            <a:rPr lang="en-CA"/>
            <a:t>Indexing &amp; Retrieval</a:t>
          </a:r>
        </a:p>
      </dgm:t>
    </dgm:pt>
    <dgm:pt modelId="{463EF30C-2238-438D-9F4D-89C2612E3E50}" type="parTrans" cxnId="{D854BE81-6529-407A-84C9-53A48B8F5496}">
      <dgm:prSet/>
      <dgm:spPr/>
      <dgm:t>
        <a:bodyPr/>
        <a:lstStyle/>
        <a:p>
          <a:endParaRPr lang="en-CA"/>
        </a:p>
      </dgm:t>
    </dgm:pt>
    <dgm:pt modelId="{7BE2FA18-81DF-4FB5-A84A-4A68243358A8}" type="sibTrans" cxnId="{D854BE81-6529-407A-84C9-53A48B8F5496}">
      <dgm:prSet/>
      <dgm:spPr/>
      <dgm:t>
        <a:bodyPr/>
        <a:lstStyle/>
        <a:p>
          <a:endParaRPr lang="en-CA"/>
        </a:p>
      </dgm:t>
    </dgm:pt>
    <dgm:pt modelId="{60FDDCA8-EFFF-4A40-BA87-14C02A4E9317}">
      <dgm:prSet phldrT="[Text]"/>
      <dgm:spPr>
        <a:solidFill>
          <a:schemeClr val="accent2">
            <a:lumMod val="75000"/>
          </a:schemeClr>
        </a:solidFill>
      </dgm:spPr>
      <dgm:t>
        <a:bodyPr/>
        <a:lstStyle/>
        <a:p>
          <a:r>
            <a:rPr lang="en-CA"/>
            <a:t>LLM Integration &amp; Generation</a:t>
          </a:r>
        </a:p>
      </dgm:t>
    </dgm:pt>
    <dgm:pt modelId="{904B7A83-E8C6-4133-8E01-022CB9C21403}" type="parTrans" cxnId="{4C82417E-216A-4D45-82BA-850DC6EC2372}">
      <dgm:prSet/>
      <dgm:spPr/>
      <dgm:t>
        <a:bodyPr/>
        <a:lstStyle/>
        <a:p>
          <a:endParaRPr lang="en-CA"/>
        </a:p>
      </dgm:t>
    </dgm:pt>
    <dgm:pt modelId="{1EA6B4E0-1225-4DDE-9A65-3AF26877CAD8}" type="sibTrans" cxnId="{4C82417E-216A-4D45-82BA-850DC6EC2372}">
      <dgm:prSet/>
      <dgm:spPr/>
      <dgm:t>
        <a:bodyPr/>
        <a:lstStyle/>
        <a:p>
          <a:endParaRPr lang="en-CA"/>
        </a:p>
      </dgm:t>
    </dgm:pt>
    <dgm:pt modelId="{29439978-63D9-4ADE-9042-940CC54C92F9}">
      <dgm:prSet phldrT="[Text]"/>
      <dgm:spPr>
        <a:solidFill>
          <a:schemeClr val="accent2">
            <a:lumMod val="75000"/>
          </a:schemeClr>
        </a:solidFill>
      </dgm:spPr>
      <dgm:t>
        <a:bodyPr/>
        <a:lstStyle/>
        <a:p>
          <a:r>
            <a:rPr lang="en-CA"/>
            <a:t>Frontend &amp; Backend implementation</a:t>
          </a:r>
        </a:p>
      </dgm:t>
    </dgm:pt>
    <dgm:pt modelId="{5E8FACCA-15AD-4B5B-A421-9B07A6F118D3}" type="parTrans" cxnId="{A92A0E5B-35B7-4B6C-86B9-AD4F10B9BB58}">
      <dgm:prSet/>
      <dgm:spPr/>
      <dgm:t>
        <a:bodyPr/>
        <a:lstStyle/>
        <a:p>
          <a:endParaRPr lang="en-CA"/>
        </a:p>
      </dgm:t>
    </dgm:pt>
    <dgm:pt modelId="{B5C0861D-585A-450A-B6F7-BC31C0FD0505}" type="sibTrans" cxnId="{A92A0E5B-35B7-4B6C-86B9-AD4F10B9BB58}">
      <dgm:prSet/>
      <dgm:spPr/>
      <dgm:t>
        <a:bodyPr/>
        <a:lstStyle/>
        <a:p>
          <a:endParaRPr lang="en-CA"/>
        </a:p>
      </dgm:t>
    </dgm:pt>
    <dgm:pt modelId="{C9034DEE-D2C0-47E6-9A01-27BC5BC68FCE}" type="pres">
      <dgm:prSet presAssocID="{9059DF50-1CED-417D-999C-DD8C231DB37A}" presName="Name0" presStyleCnt="0">
        <dgm:presLayoutVars>
          <dgm:dir/>
          <dgm:animLvl val="lvl"/>
          <dgm:resizeHandles val="exact"/>
        </dgm:presLayoutVars>
      </dgm:prSet>
      <dgm:spPr/>
    </dgm:pt>
    <dgm:pt modelId="{FF2B2F71-A2A5-4B29-8C1B-0924645E3F36}" type="pres">
      <dgm:prSet presAssocID="{49ED8402-ABB6-4443-A297-AC533451753B}" presName="parTxOnly" presStyleLbl="node1" presStyleIdx="0" presStyleCnt="7">
        <dgm:presLayoutVars>
          <dgm:chMax val="0"/>
          <dgm:chPref val="0"/>
          <dgm:bulletEnabled val="1"/>
        </dgm:presLayoutVars>
      </dgm:prSet>
      <dgm:spPr/>
    </dgm:pt>
    <dgm:pt modelId="{E2E1AE1B-AD92-4A86-810B-C972E4252B03}" type="pres">
      <dgm:prSet presAssocID="{61FBF029-A957-4BEB-B765-3917B0B39A49}" presName="parTxOnlySpace" presStyleCnt="0"/>
      <dgm:spPr/>
    </dgm:pt>
    <dgm:pt modelId="{96BE6990-1546-48BF-AE50-C5F8E9812882}" type="pres">
      <dgm:prSet presAssocID="{5DDB9C06-A197-4EA9-B12B-DB93F6D88AFA}" presName="parTxOnly" presStyleLbl="node1" presStyleIdx="1" presStyleCnt="7">
        <dgm:presLayoutVars>
          <dgm:chMax val="0"/>
          <dgm:chPref val="0"/>
          <dgm:bulletEnabled val="1"/>
        </dgm:presLayoutVars>
      </dgm:prSet>
      <dgm:spPr/>
    </dgm:pt>
    <dgm:pt modelId="{2FECF884-BC0D-4883-AE66-0BB8F1A4CE37}" type="pres">
      <dgm:prSet presAssocID="{A093966D-F1A4-42F9-B353-67489AC1768A}" presName="parTxOnlySpace" presStyleCnt="0"/>
      <dgm:spPr/>
    </dgm:pt>
    <dgm:pt modelId="{2A336006-2170-42A7-91E6-A0E137B69C09}" type="pres">
      <dgm:prSet presAssocID="{3D587469-0E00-4448-8A4C-1425EF74DFD6}" presName="parTxOnly" presStyleLbl="node1" presStyleIdx="2" presStyleCnt="7">
        <dgm:presLayoutVars>
          <dgm:chMax val="0"/>
          <dgm:chPref val="0"/>
          <dgm:bulletEnabled val="1"/>
        </dgm:presLayoutVars>
      </dgm:prSet>
      <dgm:spPr/>
    </dgm:pt>
    <dgm:pt modelId="{0888FB8A-CF54-49DA-BDFC-A629A6BE2B7D}" type="pres">
      <dgm:prSet presAssocID="{401181E3-2E5B-496D-A606-D063168ED6BB}" presName="parTxOnlySpace" presStyleCnt="0"/>
      <dgm:spPr/>
    </dgm:pt>
    <dgm:pt modelId="{E37E0AD7-32E2-4AEC-A013-9D40B05A5E2E}" type="pres">
      <dgm:prSet presAssocID="{D8CDE658-252D-4A74-9C60-EB21A670E85D}" presName="parTxOnly" presStyleLbl="node1" presStyleIdx="3" presStyleCnt="7">
        <dgm:presLayoutVars>
          <dgm:chMax val="0"/>
          <dgm:chPref val="0"/>
          <dgm:bulletEnabled val="1"/>
        </dgm:presLayoutVars>
      </dgm:prSet>
      <dgm:spPr/>
    </dgm:pt>
    <dgm:pt modelId="{25F60600-0C67-4709-B453-22DB9D66541D}" type="pres">
      <dgm:prSet presAssocID="{191EE890-5728-426E-BB65-9D96436F22A1}" presName="parTxOnlySpace" presStyleCnt="0"/>
      <dgm:spPr/>
    </dgm:pt>
    <dgm:pt modelId="{24C79D7C-E5A2-4D6E-948F-E16CE75C9745}" type="pres">
      <dgm:prSet presAssocID="{8C9F0990-82B8-4767-A4F5-786B157064EF}" presName="parTxOnly" presStyleLbl="node1" presStyleIdx="4" presStyleCnt="7">
        <dgm:presLayoutVars>
          <dgm:chMax val="0"/>
          <dgm:chPref val="0"/>
          <dgm:bulletEnabled val="1"/>
        </dgm:presLayoutVars>
      </dgm:prSet>
      <dgm:spPr/>
    </dgm:pt>
    <dgm:pt modelId="{C396AEDE-E063-4B21-BA67-0935AF9AE7AA}" type="pres">
      <dgm:prSet presAssocID="{7BE2FA18-81DF-4FB5-A84A-4A68243358A8}" presName="parTxOnlySpace" presStyleCnt="0"/>
      <dgm:spPr/>
    </dgm:pt>
    <dgm:pt modelId="{66529674-CB9E-44F1-B4B9-CF28739AA7BA}" type="pres">
      <dgm:prSet presAssocID="{60FDDCA8-EFFF-4A40-BA87-14C02A4E9317}" presName="parTxOnly" presStyleLbl="node1" presStyleIdx="5" presStyleCnt="7">
        <dgm:presLayoutVars>
          <dgm:chMax val="0"/>
          <dgm:chPref val="0"/>
          <dgm:bulletEnabled val="1"/>
        </dgm:presLayoutVars>
      </dgm:prSet>
      <dgm:spPr/>
    </dgm:pt>
    <dgm:pt modelId="{08F3C91D-686A-45E7-8247-F2F81031D046}" type="pres">
      <dgm:prSet presAssocID="{1EA6B4E0-1225-4DDE-9A65-3AF26877CAD8}" presName="parTxOnlySpace" presStyleCnt="0"/>
      <dgm:spPr/>
    </dgm:pt>
    <dgm:pt modelId="{B666118A-A6BC-4326-BBF4-73EB313EF31F}" type="pres">
      <dgm:prSet presAssocID="{29439978-63D9-4ADE-9042-940CC54C92F9}" presName="parTxOnly" presStyleLbl="node1" presStyleIdx="6" presStyleCnt="7">
        <dgm:presLayoutVars>
          <dgm:chMax val="0"/>
          <dgm:chPref val="0"/>
          <dgm:bulletEnabled val="1"/>
        </dgm:presLayoutVars>
      </dgm:prSet>
      <dgm:spPr/>
    </dgm:pt>
  </dgm:ptLst>
  <dgm:cxnLst>
    <dgm:cxn modelId="{62623A0C-BB88-4B21-90D8-9D94D5D69AFD}" type="presOf" srcId="{9059DF50-1CED-417D-999C-DD8C231DB37A}" destId="{C9034DEE-D2C0-47E6-9A01-27BC5BC68FCE}" srcOrd="0" destOrd="0" presId="urn:microsoft.com/office/officeart/2005/8/layout/chevron1"/>
    <dgm:cxn modelId="{DC01AF23-0996-490F-A78E-EACACC65812F}" srcId="{9059DF50-1CED-417D-999C-DD8C231DB37A}" destId="{49ED8402-ABB6-4443-A297-AC533451753B}" srcOrd="0" destOrd="0" parTransId="{33007748-FEA2-4DC7-ADDC-D5AC3EA14ECF}" sibTransId="{61FBF029-A957-4BEB-B765-3917B0B39A49}"/>
    <dgm:cxn modelId="{54E33D36-BAB0-4E22-9329-D8DED8F993DD}" type="presOf" srcId="{60FDDCA8-EFFF-4A40-BA87-14C02A4E9317}" destId="{66529674-CB9E-44F1-B4B9-CF28739AA7BA}" srcOrd="0" destOrd="0" presId="urn:microsoft.com/office/officeart/2005/8/layout/chevron1"/>
    <dgm:cxn modelId="{7A135F3B-3AF1-4276-ADC4-38928E68081F}" type="presOf" srcId="{D8CDE658-252D-4A74-9C60-EB21A670E85D}" destId="{E37E0AD7-32E2-4AEC-A013-9D40B05A5E2E}" srcOrd="0" destOrd="0" presId="urn:microsoft.com/office/officeart/2005/8/layout/chevron1"/>
    <dgm:cxn modelId="{A92A0E5B-35B7-4B6C-86B9-AD4F10B9BB58}" srcId="{9059DF50-1CED-417D-999C-DD8C231DB37A}" destId="{29439978-63D9-4ADE-9042-940CC54C92F9}" srcOrd="6" destOrd="0" parTransId="{5E8FACCA-15AD-4B5B-A421-9B07A6F118D3}" sibTransId="{B5C0861D-585A-450A-B6F7-BC31C0FD0505}"/>
    <dgm:cxn modelId="{065B6E45-B9C8-49A3-A128-02F4A5CD7BF5}" type="presOf" srcId="{8C9F0990-82B8-4767-A4F5-786B157064EF}" destId="{24C79D7C-E5A2-4D6E-948F-E16CE75C9745}" srcOrd="0" destOrd="0" presId="urn:microsoft.com/office/officeart/2005/8/layout/chevron1"/>
    <dgm:cxn modelId="{7203FC45-4B50-4945-A9A2-059C1F19E16A}" type="presOf" srcId="{5DDB9C06-A197-4EA9-B12B-DB93F6D88AFA}" destId="{96BE6990-1546-48BF-AE50-C5F8E9812882}" srcOrd="0" destOrd="0" presId="urn:microsoft.com/office/officeart/2005/8/layout/chevron1"/>
    <dgm:cxn modelId="{0A798F6A-4D95-4696-8360-6DDA9649F5F4}" type="presOf" srcId="{49ED8402-ABB6-4443-A297-AC533451753B}" destId="{FF2B2F71-A2A5-4B29-8C1B-0924645E3F36}" srcOrd="0" destOrd="0" presId="urn:microsoft.com/office/officeart/2005/8/layout/chevron1"/>
    <dgm:cxn modelId="{4C82417E-216A-4D45-82BA-850DC6EC2372}" srcId="{9059DF50-1CED-417D-999C-DD8C231DB37A}" destId="{60FDDCA8-EFFF-4A40-BA87-14C02A4E9317}" srcOrd="5" destOrd="0" parTransId="{904B7A83-E8C6-4133-8E01-022CB9C21403}" sibTransId="{1EA6B4E0-1225-4DDE-9A65-3AF26877CAD8}"/>
    <dgm:cxn modelId="{D854BE81-6529-407A-84C9-53A48B8F5496}" srcId="{9059DF50-1CED-417D-999C-DD8C231DB37A}" destId="{8C9F0990-82B8-4767-A4F5-786B157064EF}" srcOrd="4" destOrd="0" parTransId="{463EF30C-2238-438D-9F4D-89C2612E3E50}" sibTransId="{7BE2FA18-81DF-4FB5-A84A-4A68243358A8}"/>
    <dgm:cxn modelId="{D1D70994-0E83-40B7-B912-F62F6B757C82}" type="presOf" srcId="{3D587469-0E00-4448-8A4C-1425EF74DFD6}" destId="{2A336006-2170-42A7-91E6-A0E137B69C09}" srcOrd="0" destOrd="0" presId="urn:microsoft.com/office/officeart/2005/8/layout/chevron1"/>
    <dgm:cxn modelId="{EFD6EB9A-4384-48BB-A38A-E4FC1B7040D7}" srcId="{9059DF50-1CED-417D-999C-DD8C231DB37A}" destId="{5DDB9C06-A197-4EA9-B12B-DB93F6D88AFA}" srcOrd="1" destOrd="0" parTransId="{A06914B4-F3ED-49C5-B1E2-C57D3ECAEB96}" sibTransId="{A093966D-F1A4-42F9-B353-67489AC1768A}"/>
    <dgm:cxn modelId="{F75B5BB0-6406-4C8B-9272-C377E690D87A}" type="presOf" srcId="{29439978-63D9-4ADE-9042-940CC54C92F9}" destId="{B666118A-A6BC-4326-BBF4-73EB313EF31F}" srcOrd="0" destOrd="0" presId="urn:microsoft.com/office/officeart/2005/8/layout/chevron1"/>
    <dgm:cxn modelId="{1A86ABEF-E97E-4AF7-9938-64F04EEB9B6D}" srcId="{9059DF50-1CED-417D-999C-DD8C231DB37A}" destId="{3D587469-0E00-4448-8A4C-1425EF74DFD6}" srcOrd="2" destOrd="0" parTransId="{6926F0BD-8926-4D8C-B5D6-660332BB6DCE}" sibTransId="{401181E3-2E5B-496D-A606-D063168ED6BB}"/>
    <dgm:cxn modelId="{AE51D1F2-352F-4F5D-B562-E47771185E5C}" srcId="{9059DF50-1CED-417D-999C-DD8C231DB37A}" destId="{D8CDE658-252D-4A74-9C60-EB21A670E85D}" srcOrd="3" destOrd="0" parTransId="{2CA8049D-B8E4-49E1-B5FF-52A54D2A1981}" sibTransId="{191EE890-5728-426E-BB65-9D96436F22A1}"/>
    <dgm:cxn modelId="{5FB1EA8F-6C74-4334-B440-EA5AA15CA57A}" type="presParOf" srcId="{C9034DEE-D2C0-47E6-9A01-27BC5BC68FCE}" destId="{FF2B2F71-A2A5-4B29-8C1B-0924645E3F36}" srcOrd="0" destOrd="0" presId="urn:microsoft.com/office/officeart/2005/8/layout/chevron1"/>
    <dgm:cxn modelId="{C846C1D5-7EE5-4A6B-969D-ED4DE58AD318}" type="presParOf" srcId="{C9034DEE-D2C0-47E6-9A01-27BC5BC68FCE}" destId="{E2E1AE1B-AD92-4A86-810B-C972E4252B03}" srcOrd="1" destOrd="0" presId="urn:microsoft.com/office/officeart/2005/8/layout/chevron1"/>
    <dgm:cxn modelId="{7CEAF63F-63A9-4575-9445-EFE67B731A91}" type="presParOf" srcId="{C9034DEE-D2C0-47E6-9A01-27BC5BC68FCE}" destId="{96BE6990-1546-48BF-AE50-C5F8E9812882}" srcOrd="2" destOrd="0" presId="urn:microsoft.com/office/officeart/2005/8/layout/chevron1"/>
    <dgm:cxn modelId="{4B018660-DC58-42E6-8AFB-E30B83EC5899}" type="presParOf" srcId="{C9034DEE-D2C0-47E6-9A01-27BC5BC68FCE}" destId="{2FECF884-BC0D-4883-AE66-0BB8F1A4CE37}" srcOrd="3" destOrd="0" presId="urn:microsoft.com/office/officeart/2005/8/layout/chevron1"/>
    <dgm:cxn modelId="{99C97BAA-3BB1-40EA-A0DD-6CAFB6FB09E0}" type="presParOf" srcId="{C9034DEE-D2C0-47E6-9A01-27BC5BC68FCE}" destId="{2A336006-2170-42A7-91E6-A0E137B69C09}" srcOrd="4" destOrd="0" presId="urn:microsoft.com/office/officeart/2005/8/layout/chevron1"/>
    <dgm:cxn modelId="{A7EB3522-7BC8-4A0E-A8AF-9FF773C9BB99}" type="presParOf" srcId="{C9034DEE-D2C0-47E6-9A01-27BC5BC68FCE}" destId="{0888FB8A-CF54-49DA-BDFC-A629A6BE2B7D}" srcOrd="5" destOrd="0" presId="urn:microsoft.com/office/officeart/2005/8/layout/chevron1"/>
    <dgm:cxn modelId="{F1E8CD4B-1857-4311-AC19-143218B63896}" type="presParOf" srcId="{C9034DEE-D2C0-47E6-9A01-27BC5BC68FCE}" destId="{E37E0AD7-32E2-4AEC-A013-9D40B05A5E2E}" srcOrd="6" destOrd="0" presId="urn:microsoft.com/office/officeart/2005/8/layout/chevron1"/>
    <dgm:cxn modelId="{FAF672C1-A8A4-4E9B-8830-912ABB305CD9}" type="presParOf" srcId="{C9034DEE-D2C0-47E6-9A01-27BC5BC68FCE}" destId="{25F60600-0C67-4709-B453-22DB9D66541D}" srcOrd="7" destOrd="0" presId="urn:microsoft.com/office/officeart/2005/8/layout/chevron1"/>
    <dgm:cxn modelId="{4F7BA4B0-30D8-4CC6-94F5-C5CAEEF865E0}" type="presParOf" srcId="{C9034DEE-D2C0-47E6-9A01-27BC5BC68FCE}" destId="{24C79D7C-E5A2-4D6E-948F-E16CE75C9745}" srcOrd="8" destOrd="0" presId="urn:microsoft.com/office/officeart/2005/8/layout/chevron1"/>
    <dgm:cxn modelId="{50176C1F-1DE6-4E90-8C43-A5CAF37A970F}" type="presParOf" srcId="{C9034DEE-D2C0-47E6-9A01-27BC5BC68FCE}" destId="{C396AEDE-E063-4B21-BA67-0935AF9AE7AA}" srcOrd="9" destOrd="0" presId="urn:microsoft.com/office/officeart/2005/8/layout/chevron1"/>
    <dgm:cxn modelId="{FFBF178A-9299-4F39-91E1-69424CDA2E91}" type="presParOf" srcId="{C9034DEE-D2C0-47E6-9A01-27BC5BC68FCE}" destId="{66529674-CB9E-44F1-B4B9-CF28739AA7BA}" srcOrd="10" destOrd="0" presId="urn:microsoft.com/office/officeart/2005/8/layout/chevron1"/>
    <dgm:cxn modelId="{77F3EDE8-26A5-4529-B3C7-365A070AB274}" type="presParOf" srcId="{C9034DEE-D2C0-47E6-9A01-27BC5BC68FCE}" destId="{08F3C91D-686A-45E7-8247-F2F81031D046}" srcOrd="11" destOrd="0" presId="urn:microsoft.com/office/officeart/2005/8/layout/chevron1"/>
    <dgm:cxn modelId="{7AEBDF2C-088A-4B22-928E-9902B45ACD7E}" type="presParOf" srcId="{C9034DEE-D2C0-47E6-9A01-27BC5BC68FCE}" destId="{B666118A-A6BC-4326-BBF4-73EB313EF31F}" srcOrd="12"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2B2F71-A2A5-4B29-8C1B-0924645E3F36}">
      <dsp:nvSpPr>
        <dsp:cNvPr id="0" name=""/>
        <dsp:cNvSpPr/>
      </dsp:nvSpPr>
      <dsp:spPr>
        <a:xfrm>
          <a:off x="0" y="252743"/>
          <a:ext cx="1891392" cy="756557"/>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CA" sz="1100" kern="1200"/>
            <a:t>Knowledge Base Identification (Data Collection)</a:t>
          </a:r>
        </a:p>
      </dsp:txBody>
      <dsp:txXfrm>
        <a:off x="378279" y="252743"/>
        <a:ext cx="1134835" cy="756557"/>
      </dsp:txXfrm>
    </dsp:sp>
    <dsp:sp modelId="{96BE6990-1546-48BF-AE50-C5F8E9812882}">
      <dsp:nvSpPr>
        <dsp:cNvPr id="0" name=""/>
        <dsp:cNvSpPr/>
      </dsp:nvSpPr>
      <dsp:spPr>
        <a:xfrm>
          <a:off x="1702253" y="252743"/>
          <a:ext cx="1891392" cy="756557"/>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CA" sz="1100" kern="1200"/>
            <a:t>Data Ingestion (APIs, Data lake)</a:t>
          </a:r>
        </a:p>
      </dsp:txBody>
      <dsp:txXfrm>
        <a:off x="2080532" y="252743"/>
        <a:ext cx="1134835" cy="756557"/>
      </dsp:txXfrm>
    </dsp:sp>
    <dsp:sp modelId="{2A336006-2170-42A7-91E6-A0E137B69C09}">
      <dsp:nvSpPr>
        <dsp:cNvPr id="0" name=""/>
        <dsp:cNvSpPr/>
      </dsp:nvSpPr>
      <dsp:spPr>
        <a:xfrm>
          <a:off x="3404507" y="252743"/>
          <a:ext cx="1891392" cy="756557"/>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CA" sz="1100" kern="1200"/>
            <a:t>Data Preprocessing</a:t>
          </a:r>
        </a:p>
      </dsp:txBody>
      <dsp:txXfrm>
        <a:off x="3782786" y="252743"/>
        <a:ext cx="1134835" cy="756557"/>
      </dsp:txXfrm>
    </dsp:sp>
    <dsp:sp modelId="{E37E0AD7-32E2-4AEC-A013-9D40B05A5E2E}">
      <dsp:nvSpPr>
        <dsp:cNvPr id="0" name=""/>
        <dsp:cNvSpPr/>
      </dsp:nvSpPr>
      <dsp:spPr>
        <a:xfrm>
          <a:off x="5106760" y="252743"/>
          <a:ext cx="1891392" cy="756557"/>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CA" sz="1100" kern="1200"/>
            <a:t>Embedding</a:t>
          </a:r>
        </a:p>
      </dsp:txBody>
      <dsp:txXfrm>
        <a:off x="5485039" y="252743"/>
        <a:ext cx="1134835" cy="756557"/>
      </dsp:txXfrm>
    </dsp:sp>
    <dsp:sp modelId="{24C79D7C-E5A2-4D6E-948F-E16CE75C9745}">
      <dsp:nvSpPr>
        <dsp:cNvPr id="0" name=""/>
        <dsp:cNvSpPr/>
      </dsp:nvSpPr>
      <dsp:spPr>
        <a:xfrm>
          <a:off x="6809014" y="252743"/>
          <a:ext cx="1891392" cy="756557"/>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CA" sz="1100" kern="1200"/>
            <a:t>Indexing &amp; Retrieval</a:t>
          </a:r>
        </a:p>
      </dsp:txBody>
      <dsp:txXfrm>
        <a:off x="7187293" y="252743"/>
        <a:ext cx="1134835" cy="756557"/>
      </dsp:txXfrm>
    </dsp:sp>
    <dsp:sp modelId="{66529674-CB9E-44F1-B4B9-CF28739AA7BA}">
      <dsp:nvSpPr>
        <dsp:cNvPr id="0" name=""/>
        <dsp:cNvSpPr/>
      </dsp:nvSpPr>
      <dsp:spPr>
        <a:xfrm>
          <a:off x="8511267" y="252743"/>
          <a:ext cx="1891392" cy="756557"/>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CA" sz="1100" kern="1200"/>
            <a:t>LLM Integration &amp; Generation</a:t>
          </a:r>
        </a:p>
      </dsp:txBody>
      <dsp:txXfrm>
        <a:off x="8889546" y="252743"/>
        <a:ext cx="1134835" cy="756557"/>
      </dsp:txXfrm>
    </dsp:sp>
    <dsp:sp modelId="{B666118A-A6BC-4326-BBF4-73EB313EF31F}">
      <dsp:nvSpPr>
        <dsp:cNvPr id="0" name=""/>
        <dsp:cNvSpPr/>
      </dsp:nvSpPr>
      <dsp:spPr>
        <a:xfrm>
          <a:off x="10213521" y="252743"/>
          <a:ext cx="1891392" cy="756557"/>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CA" sz="1100" kern="1200"/>
            <a:t>Frontend &amp; Backend implementation</a:t>
          </a:r>
        </a:p>
      </dsp:txBody>
      <dsp:txXfrm>
        <a:off x="10591800" y="252743"/>
        <a:ext cx="1134835" cy="75655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Slide Number Placeholder 12"/>
          <p:cNvSpPr>
            <a:spLocks noGrp="1"/>
          </p:cNvSpPr>
          <p:nvPr>
            <p:ph type="sldNum" sz="quarter" idx="3"/>
          </p:nvPr>
        </p:nvSpPr>
        <p:spPr>
          <a:xfrm>
            <a:off x="3979757" y="0"/>
            <a:ext cx="2575137" cy="467071"/>
          </a:xfrm>
          <a:prstGeom prst="rect">
            <a:avLst/>
          </a:prstGeom>
        </p:spPr>
        <p:txBody>
          <a:bodyPr vert="horz" lIns="0" tIns="0" rIns="0" bIns="0" rtlCol="0" anchor="b"/>
          <a:lstStyle>
            <a:lvl1pPr algn="r">
              <a:defRPr sz="1200"/>
            </a:lvl1pPr>
          </a:lstStyle>
          <a:p>
            <a:fld id="{138C58B0-FFE9-437E-B2CB-216DAFA841B5}" type="slidenum">
              <a:rPr lang="en-US" smtClean="0"/>
              <a:t>‹#›</a:t>
            </a:fld>
            <a:endParaRPr lang="en-US"/>
          </a:p>
        </p:txBody>
      </p:sp>
    </p:spTree>
    <p:extLst>
      <p:ext uri="{BB962C8B-B14F-4D97-AF65-F5344CB8AC3E}">
        <p14:creationId xmlns:p14="http://schemas.microsoft.com/office/powerpoint/2010/main" val="2414966732"/>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2" pos="295" userDrawn="1">
          <p15:clr>
            <a:srgbClr val="F26B43"/>
          </p15:clr>
        </p15:guide>
        <p15:guide id="3" pos="4129"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25488" y="704850"/>
            <a:ext cx="5618162" cy="31607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085005"/>
            <a:ext cx="5657497" cy="4168137"/>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14"/>
          <p:cNvSpPr>
            <a:spLocks noGrp="1"/>
          </p:cNvSpPr>
          <p:nvPr>
            <p:ph type="sldNum" sz="quarter" idx="5"/>
          </p:nvPr>
        </p:nvSpPr>
        <p:spPr>
          <a:xfrm>
            <a:off x="3979756" y="9349"/>
            <a:ext cx="2380051" cy="467071"/>
          </a:xfrm>
          <a:prstGeom prst="rect">
            <a:avLst/>
          </a:prstGeom>
        </p:spPr>
        <p:txBody>
          <a:bodyPr vert="horz" lIns="0" tIns="0" rIns="0" bIns="0" rtlCol="0" anchor="b"/>
          <a:lstStyle>
            <a:lvl1pPr algn="r">
              <a:defRPr sz="1200"/>
            </a:lvl1pPr>
          </a:lstStyle>
          <a:p>
            <a:fld id="{56AF3A09-0EB5-429E-B7D0-FB28A7726D23}" type="slidenum">
              <a:rPr lang="en-US" smtClean="0"/>
              <a:t>‹#›</a:t>
            </a:fld>
            <a:endParaRPr lang="en-US"/>
          </a:p>
        </p:txBody>
      </p:sp>
    </p:spTree>
    <p:extLst>
      <p:ext uri="{BB962C8B-B14F-4D97-AF65-F5344CB8AC3E}">
        <p14:creationId xmlns:p14="http://schemas.microsoft.com/office/powerpoint/2010/main" val="2302219137"/>
      </p:ext>
    </p:extLst>
  </p:cSld>
  <p:clrMap bg1="lt1" tx1="dk1" bg2="lt2" tx2="dk2" accent1="accent1" accent2="accent2" accent3="accent3" accent4="accent4" accent5="accent5" accent6="accent6" hlink="hlink" folHlink="folHlink"/>
  <p:hf dt="0"/>
  <p:notesStyle>
    <a:lvl1pPr marL="115888"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1pPr>
    <a:lvl2pPr marL="287338" indent="-117475"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2pPr>
    <a:lvl3pPr marL="457200"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3pPr>
    <a:lvl4pPr marL="627063"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4pPr>
    <a:lvl5pPr marL="860425" indent="-171450"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442" userDrawn="1">
          <p15:clr>
            <a:srgbClr val="F26B43"/>
          </p15:clr>
        </p15:guide>
        <p15:guide id="2" pos="400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mckinsey.com/industries/aerospace-and-defense/our-insights/digital-the-next-horizon-for-global-aerospace-and-defense" TargetMode="External"/><Relationship Id="rId2" Type="http://schemas.openxmlformats.org/officeDocument/2006/relationships/slide" Target="../slides/slide3.xml"/><Relationship Id="rId1" Type="http://schemas.openxmlformats.org/officeDocument/2006/relationships/notesMaster" Target="../notesMasters/notesMaster1.xml"/><Relationship Id="rId5" Type="http://schemas.openxmlformats.org/officeDocument/2006/relationships/hyperlink" Target="https://www.prattwhitney.com/en/newsroom/news/2022/03/08/artificial-intelligence-boosts-pwc-oil-analysis-technology-to-deliver-proactive-and-preventative" TargetMode="External"/><Relationship Id="rId4" Type="http://schemas.openxmlformats.org/officeDocument/2006/relationships/hyperlink" Target="https://www.precedenceresearch.com/ai-in-aerospace-and-defense-market"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coveo.com/en/pdf?file=/-/media/library/files/reports/2022-relevance-reports/workplace-relevance/ccs-1942_report_workplace-2.pdf"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04850"/>
            <a:ext cx="5616575" cy="3159125"/>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1"/>
          </p:nvPr>
        </p:nvSpPr>
        <p:spPr/>
        <p:txBody>
          <a:bodyPr/>
          <a:lstStyle/>
          <a:p>
            <a:fld id="{56AF3A09-0EB5-429E-B7D0-FB28A7726D23}" type="slidenum">
              <a:rPr lang="en-US" smtClean="0"/>
              <a:t>1</a:t>
            </a:fld>
            <a:endParaRPr lang="en-US"/>
          </a:p>
        </p:txBody>
      </p:sp>
    </p:spTree>
    <p:extLst>
      <p:ext uri="{BB962C8B-B14F-4D97-AF65-F5344CB8AC3E}">
        <p14:creationId xmlns:p14="http://schemas.microsoft.com/office/powerpoint/2010/main" val="3652974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04850"/>
            <a:ext cx="5616575" cy="3159125"/>
          </a:xfrm>
        </p:spPr>
      </p:sp>
      <p:sp>
        <p:nvSpPr>
          <p:cNvPr id="3" name="Notes Placeholder 2"/>
          <p:cNvSpPr>
            <a:spLocks noGrp="1"/>
          </p:cNvSpPr>
          <p:nvPr>
            <p:ph type="body" idx="1"/>
          </p:nvPr>
        </p:nvSpPr>
        <p:spPr/>
        <p:txBody>
          <a:bodyPr/>
          <a:lstStyle/>
          <a:p>
            <a:r>
              <a:rPr lang="en-US"/>
              <a:t>OPO Experts Slide – to include showing the connection of how this is going to become an expert assistant for OPO members. This would bridge the gap to fill the void of those exerts.</a:t>
            </a:r>
          </a:p>
          <a:p>
            <a:r>
              <a:rPr lang="en-US"/>
              <a:t>Build a Knowledge test with one of the modules.</a:t>
            </a:r>
          </a:p>
          <a:p>
            <a:r>
              <a:rPr lang="en-US"/>
              <a:t>Avrum Goldman – get std work for IPT, PMT, etc. &gt;&gt; part of ongoing - building of OPO Knowledgebase</a:t>
            </a:r>
          </a:p>
          <a:p>
            <a:r>
              <a:rPr lang="en-US"/>
              <a:t>Limitation of waiting list/delays for enterprise AI tools</a:t>
            </a:r>
          </a:p>
          <a:p>
            <a:endParaRPr lang="en-US"/>
          </a:p>
          <a:p>
            <a:r>
              <a:rPr lang="en-US"/>
              <a:t>Project started &gt; User Cases &amp; Validation &gt; PoC &gt; Starting Transition to Cloud &gt; Cloud &gt; Product Release MVP &gt; … &gt; …</a:t>
            </a:r>
          </a:p>
          <a:p>
            <a:endParaRPr lang="en-US"/>
          </a:p>
          <a:p>
            <a:r>
              <a:rPr lang="en-US"/>
              <a:t>Add Demographics Slide</a:t>
            </a:r>
          </a:p>
          <a:p>
            <a:r>
              <a:rPr lang="en-US"/>
              <a:t>Add Timeline Slide</a:t>
            </a:r>
          </a:p>
          <a:p>
            <a:r>
              <a:rPr lang="en-US"/>
              <a:t>Connectivity between hierarchy of Procedure to show complexity, ex. 4.12 (time required to update the procedure)</a:t>
            </a:r>
          </a:p>
          <a:p>
            <a:endParaRPr lang="en-US"/>
          </a:p>
          <a:p>
            <a:endParaRPr lang="en-US"/>
          </a:p>
          <a:p>
            <a:r>
              <a:rPr lang="en-US"/>
              <a:t>Slide 7 Conclusion – No ability to leverage existing platforms for OPO</a:t>
            </a:r>
          </a:p>
          <a:p>
            <a:r>
              <a:rPr lang="en-US"/>
              <a:t>Slide 12 – Case Study</a:t>
            </a:r>
          </a:p>
          <a:p>
            <a:r>
              <a:rPr lang="en-US"/>
              <a:t>Slide 16 – Conclusion &gt; Capacity Unlock – your search time goes from hours to minutes.</a:t>
            </a:r>
          </a:p>
          <a:p>
            <a:endParaRPr lang="en-US"/>
          </a:p>
          <a:p>
            <a:r>
              <a:rPr lang="en-US"/>
              <a:t>To add – Development HW ex. 1</a:t>
            </a:r>
            <a:r>
              <a:rPr lang="en-US" baseline="30000"/>
              <a:t>st</a:t>
            </a:r>
            <a:r>
              <a:rPr lang="en-US"/>
              <a:t> part order with NPF job Ticket process &gt; show discrepancies and issues. &gt; getting ex. On how we fail on CofC. (Ashmeed, Shabnam, Guy)</a:t>
            </a:r>
          </a:p>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2</a:t>
            </a:fld>
            <a:endParaRPr lang="en-US"/>
          </a:p>
        </p:txBody>
      </p:sp>
    </p:spTree>
    <p:extLst>
      <p:ext uri="{BB962C8B-B14F-4D97-AF65-F5344CB8AC3E}">
        <p14:creationId xmlns:p14="http://schemas.microsoft.com/office/powerpoint/2010/main" val="3767676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04850"/>
            <a:ext cx="5616575" cy="3159125"/>
          </a:xfrm>
        </p:spPr>
      </p:sp>
      <p:sp>
        <p:nvSpPr>
          <p:cNvPr id="3" name="Notes Placeholder 2"/>
          <p:cNvSpPr>
            <a:spLocks noGrp="1"/>
          </p:cNvSpPr>
          <p:nvPr>
            <p:ph type="body" idx="1"/>
          </p:nvPr>
        </p:nvSpPr>
        <p:spPr/>
        <p:txBody>
          <a:bodyPr/>
          <a:lstStyle/>
          <a:p>
            <a:r>
              <a:rPr lang="en-CA"/>
              <a:t>A McKinsey research effort in partnership with the Aerospace Industries Association found that advancing digital maturity of the A&amp;D value stream could unlock $20 billion in annual EBITDA (approximately 10% improvement based on 2018 global sector EBITDA of $200 billion) - </a:t>
            </a:r>
            <a:r>
              <a:rPr lang="en-CA">
                <a:hlinkClick r:id="rId3"/>
              </a:rPr>
              <a:t>Digital: The next horizon for global aerospace and defense | McKinsey</a:t>
            </a:r>
            <a:endParaRPr lang="en-CA"/>
          </a:p>
          <a:p>
            <a:r>
              <a:rPr lang="en-CA"/>
              <a:t>Companies that embrace digital deliver 1.3x stronger overall performance than their peers across all industries including A&amp;D</a:t>
            </a:r>
          </a:p>
          <a:p>
            <a:r>
              <a:rPr lang="en-CA">
                <a:hlinkClick r:id="rId4"/>
              </a:rPr>
              <a:t>AI in Aerospace and Defense Market Size to Hit USD 65.43 Bn by 2034</a:t>
            </a:r>
            <a:endParaRPr lang="en-CA"/>
          </a:p>
          <a:p>
            <a:r>
              <a:rPr lang="en-CA">
                <a:hlinkClick r:id="rId5"/>
              </a:rPr>
              <a:t>News | Artificial Intelligence Boosts Pratt &amp; Whitney Canada’s Oil Analysis Technology to Deliver Proactive and Preventative Maintenance for Its Helicopter Customers | Pratt &amp; Whitney</a:t>
            </a:r>
            <a:endParaRPr lang="en-CA"/>
          </a:p>
        </p:txBody>
      </p:sp>
      <p:sp>
        <p:nvSpPr>
          <p:cNvPr id="4" name="Slide Number Placeholder 3"/>
          <p:cNvSpPr>
            <a:spLocks noGrp="1"/>
          </p:cNvSpPr>
          <p:nvPr>
            <p:ph type="sldNum" sz="quarter" idx="5"/>
          </p:nvPr>
        </p:nvSpPr>
        <p:spPr/>
        <p:txBody>
          <a:bodyPr/>
          <a:lstStyle/>
          <a:p>
            <a:fld id="{56AF3A09-0EB5-429E-B7D0-FB28A7726D23}" type="slidenum">
              <a:rPr lang="en-US" smtClean="0"/>
              <a:t>3</a:t>
            </a:fld>
            <a:endParaRPr lang="en-US"/>
          </a:p>
        </p:txBody>
      </p:sp>
    </p:spTree>
    <p:extLst>
      <p:ext uri="{BB962C8B-B14F-4D97-AF65-F5344CB8AC3E}">
        <p14:creationId xmlns:p14="http://schemas.microsoft.com/office/powerpoint/2010/main" val="203158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04850"/>
            <a:ext cx="5616575" cy="3159125"/>
          </a:xfrm>
        </p:spPr>
      </p:sp>
      <p:sp>
        <p:nvSpPr>
          <p:cNvPr id="3" name="Notes Placeholder 2"/>
          <p:cNvSpPr>
            <a:spLocks noGrp="1"/>
          </p:cNvSpPr>
          <p:nvPr>
            <p:ph type="body" idx="1"/>
          </p:nvPr>
        </p:nvSpPr>
        <p:spPr/>
        <p:txBody>
          <a:bodyPr/>
          <a:lstStyle/>
          <a:p>
            <a:r>
              <a:rPr lang="en-CA"/>
              <a:t>While AI offers tremendous potential for our operations, we need to understand the serious risks involved.</a:t>
            </a:r>
          </a:p>
          <a:p>
            <a:r>
              <a:rPr lang="en-CA"/>
              <a:t>These tools have serious technical limitations. They hallucinate - meaning they confidently state incorrect technical specs or invent regulations that sound real but aren’t.</a:t>
            </a:r>
          </a:p>
          <a:p>
            <a:r>
              <a:rPr lang="en-CA"/>
              <a:t>The same input can give you different outputs, which is completely unacceptable for our engineering standards.</a:t>
            </a:r>
          </a:p>
          <a:p>
            <a:r>
              <a:rPr lang="en-CA"/>
              <a:t>They're trained on internet text, not our RTX procedures and standards.</a:t>
            </a:r>
          </a:p>
          <a:p>
            <a:r>
              <a:rPr lang="en-CA"/>
              <a:t>Here's a critical question - when an AI tool makes an error that impacts our work, who's responsible? With unapproved tools, we have no clear accountability chain.</a:t>
            </a:r>
          </a:p>
          <a:p>
            <a:r>
              <a:rPr lang="en-CA"/>
              <a:t>The number one risk is data security. When you use unapproved AI tools, you're essentially sending our proprietary information to external servers. Once that data leaves our systems, we lose control. </a:t>
            </a:r>
          </a:p>
          <a:p>
            <a:r>
              <a:rPr lang="en-CA"/>
              <a:t>These are 'black box' systems where we can't explain how decisions were made - completely unacceptable if we ever face an investigation or review.</a:t>
            </a:r>
          </a:p>
        </p:txBody>
      </p:sp>
      <p:sp>
        <p:nvSpPr>
          <p:cNvPr id="4" name="Slide Number Placeholder 3"/>
          <p:cNvSpPr>
            <a:spLocks noGrp="1"/>
          </p:cNvSpPr>
          <p:nvPr>
            <p:ph type="sldNum" sz="quarter" idx="5"/>
          </p:nvPr>
        </p:nvSpPr>
        <p:spPr/>
        <p:txBody>
          <a:bodyPr/>
          <a:lstStyle/>
          <a:p>
            <a:fld id="{56AF3A09-0EB5-429E-B7D0-FB28A7726D23}" type="slidenum">
              <a:rPr lang="en-US" smtClean="0"/>
              <a:t>4</a:t>
            </a:fld>
            <a:endParaRPr lang="en-US"/>
          </a:p>
        </p:txBody>
      </p:sp>
    </p:spTree>
    <p:extLst>
      <p:ext uri="{BB962C8B-B14F-4D97-AF65-F5344CB8AC3E}">
        <p14:creationId xmlns:p14="http://schemas.microsoft.com/office/powerpoint/2010/main" val="2872313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04850"/>
            <a:ext cx="5616575" cy="3159125"/>
          </a:xfrm>
        </p:spPr>
      </p:sp>
      <p:sp>
        <p:nvSpPr>
          <p:cNvPr id="3" name="Notes Placeholder 2"/>
          <p:cNvSpPr>
            <a:spLocks noGrp="1"/>
          </p:cNvSpPr>
          <p:nvPr>
            <p:ph type="body" idx="1"/>
          </p:nvPr>
        </p:nvSpPr>
        <p:spPr/>
        <p:txBody>
          <a:bodyPr/>
          <a:lstStyle/>
          <a:p>
            <a:pPr marL="117951" indent="-117951"/>
            <a:endParaRPr lang="en-CA">
              <a:cs typeface="Arial"/>
            </a:endParaRPr>
          </a:p>
        </p:txBody>
      </p:sp>
      <p:sp>
        <p:nvSpPr>
          <p:cNvPr id="4" name="Slide Number Placeholder 3"/>
          <p:cNvSpPr>
            <a:spLocks noGrp="1"/>
          </p:cNvSpPr>
          <p:nvPr>
            <p:ph type="sldNum" sz="quarter" idx="5"/>
          </p:nvPr>
        </p:nvSpPr>
        <p:spPr/>
        <p:txBody>
          <a:bodyPr/>
          <a:lstStyle/>
          <a:p>
            <a:fld id="{56AF3A09-0EB5-429E-B7D0-FB28A7726D23}" type="slidenum">
              <a:rPr lang="en-US" smtClean="0"/>
              <a:t>5</a:t>
            </a:fld>
            <a:endParaRPr lang="en-US"/>
          </a:p>
        </p:txBody>
      </p:sp>
    </p:spTree>
    <p:extLst>
      <p:ext uri="{BB962C8B-B14F-4D97-AF65-F5344CB8AC3E}">
        <p14:creationId xmlns:p14="http://schemas.microsoft.com/office/powerpoint/2010/main" val="1465874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04850"/>
            <a:ext cx="5616575" cy="3159125"/>
          </a:xfrm>
        </p:spPr>
      </p:sp>
      <p:sp>
        <p:nvSpPr>
          <p:cNvPr id="3" name="Notes Placeholder 2"/>
          <p:cNvSpPr>
            <a:spLocks noGrp="1"/>
          </p:cNvSpPr>
          <p:nvPr>
            <p:ph type="body" idx="1"/>
          </p:nvPr>
        </p:nvSpPr>
        <p:spPr/>
        <p:txBody>
          <a:bodyPr/>
          <a:lstStyle/>
          <a:p>
            <a:r>
              <a:rPr lang="en-CA" dirty="0"/>
              <a:t>accelerate workflows</a:t>
            </a:r>
          </a:p>
          <a:p>
            <a:r>
              <a:rPr lang="en-CA" dirty="0"/>
              <a:t>Summarize reports</a:t>
            </a:r>
          </a:p>
          <a:p>
            <a:r>
              <a:rPr lang="en-CA" dirty="0"/>
              <a:t>Review documents &amp; synthesize them quickly</a:t>
            </a:r>
          </a:p>
          <a:p>
            <a:r>
              <a:rPr lang="en-CA" dirty="0"/>
              <a:t>enhance decision making</a:t>
            </a:r>
          </a:p>
          <a:p>
            <a:r>
              <a:rPr lang="en-CA" dirty="0"/>
              <a:t>gain expert insights and contextualize support</a:t>
            </a:r>
          </a:p>
          <a:p>
            <a:r>
              <a:rPr lang="en-CA" dirty="0"/>
              <a:t> </a:t>
            </a:r>
          </a:p>
          <a:p>
            <a:r>
              <a:rPr lang="en-CA" dirty="0"/>
              <a:t>ex. - While kicking off a CORE project, you can ask it to help me craft a leader`s intent; if you are preparing a business case for a project and you`re preparing on submitting an ECAR, a request for approval, it would help you in RTX context to assess the ROI, etc.; RFP with the best case insights</a:t>
            </a:r>
          </a:p>
          <a:p>
            <a:pPr marL="117951" indent="-117951"/>
            <a:endParaRPr lang="en-CA" dirty="0">
              <a:cs typeface="Arial" panose="020B0604020202020204"/>
            </a:endParaRPr>
          </a:p>
          <a:p>
            <a:pPr marL="117951" indent="-117951"/>
            <a:r>
              <a:rPr lang="en-CA" dirty="0"/>
              <a:t>The average employee now spends 3.6 hours every day searching for information at work, according to </a:t>
            </a:r>
            <a:r>
              <a:rPr lang="en-CA" dirty="0" err="1"/>
              <a:t>Coveo</a:t>
            </a:r>
            <a:r>
              <a:rPr lang="en-CA" dirty="0"/>
              <a:t> Relevance Report 2022 (</a:t>
            </a:r>
            <a:r>
              <a:rPr lang="en-CA" dirty="0">
                <a:solidFill>
                  <a:srgbClr val="444444"/>
                </a:solidFill>
                <a:hlinkClick r:id="rId3"/>
              </a:rPr>
              <a:t>CCS-1942_REPORT_Workplace-2.pdf</a:t>
            </a:r>
            <a:r>
              <a:rPr lang="en-CA" dirty="0"/>
              <a:t>) </a:t>
            </a:r>
            <a:endParaRPr lang="en-US" dirty="0">
              <a:solidFill>
                <a:srgbClr val="444444"/>
              </a:solidFill>
            </a:endParaRPr>
          </a:p>
          <a:p>
            <a:pPr marL="117951" indent="-117951"/>
            <a:r>
              <a:rPr lang="en-CA" dirty="0"/>
              <a:t>On an average for 100 employees  – 3.6 hours * 262 days a year * 100 employees = 94,320 hours spent on information search and analysis</a:t>
            </a:r>
            <a:r>
              <a:rPr lang="en-US" dirty="0"/>
              <a:t> </a:t>
            </a:r>
            <a:endParaRPr lang="en-CA" dirty="0"/>
          </a:p>
          <a:p>
            <a:endParaRPr lang="en-US" dirty="0">
              <a:cs typeface="Arial" panose="020B0604020202020204"/>
            </a:endParaRPr>
          </a:p>
        </p:txBody>
      </p:sp>
      <p:sp>
        <p:nvSpPr>
          <p:cNvPr id="5" name="Slide Number Placeholder 4"/>
          <p:cNvSpPr>
            <a:spLocks noGrp="1"/>
          </p:cNvSpPr>
          <p:nvPr>
            <p:ph type="sldNum" sz="quarter" idx="5"/>
          </p:nvPr>
        </p:nvSpPr>
        <p:spPr/>
        <p:txBody>
          <a:bodyPr/>
          <a:lstStyle/>
          <a:p>
            <a:fld id="{56AF3A09-0EB5-429E-B7D0-FB28A7726D23}" type="slidenum">
              <a:rPr lang="en-US" smtClean="0"/>
              <a:t>8</a:t>
            </a:fld>
            <a:endParaRPr lang="en-US"/>
          </a:p>
        </p:txBody>
      </p:sp>
    </p:spTree>
    <p:extLst>
      <p:ext uri="{BB962C8B-B14F-4D97-AF65-F5344CB8AC3E}">
        <p14:creationId xmlns:p14="http://schemas.microsoft.com/office/powerpoint/2010/main" val="3036179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136D2-FAFF-2E10-2A69-B658D2528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0FC8E-2FC2-13FA-4352-3E5F595E6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F3D653-8199-3F52-7D96-06E09C6AB37D}"/>
              </a:ext>
            </a:extLst>
          </p:cNvPr>
          <p:cNvSpPr>
            <a:spLocks noGrp="1"/>
          </p:cNvSpPr>
          <p:nvPr>
            <p:ph type="body" idx="1"/>
          </p:nvPr>
        </p:nvSpPr>
        <p:spPr/>
        <p:txBody>
          <a:bodyPr/>
          <a:lstStyle/>
          <a:p>
            <a:pPr marL="0" indent="0">
              <a:buFont typeface="Arial" panose="020B0604020202020204" pitchFamily="34" charset="0"/>
              <a:buNone/>
            </a:pPr>
            <a:endParaRPr lang="en-CA"/>
          </a:p>
        </p:txBody>
      </p:sp>
      <p:sp>
        <p:nvSpPr>
          <p:cNvPr id="4" name="Slide Number Placeholder 3">
            <a:extLst>
              <a:ext uri="{FF2B5EF4-FFF2-40B4-BE49-F238E27FC236}">
                <a16:creationId xmlns:a16="http://schemas.microsoft.com/office/drawing/2014/main" id="{2F37DCCE-27BF-2BDD-38CA-F1F325DDD354}"/>
              </a:ext>
            </a:extLst>
          </p:cNvPr>
          <p:cNvSpPr>
            <a:spLocks noGrp="1"/>
          </p:cNvSpPr>
          <p:nvPr>
            <p:ph type="sldNum" sz="quarter" idx="5"/>
          </p:nvPr>
        </p:nvSpPr>
        <p:spPr/>
        <p:txBody>
          <a:bodyPr/>
          <a:lstStyle/>
          <a:p>
            <a:fld id="{74BA7070-666F-4C78-B570-601351265E41}" type="slidenum">
              <a:rPr lang="en-CA" smtClean="0"/>
              <a:t>10</a:t>
            </a:fld>
            <a:endParaRPr lang="en-CA"/>
          </a:p>
        </p:txBody>
      </p:sp>
    </p:spTree>
    <p:extLst>
      <p:ext uri="{BB962C8B-B14F-4D97-AF65-F5344CB8AC3E}">
        <p14:creationId xmlns:p14="http://schemas.microsoft.com/office/powerpoint/2010/main" val="1084732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80CF2-89E6-C750-9576-47D57E719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BE047-B1CD-1E8A-86E8-A92E15AA3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BE77B-50B8-00FA-D7F7-7DAC2D6DA5DE}"/>
              </a:ext>
            </a:extLst>
          </p:cNvPr>
          <p:cNvSpPr>
            <a:spLocks noGrp="1"/>
          </p:cNvSpPr>
          <p:nvPr>
            <p:ph type="body" idx="1"/>
          </p:nvPr>
        </p:nvSpPr>
        <p:spPr/>
        <p:txBody>
          <a:bodyPr/>
          <a:lstStyle/>
          <a:p>
            <a:pPr marL="0" indent="0">
              <a:buFont typeface="Arial" panose="020B0604020202020204" pitchFamily="34" charset="0"/>
              <a:buNone/>
            </a:pPr>
            <a:endParaRPr lang="en-CA"/>
          </a:p>
        </p:txBody>
      </p:sp>
      <p:sp>
        <p:nvSpPr>
          <p:cNvPr id="4" name="Slide Number Placeholder 3">
            <a:extLst>
              <a:ext uri="{FF2B5EF4-FFF2-40B4-BE49-F238E27FC236}">
                <a16:creationId xmlns:a16="http://schemas.microsoft.com/office/drawing/2014/main" id="{D81A5D33-8453-53F4-B57A-1B4613B97280}"/>
              </a:ext>
            </a:extLst>
          </p:cNvPr>
          <p:cNvSpPr>
            <a:spLocks noGrp="1"/>
          </p:cNvSpPr>
          <p:nvPr>
            <p:ph type="sldNum" sz="quarter" idx="5"/>
          </p:nvPr>
        </p:nvSpPr>
        <p:spPr/>
        <p:txBody>
          <a:bodyPr/>
          <a:lstStyle/>
          <a:p>
            <a:fld id="{74BA7070-666F-4C78-B570-601351265E41}" type="slidenum">
              <a:rPr lang="en-CA" smtClean="0"/>
              <a:t>13</a:t>
            </a:fld>
            <a:endParaRPr lang="en-CA"/>
          </a:p>
        </p:txBody>
      </p:sp>
    </p:spTree>
    <p:extLst>
      <p:ext uri="{BB962C8B-B14F-4D97-AF65-F5344CB8AC3E}">
        <p14:creationId xmlns:p14="http://schemas.microsoft.com/office/powerpoint/2010/main" val="2846535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Ask GPT</a:t>
            </a:r>
          </a:p>
        </p:txBody>
      </p:sp>
      <p:sp>
        <p:nvSpPr>
          <p:cNvPr id="4" name="Slide Number Placeholder 3"/>
          <p:cNvSpPr>
            <a:spLocks noGrp="1"/>
          </p:cNvSpPr>
          <p:nvPr>
            <p:ph type="sldNum" sz="quarter" idx="5"/>
          </p:nvPr>
        </p:nvSpPr>
        <p:spPr/>
        <p:txBody>
          <a:bodyPr/>
          <a:lstStyle/>
          <a:p>
            <a:fld id="{74BA7070-666F-4C78-B570-601351265E41}" type="slidenum">
              <a:rPr lang="en-CA" smtClean="0"/>
              <a:t>18</a:t>
            </a:fld>
            <a:endParaRPr lang="en-CA"/>
          </a:p>
        </p:txBody>
      </p:sp>
    </p:spTree>
    <p:extLst>
      <p:ext uri="{BB962C8B-B14F-4D97-AF65-F5344CB8AC3E}">
        <p14:creationId xmlns:p14="http://schemas.microsoft.com/office/powerpoint/2010/main" val="2106580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CFA8D-B08D-BEE9-31EE-EE411F2FC9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574434-AB14-6F9A-D4E6-EF6989E751A4}"/>
              </a:ext>
            </a:extLst>
          </p:cNvPr>
          <p:cNvSpPr>
            <a:spLocks noGrp="1" noRot="1" noChangeAspect="1"/>
          </p:cNvSpPr>
          <p:nvPr>
            <p:ph type="sldImg"/>
          </p:nvPr>
        </p:nvSpPr>
        <p:spPr>
          <a:xfrm>
            <a:off x="725488" y="704850"/>
            <a:ext cx="5616575" cy="3159125"/>
          </a:xfrm>
        </p:spPr>
      </p:sp>
      <p:sp>
        <p:nvSpPr>
          <p:cNvPr id="3" name="Notes Placeholder 2">
            <a:extLst>
              <a:ext uri="{FF2B5EF4-FFF2-40B4-BE49-F238E27FC236}">
                <a16:creationId xmlns:a16="http://schemas.microsoft.com/office/drawing/2014/main" id="{1C5CE6AB-97DB-B6BD-92B8-3AE0141F685C}"/>
              </a:ext>
            </a:extLst>
          </p:cNvPr>
          <p:cNvSpPr>
            <a:spLocks noGrp="1"/>
          </p:cNvSpPr>
          <p:nvPr>
            <p:ph type="body" idx="1"/>
          </p:nvPr>
        </p:nvSpPr>
        <p:spPr/>
        <p:txBody>
          <a:bodyPr/>
          <a:lstStyle/>
          <a:p>
            <a:endParaRPr lang="en-US" strike="noStrike"/>
          </a:p>
        </p:txBody>
      </p:sp>
      <p:sp>
        <p:nvSpPr>
          <p:cNvPr id="5" name="Slide Number Placeholder 4">
            <a:extLst>
              <a:ext uri="{FF2B5EF4-FFF2-40B4-BE49-F238E27FC236}">
                <a16:creationId xmlns:a16="http://schemas.microsoft.com/office/drawing/2014/main" id="{8B61A0C6-5905-7960-BD74-09C67CF9711B}"/>
              </a:ext>
            </a:extLst>
          </p:cNvPr>
          <p:cNvSpPr>
            <a:spLocks noGrp="1"/>
          </p:cNvSpPr>
          <p:nvPr>
            <p:ph type="sldNum" sz="quarter" idx="5"/>
          </p:nvPr>
        </p:nvSpPr>
        <p:spPr/>
        <p:txBody>
          <a:bodyPr/>
          <a:lstStyle/>
          <a:p>
            <a:fld id="{56AF3A09-0EB5-429E-B7D0-FB28A7726D23}" type="slidenum">
              <a:rPr lang="en-US" smtClean="0"/>
              <a:t>21</a:t>
            </a:fld>
            <a:endParaRPr lang="en-US"/>
          </a:p>
        </p:txBody>
      </p:sp>
    </p:spTree>
    <p:extLst>
      <p:ext uri="{BB962C8B-B14F-4D97-AF65-F5344CB8AC3E}">
        <p14:creationId xmlns:p14="http://schemas.microsoft.com/office/powerpoint/2010/main" val="2833203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357CF-DADC-3D08-99FC-DBFC712C9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20784E-501A-1D35-7830-3D36F05E339C}"/>
              </a:ext>
            </a:extLst>
          </p:cNvPr>
          <p:cNvSpPr>
            <a:spLocks noGrp="1" noRot="1" noChangeAspect="1"/>
          </p:cNvSpPr>
          <p:nvPr>
            <p:ph type="sldImg"/>
          </p:nvPr>
        </p:nvSpPr>
        <p:spPr>
          <a:xfrm>
            <a:off x="725488" y="704850"/>
            <a:ext cx="5616575" cy="3159125"/>
          </a:xfrm>
        </p:spPr>
      </p:sp>
      <p:sp>
        <p:nvSpPr>
          <p:cNvPr id="3" name="Notes Placeholder 2">
            <a:extLst>
              <a:ext uri="{FF2B5EF4-FFF2-40B4-BE49-F238E27FC236}">
                <a16:creationId xmlns:a16="http://schemas.microsoft.com/office/drawing/2014/main" id="{92C857C7-CC94-A422-5A39-4DB60B3A8B17}"/>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0F0E6225-C99F-1C92-9AE4-73103DBD8FD8}"/>
              </a:ext>
            </a:extLst>
          </p:cNvPr>
          <p:cNvSpPr>
            <a:spLocks noGrp="1"/>
          </p:cNvSpPr>
          <p:nvPr>
            <p:ph type="sldNum" sz="quarter" idx="5"/>
          </p:nvPr>
        </p:nvSpPr>
        <p:spPr/>
        <p:txBody>
          <a:bodyPr/>
          <a:lstStyle/>
          <a:p>
            <a:fld id="{56AF3A09-0EB5-429E-B7D0-FB28A7726D23}" type="slidenum">
              <a:rPr lang="en-US" smtClean="0"/>
              <a:t>22</a:t>
            </a:fld>
            <a:endParaRPr lang="en-US"/>
          </a:p>
        </p:txBody>
      </p:sp>
    </p:spTree>
    <p:extLst>
      <p:ext uri="{BB962C8B-B14F-4D97-AF65-F5344CB8AC3E}">
        <p14:creationId xmlns:p14="http://schemas.microsoft.com/office/powerpoint/2010/main" val="2339473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8FD79-CC71-CD72-DC7C-E6E0C0FAD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82CCE-1200-578E-4F7B-67528E058D69}"/>
              </a:ext>
            </a:extLst>
          </p:cNvPr>
          <p:cNvSpPr>
            <a:spLocks noGrp="1" noRot="1" noChangeAspect="1"/>
          </p:cNvSpPr>
          <p:nvPr>
            <p:ph type="sldImg"/>
          </p:nvPr>
        </p:nvSpPr>
        <p:spPr>
          <a:xfrm>
            <a:off x="725488" y="704850"/>
            <a:ext cx="5616575" cy="3159125"/>
          </a:xfrm>
        </p:spPr>
      </p:sp>
      <p:sp>
        <p:nvSpPr>
          <p:cNvPr id="3" name="Notes Placeholder 2">
            <a:extLst>
              <a:ext uri="{FF2B5EF4-FFF2-40B4-BE49-F238E27FC236}">
                <a16:creationId xmlns:a16="http://schemas.microsoft.com/office/drawing/2014/main" id="{35F939C6-88C8-44E3-342D-12D750C4D72C}"/>
              </a:ext>
            </a:extLst>
          </p:cNvPr>
          <p:cNvSpPr>
            <a:spLocks noGrp="1"/>
          </p:cNvSpPr>
          <p:nvPr>
            <p:ph type="body" idx="1"/>
          </p:nvPr>
        </p:nvSpPr>
        <p:spPr/>
        <p:txBody>
          <a:bodyPr/>
          <a:lstStyle/>
          <a:p>
            <a:pPr marL="115570" indent="-115570"/>
            <a:r>
              <a:rPr lang="en-US"/>
              <a:t>Currently in our PoC phase which kicked off in Jan 2025. It included validating that the underlying infrastructure can meet our security and performance requirements within the RTX environment, researching different AI Models that are currently being used across RTX. We've created a working prototype that demonstrates OSKAR's core capability of grounding answers to queries in the OPO knowledgebase. </a:t>
            </a:r>
            <a:r>
              <a:rPr lang="en-US">
                <a:cs typeface="Arial" panose="020B0604020202020204"/>
              </a:rPr>
              <a:t>In parallel, we're conducting core idea validation with users, and business case validation to ensure ROI justification.</a:t>
            </a:r>
          </a:p>
          <a:p>
            <a:pPr marL="115570" indent="-115570"/>
            <a:endParaRPr lang="en-US">
              <a:cs typeface="Arial" panose="020B0604020202020204"/>
            </a:endParaRPr>
          </a:p>
          <a:p>
            <a:pPr marL="115570" indent="-115570"/>
            <a:r>
              <a:rPr lang="en-US">
                <a:cs typeface="Arial" panose="020B0604020202020204"/>
              </a:rPr>
              <a:t>The transition to cloud phase is where we are moving from our local deployment to the cloud environment, while navigating RTX's data compliance requirement via CLARA, and architecture review board process to get formal approval for our cloud deployment. The estimated cost would be around XXX as benchmarked from similar ongoing project in Supply Management. The cost includes the cost of the cloud space, the infra leads, data engineers, machine learning engineers, etc.</a:t>
            </a:r>
          </a:p>
          <a:p>
            <a:pPr marL="115570" indent="-115570"/>
            <a:endParaRPr lang="en-US">
              <a:cs typeface="Arial" panose="020B0604020202020204"/>
            </a:endParaRPr>
          </a:p>
          <a:p>
            <a:pPr marL="115570" indent="-115570"/>
            <a:r>
              <a:rPr lang="en-US">
                <a:cs typeface="Arial" panose="020B0604020202020204"/>
              </a:rPr>
              <a:t>We are currently creating a dedicated infrastructure where OPO team members can interact with OSKAR, and run controlled pilot tests with select users to identify any issues or expand the use case before wider deployment. This structured feedback would help us refine both the tool and the user experience. For this, we have an AI workstation setup that costed us XXX to accommodate a high processing GPU which can also be used by other teams working on computation intensive AI solutions in OPO.</a:t>
            </a:r>
          </a:p>
          <a:p>
            <a:pPr marL="115570" indent="-115570"/>
            <a:endParaRPr lang="en-US">
              <a:cs typeface="Arial" panose="020B0604020202020204"/>
            </a:endParaRPr>
          </a:p>
          <a:p>
            <a:pPr marL="115570" indent="-115570"/>
            <a:r>
              <a:rPr lang="en-US">
                <a:cs typeface="Arial" panose="020B0604020202020204"/>
              </a:rPr>
              <a:t>By Q2 2026, we hope to deploy our MVP on the cloud and opening it to ~20 SMEs to test and validate, as well as to evaluate the running costs for the tool on cloud. This would help us in iteration and refinement before we go into production and release the first beta version to all OPO department users by Q3 2026. </a:t>
            </a:r>
          </a:p>
        </p:txBody>
      </p:sp>
      <p:sp>
        <p:nvSpPr>
          <p:cNvPr id="5" name="Slide Number Placeholder 4">
            <a:extLst>
              <a:ext uri="{FF2B5EF4-FFF2-40B4-BE49-F238E27FC236}">
                <a16:creationId xmlns:a16="http://schemas.microsoft.com/office/drawing/2014/main" id="{6C502D9A-B279-BEE9-6073-094DFFECF3E4}"/>
              </a:ext>
            </a:extLst>
          </p:cNvPr>
          <p:cNvSpPr>
            <a:spLocks noGrp="1"/>
          </p:cNvSpPr>
          <p:nvPr>
            <p:ph type="sldNum" sz="quarter" idx="5"/>
          </p:nvPr>
        </p:nvSpPr>
        <p:spPr/>
        <p:txBody>
          <a:bodyPr/>
          <a:lstStyle/>
          <a:p>
            <a:fld id="{56AF3A09-0EB5-429E-B7D0-FB28A7726D23}" type="slidenum">
              <a:rPr lang="en-US" smtClean="0"/>
              <a:t>23</a:t>
            </a:fld>
            <a:endParaRPr lang="en-US"/>
          </a:p>
        </p:txBody>
      </p:sp>
    </p:spTree>
    <p:extLst>
      <p:ext uri="{BB962C8B-B14F-4D97-AF65-F5344CB8AC3E}">
        <p14:creationId xmlns:p14="http://schemas.microsoft.com/office/powerpoint/2010/main" val="1279130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ogo">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9067B429-5AC0-7A01-7FF8-58B7FAF252FD}"/>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bg1"/>
                </a:solidFill>
                <a:latin typeface="+mn-lt"/>
                <a:ea typeface="+mn-ea"/>
                <a:cs typeface="+mn-cs"/>
              </a:defRPr>
            </a:lvl1pPr>
          </a:lstStyle>
          <a:p>
            <a:fld id="{07165E6F-54ED-4977-A15E-D44BE7238A65}" type="slidenum">
              <a:rPr lang="en-US" smtClean="0"/>
              <a:pPr/>
              <a:t>‹#›</a:t>
            </a:fld>
            <a:endParaRPr lang="en-US"/>
          </a:p>
        </p:txBody>
      </p:sp>
      <p:cxnSp>
        <p:nvCxnSpPr>
          <p:cNvPr id="11" name="Straight Connector 10"/>
          <p:cNvCxnSpPr/>
          <p:nvPr userDrawn="1"/>
        </p:nvCxnSpPr>
        <p:spPr>
          <a:xfrm>
            <a:off x="694944" y="126143"/>
            <a:ext cx="10820399" cy="0"/>
          </a:xfrm>
          <a:prstGeom prst="line">
            <a:avLst/>
          </a:prstGeom>
          <a:ln w="2540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4" name="Picture 3" descr="Shape&#10;&#10;Description automatically generated with medium confidence">
            <a:extLst>
              <a:ext uri="{FF2B5EF4-FFF2-40B4-BE49-F238E27FC236}">
                <a16:creationId xmlns:a16="http://schemas.microsoft.com/office/drawing/2014/main" id="{A7A36AB9-B518-FE91-4176-3628FA76ACC1}"/>
              </a:ext>
            </a:extLst>
          </p:cNvPr>
          <p:cNvPicPr>
            <a:picLocks noChangeAspect="1"/>
          </p:cNvPicPr>
          <p:nvPr userDrawn="1"/>
        </p:nvPicPr>
        <p:blipFill>
          <a:blip r:embed="rId2"/>
          <a:stretch>
            <a:fillRect/>
          </a:stretch>
        </p:blipFill>
        <p:spPr>
          <a:xfrm>
            <a:off x="848760" y="2382727"/>
            <a:ext cx="10219737" cy="1891634"/>
          </a:xfrm>
          <a:prstGeom prst="rect">
            <a:avLst/>
          </a:prstGeom>
        </p:spPr>
      </p:pic>
      <p:sp>
        <p:nvSpPr>
          <p:cNvPr id="5" name="Footer Placeholder 4">
            <a:extLst>
              <a:ext uri="{FF2B5EF4-FFF2-40B4-BE49-F238E27FC236}">
                <a16:creationId xmlns:a16="http://schemas.microsoft.com/office/drawing/2014/main" id="{0D9710D0-7561-D2E1-EF38-A8A078BF01DF}"/>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344863139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C70492F8-C105-C4E1-E4BB-0C6E3F44D3A3}"/>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bg1"/>
                </a:solidFill>
                <a:latin typeface="+mn-lt"/>
                <a:ea typeface="+mn-ea"/>
                <a:cs typeface="+mn-cs"/>
              </a:defRPr>
            </a:lvl1pPr>
          </a:lstStyle>
          <a:p>
            <a:fld id="{07165E6F-54ED-4977-A15E-D44BE7238A65}" type="slidenum">
              <a:rPr lang="en-US" smtClean="0"/>
              <a:pPr/>
              <a:t>‹#›</a:t>
            </a:fld>
            <a:endParaRPr lang="en-US"/>
          </a:p>
        </p:txBody>
      </p:sp>
      <p:sp>
        <p:nvSpPr>
          <p:cNvPr id="8" name="Date"/>
          <p:cNvSpPr>
            <a:spLocks noGrp="1"/>
          </p:cNvSpPr>
          <p:nvPr>
            <p:ph type="body" sz="quarter" idx="14" hasCustomPrompt="1"/>
          </p:nvPr>
        </p:nvSpPr>
        <p:spPr>
          <a:xfrm>
            <a:off x="6879264" y="4964901"/>
            <a:ext cx="1642897" cy="193899"/>
          </a:xfrm>
          <a:noFill/>
        </p:spPr>
        <p:txBody>
          <a:bodyPr wrap="square">
            <a:spAutoFit/>
          </a:bodyPr>
          <a:lstStyle>
            <a:lvl1pPr>
              <a:defRPr sz="1400" b="0">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sp>
        <p:nvSpPr>
          <p:cNvPr id="7" name="Presenters"/>
          <p:cNvSpPr>
            <a:spLocks noGrp="1"/>
          </p:cNvSpPr>
          <p:nvPr>
            <p:ph type="body" sz="quarter" idx="13" hasCustomPrompt="1"/>
          </p:nvPr>
        </p:nvSpPr>
        <p:spPr>
          <a:xfrm>
            <a:off x="6880362" y="3944669"/>
            <a:ext cx="4634981" cy="249299"/>
          </a:xfrm>
          <a:noFill/>
        </p:spPr>
        <p:txBody>
          <a:bodyPr vert="horz" wrap="square" lIns="0" tIns="0" rIns="0" bIns="0" rtlCol="0">
            <a:spAutoFit/>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Name, Title, Function. 18 pt. black.</a:t>
            </a:r>
          </a:p>
        </p:txBody>
      </p:sp>
      <p:sp>
        <p:nvSpPr>
          <p:cNvPr id="2" name="Title"/>
          <p:cNvSpPr>
            <a:spLocks noGrp="1"/>
          </p:cNvSpPr>
          <p:nvPr>
            <p:ph type="title" hasCustomPrompt="1"/>
          </p:nvPr>
        </p:nvSpPr>
        <p:spPr>
          <a:xfrm>
            <a:off x="6879264" y="2264747"/>
            <a:ext cx="4626935" cy="914096"/>
          </a:xfrm>
          <a:noFill/>
        </p:spPr>
        <p:txBody>
          <a:bodyPr wrap="square" anchor="t" anchorCtr="0">
            <a:spAutoFit/>
          </a:bodyPr>
          <a:lstStyle>
            <a:lvl1pPr defTabSz="914400">
              <a:spcBef>
                <a:spcPct val="0"/>
              </a:spcBef>
              <a:defRPr sz="3300">
                <a:solidFill>
                  <a:schemeClr val="tx1"/>
                </a:solidFill>
              </a:defRPr>
            </a:lvl1pPr>
          </a:lstStyle>
          <a:p>
            <a:pPr lvl="0" defTabSz="914400">
              <a:spcBef>
                <a:spcPct val="0"/>
              </a:spcBef>
            </a:pPr>
            <a:r>
              <a:rPr lang="en-US"/>
              <a:t>Title 33 pt. black. Bold. Sentence case.</a:t>
            </a:r>
          </a:p>
        </p:txBody>
      </p:sp>
      <p:cxnSp>
        <p:nvCxnSpPr>
          <p:cNvPr id="9" name="Straight Connector 8"/>
          <p:cNvCxnSpPr/>
          <p:nvPr userDrawn="1"/>
        </p:nvCxnSpPr>
        <p:spPr>
          <a:xfrm>
            <a:off x="694944" y="126143"/>
            <a:ext cx="10820399" cy="0"/>
          </a:xfrm>
          <a:prstGeom prst="line">
            <a:avLst/>
          </a:prstGeom>
          <a:ln w="2540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4" name="Picture 3" descr="Shape&#10;&#10;Description automatically generated with medium confidence">
            <a:extLst>
              <a:ext uri="{FF2B5EF4-FFF2-40B4-BE49-F238E27FC236}">
                <a16:creationId xmlns:a16="http://schemas.microsoft.com/office/drawing/2014/main" id="{567688CA-587C-7779-1184-8395429E7DE2}"/>
              </a:ext>
            </a:extLst>
          </p:cNvPr>
          <p:cNvPicPr>
            <a:picLocks noChangeAspect="1"/>
          </p:cNvPicPr>
          <p:nvPr userDrawn="1"/>
        </p:nvPicPr>
        <p:blipFill>
          <a:blip r:embed="rId2"/>
          <a:stretch>
            <a:fillRect/>
          </a:stretch>
        </p:blipFill>
        <p:spPr>
          <a:xfrm>
            <a:off x="685801" y="2078048"/>
            <a:ext cx="5562599" cy="1029616"/>
          </a:xfrm>
          <a:prstGeom prst="rect">
            <a:avLst/>
          </a:prstGeom>
        </p:spPr>
      </p:pic>
      <p:sp>
        <p:nvSpPr>
          <p:cNvPr id="6" name="Footer Placeholder 4">
            <a:extLst>
              <a:ext uri="{FF2B5EF4-FFF2-40B4-BE49-F238E27FC236}">
                <a16:creationId xmlns:a16="http://schemas.microsoft.com/office/drawing/2014/main" id="{742B2406-7FB4-272E-F232-B11925BA4B5C}"/>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24981455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siness Images">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EDACE06E-0F54-2079-5AAC-34B5B0B05A7E}"/>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bg1"/>
                </a:solidFill>
                <a:latin typeface="+mn-lt"/>
                <a:ea typeface="+mn-ea"/>
                <a:cs typeface="+mn-cs"/>
              </a:defRPr>
            </a:lvl1pPr>
          </a:lstStyle>
          <a:p>
            <a:fld id="{07165E6F-54ED-4977-A15E-D44BE7238A65}" type="slidenum">
              <a:rPr lang="en-US" smtClean="0"/>
              <a:pPr/>
              <a:t>‹#›</a:t>
            </a:fld>
            <a:endParaRPr lang="en-US"/>
          </a:p>
        </p:txBody>
      </p:sp>
      <p:sp>
        <p:nvSpPr>
          <p:cNvPr id="8" name="Date"/>
          <p:cNvSpPr>
            <a:spLocks noGrp="1"/>
          </p:cNvSpPr>
          <p:nvPr>
            <p:ph type="body" sz="quarter" idx="14" hasCustomPrompt="1"/>
          </p:nvPr>
        </p:nvSpPr>
        <p:spPr>
          <a:xfrm>
            <a:off x="5019454" y="5910174"/>
            <a:ext cx="1866900" cy="166199"/>
          </a:xfrm>
          <a:noFill/>
        </p:spPr>
        <p:txBody>
          <a:bodyPr>
            <a:spAutoFit/>
          </a:bodyPr>
          <a:lstStyle>
            <a:lvl1pPr>
              <a:defRPr sz="1200" b="0">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sp>
        <p:nvSpPr>
          <p:cNvPr id="7" name="Presenters"/>
          <p:cNvSpPr>
            <a:spLocks noGrp="1"/>
          </p:cNvSpPr>
          <p:nvPr>
            <p:ph type="body" sz="quarter" idx="13" hasCustomPrompt="1"/>
          </p:nvPr>
        </p:nvSpPr>
        <p:spPr>
          <a:xfrm>
            <a:off x="5019455" y="5335649"/>
            <a:ext cx="6486746" cy="443198"/>
          </a:xfrm>
          <a:noFill/>
        </p:spPr>
        <p:txBody>
          <a:bodyPr vert="horz" wrap="square" lIns="0" tIns="0" rIns="0" bIns="0" rtlCol="0">
            <a:spAutoFit/>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Name, Title, Function. 16 pt. black.</a:t>
            </a:r>
          </a:p>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Name, Title, Function. 16 pt. black.</a:t>
            </a:r>
          </a:p>
        </p:txBody>
      </p:sp>
      <p:sp>
        <p:nvSpPr>
          <p:cNvPr id="2" name="Title"/>
          <p:cNvSpPr>
            <a:spLocks noGrp="1"/>
          </p:cNvSpPr>
          <p:nvPr>
            <p:ph type="title" hasCustomPrompt="1"/>
          </p:nvPr>
        </p:nvSpPr>
        <p:spPr>
          <a:xfrm>
            <a:off x="5019455" y="4456722"/>
            <a:ext cx="6486746" cy="692497"/>
          </a:xfrm>
          <a:noFill/>
        </p:spPr>
        <p:txBody>
          <a:bodyPr wrap="square" anchor="b" anchorCtr="0">
            <a:spAutoFit/>
          </a:bodyPr>
          <a:lstStyle>
            <a:lvl1pPr defTabSz="914400">
              <a:spcBef>
                <a:spcPct val="0"/>
              </a:spcBef>
              <a:defRPr sz="2500">
                <a:solidFill>
                  <a:schemeClr val="tx1"/>
                </a:solidFill>
              </a:defRPr>
            </a:lvl1pPr>
          </a:lstStyle>
          <a:p>
            <a:pPr lvl="0" defTabSz="914400">
              <a:spcBef>
                <a:spcPct val="0"/>
              </a:spcBef>
            </a:pPr>
            <a:r>
              <a:rPr lang="en-US"/>
              <a:t>Title 25 pt. black. Bold. Sentence case. Bold. Sentence case.</a:t>
            </a:r>
          </a:p>
        </p:txBody>
      </p:sp>
      <p:pic>
        <p:nvPicPr>
          <p:cNvPr id="4" name="Picture 3" descr="Shape&#10;&#10;Description automatically generated with medium confidence">
            <a:extLst>
              <a:ext uri="{FF2B5EF4-FFF2-40B4-BE49-F238E27FC236}">
                <a16:creationId xmlns:a16="http://schemas.microsoft.com/office/drawing/2014/main" id="{60BC89DD-1800-E7EF-DD28-A22041B7E0F8}"/>
              </a:ext>
            </a:extLst>
          </p:cNvPr>
          <p:cNvPicPr>
            <a:picLocks noChangeAspect="1"/>
          </p:cNvPicPr>
          <p:nvPr userDrawn="1"/>
        </p:nvPicPr>
        <p:blipFill>
          <a:blip r:embed="rId2"/>
          <a:stretch>
            <a:fillRect/>
          </a:stretch>
        </p:blipFill>
        <p:spPr>
          <a:xfrm>
            <a:off x="479064" y="4347654"/>
            <a:ext cx="3695701" cy="684059"/>
          </a:xfrm>
          <a:prstGeom prst="rect">
            <a:avLst/>
          </a:prstGeom>
        </p:spPr>
      </p:pic>
      <p:grpSp>
        <p:nvGrpSpPr>
          <p:cNvPr id="14" name="Group 13">
            <a:extLst>
              <a:ext uri="{FF2B5EF4-FFF2-40B4-BE49-F238E27FC236}">
                <a16:creationId xmlns:a16="http://schemas.microsoft.com/office/drawing/2014/main" id="{FEC62ECF-76DE-3845-37A2-A6FD5498C7B5}"/>
              </a:ext>
            </a:extLst>
          </p:cNvPr>
          <p:cNvGrpSpPr/>
          <p:nvPr userDrawn="1"/>
        </p:nvGrpSpPr>
        <p:grpSpPr>
          <a:xfrm>
            <a:off x="0" y="0"/>
            <a:ext cx="12192000" cy="4000501"/>
            <a:chOff x="0" y="0"/>
            <a:chExt cx="12192000" cy="4000501"/>
          </a:xfrm>
        </p:grpSpPr>
        <p:pic>
          <p:nvPicPr>
            <p:cNvPr id="15" name="Picture 14" descr="A picture containing sky, outdoor&#10;&#10;Description automatically generated">
              <a:extLst>
                <a:ext uri="{FF2B5EF4-FFF2-40B4-BE49-F238E27FC236}">
                  <a16:creationId xmlns:a16="http://schemas.microsoft.com/office/drawing/2014/main" id="{5F38B2FE-D5AD-4032-D2BB-9E454F5775A0}"/>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4082800" y="663"/>
              <a:ext cx="4026401" cy="3999838"/>
            </a:xfrm>
            <a:prstGeom prst="rect">
              <a:avLst/>
            </a:prstGeom>
          </p:spPr>
        </p:pic>
        <p:pic>
          <p:nvPicPr>
            <p:cNvPr id="16" name="Picture 15">
              <a:extLst>
                <a:ext uri="{FF2B5EF4-FFF2-40B4-BE49-F238E27FC236}">
                  <a16:creationId xmlns:a16="http://schemas.microsoft.com/office/drawing/2014/main" id="{CDFDCAA9-0215-4287-3764-0FCA3571507C}"/>
                </a:ext>
              </a:extLst>
            </p:cNvPr>
            <p:cNvPicPr>
              <a:picLocks noChangeAspect="1"/>
            </p:cNvPicPr>
            <p:nvPr userDrawn="1"/>
          </p:nvPicPr>
          <p:blipFill rotWithShape="1">
            <a:blip r:embed="rId4"/>
            <a:srcRect l="25" r="25"/>
            <a:stretch/>
          </p:blipFill>
          <p:spPr>
            <a:xfrm>
              <a:off x="0" y="0"/>
              <a:ext cx="4026400" cy="3999837"/>
            </a:xfrm>
            <a:prstGeom prst="rect">
              <a:avLst/>
            </a:prstGeom>
          </p:spPr>
        </p:pic>
        <p:pic>
          <p:nvPicPr>
            <p:cNvPr id="17" name="Picture 2" descr="Thermal-management-aircraft">
              <a:extLst>
                <a:ext uri="{FF2B5EF4-FFF2-40B4-BE49-F238E27FC236}">
                  <a16:creationId xmlns:a16="http://schemas.microsoft.com/office/drawing/2014/main" id="{8C503F3B-AA68-D98D-7D68-FD7733C9774E}"/>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r="46736" b="5934"/>
            <a:stretch/>
          </p:blipFill>
          <p:spPr bwMode="auto">
            <a:xfrm>
              <a:off x="8165601" y="663"/>
              <a:ext cx="4026399" cy="3999837"/>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Footer Placeholder 4">
            <a:extLst>
              <a:ext uri="{FF2B5EF4-FFF2-40B4-BE49-F238E27FC236}">
                <a16:creationId xmlns:a16="http://schemas.microsoft.com/office/drawing/2014/main" id="{F2E6B927-D4A7-2B6C-58D3-3A50ABEC823F}"/>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229938297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att &amp; Whitney Images">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87974060-C26C-FFD6-64DD-EB46C837359E}"/>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bg1"/>
                </a:solidFill>
                <a:latin typeface="+mn-lt"/>
                <a:ea typeface="+mn-ea"/>
                <a:cs typeface="+mn-cs"/>
              </a:defRPr>
            </a:lvl1pPr>
          </a:lstStyle>
          <a:p>
            <a:fld id="{07165E6F-54ED-4977-A15E-D44BE7238A65}" type="slidenum">
              <a:rPr lang="en-US" smtClean="0"/>
              <a:pPr/>
              <a:t>‹#›</a:t>
            </a:fld>
            <a:endParaRPr lang="en-US"/>
          </a:p>
        </p:txBody>
      </p:sp>
      <p:pic>
        <p:nvPicPr>
          <p:cNvPr id="15" name="Picture 14">
            <a:extLst>
              <a:ext uri="{FF2B5EF4-FFF2-40B4-BE49-F238E27FC236}">
                <a16:creationId xmlns:a16="http://schemas.microsoft.com/office/drawing/2014/main" id="{5F38B2FE-D5AD-4032-D2BB-9E454F5775A0}"/>
              </a:ext>
            </a:extLst>
          </p:cNvPr>
          <p:cNvPicPr>
            <a:picLocks noChangeAspect="1"/>
          </p:cNvPicPr>
          <p:nvPr userDrawn="1"/>
        </p:nvPicPr>
        <p:blipFill rotWithShape="1">
          <a:blip r:embed="rId2"/>
          <a:srcRect l="-1" t="3804" r="46909" b="2362"/>
          <a:stretch/>
        </p:blipFill>
        <p:spPr>
          <a:xfrm>
            <a:off x="8168640" y="0"/>
            <a:ext cx="4023360" cy="3999837"/>
          </a:xfrm>
          <a:prstGeom prst="rect">
            <a:avLst/>
          </a:prstGeom>
        </p:spPr>
      </p:pic>
      <p:pic>
        <p:nvPicPr>
          <p:cNvPr id="16" name="Picture 15">
            <a:extLst>
              <a:ext uri="{FF2B5EF4-FFF2-40B4-BE49-F238E27FC236}">
                <a16:creationId xmlns:a16="http://schemas.microsoft.com/office/drawing/2014/main" id="{CDFDCAA9-0215-4287-3764-0FCA3571507C}"/>
              </a:ext>
            </a:extLst>
          </p:cNvPr>
          <p:cNvPicPr>
            <a:picLocks noChangeAspect="1"/>
          </p:cNvPicPr>
          <p:nvPr userDrawn="1"/>
        </p:nvPicPr>
        <p:blipFill rotWithShape="1">
          <a:blip r:embed="rId3"/>
          <a:srcRect l="19005" r="24371"/>
          <a:stretch/>
        </p:blipFill>
        <p:spPr>
          <a:xfrm>
            <a:off x="0" y="0"/>
            <a:ext cx="4026400" cy="3999837"/>
          </a:xfrm>
          <a:prstGeom prst="rect">
            <a:avLst/>
          </a:prstGeom>
        </p:spPr>
      </p:pic>
      <p:pic>
        <p:nvPicPr>
          <p:cNvPr id="17" name="Picture 2">
            <a:extLst>
              <a:ext uri="{FF2B5EF4-FFF2-40B4-BE49-F238E27FC236}">
                <a16:creationId xmlns:a16="http://schemas.microsoft.com/office/drawing/2014/main" id="{8C503F3B-AA68-D98D-7D68-FD7733C9774E}"/>
              </a:ext>
            </a:extLst>
          </p:cNvPr>
          <p:cNvPicPr>
            <a:picLocks noChangeAspect="1" noChangeArrowheads="1"/>
          </p:cNvPicPr>
          <p:nvPr userDrawn="1"/>
        </p:nvPicPr>
        <p:blipFill rotWithShape="1">
          <a:blip r:embed="rId4"/>
          <a:srcRect l="22150" r="21896" b="1188"/>
          <a:stretch/>
        </p:blipFill>
        <p:spPr bwMode="auto">
          <a:xfrm>
            <a:off x="4084321" y="0"/>
            <a:ext cx="4026399" cy="3999837"/>
          </a:xfrm>
          <a:prstGeom prst="rect">
            <a:avLst/>
          </a:prstGeom>
          <a:noFill/>
          <a:extLst>
            <a:ext uri="{909E8E84-426E-40DD-AFC4-6F175D3DCCD1}">
              <a14:hiddenFill xmlns:a14="http://schemas.microsoft.com/office/drawing/2010/main">
                <a:solidFill>
                  <a:srgbClr val="FFFFFF"/>
                </a:solidFill>
              </a14:hiddenFill>
            </a:ext>
          </a:extLst>
        </p:spPr>
      </p:pic>
      <p:sp>
        <p:nvSpPr>
          <p:cNvPr id="9" name="Date">
            <a:extLst>
              <a:ext uri="{FF2B5EF4-FFF2-40B4-BE49-F238E27FC236}">
                <a16:creationId xmlns:a16="http://schemas.microsoft.com/office/drawing/2014/main" id="{13DA89AC-73B5-5E92-CA86-088B1A32AB1D}"/>
              </a:ext>
            </a:extLst>
          </p:cNvPr>
          <p:cNvSpPr>
            <a:spLocks noGrp="1"/>
          </p:cNvSpPr>
          <p:nvPr>
            <p:ph type="body" sz="quarter" idx="14" hasCustomPrompt="1"/>
          </p:nvPr>
        </p:nvSpPr>
        <p:spPr>
          <a:xfrm>
            <a:off x="5019454" y="5910174"/>
            <a:ext cx="1866900" cy="166199"/>
          </a:xfrm>
          <a:noFill/>
        </p:spPr>
        <p:txBody>
          <a:bodyPr>
            <a:spAutoFit/>
          </a:bodyPr>
          <a:lstStyle>
            <a:lvl1pPr>
              <a:defRPr sz="1200" b="0">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sp>
        <p:nvSpPr>
          <p:cNvPr id="10" name="Presenters">
            <a:extLst>
              <a:ext uri="{FF2B5EF4-FFF2-40B4-BE49-F238E27FC236}">
                <a16:creationId xmlns:a16="http://schemas.microsoft.com/office/drawing/2014/main" id="{A0385915-298F-132B-F2B8-F6EDDAAD2A76}"/>
              </a:ext>
            </a:extLst>
          </p:cNvPr>
          <p:cNvSpPr>
            <a:spLocks noGrp="1"/>
          </p:cNvSpPr>
          <p:nvPr>
            <p:ph type="body" sz="quarter" idx="13" hasCustomPrompt="1"/>
          </p:nvPr>
        </p:nvSpPr>
        <p:spPr>
          <a:xfrm>
            <a:off x="5019455" y="5335649"/>
            <a:ext cx="6486746" cy="443198"/>
          </a:xfrm>
          <a:noFill/>
        </p:spPr>
        <p:txBody>
          <a:bodyPr vert="horz" wrap="square" lIns="0" tIns="0" rIns="0" bIns="0" rtlCol="0">
            <a:spAutoFit/>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Name, Title, Function. 16 pt. black.</a:t>
            </a:r>
          </a:p>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Name, Title, Function. 16 pt. black.</a:t>
            </a:r>
          </a:p>
        </p:txBody>
      </p:sp>
      <p:sp>
        <p:nvSpPr>
          <p:cNvPr id="11" name="Title">
            <a:extLst>
              <a:ext uri="{FF2B5EF4-FFF2-40B4-BE49-F238E27FC236}">
                <a16:creationId xmlns:a16="http://schemas.microsoft.com/office/drawing/2014/main" id="{DD4FC91B-ED9E-96B5-6C55-771FC0362180}"/>
              </a:ext>
            </a:extLst>
          </p:cNvPr>
          <p:cNvSpPr>
            <a:spLocks noGrp="1"/>
          </p:cNvSpPr>
          <p:nvPr>
            <p:ph type="title" hasCustomPrompt="1"/>
          </p:nvPr>
        </p:nvSpPr>
        <p:spPr>
          <a:xfrm>
            <a:off x="5019455" y="4456722"/>
            <a:ext cx="6486746" cy="692497"/>
          </a:xfrm>
          <a:noFill/>
        </p:spPr>
        <p:txBody>
          <a:bodyPr wrap="square" anchor="b" anchorCtr="0">
            <a:spAutoFit/>
          </a:bodyPr>
          <a:lstStyle>
            <a:lvl1pPr defTabSz="914400">
              <a:spcBef>
                <a:spcPct val="0"/>
              </a:spcBef>
              <a:defRPr sz="2500">
                <a:solidFill>
                  <a:schemeClr val="tx1"/>
                </a:solidFill>
              </a:defRPr>
            </a:lvl1pPr>
          </a:lstStyle>
          <a:p>
            <a:pPr lvl="0" defTabSz="914400">
              <a:spcBef>
                <a:spcPct val="0"/>
              </a:spcBef>
            </a:pPr>
            <a:r>
              <a:rPr lang="en-US"/>
              <a:t>Title 25 pt. black. Bold. Sentence case. Bold. Sentence case.</a:t>
            </a:r>
          </a:p>
        </p:txBody>
      </p:sp>
      <p:pic>
        <p:nvPicPr>
          <p:cNvPr id="12" name="Picture 11" descr="Shape&#10;&#10;Description automatically generated with medium confidence">
            <a:extLst>
              <a:ext uri="{FF2B5EF4-FFF2-40B4-BE49-F238E27FC236}">
                <a16:creationId xmlns:a16="http://schemas.microsoft.com/office/drawing/2014/main" id="{77020C76-5DE8-BB93-1C85-8C11A8AB98BD}"/>
              </a:ext>
            </a:extLst>
          </p:cNvPr>
          <p:cNvPicPr>
            <a:picLocks noChangeAspect="1"/>
          </p:cNvPicPr>
          <p:nvPr userDrawn="1"/>
        </p:nvPicPr>
        <p:blipFill>
          <a:blip r:embed="rId5"/>
          <a:stretch>
            <a:fillRect/>
          </a:stretch>
        </p:blipFill>
        <p:spPr>
          <a:xfrm>
            <a:off x="479064" y="4347654"/>
            <a:ext cx="3695701" cy="684059"/>
          </a:xfrm>
          <a:prstGeom prst="rect">
            <a:avLst/>
          </a:prstGeom>
        </p:spPr>
      </p:pic>
      <p:sp>
        <p:nvSpPr>
          <p:cNvPr id="3" name="Footer Placeholder 4">
            <a:extLst>
              <a:ext uri="{FF2B5EF4-FFF2-40B4-BE49-F238E27FC236}">
                <a16:creationId xmlns:a16="http://schemas.microsoft.com/office/drawing/2014/main" id="{871C332C-D0C1-4829-5F2C-62E78FE1A7BA}"/>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27278994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tmosphere">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12F5DEB4-3948-B489-368D-9D0307C93E3F}"/>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bg1"/>
                </a:solidFill>
                <a:latin typeface="+mn-lt"/>
                <a:ea typeface="+mn-ea"/>
                <a:cs typeface="+mn-cs"/>
              </a:defRPr>
            </a:lvl1pPr>
          </a:lstStyle>
          <a:p>
            <a:fld id="{07165E6F-54ED-4977-A15E-D44BE7238A65}" type="slidenum">
              <a:rPr lang="en-US" smtClean="0"/>
              <a:pPr/>
              <a:t>‹#›</a:t>
            </a:fld>
            <a:endParaRPr lang="en-US"/>
          </a:p>
        </p:txBody>
      </p:sp>
      <p:pic>
        <p:nvPicPr>
          <p:cNvPr id="3" name="Picture 2">
            <a:extLst>
              <a:ext uri="{FF2B5EF4-FFF2-40B4-BE49-F238E27FC236}">
                <a16:creationId xmlns:a16="http://schemas.microsoft.com/office/drawing/2014/main" id="{9EB6E24B-68F1-82CB-29C1-EB08DE75500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796"/>
          <a:stretch/>
        </p:blipFill>
        <p:spPr>
          <a:xfrm>
            <a:off x="-1" y="0"/>
            <a:ext cx="12191999" cy="4968088"/>
          </a:xfrm>
          <a:prstGeom prst="rect">
            <a:avLst/>
          </a:prstGeom>
          <a:ln>
            <a:noFill/>
          </a:ln>
        </p:spPr>
      </p:pic>
      <p:sp>
        <p:nvSpPr>
          <p:cNvPr id="5" name="Title 4">
            <a:extLst>
              <a:ext uri="{FF2B5EF4-FFF2-40B4-BE49-F238E27FC236}">
                <a16:creationId xmlns:a16="http://schemas.microsoft.com/office/drawing/2014/main" id="{B660A336-5AA6-E438-7401-5DD262AE842D}"/>
              </a:ext>
            </a:extLst>
          </p:cNvPr>
          <p:cNvSpPr>
            <a:spLocks noGrp="1"/>
          </p:cNvSpPr>
          <p:nvPr>
            <p:ph type="title" hasCustomPrompt="1"/>
          </p:nvPr>
        </p:nvSpPr>
        <p:spPr>
          <a:xfrm>
            <a:off x="685800" y="2974061"/>
            <a:ext cx="7162800" cy="1329595"/>
          </a:xfrm>
        </p:spPr>
        <p:txBody>
          <a:bodyPr vert="horz" wrap="square" lIns="0" tIns="0" rIns="0" bIns="0" rtlCol="0" anchor="b" anchorCtr="0">
            <a:spAutoFit/>
          </a:bodyPr>
          <a:lstStyle>
            <a:lvl1pPr>
              <a:defRPr lang="en-US" sz="4800">
                <a:solidFill>
                  <a:schemeClr val="bg2"/>
                </a:solidFill>
              </a:defRPr>
            </a:lvl1pPr>
          </a:lstStyle>
          <a:p>
            <a:pPr lvl="0"/>
            <a:r>
              <a:rPr lang="en-US"/>
              <a:t>Title 48 pt. white. Bold. Sentence case.</a:t>
            </a:r>
          </a:p>
        </p:txBody>
      </p:sp>
      <p:sp>
        <p:nvSpPr>
          <p:cNvPr id="6" name="Presenters">
            <a:extLst>
              <a:ext uri="{FF2B5EF4-FFF2-40B4-BE49-F238E27FC236}">
                <a16:creationId xmlns:a16="http://schemas.microsoft.com/office/drawing/2014/main" id="{C5DE7E96-B510-A634-133B-11FCBB2C91BA}"/>
              </a:ext>
            </a:extLst>
          </p:cNvPr>
          <p:cNvSpPr>
            <a:spLocks noGrp="1"/>
          </p:cNvSpPr>
          <p:nvPr>
            <p:ph type="body" sz="quarter" idx="15" hasCustomPrompt="1"/>
          </p:nvPr>
        </p:nvSpPr>
        <p:spPr>
          <a:xfrm>
            <a:off x="676776" y="4492807"/>
            <a:ext cx="5257799" cy="307829"/>
          </a:xfrm>
          <a:noFill/>
        </p:spPr>
        <p:txBody>
          <a:bodyPr vert="horz" lIns="0" tIns="0" rIns="0" bIns="0" rtlCol="0">
            <a:noAutofit/>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600" b="0" baseline="0">
                <a:solidFill>
                  <a:schemeClr val="bg2"/>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white. Sentence case.</a:t>
            </a:r>
          </a:p>
        </p:txBody>
      </p:sp>
      <p:sp>
        <p:nvSpPr>
          <p:cNvPr id="8" name="Date">
            <a:extLst>
              <a:ext uri="{FF2B5EF4-FFF2-40B4-BE49-F238E27FC236}">
                <a16:creationId xmlns:a16="http://schemas.microsoft.com/office/drawing/2014/main" id="{B58BFE7C-D752-FE5A-5F65-483EC83FEB92}"/>
              </a:ext>
            </a:extLst>
          </p:cNvPr>
          <p:cNvSpPr>
            <a:spLocks noGrp="1"/>
          </p:cNvSpPr>
          <p:nvPr>
            <p:ph type="body" sz="quarter" idx="14" hasCustomPrompt="1"/>
          </p:nvPr>
        </p:nvSpPr>
        <p:spPr>
          <a:xfrm>
            <a:off x="6210300" y="5921385"/>
            <a:ext cx="1866900" cy="166199"/>
          </a:xfrm>
          <a:noFill/>
        </p:spPr>
        <p:txBody>
          <a:bodyPr>
            <a:spAutoFit/>
          </a:bodyPr>
          <a:lstStyle>
            <a:lvl1pPr>
              <a:defRPr sz="1200" b="0">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sp>
        <p:nvSpPr>
          <p:cNvPr id="9" name="Presenters">
            <a:extLst>
              <a:ext uri="{FF2B5EF4-FFF2-40B4-BE49-F238E27FC236}">
                <a16:creationId xmlns:a16="http://schemas.microsoft.com/office/drawing/2014/main" id="{7B42B0BC-BD4F-6368-6F29-30E915528596}"/>
              </a:ext>
            </a:extLst>
          </p:cNvPr>
          <p:cNvSpPr>
            <a:spLocks noGrp="1"/>
          </p:cNvSpPr>
          <p:nvPr>
            <p:ph type="body" sz="quarter" idx="13" hasCustomPrompt="1"/>
          </p:nvPr>
        </p:nvSpPr>
        <p:spPr>
          <a:xfrm>
            <a:off x="6210300" y="5354849"/>
            <a:ext cx="5257799" cy="443198"/>
          </a:xfrm>
          <a:noFill/>
        </p:spPr>
        <p:txBody>
          <a:bodyPr vert="horz" wrap="square" lIns="0" tIns="0" rIns="0" bIns="0" rtlCol="0">
            <a:spAutoFit/>
          </a:bodyPr>
          <a:lstStyle>
            <a:lvl1pPr>
              <a:defRPr lang="en-US" sz="1600" baseline="0" dirty="0"/>
            </a:lvl1pPr>
          </a:lstStyle>
          <a:p>
            <a:pPr marR="0" lvl="0" fontAlgn="auto">
              <a:spcAft>
                <a:spcPts val="0"/>
              </a:spcAft>
              <a:buClrTx/>
              <a:tabLst/>
            </a:pPr>
            <a:r>
              <a:rPr lang="en-US"/>
              <a:t>Name, Title, Function. 16 pt. black.</a:t>
            </a:r>
          </a:p>
          <a:p>
            <a:pPr marR="0" lvl="0" fontAlgn="auto">
              <a:spcAft>
                <a:spcPts val="0"/>
              </a:spcAft>
              <a:buClrTx/>
              <a:tabLst/>
            </a:pPr>
            <a:r>
              <a:rPr lang="en-US"/>
              <a:t>Name, Title, Function. 16 pt. black.</a:t>
            </a:r>
          </a:p>
        </p:txBody>
      </p:sp>
      <p:pic>
        <p:nvPicPr>
          <p:cNvPr id="11" name="Picture 10" descr="Shape&#10;&#10;Description automatically generated with medium confidence">
            <a:extLst>
              <a:ext uri="{FF2B5EF4-FFF2-40B4-BE49-F238E27FC236}">
                <a16:creationId xmlns:a16="http://schemas.microsoft.com/office/drawing/2014/main" id="{74B27915-25F8-0AC0-C2E1-7B71C6A04B1D}"/>
              </a:ext>
            </a:extLst>
          </p:cNvPr>
          <p:cNvPicPr>
            <a:picLocks noChangeAspect="1"/>
          </p:cNvPicPr>
          <p:nvPr userDrawn="1"/>
        </p:nvPicPr>
        <p:blipFill>
          <a:blip r:embed="rId3"/>
          <a:stretch>
            <a:fillRect/>
          </a:stretch>
        </p:blipFill>
        <p:spPr>
          <a:xfrm>
            <a:off x="685800" y="5246842"/>
            <a:ext cx="3430770" cy="635021"/>
          </a:xfrm>
          <a:prstGeom prst="rect">
            <a:avLst/>
          </a:prstGeom>
        </p:spPr>
      </p:pic>
      <p:sp>
        <p:nvSpPr>
          <p:cNvPr id="7" name="Footer Placeholder 4">
            <a:extLst>
              <a:ext uri="{FF2B5EF4-FFF2-40B4-BE49-F238E27FC236}">
                <a16:creationId xmlns:a16="http://schemas.microsoft.com/office/drawing/2014/main" id="{13E6D855-E050-D46B-81DF-6D44B291AE01}"/>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351327270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2 - EXPORT CONTROL">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BE4F3371-290C-20A6-AF41-29B1921AAF7B}"/>
              </a:ext>
            </a:extLst>
          </p:cNvPr>
          <p:cNvCxnSpPr/>
          <p:nvPr userDrawn="1"/>
        </p:nvCxnSpPr>
        <p:spPr>
          <a:xfrm>
            <a:off x="694944" y="126143"/>
            <a:ext cx="10820399" cy="0"/>
          </a:xfrm>
          <a:prstGeom prst="line">
            <a:avLst/>
          </a:prstGeom>
          <a:ln w="2540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162C55A-93F5-C141-D26B-53B09BBAE271}"/>
              </a:ext>
            </a:extLst>
          </p:cNvPr>
          <p:cNvSpPr txBox="1"/>
          <p:nvPr userDrawn="1"/>
        </p:nvSpPr>
        <p:spPr>
          <a:xfrm>
            <a:off x="662940" y="468598"/>
            <a:ext cx="10896600" cy="486287"/>
          </a:xfrm>
          <a:prstGeom prst="rect">
            <a:avLst/>
          </a:prstGeom>
        </p:spPr>
        <p:txBody>
          <a:bodyPr vert="horz" lIns="0" tIns="0" rIns="0" bIns="0" rtlCol="0" anchor="t" anchorCtr="0">
            <a:noAutofit/>
          </a:bodyPr>
          <a:lstStyle>
            <a:lvl1pPr>
              <a:lnSpc>
                <a:spcPct val="80000"/>
              </a:lnSpc>
              <a:spcBef>
                <a:spcPct val="0"/>
              </a:spcBef>
              <a:buNone/>
              <a:defRPr sz="3200" b="1">
                <a:solidFill>
                  <a:schemeClr val="tx2"/>
                </a:solidFill>
                <a:latin typeface="+mj-lt"/>
                <a:ea typeface="+mj-ea"/>
                <a:cs typeface="+mj-cs"/>
              </a:defRPr>
            </a:lvl1pPr>
          </a:lstStyle>
          <a:p>
            <a:r>
              <a:rPr lang="en-US" sz="3200"/>
              <a:t>Export control classification</a:t>
            </a:r>
          </a:p>
        </p:txBody>
      </p:sp>
      <p:sp>
        <p:nvSpPr>
          <p:cNvPr id="9" name="Content Placeholder 4">
            <a:extLst>
              <a:ext uri="{FF2B5EF4-FFF2-40B4-BE49-F238E27FC236}">
                <a16:creationId xmlns:a16="http://schemas.microsoft.com/office/drawing/2014/main" id="{1F97B019-6FCA-326F-63E0-77EE7B5C4808}"/>
              </a:ext>
            </a:extLst>
          </p:cNvPr>
          <p:cNvSpPr txBox="1">
            <a:spLocks/>
          </p:cNvSpPr>
          <p:nvPr userDrawn="1"/>
        </p:nvSpPr>
        <p:spPr bwMode="gray">
          <a:xfrm>
            <a:off x="681837" y="5211974"/>
            <a:ext cx="10783826" cy="605294"/>
          </a:xfrm>
          <a:prstGeom prst="rect">
            <a:avLst/>
          </a:prstGeom>
        </p:spPr>
        <p:txBody>
          <a:bodyPr vert="horz" lIns="0" tIns="0" rIns="0" bIns="0" rtlCol="0">
            <a:spAutoFit/>
          </a:bodyPr>
          <a:lstStyle>
            <a:lvl1pPr marL="0" indent="0" algn="l" defTabSz="685800" rtl="0" eaLnBrk="1" latinLnBrk="0" hangingPunct="1">
              <a:lnSpc>
                <a:spcPct val="90000"/>
              </a:lnSpc>
              <a:spcBef>
                <a:spcPts val="0"/>
              </a:spcBef>
              <a:buFont typeface="Arial" panose="020B0604020202020204" pitchFamily="34" charset="0"/>
              <a:buNone/>
              <a:defRPr sz="1000" b="1" kern="1200" cap="all" baseline="0">
                <a:solidFill>
                  <a:schemeClr val="tx2"/>
                </a:solidFill>
                <a:latin typeface="+mj-lt"/>
                <a:ea typeface="+mn-ea"/>
                <a:cs typeface="+mn-cs"/>
              </a:defRPr>
            </a:lvl1pPr>
            <a:lvl2pPr marL="0" indent="0" algn="l" defTabSz="685800" rtl="0" eaLnBrk="1" latinLnBrk="0" hangingPunct="1">
              <a:lnSpc>
                <a:spcPct val="90000"/>
              </a:lnSpc>
              <a:spcBef>
                <a:spcPts val="0"/>
              </a:spcBef>
              <a:buFont typeface="Arial" panose="020B0604020202020204" pitchFamily="34" charset="0"/>
              <a:buNone/>
              <a:defRPr sz="1000" b="1" kern="1200" cap="all" baseline="0">
                <a:solidFill>
                  <a:schemeClr val="tx2"/>
                </a:solidFill>
                <a:latin typeface="+mj-lt"/>
                <a:ea typeface="+mn-ea"/>
                <a:cs typeface="+mn-cs"/>
              </a:defRPr>
            </a:lvl2pPr>
            <a:lvl3pPr marL="0" indent="0" algn="l" defTabSz="685800" rtl="0" eaLnBrk="1" latinLnBrk="0" hangingPunct="1">
              <a:lnSpc>
                <a:spcPct val="90000"/>
              </a:lnSpc>
              <a:spcBef>
                <a:spcPts val="0"/>
              </a:spcBef>
              <a:buFont typeface="Arial" panose="020B0604020202020204" pitchFamily="34" charset="0"/>
              <a:buNone/>
              <a:defRPr sz="1000" b="1" kern="1200" cap="all" baseline="0">
                <a:solidFill>
                  <a:schemeClr val="tx2"/>
                </a:solidFill>
                <a:latin typeface="+mj-lt"/>
                <a:ea typeface="+mn-ea"/>
                <a:cs typeface="+mn-cs"/>
              </a:defRPr>
            </a:lvl3pPr>
            <a:lvl4pPr marL="0" indent="0" algn="l" defTabSz="685800" rtl="0" eaLnBrk="1" latinLnBrk="0" hangingPunct="1">
              <a:lnSpc>
                <a:spcPct val="90000"/>
              </a:lnSpc>
              <a:spcBef>
                <a:spcPts val="0"/>
              </a:spcBef>
              <a:buFont typeface="Arial" panose="020B0604020202020204" pitchFamily="34" charset="0"/>
              <a:buNone/>
              <a:defRPr sz="1000" b="1" kern="1200" cap="all" baseline="0">
                <a:solidFill>
                  <a:schemeClr val="tx2"/>
                </a:solidFill>
                <a:latin typeface="+mj-lt"/>
                <a:ea typeface="+mn-ea"/>
                <a:cs typeface="+mn-cs"/>
              </a:defRPr>
            </a:lvl4pPr>
            <a:lvl5pPr marL="0" indent="0" algn="l" defTabSz="685800" rtl="0" eaLnBrk="1" latinLnBrk="0" hangingPunct="1">
              <a:lnSpc>
                <a:spcPct val="90000"/>
              </a:lnSpc>
              <a:spcBef>
                <a:spcPts val="0"/>
              </a:spcBef>
              <a:buFont typeface="Arial" panose="020B0604020202020204" pitchFamily="34" charset="0"/>
              <a:buNone/>
              <a:defRPr sz="1000" b="1" kern="1200" cap="all" baseline="0">
                <a:solidFill>
                  <a:schemeClr val="tx2"/>
                </a:solidFill>
                <a:latin typeface="+mj-lt"/>
                <a:ea typeface="+mn-ea"/>
                <a:cs typeface="+mn-cs"/>
              </a:defRPr>
            </a:lvl5pPr>
            <a:lvl6pPr marL="0" indent="0" algn="l" defTabSz="685800" rtl="0" eaLnBrk="1" latinLnBrk="0" hangingPunct="1">
              <a:lnSpc>
                <a:spcPct val="90000"/>
              </a:lnSpc>
              <a:spcBef>
                <a:spcPts val="0"/>
              </a:spcBef>
              <a:buFont typeface="Arial" panose="020B0604020202020204" pitchFamily="34" charset="0"/>
              <a:buNone/>
              <a:defRPr sz="1000" b="1" kern="1200" cap="all" baseline="0">
                <a:solidFill>
                  <a:schemeClr val="tx2"/>
                </a:solidFill>
                <a:latin typeface="+mj-lt"/>
                <a:ea typeface="+mn-ea"/>
                <a:cs typeface="+mn-cs"/>
              </a:defRPr>
            </a:lvl6pPr>
            <a:lvl7pPr marL="0" indent="0" algn="l" defTabSz="685800" rtl="0" eaLnBrk="1" latinLnBrk="0" hangingPunct="1">
              <a:lnSpc>
                <a:spcPct val="90000"/>
              </a:lnSpc>
              <a:spcBef>
                <a:spcPts val="0"/>
              </a:spcBef>
              <a:buFont typeface="Arial" panose="020B0604020202020204" pitchFamily="34" charset="0"/>
              <a:buNone/>
              <a:defRPr sz="1000" b="1" kern="1200" cap="all" baseline="0">
                <a:solidFill>
                  <a:schemeClr val="tx2"/>
                </a:solidFill>
                <a:latin typeface="+mj-lt"/>
                <a:ea typeface="+mn-ea"/>
                <a:cs typeface="+mn-cs"/>
              </a:defRPr>
            </a:lvl7pPr>
            <a:lvl8pPr marL="0" indent="0" algn="l" defTabSz="685800" rtl="0" eaLnBrk="1" latinLnBrk="0" hangingPunct="1">
              <a:lnSpc>
                <a:spcPct val="90000"/>
              </a:lnSpc>
              <a:spcBef>
                <a:spcPts val="0"/>
              </a:spcBef>
              <a:buFont typeface="Arial" panose="020B0604020202020204" pitchFamily="34" charset="0"/>
              <a:buNone/>
              <a:defRPr sz="1000" b="1" kern="1200" cap="all" baseline="0">
                <a:solidFill>
                  <a:schemeClr val="tx2"/>
                </a:solidFill>
                <a:latin typeface="+mj-lt"/>
                <a:ea typeface="+mn-ea"/>
                <a:cs typeface="+mn-cs"/>
              </a:defRPr>
            </a:lvl8pPr>
            <a:lvl9pPr marL="0" indent="0" algn="l" defTabSz="685800" rtl="0" eaLnBrk="1" latinLnBrk="0" hangingPunct="1">
              <a:lnSpc>
                <a:spcPct val="90000"/>
              </a:lnSpc>
              <a:spcBef>
                <a:spcPts val="0"/>
              </a:spcBef>
              <a:buFont typeface="Arial" panose="020B0604020202020204" pitchFamily="34" charset="0"/>
              <a:buNone/>
              <a:defRPr sz="1000" b="1" kern="1200" cap="all" baseline="0">
                <a:solidFill>
                  <a:schemeClr val="tx2"/>
                </a:solidFill>
                <a:latin typeface="+mj-lt"/>
                <a:ea typeface="+mn-ea"/>
                <a:cs typeface="+mn-cs"/>
              </a:defRPr>
            </a:lvl9pPr>
          </a:lstStyle>
          <a:p>
            <a:pPr marL="0" marR="0" lvl="0" indent="0" algn="l" defTabSz="685800" rtl="0" eaLnBrk="1" fontAlgn="auto" latinLnBrk="0" hangingPunct="1">
              <a:spcBef>
                <a:spcPts val="0"/>
              </a:spcBef>
              <a:spcAft>
                <a:spcPts val="400"/>
              </a:spcAft>
              <a:buClrTx/>
              <a:buSzTx/>
              <a:buFont typeface="Arial" panose="020B0604020202020204" pitchFamily="34" charset="0"/>
              <a:buNone/>
              <a:tabLst/>
              <a:defRPr/>
            </a:pPr>
            <a:r>
              <a:rPr kumimoji="0" lang="en-US" sz="800" b="1" i="0" u="none" strike="noStrike" kern="1200" cap="all" normalizeH="0" baseline="0" noProof="0">
                <a:ln>
                  <a:noFill/>
                </a:ln>
                <a:solidFill>
                  <a:schemeClr val="accent6"/>
                </a:solidFill>
                <a:effectLst/>
                <a:uLnTx/>
                <a:uFillTx/>
                <a:latin typeface="+mn-lt"/>
                <a:ea typeface="+mn-ea"/>
                <a:cs typeface="+mn-cs"/>
              </a:rPr>
              <a:t>WARNING - PROPRIETARY RIGHTS NOTICE</a:t>
            </a:r>
          </a:p>
          <a:p>
            <a:pPr marL="0" marR="0" lvl="0" indent="0" algn="l" defTabSz="685800" rtl="0" eaLnBrk="1" fontAlgn="auto" latinLnBrk="0" hangingPunct="1">
              <a:spcBef>
                <a:spcPts val="0"/>
              </a:spcBef>
              <a:spcAft>
                <a:spcPts val="400"/>
              </a:spcAft>
              <a:buClrTx/>
              <a:buSzPct val="100000"/>
              <a:buFont typeface="Arial" panose="020B0604020202020204" pitchFamily="34" charset="0"/>
              <a:buNone/>
              <a:tabLst/>
              <a:defRPr/>
            </a:pPr>
            <a:r>
              <a:rPr kumimoji="0" lang="en-US" sz="800" b="0" i="0" u="none" strike="noStrike" kern="1200" cap="all" spc="0" normalizeH="0" baseline="0" noProof="0">
                <a:ln>
                  <a:noFill/>
                </a:ln>
                <a:solidFill>
                  <a:prstClr val="black"/>
                </a:solidFill>
                <a:effectLst/>
                <a:uLnTx/>
                <a:uFillTx/>
                <a:latin typeface="+mn-lt"/>
                <a:ea typeface="ヒラギノ角ゴ Pro W3"/>
                <a:cs typeface="ヒラギノ角ゴ Pro W3"/>
              </a:rPr>
              <a:t>This document is the property of Pratt &amp; Whitney Canada Corp. (“P&amp;WC”). You may not possess, use, copy or disclose this document or any information in it, for any purpose, including without limitation to design, manufacture, or repair parts, or obtain TCCA, FAA or other government approval to do so, without P&amp;WC's express written permission. Neither receipt nor possession of this document alone, from any source, constitutes such permission. Possession, use, copying or disclosure by anyone without P&amp;WC's express written permission is not authorized and may result in criminal or civil liability.</a:t>
            </a:r>
            <a:endParaRPr kumimoji="0" lang="en-CA" sz="800" b="0" i="0" u="none" strike="noStrike" kern="1200" cap="all" spc="0" normalizeH="0" baseline="0" noProof="0">
              <a:ln>
                <a:noFill/>
              </a:ln>
              <a:solidFill>
                <a:prstClr val="black"/>
              </a:solidFill>
              <a:effectLst/>
              <a:uLnTx/>
              <a:uFillTx/>
              <a:latin typeface="+mn-lt"/>
              <a:ea typeface="ヒラギノ角ゴ Pro W3"/>
              <a:cs typeface="ヒラギノ角ゴ Pro W3"/>
            </a:endParaRPr>
          </a:p>
        </p:txBody>
      </p:sp>
      <p:graphicFrame>
        <p:nvGraphicFramePr>
          <p:cNvPr id="27" name="Table 26">
            <a:extLst>
              <a:ext uri="{FF2B5EF4-FFF2-40B4-BE49-F238E27FC236}">
                <a16:creationId xmlns:a16="http://schemas.microsoft.com/office/drawing/2014/main" id="{430BD573-BE90-D85E-372A-D1CAB1359C38}"/>
              </a:ext>
            </a:extLst>
          </p:cNvPr>
          <p:cNvGraphicFramePr>
            <a:graphicFrameLocks noGrp="1"/>
          </p:cNvGraphicFramePr>
          <p:nvPr userDrawn="1">
            <p:extLst>
              <p:ext uri="{D42A27DB-BD31-4B8C-83A1-F6EECF244321}">
                <p14:modId xmlns:p14="http://schemas.microsoft.com/office/powerpoint/2010/main" val="2128762995"/>
              </p:ext>
            </p:extLst>
          </p:nvPr>
        </p:nvGraphicFramePr>
        <p:xfrm>
          <a:off x="685799" y="2162766"/>
          <a:ext cx="6858227" cy="2735641"/>
        </p:xfrm>
        <a:graphic>
          <a:graphicData uri="http://schemas.openxmlformats.org/drawingml/2006/table">
            <a:tbl>
              <a:tblPr firstRow="1" firstCol="1" bandRow="1"/>
              <a:tblGrid>
                <a:gridCol w="1920240">
                  <a:extLst>
                    <a:ext uri="{9D8B030D-6E8A-4147-A177-3AD203B41FA5}">
                      <a16:colId xmlns:a16="http://schemas.microsoft.com/office/drawing/2014/main" val="24973952"/>
                    </a:ext>
                  </a:extLst>
                </a:gridCol>
                <a:gridCol w="914627">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188093">
                <a:tc>
                  <a:txBody>
                    <a:bodyPr/>
                    <a:lstStyle/>
                    <a:p>
                      <a:pPr algn="l">
                        <a:spcAft>
                          <a:spcPts val="0"/>
                        </a:spcAft>
                      </a:pPr>
                      <a:endParaRPr lang="en-US" sz="1000" b="0" i="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accent2">
                        <a:lumMod val="20000"/>
                        <a:lumOff val="80000"/>
                      </a:schemeClr>
                    </a:solidFill>
                  </a:tcPr>
                </a:tc>
                <a:tc gridSpan="3">
                  <a:txBody>
                    <a:bodyPr/>
                    <a:lstStyle/>
                    <a:p>
                      <a:pPr algn="ctr">
                        <a:spcAft>
                          <a:spcPts val="0"/>
                        </a:spcAft>
                      </a:pPr>
                      <a:r>
                        <a:rPr lang="en-US" sz="1200" b="1" i="0">
                          <a:solidFill>
                            <a:schemeClr val="bg2"/>
                          </a:solidFill>
                          <a:effectLst/>
                          <a:latin typeface="+mn-lt"/>
                          <a:ea typeface="Times New Roman"/>
                          <a:cs typeface="Arial Narrow" panose="020B0604020202020204" pitchFamily="34" charset="0"/>
                        </a:rPr>
                        <a:t>Classification</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hMerge="1">
                  <a:txBody>
                    <a:bodyPr/>
                    <a:lstStyle/>
                    <a:p>
                      <a:pPr algn="ctr">
                        <a:spcAft>
                          <a:spcPts val="0"/>
                        </a:spcAft>
                      </a:pPr>
                      <a:endParaRPr lang="en-US" sz="1100">
                        <a:solidFill>
                          <a:schemeClr val="bg1"/>
                        </a:solidFill>
                        <a:effectLst/>
                        <a:latin typeface="Calibri"/>
                        <a:ea typeface="Times New Roman"/>
                        <a:cs typeface="Times New Roman"/>
                      </a:endParaRPr>
                    </a:p>
                  </a:txBody>
                  <a:tcPr marL="68580" marR="68580" marT="0" marB="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hMerge="1">
                  <a:txBody>
                    <a:bodyPr/>
                    <a:lstStyle/>
                    <a:p>
                      <a:endParaRPr lang="en-CA"/>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182649">
                <a:tc>
                  <a:txBody>
                    <a:bodyPr/>
                    <a:lstStyle/>
                    <a:p>
                      <a:pPr algn="l">
                        <a:spcAft>
                          <a:spcPts val="0"/>
                        </a:spcAft>
                      </a:pPr>
                      <a:endParaRPr lang="en-US" sz="1000" b="0" i="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2">
                        <a:lumMod val="20000"/>
                        <a:lumOff val="80000"/>
                      </a:schemeClr>
                    </a:solidFill>
                  </a:tcPr>
                </a:tc>
                <a:tc>
                  <a:txBody>
                    <a:bodyPr/>
                    <a:lstStyle/>
                    <a:p>
                      <a:pPr algn="ctr">
                        <a:spcAft>
                          <a:spcPts val="0"/>
                        </a:spcAft>
                      </a:pPr>
                      <a:r>
                        <a:rPr lang="en-US" sz="1000" b="1" i="0">
                          <a:solidFill>
                            <a:schemeClr val="tx1"/>
                          </a:solidFill>
                          <a:effectLst/>
                          <a:latin typeface="+mn-lt"/>
                          <a:ea typeface="Times New Roman"/>
                          <a:cs typeface="Arial Narrow" panose="020B0604020202020204" pitchFamily="34" charset="0"/>
                        </a:rPr>
                        <a:t>Location</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gridSpan="2">
                  <a:txBody>
                    <a:bodyPr/>
                    <a:lstStyle/>
                    <a:p>
                      <a:pPr algn="ctr">
                        <a:spcAft>
                          <a:spcPts val="0"/>
                        </a:spcAft>
                      </a:pPr>
                      <a:r>
                        <a:rPr lang="en-US" sz="1000" b="1" i="0">
                          <a:solidFill>
                            <a:schemeClr val="tx1"/>
                          </a:solidFill>
                          <a:effectLst/>
                          <a:latin typeface="+mn-lt"/>
                          <a:ea typeface="Times New Roman"/>
                          <a:cs typeface="Arial Narrow" panose="020B0604020202020204" pitchFamily="34" charset="0"/>
                        </a:rPr>
                        <a:t>U.S.</a:t>
                      </a:r>
                      <a:r>
                        <a:rPr lang="en-US" sz="1000" b="1" i="0" baseline="0">
                          <a:solidFill>
                            <a:schemeClr val="tx1"/>
                          </a:solidFill>
                          <a:effectLst/>
                          <a:latin typeface="+mn-lt"/>
                          <a:ea typeface="Times New Roman"/>
                          <a:cs typeface="Arial Narrow" panose="020B0604020202020204" pitchFamily="34" charset="0"/>
                        </a:rPr>
                        <a:t> </a:t>
                      </a:r>
                      <a:r>
                        <a:rPr lang="en-US" sz="1000" b="1" i="0">
                          <a:solidFill>
                            <a:schemeClr val="tx1"/>
                          </a:solidFill>
                          <a:effectLst/>
                          <a:latin typeface="+mn-lt"/>
                          <a:ea typeface="Times New Roman"/>
                          <a:cs typeface="Arial Narrow" panose="020B0604020202020204" pitchFamily="34" charset="0"/>
                        </a:rPr>
                        <a:t>regulation</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CA"/>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67194">
                <a:tc>
                  <a:txBody>
                    <a:bodyPr/>
                    <a:lstStyle/>
                    <a:p>
                      <a:pPr algn="l">
                        <a:spcAft>
                          <a:spcPts val="0"/>
                        </a:spcAft>
                      </a:pPr>
                      <a:endParaRPr lang="en-US" sz="1000" b="0" i="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spcAft>
                          <a:spcPts val="0"/>
                        </a:spcAft>
                      </a:pPr>
                      <a:endParaRPr lang="en-US" sz="1000" b="0" i="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ltUpDiag">
                      <a:fgClr>
                        <a:schemeClr val="tx1"/>
                      </a:fgClr>
                      <a:bgClr>
                        <a:schemeClr val="bg1"/>
                      </a:bgClr>
                    </a:pattFill>
                  </a:tcPr>
                </a:tc>
                <a:tc>
                  <a:txBody>
                    <a:bodyPr/>
                    <a:lstStyle/>
                    <a:p>
                      <a:pPr algn="ctr">
                        <a:spcAft>
                          <a:spcPts val="0"/>
                        </a:spcAft>
                      </a:pPr>
                      <a:r>
                        <a:rPr lang="en-US" sz="1000" b="0" i="0">
                          <a:solidFill>
                            <a:schemeClr val="tx1"/>
                          </a:solidFill>
                          <a:effectLst/>
                          <a:latin typeface="+mn-lt"/>
                          <a:ea typeface="Times New Roman"/>
                          <a:cs typeface="Arial Narrow" panose="020B0604020202020204" pitchFamily="34" charset="0"/>
                        </a:rPr>
                        <a:t>EAR</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spcAft>
                          <a:spcPts val="0"/>
                        </a:spcAft>
                      </a:pPr>
                      <a:r>
                        <a:rPr lang="en-US" sz="1000" b="0" i="0">
                          <a:solidFill>
                            <a:schemeClr val="tx1"/>
                          </a:solidFill>
                          <a:effectLst/>
                          <a:latin typeface="+mn-lt"/>
                          <a:ea typeface="Times New Roman"/>
                          <a:cs typeface="Arial Narrow" panose="020B0604020202020204" pitchFamily="34" charset="0"/>
                        </a:rPr>
                        <a:t>ITAR</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0002"/>
                  </a:ext>
                </a:extLst>
              </a:tr>
              <a:tr h="388681">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00" b="0" i="0">
                          <a:solidFill>
                            <a:schemeClr val="tx1"/>
                          </a:solidFill>
                          <a:effectLst/>
                          <a:latin typeface="+mn-lt"/>
                          <a:ea typeface="Times New Roman"/>
                          <a:cs typeface="Arial Narrow" panose="020B0604020202020204" pitchFamily="34" charset="0"/>
                        </a:rPr>
                        <a:t>Classifications must always be </a:t>
                      </a:r>
                      <a:br>
                        <a:rPr lang="en-US" sz="1000" b="0" i="0">
                          <a:solidFill>
                            <a:schemeClr val="tx1"/>
                          </a:solidFill>
                          <a:effectLst/>
                          <a:latin typeface="+mn-lt"/>
                          <a:ea typeface="Times New Roman"/>
                          <a:cs typeface="Arial Narrow" panose="020B0604020202020204" pitchFamily="34" charset="0"/>
                        </a:rPr>
                      </a:br>
                      <a:r>
                        <a:rPr lang="en-US" sz="1000" b="0" i="0">
                          <a:solidFill>
                            <a:schemeClr val="tx1"/>
                          </a:solidFill>
                          <a:effectLst/>
                          <a:latin typeface="+mn-lt"/>
                          <a:ea typeface="Times New Roman"/>
                          <a:cs typeface="Arial Narrow" panose="020B0604020202020204" pitchFamily="34" charset="0"/>
                        </a:rPr>
                        <a:t>provided for U.S. and Outside U.S. boxes</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0" i="0">
                          <a:solidFill>
                            <a:schemeClr val="tx1"/>
                          </a:solidFill>
                          <a:effectLst/>
                          <a:latin typeface="+mn-lt"/>
                          <a:ea typeface="Times New Roman"/>
                          <a:cs typeface="Arial Narrow" panose="020B0604020202020204" pitchFamily="34" charset="0"/>
                        </a:rPr>
                        <a:t>U.S.</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00" b="0" i="0">
                          <a:solidFill>
                            <a:schemeClr val="accent1"/>
                          </a:solidFill>
                          <a:latin typeface="+mn-lt"/>
                          <a:cs typeface="Arial Narrow" panose="020B0604020202020204" pitchFamily="34" charset="0"/>
                        </a:rPr>
                        <a:t>P-ECCN</a:t>
                      </a:r>
                    </a:p>
                  </a:txBody>
                  <a:tcPr marL="45720" marR="4572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CA" sz="1000" b="0" i="0">
                          <a:solidFill>
                            <a:schemeClr val="accent1"/>
                          </a:solidFill>
                          <a:latin typeface="+mn-lt"/>
                          <a:cs typeface="Arial Narrow" panose="020B0604020202020204" pitchFamily="34" charset="0"/>
                        </a:rPr>
                        <a:t>P-USML</a:t>
                      </a:r>
                    </a:p>
                  </a:txBody>
                  <a:tcPr marL="45720" marR="4572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7169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000" b="0" i="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2">
                        <a:lumMod val="20000"/>
                        <a:lumOff val="80000"/>
                      </a:schemeClr>
                    </a:solidFill>
                  </a:tcPr>
                </a:tc>
                <a:tc>
                  <a:txBody>
                    <a:bodyPr/>
                    <a:lstStyle/>
                    <a:p>
                      <a:pPr algn="ctr">
                        <a:spcAft>
                          <a:spcPts val="0"/>
                        </a:spcAft>
                      </a:pPr>
                      <a:r>
                        <a:rPr lang="en-US" sz="1000" b="0" i="0">
                          <a:solidFill>
                            <a:schemeClr val="tx1"/>
                          </a:solidFill>
                          <a:effectLst/>
                          <a:latin typeface="+mn-lt"/>
                          <a:ea typeface="Times New Roman"/>
                          <a:cs typeface="Arial Narrow" panose="020B0604020202020204" pitchFamily="34" charset="0"/>
                        </a:rPr>
                        <a:t>Outside </a:t>
                      </a:r>
                    </a:p>
                    <a:p>
                      <a:pPr algn="ctr">
                        <a:spcAft>
                          <a:spcPts val="0"/>
                        </a:spcAft>
                      </a:pPr>
                      <a:r>
                        <a:rPr lang="en-US" sz="1000" b="0" i="0">
                          <a:solidFill>
                            <a:schemeClr val="tx1"/>
                          </a:solidFill>
                          <a:effectLst/>
                          <a:latin typeface="+mn-lt"/>
                          <a:ea typeface="Times New Roman"/>
                          <a:cs typeface="Arial Narrow" panose="020B0604020202020204" pitchFamily="34" charset="0"/>
                        </a:rPr>
                        <a:t>U.S.</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a:r>
                        <a:rPr lang="en-US" sz="1000" b="0" i="0">
                          <a:solidFill>
                            <a:schemeClr val="accent1"/>
                          </a:solidFill>
                          <a:latin typeface="+mn-lt"/>
                          <a:cs typeface="Arial Narrow" panose="020B0604020202020204" pitchFamily="34" charset="0"/>
                        </a:rPr>
                        <a:t>ECCN</a:t>
                      </a:r>
                    </a:p>
                  </a:txBody>
                  <a:tcPr marL="45720" marR="4572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CA" sz="1000" b="0" i="0">
                          <a:solidFill>
                            <a:schemeClr val="accent1"/>
                          </a:solidFill>
                          <a:latin typeface="+mn-lt"/>
                          <a:cs typeface="Arial Narrow" panose="020B0604020202020204" pitchFamily="34" charset="0"/>
                        </a:rPr>
                        <a:t>USML</a:t>
                      </a:r>
                    </a:p>
                  </a:txBody>
                  <a:tcPr marL="45720" marR="4572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167194">
                <a:tc>
                  <a:txBody>
                    <a:bodyPr/>
                    <a:lstStyle/>
                    <a:p>
                      <a:pPr marL="0" algn="l" defTabSz="914400" rtl="0" eaLnBrk="1" latinLnBrk="0" hangingPunct="1">
                        <a:spcAft>
                          <a:spcPts val="0"/>
                        </a:spcAft>
                      </a:pPr>
                      <a:endParaRPr lang="en-US" sz="1000" b="0" i="0" kern="120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2">
                        <a:lumMod val="20000"/>
                        <a:lumOff val="80000"/>
                      </a:schemeClr>
                    </a:solidFill>
                  </a:tcPr>
                </a:tc>
                <a:tc>
                  <a:txBody>
                    <a:bodyPr/>
                    <a:lstStyle/>
                    <a:p>
                      <a:pPr marL="0" algn="ctr" defTabSz="914400" rtl="0" eaLnBrk="1" latinLnBrk="0" hangingPunct="1">
                        <a:spcAft>
                          <a:spcPts val="0"/>
                        </a:spcAft>
                      </a:pPr>
                      <a:endParaRPr lang="en-US" sz="1000" b="0" i="0" kern="120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pattFill prst="ltUpDiag">
                      <a:fgClr>
                        <a:schemeClr val="tx1"/>
                      </a:fgClr>
                      <a:bgClr>
                        <a:schemeClr val="bg1"/>
                      </a:bgClr>
                    </a:patt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CA" sz="1000" b="1" i="0">
                          <a:solidFill>
                            <a:schemeClr val="tx1"/>
                          </a:solidFill>
                          <a:effectLst/>
                          <a:latin typeface="+mn-lt"/>
                          <a:ea typeface="Times New Roman"/>
                          <a:cs typeface="Arial Narrow" panose="020B0604020202020204" pitchFamily="34" charset="0"/>
                        </a:rPr>
                        <a:t>Local regulation</a:t>
                      </a:r>
                      <a:endParaRPr lang="en-US" sz="1000" b="1" i="0" u="sng">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CA"/>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172737">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effectLst/>
                          <a:latin typeface="+mn-lt"/>
                          <a:ea typeface="Times New Roman"/>
                          <a:cs typeface="Arial Narrow" panose="020B0604020202020204" pitchFamily="34" charset="0"/>
                        </a:rPr>
                        <a:t>When the person completing the grid is physically located outside of the U.S., the local classifications must also be provided.</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CA" sz="1000" b="0" i="0" kern="1200">
                          <a:solidFill>
                            <a:schemeClr val="tx1"/>
                          </a:solidFill>
                          <a:effectLst/>
                          <a:latin typeface="+mn-lt"/>
                          <a:ea typeface="Times New Roman"/>
                          <a:cs typeface="Arial Narrow" panose="020B0604020202020204" pitchFamily="34" charset="0"/>
                        </a:rPr>
                        <a:t>Canada</a:t>
                      </a:r>
                      <a:endParaRPr lang="en-US" sz="1000" b="0" i="0" kern="120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algn="ctr">
                        <a:spcAft>
                          <a:spcPts val="0"/>
                        </a:spcAft>
                      </a:pPr>
                      <a:r>
                        <a:rPr lang="en-US" sz="1000" b="0" i="0">
                          <a:solidFill>
                            <a:schemeClr val="tx1"/>
                          </a:solidFill>
                          <a:effectLst/>
                          <a:latin typeface="+mn-lt"/>
                          <a:ea typeface="Times New Roman"/>
                          <a:cs typeface="Arial Narrow" panose="020B0604020202020204" pitchFamily="34" charset="0"/>
                        </a:rPr>
                        <a:t>EIPA (ECL)</a:t>
                      </a:r>
                    </a:p>
                  </a:txBody>
                  <a:tcPr marL="45720" marR="45720" anchor="ctr">
                    <a:lnL w="12700" cap="flat" cmpd="sng" algn="ctr">
                      <a:solidFill>
                        <a:schemeClr val="accent2"/>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spcAft>
                          <a:spcPts val="0"/>
                        </a:spcAft>
                      </a:pPr>
                      <a:r>
                        <a:rPr lang="en-US" sz="1000" b="0" i="0">
                          <a:solidFill>
                            <a:schemeClr val="tx1"/>
                          </a:solidFill>
                          <a:effectLst/>
                          <a:latin typeface="+mn-lt"/>
                          <a:ea typeface="Times New Roman"/>
                          <a:cs typeface="Arial Narrow" panose="020B0604020202020204" pitchFamily="34" charset="0"/>
                        </a:rPr>
                        <a:t>DPA (CG)</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6"/>
                  </a:ext>
                </a:extLst>
              </a:tr>
              <a:tr h="680703">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vMerge="1">
                  <a:txBody>
                    <a:bodyPr/>
                    <a:lstStyle/>
                    <a:p>
                      <a:pPr marL="0" algn="ctr" defTabSz="914400" rtl="0" eaLnBrk="1" latinLnBrk="0" hangingPunct="1">
                        <a:spcAft>
                          <a:spcPts val="0"/>
                        </a:spcAft>
                      </a:pPr>
                      <a:endParaRPr lang="en-US" sz="700" b="1" i="0" kern="1200">
                        <a:solidFill>
                          <a:srgbClr val="000000"/>
                        </a:solidFill>
                        <a:effectLst/>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endParaRPr lang="en-US" sz="1000" b="0" i="0">
                        <a:solidFill>
                          <a:schemeClr val="tx1"/>
                        </a:solidFill>
                        <a:latin typeface="+mn-lt"/>
                        <a:cs typeface="Arial Narrow" panose="020B0604020202020204" pitchFamily="34" charset="0"/>
                      </a:endParaRPr>
                    </a:p>
                  </a:txBody>
                  <a:tcPr marL="45720" marR="45720" anchor="ctr">
                    <a:lnL w="12700" cap="flat" cmpd="sng" algn="ctr">
                      <a:solidFill>
                        <a:schemeClr val="accent2"/>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effectLst/>
                          <a:latin typeface="+mn-lt"/>
                          <a:ea typeface="Times New Roman"/>
                          <a:cs typeface="Arial Narrow" panose="020B0604020202020204" pitchFamily="34" charset="0"/>
                        </a:rPr>
                        <a:t>Document may be DPA controlled if EIPA value starts with “2” or US ITAR box contains any value other than “NSR</a:t>
                      </a:r>
                      <a:r>
                        <a:rPr lang="en-CA" sz="1000" b="0" i="0" kern="1200">
                          <a:solidFill>
                            <a:schemeClr val="tx1"/>
                          </a:solidFill>
                          <a:effectLst/>
                          <a:latin typeface="+mn-lt"/>
                          <a:ea typeface="Times New Roman"/>
                          <a:cs typeface="Arial Narrow" panose="020B0604020202020204" pitchFamily="34" charset="0"/>
                        </a:rPr>
                        <a:t>”.</a:t>
                      </a:r>
                      <a:endParaRPr lang="en-US" sz="1000" b="0" i="0" kern="120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graphicFrame>
        <p:nvGraphicFramePr>
          <p:cNvPr id="28" name="Table 27">
            <a:extLst>
              <a:ext uri="{FF2B5EF4-FFF2-40B4-BE49-F238E27FC236}">
                <a16:creationId xmlns:a16="http://schemas.microsoft.com/office/drawing/2014/main" id="{AFF2C8B4-444F-2784-55B7-4F0F4C4B7329}"/>
              </a:ext>
            </a:extLst>
          </p:cNvPr>
          <p:cNvGraphicFramePr>
            <a:graphicFrameLocks noGrp="1"/>
          </p:cNvGraphicFramePr>
          <p:nvPr userDrawn="1"/>
        </p:nvGraphicFramePr>
        <p:xfrm>
          <a:off x="685800" y="1165915"/>
          <a:ext cx="6858226" cy="321197"/>
        </p:xfrm>
        <a:graphic>
          <a:graphicData uri="http://schemas.openxmlformats.org/drawingml/2006/table">
            <a:tbl>
              <a:tblPr firstRow="1" firstCol="1" bandRow="1"/>
              <a:tblGrid>
                <a:gridCol w="2124456">
                  <a:extLst>
                    <a:ext uri="{9D8B030D-6E8A-4147-A177-3AD203B41FA5}">
                      <a16:colId xmlns:a16="http://schemas.microsoft.com/office/drawing/2014/main" val="20000"/>
                    </a:ext>
                  </a:extLst>
                </a:gridCol>
                <a:gridCol w="1623316">
                  <a:extLst>
                    <a:ext uri="{9D8B030D-6E8A-4147-A177-3AD203B41FA5}">
                      <a16:colId xmlns:a16="http://schemas.microsoft.com/office/drawing/2014/main" val="20001"/>
                    </a:ext>
                  </a:extLst>
                </a:gridCol>
                <a:gridCol w="1823469">
                  <a:extLst>
                    <a:ext uri="{9D8B030D-6E8A-4147-A177-3AD203B41FA5}">
                      <a16:colId xmlns:a16="http://schemas.microsoft.com/office/drawing/2014/main" val="20002"/>
                    </a:ext>
                  </a:extLst>
                </a:gridCol>
                <a:gridCol w="1286985">
                  <a:extLst>
                    <a:ext uri="{9D8B030D-6E8A-4147-A177-3AD203B41FA5}">
                      <a16:colId xmlns:a16="http://schemas.microsoft.com/office/drawing/2014/main" val="20003"/>
                    </a:ext>
                  </a:extLst>
                </a:gridCol>
              </a:tblGrid>
              <a:tr h="321197">
                <a:tc>
                  <a:txBody>
                    <a:bodyPr/>
                    <a:lstStyle/>
                    <a:p>
                      <a:pPr marL="0" marR="0" lvl="0" indent="0" algn="l" defTabSz="685800" rtl="0" eaLnBrk="1" fontAlgn="auto" latinLnBrk="0" hangingPunct="1">
                        <a:lnSpc>
                          <a:spcPct val="100000"/>
                        </a:lnSpc>
                        <a:spcBef>
                          <a:spcPts val="0"/>
                        </a:spcBef>
                        <a:spcAft>
                          <a:spcPts val="1200"/>
                        </a:spcAft>
                        <a:buClrTx/>
                        <a:buSzTx/>
                        <a:buFontTx/>
                        <a:buNone/>
                        <a:tabLst/>
                        <a:defRPr/>
                      </a:pPr>
                      <a:r>
                        <a:rPr lang="en-CA" sz="800" b="1">
                          <a:solidFill>
                            <a:schemeClr val="tx1"/>
                          </a:solidFill>
                          <a:effectLst/>
                          <a:latin typeface="+mn-lt"/>
                          <a:ea typeface="Times New Roman"/>
                          <a:cs typeface="Times New Roman"/>
                        </a:rPr>
                        <a:t>DATE OF </a:t>
                      </a:r>
                      <a:r>
                        <a:rPr lang="en-CA" sz="800" b="1" kern="1200">
                          <a:solidFill>
                            <a:schemeClr val="tx1"/>
                          </a:solidFill>
                          <a:effectLst/>
                          <a:latin typeface="+mn-lt"/>
                          <a:ea typeface="Times New Roman"/>
                          <a:cs typeface="Times New Roman"/>
                        </a:rPr>
                        <a:t>MARKING (</a:t>
                      </a:r>
                      <a:r>
                        <a:rPr lang="en-US" sz="800" b="1" kern="1200">
                          <a:solidFill>
                            <a:schemeClr val="tx1"/>
                          </a:solidFill>
                          <a:effectLst/>
                          <a:latin typeface="+mn-lt"/>
                          <a:ea typeface="Times New Roman"/>
                          <a:cs typeface="Times New Roman"/>
                        </a:rPr>
                        <a:t>YYYY-MM-DD):</a:t>
                      </a:r>
                      <a:endParaRPr lang="en-US" sz="800" b="1">
                        <a:solidFill>
                          <a:schemeClr val="tx1"/>
                        </a:solidFill>
                        <a:effectLst/>
                        <a:latin typeface="+mn-lt"/>
                        <a:ea typeface="Times New Roman"/>
                        <a:cs typeface="Times New Roman"/>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spcAft>
                          <a:spcPts val="1200"/>
                        </a:spcAft>
                      </a:pPr>
                      <a:endParaRPr lang="en-US" sz="800" b="0" i="0" kern="1200">
                        <a:solidFill>
                          <a:schemeClr val="tx1"/>
                        </a:solidFill>
                        <a:latin typeface="+mn-lt"/>
                        <a:ea typeface="+mn-ea"/>
                        <a:cs typeface="+mn-cs"/>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lang="en-US" sz="800" b="1" kern="1200">
                          <a:solidFill>
                            <a:schemeClr val="tx1"/>
                          </a:solidFill>
                          <a:effectLst/>
                          <a:latin typeface="+mn-lt"/>
                          <a:ea typeface="Times New Roman"/>
                          <a:cs typeface="Times New Roman"/>
                        </a:rPr>
                        <a:t>BADGE</a:t>
                      </a:r>
                      <a:r>
                        <a:rPr lang="en-US" sz="800" b="1" kern="1200" baseline="0">
                          <a:solidFill>
                            <a:schemeClr val="tx1"/>
                          </a:solidFill>
                          <a:effectLst/>
                          <a:latin typeface="+mn-lt"/>
                          <a:ea typeface="Times New Roman"/>
                          <a:cs typeface="Times New Roman"/>
                        </a:rPr>
                        <a:t> </a:t>
                      </a:r>
                      <a:r>
                        <a:rPr lang="en-US" sz="800" b="1" kern="1200">
                          <a:solidFill>
                            <a:schemeClr val="tx1"/>
                          </a:solidFill>
                          <a:effectLst/>
                          <a:latin typeface="+mn-lt"/>
                          <a:ea typeface="Times New Roman"/>
                          <a:cs typeface="Times New Roman"/>
                        </a:rPr>
                        <a:t> (XX######):</a:t>
                      </a: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marL="0" algn="l" defTabSz="914400" rtl="0" eaLnBrk="1" latinLnBrk="0" hangingPunct="1">
                        <a:spcAft>
                          <a:spcPts val="1200"/>
                        </a:spcAft>
                      </a:pPr>
                      <a:endParaRPr lang="en-US" sz="800" b="0" i="0" kern="1200">
                        <a:solidFill>
                          <a:schemeClr val="tx1"/>
                        </a:solidFill>
                        <a:latin typeface="+mn-lt"/>
                        <a:ea typeface="+mn-ea"/>
                        <a:cs typeface="+mn-cs"/>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29" name="Rectangle 28">
            <a:extLst>
              <a:ext uri="{FF2B5EF4-FFF2-40B4-BE49-F238E27FC236}">
                <a16:creationId xmlns:a16="http://schemas.microsoft.com/office/drawing/2014/main" id="{1441D8C7-DB7C-DCB1-6A21-4CF1D4DA7AE7}"/>
              </a:ext>
            </a:extLst>
          </p:cNvPr>
          <p:cNvSpPr>
            <a:spLocks noChangeArrowheads="1"/>
          </p:cNvSpPr>
          <p:nvPr userDrawn="1"/>
        </p:nvSpPr>
        <p:spPr bwMode="auto">
          <a:xfrm>
            <a:off x="685800" y="1618309"/>
            <a:ext cx="230670" cy="236278"/>
          </a:xfrm>
          <a:prstGeom prst="rect">
            <a:avLst/>
          </a:prstGeom>
          <a:solidFill>
            <a:schemeClr val="bg1"/>
          </a:solidFill>
          <a:ln w="19050">
            <a:solidFill>
              <a:srgbClr val="000000"/>
            </a:solidFill>
            <a:miter lim="800000"/>
            <a:headEnd/>
            <a:tailEnd/>
          </a:ln>
        </p:spPr>
        <p:txBody>
          <a:bodyPr lIns="0" tIns="0" rIns="0" bIns="0" anchor="ctr"/>
          <a:lstStyle/>
          <a:p>
            <a:pPr marL="0" marR="0" lvl="0" indent="0" algn="ctr" defTabSz="681038" rtl="0" eaLnBrk="0" fontAlgn="auto" latinLnBrk="0" hangingPunct="0">
              <a:lnSpc>
                <a:spcPct val="100000"/>
              </a:lnSpc>
              <a:spcBef>
                <a:spcPct val="20000"/>
              </a:spcBef>
              <a:spcAft>
                <a:spcPts val="0"/>
              </a:spcAft>
              <a:buClrTx/>
              <a:buSzPct val="100000"/>
              <a:buFontTx/>
              <a:buNone/>
              <a:tabLst>
                <a:tab pos="3592513" algn="l"/>
              </a:tabLst>
              <a:defRPr/>
            </a:pPr>
            <a:endParaRPr kumimoji="0" lang="en-CA" sz="1400" u="none" strike="noStrike" kern="1200" cap="none" spc="0" normalizeH="0" baseline="0" noProof="0">
              <a:ln>
                <a:noFill/>
              </a:ln>
              <a:solidFill>
                <a:srgbClr val="000000"/>
              </a:solidFill>
              <a:effectLst/>
              <a:uLnTx/>
              <a:uFillTx/>
              <a:cs typeface="Arial Narrow" panose="020B0604020202020204" pitchFamily="34" charset="0"/>
            </a:endParaRPr>
          </a:p>
        </p:txBody>
      </p:sp>
      <p:sp>
        <p:nvSpPr>
          <p:cNvPr id="30" name="TextBox 29">
            <a:extLst>
              <a:ext uri="{FF2B5EF4-FFF2-40B4-BE49-F238E27FC236}">
                <a16:creationId xmlns:a16="http://schemas.microsoft.com/office/drawing/2014/main" id="{09D82F0C-382E-3B8E-3DAB-7E9D70688669}"/>
              </a:ext>
            </a:extLst>
          </p:cNvPr>
          <p:cNvSpPr txBox="1"/>
          <p:nvPr userDrawn="1"/>
        </p:nvSpPr>
        <p:spPr>
          <a:xfrm>
            <a:off x="1049639" y="1580370"/>
            <a:ext cx="1605368" cy="29864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900"/>
              </a:spcBef>
              <a:spcAft>
                <a:spcPts val="0"/>
              </a:spcAft>
              <a:buClr>
                <a:srgbClr val="000000"/>
              </a:buClr>
              <a:buSzPct val="100000"/>
              <a:buFontTx/>
              <a:buNone/>
              <a:tabLst/>
              <a:defRPr/>
            </a:pPr>
            <a:r>
              <a:rPr kumimoji="0" lang="en-CA" sz="900" u="none" strike="noStrike" kern="1200" cap="none" spc="0" normalizeH="0" baseline="0" noProof="0">
                <a:ln>
                  <a:noFill/>
                </a:ln>
                <a:solidFill>
                  <a:srgbClr val="000000"/>
                </a:solidFill>
                <a:effectLst/>
                <a:uLnTx/>
                <a:uFillTx/>
                <a:cs typeface="Arial Narrow" panose="020B0604020202020204" pitchFamily="34" charset="0"/>
              </a:rPr>
              <a:t>Check this box if the document contains </a:t>
            </a:r>
            <a:r>
              <a:rPr kumimoji="0" lang="en-CA" sz="900" b="1" u="none" strike="noStrike" kern="1200" cap="none" spc="0" normalizeH="0" baseline="0" noProof="0">
                <a:ln>
                  <a:noFill/>
                </a:ln>
                <a:solidFill>
                  <a:srgbClr val="000000"/>
                </a:solidFill>
                <a:effectLst/>
                <a:uLnTx/>
                <a:uFillTx/>
                <a:cs typeface="Arial Narrow" panose="020B0604020202020204" pitchFamily="34" charset="0"/>
              </a:rPr>
              <a:t>no technical data</a:t>
            </a:r>
            <a:r>
              <a:rPr kumimoji="0" lang="en-CA" sz="900" u="none" strike="noStrike" kern="1200" cap="none" spc="0" normalizeH="0" baseline="0" noProof="0">
                <a:ln>
                  <a:noFill/>
                </a:ln>
                <a:solidFill>
                  <a:srgbClr val="000000"/>
                </a:solidFill>
                <a:effectLst/>
                <a:uLnTx/>
                <a:uFillTx/>
                <a:cs typeface="Arial Narrow" panose="020B0604020202020204" pitchFamily="34" charset="0"/>
              </a:rPr>
              <a:t>.</a:t>
            </a:r>
          </a:p>
        </p:txBody>
      </p:sp>
      <p:sp>
        <p:nvSpPr>
          <p:cNvPr id="31" name="TextBox 30">
            <a:extLst>
              <a:ext uri="{FF2B5EF4-FFF2-40B4-BE49-F238E27FC236}">
                <a16:creationId xmlns:a16="http://schemas.microsoft.com/office/drawing/2014/main" id="{8EB5139F-6D1E-E5E3-2D31-64F84C6CFBCB}"/>
              </a:ext>
            </a:extLst>
          </p:cNvPr>
          <p:cNvSpPr txBox="1"/>
          <p:nvPr userDrawn="1"/>
        </p:nvSpPr>
        <p:spPr>
          <a:xfrm>
            <a:off x="2788176" y="1618309"/>
            <a:ext cx="263347" cy="204112"/>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900"/>
              </a:spcBef>
              <a:spcAft>
                <a:spcPts val="0"/>
              </a:spcAft>
              <a:buClr>
                <a:srgbClr val="000000"/>
              </a:buClr>
              <a:buSzPct val="100000"/>
              <a:buFontTx/>
              <a:buNone/>
              <a:tabLst/>
              <a:defRPr/>
            </a:pPr>
            <a:r>
              <a:rPr kumimoji="0" lang="en-CA" sz="1100" u="sng" strike="noStrike" kern="1200" cap="none" spc="0" normalizeH="0" baseline="0" noProof="0">
                <a:ln>
                  <a:noFill/>
                </a:ln>
                <a:solidFill>
                  <a:srgbClr val="000000"/>
                </a:solidFill>
                <a:effectLst/>
                <a:uLnTx/>
                <a:uFillTx/>
                <a:cs typeface="Arial Narrow" panose="020B0604020202020204" pitchFamily="34" charset="0"/>
              </a:rPr>
              <a:t>OR</a:t>
            </a:r>
          </a:p>
        </p:txBody>
      </p:sp>
      <p:sp>
        <p:nvSpPr>
          <p:cNvPr id="32" name="TextBox 31">
            <a:extLst>
              <a:ext uri="{FF2B5EF4-FFF2-40B4-BE49-F238E27FC236}">
                <a16:creationId xmlns:a16="http://schemas.microsoft.com/office/drawing/2014/main" id="{7119051B-367F-0AAD-6F4D-4F4D354C6654}"/>
              </a:ext>
            </a:extLst>
          </p:cNvPr>
          <p:cNvSpPr txBox="1"/>
          <p:nvPr userDrawn="1"/>
        </p:nvSpPr>
        <p:spPr>
          <a:xfrm>
            <a:off x="3243219" y="1580370"/>
            <a:ext cx="3971510" cy="32668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900"/>
              </a:spcBef>
              <a:spcAft>
                <a:spcPts val="0"/>
              </a:spcAft>
              <a:buClr>
                <a:srgbClr val="000000"/>
              </a:buClr>
              <a:buSzPct val="100000"/>
              <a:buFontTx/>
              <a:buNone/>
              <a:tabLst/>
              <a:defRPr/>
            </a:pPr>
            <a:r>
              <a:rPr kumimoji="0" lang="en-CA" sz="900" u="none" strike="noStrike" kern="1200" cap="none" spc="0" normalizeH="0" baseline="0" noProof="0">
                <a:ln>
                  <a:noFill/>
                </a:ln>
                <a:solidFill>
                  <a:srgbClr val="000000"/>
                </a:solidFill>
                <a:effectLst/>
                <a:uLnTx/>
                <a:uFillTx/>
                <a:cs typeface="Arial Narrow" panose="020B0604020202020204" pitchFamily="34" charset="0"/>
              </a:rPr>
              <a:t>Summarize the export classification of all </a:t>
            </a:r>
            <a:br>
              <a:rPr kumimoji="0" lang="en-CA" sz="900" u="none" strike="noStrike" kern="1200" cap="none" spc="0" normalizeH="0" baseline="0" noProof="0">
                <a:ln>
                  <a:noFill/>
                </a:ln>
                <a:solidFill>
                  <a:srgbClr val="000000"/>
                </a:solidFill>
                <a:effectLst/>
                <a:uLnTx/>
                <a:uFillTx/>
                <a:cs typeface="Arial Narrow" panose="020B0604020202020204" pitchFamily="34" charset="0"/>
              </a:rPr>
            </a:br>
            <a:r>
              <a:rPr kumimoji="0" lang="en-CA" sz="900" u="none" strike="noStrike" kern="1200" cap="none" spc="0" normalizeH="0" baseline="0" noProof="0">
                <a:ln>
                  <a:noFill/>
                </a:ln>
                <a:solidFill>
                  <a:srgbClr val="000000"/>
                </a:solidFill>
                <a:effectLst/>
                <a:uLnTx/>
                <a:uFillTx/>
                <a:cs typeface="Arial Narrow" panose="020B0604020202020204" pitchFamily="34" charset="0"/>
              </a:rPr>
              <a:t>slides in this presentation as instructed below.</a:t>
            </a:r>
          </a:p>
        </p:txBody>
      </p:sp>
      <p:sp>
        <p:nvSpPr>
          <p:cNvPr id="33" name="Slide number">
            <a:extLst>
              <a:ext uri="{FF2B5EF4-FFF2-40B4-BE49-F238E27FC236}">
                <a16:creationId xmlns:a16="http://schemas.microsoft.com/office/drawing/2014/main" id="{D8B0007B-328E-B5E9-ADC0-768EEFB89752}"/>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2" name="Footer Placeholder 4">
            <a:extLst>
              <a:ext uri="{FF2B5EF4-FFF2-40B4-BE49-F238E27FC236}">
                <a16:creationId xmlns:a16="http://schemas.microsoft.com/office/drawing/2014/main" id="{C949A0E1-66FF-1E7C-DE3C-269BA9D79D8A}"/>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112344346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uidance: RTX Color Palett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3E520A4-FAAE-1C23-A63D-FAE04B206131}"/>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2" name="TextBox 1">
            <a:extLst>
              <a:ext uri="{FF2B5EF4-FFF2-40B4-BE49-F238E27FC236}">
                <a16:creationId xmlns:a16="http://schemas.microsoft.com/office/drawing/2014/main" id="{53C14E4D-FFCC-16F0-1F0B-8A1621EFC611}"/>
              </a:ext>
            </a:extLst>
          </p:cNvPr>
          <p:cNvSpPr txBox="1"/>
          <p:nvPr userDrawn="1"/>
        </p:nvSpPr>
        <p:spPr>
          <a:xfrm>
            <a:off x="662940" y="468598"/>
            <a:ext cx="10896600" cy="486287"/>
          </a:xfrm>
          <a:prstGeom prst="rect">
            <a:avLst/>
          </a:prstGeom>
        </p:spPr>
        <p:txBody>
          <a:bodyPr vert="horz" lIns="0" tIns="0" rIns="0" bIns="0" rtlCol="0" anchor="t" anchorCtr="0">
            <a:noAutofit/>
          </a:bodyPr>
          <a:lstStyle>
            <a:lvl1pPr>
              <a:lnSpc>
                <a:spcPct val="80000"/>
              </a:lnSpc>
              <a:spcBef>
                <a:spcPct val="0"/>
              </a:spcBef>
              <a:buNone/>
              <a:defRPr sz="3200" b="1">
                <a:solidFill>
                  <a:schemeClr val="tx2"/>
                </a:solidFill>
                <a:latin typeface="+mj-lt"/>
                <a:ea typeface="+mj-ea"/>
                <a:cs typeface="+mj-cs"/>
              </a:defRPr>
            </a:lvl1pPr>
          </a:lstStyle>
          <a:p>
            <a:pPr lvl="0"/>
            <a:r>
              <a:rPr lang="en-US">
                <a:solidFill>
                  <a:schemeClr val="tx1"/>
                </a:solidFill>
              </a:rPr>
              <a:t>RTX color palette</a:t>
            </a:r>
          </a:p>
        </p:txBody>
      </p:sp>
      <p:sp>
        <p:nvSpPr>
          <p:cNvPr id="4" name="Rectangle 3">
            <a:extLst>
              <a:ext uri="{FF2B5EF4-FFF2-40B4-BE49-F238E27FC236}">
                <a16:creationId xmlns:a16="http://schemas.microsoft.com/office/drawing/2014/main" id="{ED841BBA-C64A-D926-1311-F092A2C6AC0E}"/>
              </a:ext>
            </a:extLst>
          </p:cNvPr>
          <p:cNvSpPr/>
          <p:nvPr userDrawn="1"/>
        </p:nvSpPr>
        <p:spPr>
          <a:xfrm>
            <a:off x="694270" y="1714500"/>
            <a:ext cx="3405162" cy="369332"/>
          </a:xfrm>
          <a:prstGeom prst="rect">
            <a:avLst/>
          </a:prstGeom>
          <a:noFill/>
        </p:spPr>
        <p:txBody>
          <a:bodyPr wrap="square" lIns="0" tIns="0" rIns="0" bIns="0">
            <a:spAutoFit/>
          </a:bodyPr>
          <a:lstStyle/>
          <a:p>
            <a:pPr marL="0" lvl="1"/>
            <a:r>
              <a:rPr lang="en-US" sz="1200" b="1"/>
              <a:t>RTX primary palette</a:t>
            </a:r>
          </a:p>
          <a:p>
            <a:pPr marL="0" lvl="1"/>
            <a:r>
              <a:rPr lang="en-US" sz="1200"/>
              <a:t>Our primary palette consists of black and white. </a:t>
            </a:r>
          </a:p>
        </p:txBody>
      </p:sp>
      <p:sp>
        <p:nvSpPr>
          <p:cNvPr id="5" name="Rectangle 4">
            <a:extLst>
              <a:ext uri="{FF2B5EF4-FFF2-40B4-BE49-F238E27FC236}">
                <a16:creationId xmlns:a16="http://schemas.microsoft.com/office/drawing/2014/main" id="{8C28EA49-0A02-0ED7-45A0-47A86C772A32}"/>
              </a:ext>
            </a:extLst>
          </p:cNvPr>
          <p:cNvSpPr/>
          <p:nvPr userDrawn="1"/>
        </p:nvSpPr>
        <p:spPr>
          <a:xfrm>
            <a:off x="685800" y="4252665"/>
            <a:ext cx="3754700" cy="1292662"/>
          </a:xfrm>
          <a:prstGeom prst="rect">
            <a:avLst/>
          </a:prstGeom>
          <a:noFill/>
        </p:spPr>
        <p:txBody>
          <a:bodyPr wrap="square" lIns="0" tIns="0" rIns="0" bIns="0">
            <a:spAutoFit/>
          </a:bodyPr>
          <a:lstStyle/>
          <a:p>
            <a:pPr marL="0" lvl="1"/>
            <a:r>
              <a:rPr lang="en-US" sz="1200" b="1" baseline="0"/>
              <a:t>PPT tertiary palette</a:t>
            </a:r>
            <a:endParaRPr lang="en-US" sz="1200" b="1"/>
          </a:p>
          <a:p>
            <a:pPr marL="0" lvl="1"/>
            <a:r>
              <a:rPr lang="en-US" sz="1200"/>
              <a:t>Accent colors </a:t>
            </a:r>
            <a:r>
              <a:rPr lang="en-US" sz="1200" b="1"/>
              <a:t>only</a:t>
            </a:r>
            <a:r>
              <a:rPr lang="en-US" sz="1200" baseline="0"/>
              <a:t> </a:t>
            </a:r>
            <a:r>
              <a:rPr lang="en-US" sz="1200"/>
              <a:t>for use in charts and graphs </a:t>
            </a:r>
            <a:br>
              <a:rPr lang="en-US" sz="1200"/>
            </a:br>
            <a:r>
              <a:rPr lang="en-US" sz="1200"/>
              <a:t>with many data points.</a:t>
            </a:r>
          </a:p>
          <a:p>
            <a:pPr marL="0" lvl="1"/>
            <a:endParaRPr lang="en-US" sz="1200"/>
          </a:p>
          <a:p>
            <a:pPr marL="0" lvl="1"/>
            <a:r>
              <a:rPr lang="en-US" sz="1200"/>
              <a:t>These additional</a:t>
            </a:r>
            <a:r>
              <a:rPr lang="en-US" sz="1200" baseline="0"/>
              <a:t> colors should only be used in PowerPoint presentations when needed to clearly communicate a message to your audience. </a:t>
            </a:r>
            <a:endParaRPr lang="en-US" sz="1200"/>
          </a:p>
        </p:txBody>
      </p:sp>
      <p:sp>
        <p:nvSpPr>
          <p:cNvPr id="6" name="TextBox 5">
            <a:extLst>
              <a:ext uri="{FF2B5EF4-FFF2-40B4-BE49-F238E27FC236}">
                <a16:creationId xmlns:a16="http://schemas.microsoft.com/office/drawing/2014/main" id="{28D5D63D-01CA-B54F-8233-A9EB59996BBD}"/>
              </a:ext>
            </a:extLst>
          </p:cNvPr>
          <p:cNvSpPr txBox="1"/>
          <p:nvPr userDrawn="1"/>
        </p:nvSpPr>
        <p:spPr>
          <a:xfrm>
            <a:off x="4376186" y="1714500"/>
            <a:ext cx="4428378" cy="1141145"/>
          </a:xfrm>
          <a:prstGeom prst="rect">
            <a:avLst/>
          </a:prstGeom>
          <a:solidFill>
            <a:schemeClr val="bg2"/>
          </a:solidFill>
          <a:ln>
            <a:solidFill>
              <a:schemeClr val="accent1"/>
            </a:solidFill>
          </a:ln>
        </p:spPr>
        <p:txBody>
          <a:bodyPr wrap="square" rtlCol="0">
            <a:noAutofit/>
          </a:bodyPr>
          <a:lstStyle/>
          <a:p>
            <a:r>
              <a:rPr lang="en-US" sz="900" b="1"/>
              <a:t>White</a:t>
            </a:r>
          </a:p>
          <a:p>
            <a:r>
              <a:rPr lang="en-US" sz="900"/>
              <a:t>RGB: 255, 255, 255</a:t>
            </a:r>
          </a:p>
        </p:txBody>
      </p:sp>
      <p:sp>
        <p:nvSpPr>
          <p:cNvPr id="7" name="TextBox 6">
            <a:extLst>
              <a:ext uri="{FF2B5EF4-FFF2-40B4-BE49-F238E27FC236}">
                <a16:creationId xmlns:a16="http://schemas.microsoft.com/office/drawing/2014/main" id="{A0A73916-2A5F-D430-9CFA-FDCB9C43D8E5}"/>
              </a:ext>
            </a:extLst>
          </p:cNvPr>
          <p:cNvSpPr txBox="1"/>
          <p:nvPr userDrawn="1"/>
        </p:nvSpPr>
        <p:spPr>
          <a:xfrm>
            <a:off x="7818008" y="4638088"/>
            <a:ext cx="1600200" cy="230832"/>
          </a:xfrm>
          <a:prstGeom prst="rect">
            <a:avLst/>
          </a:prstGeom>
          <a:solidFill>
            <a:srgbClr val="EFB661"/>
          </a:solidFill>
        </p:spPr>
        <p:txBody>
          <a:bodyPr wrap="square" rtlCol="0">
            <a:spAutoFit/>
          </a:bodyPr>
          <a:lstStyle/>
          <a:p>
            <a:r>
              <a:rPr lang="en-US" sz="900" b="0">
                <a:solidFill>
                  <a:schemeClr val="bg1"/>
                </a:solidFill>
              </a:rPr>
              <a:t>RGB: 239, 182, 97</a:t>
            </a:r>
          </a:p>
        </p:txBody>
      </p:sp>
      <p:sp>
        <p:nvSpPr>
          <p:cNvPr id="8" name="TextBox 7">
            <a:extLst>
              <a:ext uri="{FF2B5EF4-FFF2-40B4-BE49-F238E27FC236}">
                <a16:creationId xmlns:a16="http://schemas.microsoft.com/office/drawing/2014/main" id="{4285B463-8F9A-BFCE-DCD7-43E205C0A4EC}"/>
              </a:ext>
            </a:extLst>
          </p:cNvPr>
          <p:cNvSpPr txBox="1"/>
          <p:nvPr userDrawn="1"/>
        </p:nvSpPr>
        <p:spPr>
          <a:xfrm>
            <a:off x="4376778" y="4638088"/>
            <a:ext cx="1600200" cy="230832"/>
          </a:xfrm>
          <a:prstGeom prst="rect">
            <a:avLst/>
          </a:prstGeom>
          <a:solidFill>
            <a:srgbClr val="908CC2"/>
          </a:solidFill>
        </p:spPr>
        <p:txBody>
          <a:bodyPr wrap="square" rtlCol="0">
            <a:spAutoFit/>
          </a:bodyPr>
          <a:lstStyle/>
          <a:p>
            <a:r>
              <a:rPr lang="en-US" sz="900" b="0">
                <a:solidFill>
                  <a:schemeClr val="bg1"/>
                </a:solidFill>
              </a:rPr>
              <a:t>RGB: 144, 140, 194</a:t>
            </a:r>
          </a:p>
        </p:txBody>
      </p:sp>
      <p:sp>
        <p:nvSpPr>
          <p:cNvPr id="9" name="TextBox 8">
            <a:extLst>
              <a:ext uri="{FF2B5EF4-FFF2-40B4-BE49-F238E27FC236}">
                <a16:creationId xmlns:a16="http://schemas.microsoft.com/office/drawing/2014/main" id="{EC57A2A9-B6B8-434C-9DCC-B03F85CE6C3B}"/>
              </a:ext>
            </a:extLst>
          </p:cNvPr>
          <p:cNvSpPr txBox="1"/>
          <p:nvPr userDrawn="1"/>
        </p:nvSpPr>
        <p:spPr>
          <a:xfrm>
            <a:off x="6097393" y="4638088"/>
            <a:ext cx="1600200" cy="230832"/>
          </a:xfrm>
          <a:prstGeom prst="rect">
            <a:avLst/>
          </a:prstGeom>
          <a:solidFill>
            <a:srgbClr val="9ABEAA"/>
          </a:solidFill>
        </p:spPr>
        <p:txBody>
          <a:bodyPr wrap="square" rtlCol="0">
            <a:spAutoFit/>
          </a:bodyPr>
          <a:lstStyle/>
          <a:p>
            <a:r>
              <a:rPr lang="en-US" sz="900" b="0">
                <a:solidFill>
                  <a:schemeClr val="bg1"/>
                </a:solidFill>
              </a:rPr>
              <a:t>RGB: 154, 190, 170</a:t>
            </a:r>
          </a:p>
        </p:txBody>
      </p:sp>
      <p:sp>
        <p:nvSpPr>
          <p:cNvPr id="10" name="Rectangle 9">
            <a:extLst>
              <a:ext uri="{FF2B5EF4-FFF2-40B4-BE49-F238E27FC236}">
                <a16:creationId xmlns:a16="http://schemas.microsoft.com/office/drawing/2014/main" id="{D06AA454-7A5B-66BC-D4A0-3D71A3A709F0}"/>
              </a:ext>
            </a:extLst>
          </p:cNvPr>
          <p:cNvSpPr/>
          <p:nvPr userDrawn="1"/>
        </p:nvSpPr>
        <p:spPr>
          <a:xfrm>
            <a:off x="685800" y="2975129"/>
            <a:ext cx="2999972" cy="738664"/>
          </a:xfrm>
          <a:prstGeom prst="rect">
            <a:avLst/>
          </a:prstGeom>
          <a:noFill/>
        </p:spPr>
        <p:txBody>
          <a:bodyPr wrap="square" lIns="0" tIns="0" rIns="0" bIns="0">
            <a:spAutoFit/>
          </a:bodyPr>
          <a:lstStyle/>
          <a:p>
            <a:pPr marL="0" lvl="1"/>
            <a:r>
              <a:rPr lang="en-US" sz="1200" b="1"/>
              <a:t>RTX secondary palette</a:t>
            </a:r>
          </a:p>
          <a:p>
            <a:pPr marL="0" lvl="1"/>
            <a:r>
              <a:rPr lang="en-US" sz="1200"/>
              <a:t>Our secondary color palette consists of the three grays and red specified. Be sure to use these formulas.</a:t>
            </a:r>
          </a:p>
        </p:txBody>
      </p:sp>
      <p:sp>
        <p:nvSpPr>
          <p:cNvPr id="11" name="TextBox 10">
            <a:extLst>
              <a:ext uri="{FF2B5EF4-FFF2-40B4-BE49-F238E27FC236}">
                <a16:creationId xmlns:a16="http://schemas.microsoft.com/office/drawing/2014/main" id="{E61B09C7-834F-394E-A958-DF3E55FCE790}"/>
              </a:ext>
            </a:extLst>
          </p:cNvPr>
          <p:cNvSpPr txBox="1"/>
          <p:nvPr userDrawn="1"/>
        </p:nvSpPr>
        <p:spPr>
          <a:xfrm>
            <a:off x="694270" y="1107061"/>
            <a:ext cx="6097136" cy="276999"/>
          </a:xfrm>
          <a:prstGeom prst="rect">
            <a:avLst/>
          </a:prstGeom>
          <a:noFill/>
        </p:spPr>
        <p:txBody>
          <a:bodyPr wrap="square" lIns="0" tIns="0" rIns="0" bIns="0">
            <a:spAutoFit/>
          </a:bodyPr>
          <a:lstStyle/>
          <a:p>
            <a:r>
              <a:rPr lang="en-US" sz="1800"/>
              <a:t>Predominant brand colors to be used for all presentations.</a:t>
            </a:r>
            <a:endParaRPr lang="en-US"/>
          </a:p>
        </p:txBody>
      </p:sp>
      <p:cxnSp>
        <p:nvCxnSpPr>
          <p:cNvPr id="12" name="Straight Connector 11">
            <a:extLst>
              <a:ext uri="{FF2B5EF4-FFF2-40B4-BE49-F238E27FC236}">
                <a16:creationId xmlns:a16="http://schemas.microsoft.com/office/drawing/2014/main" id="{4313F8C0-6D6A-5E83-58AF-5504B66B79EE}"/>
              </a:ext>
            </a:extLst>
          </p:cNvPr>
          <p:cNvCxnSpPr/>
          <p:nvPr userDrawn="1"/>
        </p:nvCxnSpPr>
        <p:spPr>
          <a:xfrm>
            <a:off x="694270" y="4023807"/>
            <a:ext cx="10813576"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D6F29B8-5A4C-3DDE-1DDD-B84B5C085DA9}"/>
              </a:ext>
            </a:extLst>
          </p:cNvPr>
          <p:cNvSpPr txBox="1"/>
          <p:nvPr userDrawn="1"/>
        </p:nvSpPr>
        <p:spPr>
          <a:xfrm>
            <a:off x="7818008" y="2975129"/>
            <a:ext cx="1600200" cy="395283"/>
          </a:xfrm>
          <a:prstGeom prst="rect">
            <a:avLst/>
          </a:prstGeom>
          <a:solidFill>
            <a:schemeClr val="accent3"/>
          </a:solidFill>
        </p:spPr>
        <p:txBody>
          <a:bodyPr wrap="square" rtlCol="0">
            <a:noAutofit/>
          </a:bodyPr>
          <a:lstStyle/>
          <a:p>
            <a:r>
              <a:rPr lang="en-US" sz="900" b="1">
                <a:solidFill>
                  <a:schemeClr val="bg1"/>
                </a:solidFill>
              </a:rPr>
              <a:t>Cool Gray 10</a:t>
            </a:r>
          </a:p>
          <a:p>
            <a:r>
              <a:rPr lang="en-US" sz="900">
                <a:solidFill>
                  <a:schemeClr val="bg1"/>
                </a:solidFill>
              </a:rPr>
              <a:t>RGB: 99, 102, 106</a:t>
            </a:r>
          </a:p>
        </p:txBody>
      </p:sp>
      <p:sp>
        <p:nvSpPr>
          <p:cNvPr id="14" name="TextBox 13">
            <a:extLst>
              <a:ext uri="{FF2B5EF4-FFF2-40B4-BE49-F238E27FC236}">
                <a16:creationId xmlns:a16="http://schemas.microsoft.com/office/drawing/2014/main" id="{3AF555A6-97AF-8ED4-EE9E-33F5D49CF7E1}"/>
              </a:ext>
            </a:extLst>
          </p:cNvPr>
          <p:cNvSpPr txBox="1"/>
          <p:nvPr userDrawn="1"/>
        </p:nvSpPr>
        <p:spPr>
          <a:xfrm>
            <a:off x="6097393" y="2975129"/>
            <a:ext cx="1600200" cy="395283"/>
          </a:xfrm>
          <a:prstGeom prst="rect">
            <a:avLst/>
          </a:prstGeom>
          <a:solidFill>
            <a:schemeClr val="accent2"/>
          </a:solidFill>
        </p:spPr>
        <p:txBody>
          <a:bodyPr wrap="square" rtlCol="0">
            <a:noAutofit/>
          </a:bodyPr>
          <a:lstStyle/>
          <a:p>
            <a:r>
              <a:rPr lang="en-US" sz="900" b="1">
                <a:solidFill>
                  <a:schemeClr val="tx1"/>
                </a:solidFill>
              </a:rPr>
              <a:t>Cool Gray 5</a:t>
            </a:r>
          </a:p>
          <a:p>
            <a:r>
              <a:rPr lang="en-US" sz="900">
                <a:solidFill>
                  <a:schemeClr val="tx1"/>
                </a:solidFill>
              </a:rPr>
              <a:t>RGB: 177, 179, 179</a:t>
            </a:r>
          </a:p>
        </p:txBody>
      </p:sp>
      <p:sp>
        <p:nvSpPr>
          <p:cNvPr id="15" name="TextBox 14">
            <a:extLst>
              <a:ext uri="{FF2B5EF4-FFF2-40B4-BE49-F238E27FC236}">
                <a16:creationId xmlns:a16="http://schemas.microsoft.com/office/drawing/2014/main" id="{37F986CA-9DEB-DC03-DBF1-6A24D2719E8E}"/>
              </a:ext>
            </a:extLst>
          </p:cNvPr>
          <p:cNvSpPr txBox="1"/>
          <p:nvPr userDrawn="1"/>
        </p:nvSpPr>
        <p:spPr>
          <a:xfrm>
            <a:off x="4376778" y="2975129"/>
            <a:ext cx="1600200" cy="395283"/>
          </a:xfrm>
          <a:prstGeom prst="rect">
            <a:avLst/>
          </a:prstGeom>
          <a:solidFill>
            <a:schemeClr val="accent1"/>
          </a:solidFill>
        </p:spPr>
        <p:txBody>
          <a:bodyPr wrap="square" rtlCol="0">
            <a:noAutofit/>
          </a:bodyPr>
          <a:lstStyle/>
          <a:p>
            <a:r>
              <a:rPr lang="en-US" sz="900" b="1">
                <a:solidFill>
                  <a:schemeClr val="tx1"/>
                </a:solidFill>
              </a:rPr>
              <a:t>Cool Gray 1</a:t>
            </a:r>
          </a:p>
          <a:p>
            <a:r>
              <a:rPr lang="en-US" sz="900">
                <a:solidFill>
                  <a:schemeClr val="tx1"/>
                </a:solidFill>
              </a:rPr>
              <a:t>RGB: 217, 217, 214</a:t>
            </a:r>
          </a:p>
        </p:txBody>
      </p:sp>
      <p:sp>
        <p:nvSpPr>
          <p:cNvPr id="16" name="TextBox 15">
            <a:extLst>
              <a:ext uri="{FF2B5EF4-FFF2-40B4-BE49-F238E27FC236}">
                <a16:creationId xmlns:a16="http://schemas.microsoft.com/office/drawing/2014/main" id="{5C4FAF87-9756-7369-920A-916A8ABEBE3A}"/>
              </a:ext>
            </a:extLst>
          </p:cNvPr>
          <p:cNvSpPr txBox="1"/>
          <p:nvPr userDrawn="1"/>
        </p:nvSpPr>
        <p:spPr>
          <a:xfrm>
            <a:off x="4376778" y="4252665"/>
            <a:ext cx="1600200" cy="230832"/>
          </a:xfrm>
          <a:prstGeom prst="rect">
            <a:avLst/>
          </a:prstGeom>
          <a:solidFill>
            <a:schemeClr val="accent4"/>
          </a:solidFill>
        </p:spPr>
        <p:txBody>
          <a:bodyPr wrap="square" rtlCol="0">
            <a:spAutoFit/>
          </a:bodyPr>
          <a:lstStyle/>
          <a:p>
            <a:r>
              <a:rPr lang="en-US" sz="900" b="0">
                <a:solidFill>
                  <a:schemeClr val="bg1"/>
                </a:solidFill>
              </a:rPr>
              <a:t>RGB: 123, 167, 188</a:t>
            </a:r>
          </a:p>
        </p:txBody>
      </p:sp>
      <p:sp>
        <p:nvSpPr>
          <p:cNvPr id="17" name="TextBox 16">
            <a:extLst>
              <a:ext uri="{FF2B5EF4-FFF2-40B4-BE49-F238E27FC236}">
                <a16:creationId xmlns:a16="http://schemas.microsoft.com/office/drawing/2014/main" id="{02EA9186-E29F-6230-342E-0C99C8F431C1}"/>
              </a:ext>
            </a:extLst>
          </p:cNvPr>
          <p:cNvSpPr txBox="1"/>
          <p:nvPr userDrawn="1"/>
        </p:nvSpPr>
        <p:spPr>
          <a:xfrm>
            <a:off x="9538623" y="2975129"/>
            <a:ext cx="1600200" cy="395283"/>
          </a:xfrm>
          <a:prstGeom prst="rect">
            <a:avLst/>
          </a:prstGeom>
          <a:solidFill>
            <a:schemeClr val="accent6"/>
          </a:solidFill>
        </p:spPr>
        <p:txBody>
          <a:bodyPr wrap="square" rtlCol="0">
            <a:noAutofit/>
          </a:bodyPr>
          <a:lstStyle/>
          <a:p>
            <a:r>
              <a:rPr lang="en-US" sz="900" b="1">
                <a:solidFill>
                  <a:schemeClr val="bg1"/>
                </a:solidFill>
              </a:rPr>
              <a:t>Red 186</a:t>
            </a:r>
          </a:p>
          <a:p>
            <a:r>
              <a:rPr lang="en-US" sz="900">
                <a:solidFill>
                  <a:schemeClr val="bg1"/>
                </a:solidFill>
              </a:rPr>
              <a:t>RGB: 206, 17, 38</a:t>
            </a:r>
          </a:p>
        </p:txBody>
      </p:sp>
      <p:sp>
        <p:nvSpPr>
          <p:cNvPr id="18" name="TextBox 17">
            <a:extLst>
              <a:ext uri="{FF2B5EF4-FFF2-40B4-BE49-F238E27FC236}">
                <a16:creationId xmlns:a16="http://schemas.microsoft.com/office/drawing/2014/main" id="{0B8F9550-0C58-B5DB-AC53-18760A42A073}"/>
              </a:ext>
            </a:extLst>
          </p:cNvPr>
          <p:cNvSpPr txBox="1"/>
          <p:nvPr userDrawn="1"/>
        </p:nvSpPr>
        <p:spPr>
          <a:xfrm>
            <a:off x="6097393" y="4252665"/>
            <a:ext cx="1600200" cy="230832"/>
          </a:xfrm>
          <a:prstGeom prst="rect">
            <a:avLst/>
          </a:prstGeom>
          <a:solidFill>
            <a:schemeClr val="accent5"/>
          </a:solidFill>
        </p:spPr>
        <p:txBody>
          <a:bodyPr wrap="square" rtlCol="0">
            <a:spAutoFit/>
          </a:bodyPr>
          <a:lstStyle/>
          <a:p>
            <a:r>
              <a:rPr lang="en-US" sz="900" b="0">
                <a:solidFill>
                  <a:schemeClr val="bg1"/>
                </a:solidFill>
              </a:rPr>
              <a:t>RGB: 183, 169, 154</a:t>
            </a:r>
          </a:p>
        </p:txBody>
      </p:sp>
      <p:sp>
        <p:nvSpPr>
          <p:cNvPr id="19" name="TextBox 18">
            <a:extLst>
              <a:ext uri="{FF2B5EF4-FFF2-40B4-BE49-F238E27FC236}">
                <a16:creationId xmlns:a16="http://schemas.microsoft.com/office/drawing/2014/main" id="{2A94DDDD-08AF-823A-E89F-47FD078CA228}"/>
              </a:ext>
            </a:extLst>
          </p:cNvPr>
          <p:cNvSpPr txBox="1"/>
          <p:nvPr userDrawn="1"/>
        </p:nvSpPr>
        <p:spPr>
          <a:xfrm>
            <a:off x="8947053" y="1714500"/>
            <a:ext cx="2191770" cy="1141144"/>
          </a:xfrm>
          <a:prstGeom prst="rect">
            <a:avLst/>
          </a:prstGeom>
          <a:solidFill>
            <a:schemeClr val="tx1"/>
          </a:solidFill>
          <a:ln>
            <a:noFill/>
          </a:ln>
        </p:spPr>
        <p:txBody>
          <a:bodyPr wrap="square" rtlCol="0">
            <a:noAutofit/>
          </a:bodyPr>
          <a:lstStyle/>
          <a:p>
            <a:r>
              <a:rPr lang="en-US" sz="900" b="1">
                <a:solidFill>
                  <a:schemeClr val="bg1"/>
                </a:solidFill>
              </a:rPr>
              <a:t>Black</a:t>
            </a:r>
          </a:p>
          <a:p>
            <a:r>
              <a:rPr lang="en-US" sz="900">
                <a:solidFill>
                  <a:schemeClr val="bg1"/>
                </a:solidFill>
              </a:rPr>
              <a:t>RGB: 0, 0, 0</a:t>
            </a:r>
          </a:p>
        </p:txBody>
      </p:sp>
      <p:sp>
        <p:nvSpPr>
          <p:cNvPr id="20" name="Footer Placeholder 4">
            <a:extLst>
              <a:ext uri="{FF2B5EF4-FFF2-40B4-BE49-F238E27FC236}">
                <a16:creationId xmlns:a16="http://schemas.microsoft.com/office/drawing/2014/main" id="{BDA10D7E-0732-CFD7-F693-B8066ADE6D4A}"/>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42834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Slide number">
            <a:extLst>
              <a:ext uri="{FF2B5EF4-FFF2-40B4-BE49-F238E27FC236}">
                <a16:creationId xmlns:a16="http://schemas.microsoft.com/office/drawing/2014/main" id="{7CEB5585-C834-0985-6E75-F76DB3DE9845}"/>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3" name="Footer Placeholder 4">
            <a:extLst>
              <a:ext uri="{FF2B5EF4-FFF2-40B4-BE49-F238E27FC236}">
                <a16:creationId xmlns:a16="http://schemas.microsoft.com/office/drawing/2014/main" id="{31A8CCAD-8AB4-1512-3FFE-4F5AF478C93E}"/>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365079786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1476000"/>
            <a:ext cx="10829543" cy="4315200"/>
          </a:xfrm>
          <a:noFill/>
        </p:spPr>
        <p:txBody>
          <a:bodyPr/>
          <a:lstStyle>
            <a:lvl1pPr marL="288925" indent="-288925" algn="l" defTabSz="914400" rtl="0" eaLnBrk="1" latinLnBrk="0" hangingPunct="1">
              <a:lnSpc>
                <a:spcPct val="100000"/>
              </a:lnSpc>
              <a:spcBef>
                <a:spcPts val="0"/>
              </a:spcBef>
              <a:spcAft>
                <a:spcPts val="600"/>
              </a:spcAft>
              <a:buClrTx/>
              <a:buSzPct val="100000"/>
              <a:buFont typeface="Arial" panose="020B0604020202020204" pitchFamily="34" charset="0"/>
              <a:buChar char="•"/>
              <a:defRPr lang="en-US" sz="2800" kern="1200" baseline="0" dirty="0" smtClean="0">
                <a:solidFill>
                  <a:schemeClr val="tx1"/>
                </a:solidFill>
                <a:latin typeface="+mn-lt"/>
                <a:ea typeface="+mn-ea"/>
                <a:cs typeface="+mn-cs"/>
              </a:defRPr>
            </a:lvl1pPr>
            <a:lvl2pPr marL="569913" indent="-280988"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baseline="0" dirty="0" smtClean="0">
                <a:solidFill>
                  <a:schemeClr val="tx1"/>
                </a:solidFill>
                <a:latin typeface="+mn-lt"/>
                <a:ea typeface="+mn-ea"/>
                <a:cs typeface="+mn-cs"/>
              </a:defRPr>
            </a:lvl2pPr>
            <a:lvl3pPr marL="801688" indent="-231775"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baseline="0" dirty="0" smtClean="0">
                <a:solidFill>
                  <a:schemeClr val="tx1"/>
                </a:solidFill>
                <a:latin typeface="+mn-lt"/>
                <a:ea typeface="+mn-ea"/>
                <a:cs typeface="+mn-cs"/>
              </a:defRPr>
            </a:lvl3pPr>
            <a:lvl4pPr marL="1082675" indent="-280988"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dirty="0" smtClean="0">
                <a:solidFill>
                  <a:schemeClr val="tx1"/>
                </a:solidFill>
                <a:latin typeface="+mn-lt"/>
                <a:ea typeface="+mn-ea"/>
                <a:cs typeface="+mn-cs"/>
              </a:defRPr>
            </a:lvl4pPr>
            <a:lvl5pPr marL="1316038" indent="-233363"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dirty="0">
                <a:solidFill>
                  <a:schemeClr val="tx1"/>
                </a:solidFill>
                <a:latin typeface="+mn-lt"/>
                <a:ea typeface="+mn-ea"/>
                <a:cs typeface="+mn-cs"/>
              </a:defRPr>
            </a:lvl5pPr>
          </a:lstStyle>
          <a:p>
            <a:pPr lvl="0"/>
            <a:r>
              <a:rPr lang="en-US"/>
              <a:t>Main bullet. 28 pt. black.</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Takeaway bar">
            <a:extLst>
              <a:ext uri="{FF2B5EF4-FFF2-40B4-BE49-F238E27FC236}">
                <a16:creationId xmlns:a16="http://schemas.microsoft.com/office/drawing/2014/main" id="{8F3A43FB-9FBA-E24C-1C15-E32F1866C8DA}"/>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3" name="Slide number">
            <a:extLst>
              <a:ext uri="{FF2B5EF4-FFF2-40B4-BE49-F238E27FC236}">
                <a16:creationId xmlns:a16="http://schemas.microsoft.com/office/drawing/2014/main" id="{1FA8D734-2FCE-8F54-C61F-7DDD193F1136}"/>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4" name="Footer Placeholder 4">
            <a:extLst>
              <a:ext uri="{FF2B5EF4-FFF2-40B4-BE49-F238E27FC236}">
                <a16:creationId xmlns:a16="http://schemas.microsoft.com/office/drawing/2014/main" id="{ADC889D8-F445-E04A-4913-15D17144B3A9}"/>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342437424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column/photo">
    <p:bg>
      <p:bgRef idx="1001">
        <a:schemeClr val="bg1"/>
      </p:bgRef>
    </p:bg>
    <p:spTree>
      <p:nvGrpSpPr>
        <p:cNvPr id="1" name=""/>
        <p:cNvGrpSpPr/>
        <p:nvPr/>
      </p:nvGrpSpPr>
      <p:grpSpPr>
        <a:xfrm>
          <a:off x="0" y="0"/>
          <a:ext cx="0" cy="0"/>
          <a:chOff x="0" y="0"/>
          <a:chExt cx="0" cy="0"/>
        </a:xfrm>
      </p:grpSpPr>
      <p:sp>
        <p:nvSpPr>
          <p:cNvPr id="3" name="Picture Placeholder 2"/>
          <p:cNvSpPr>
            <a:spLocks noGrp="1"/>
          </p:cNvSpPr>
          <p:nvPr>
            <p:ph type="pic" sz="quarter" idx="17" hasCustomPrompt="1"/>
          </p:nvPr>
        </p:nvSpPr>
        <p:spPr>
          <a:xfrm>
            <a:off x="4381500" y="1572733"/>
            <a:ext cx="7124700" cy="3903034"/>
          </a:xfrm>
          <a:solidFill>
            <a:schemeClr val="accent2">
              <a:lumMod val="20000"/>
              <a:lumOff val="80000"/>
            </a:schemeClr>
          </a:solidFill>
        </p:spPr>
        <p:txBody>
          <a:bodyPr tIns="1188720"/>
          <a:lstStyle>
            <a:lvl1pPr marL="0" indent="0" algn="ctr">
              <a:buNone/>
              <a:defRPr/>
            </a:lvl1pPr>
          </a:lstStyle>
          <a:p>
            <a:r>
              <a:rPr lang="en-US"/>
              <a:t>Click to insert photo</a:t>
            </a:r>
          </a:p>
        </p:txBody>
      </p:sp>
      <p:sp>
        <p:nvSpPr>
          <p:cNvPr id="9" name="Text Placeholder 2"/>
          <p:cNvSpPr>
            <a:spLocks noGrp="1"/>
          </p:cNvSpPr>
          <p:nvPr>
            <p:ph type="body" sz="quarter" idx="21" hasCustomPrompt="1"/>
          </p:nvPr>
        </p:nvSpPr>
        <p:spPr>
          <a:xfrm>
            <a:off x="695325" y="1572733"/>
            <a:ext cx="3419475" cy="590931"/>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atin typeface="+mj-lt"/>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0"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Body 1">
            <a:extLst>
              <a:ext uri="{FF2B5EF4-FFF2-40B4-BE49-F238E27FC236}">
                <a16:creationId xmlns:a16="http://schemas.microsoft.com/office/drawing/2014/main" id="{82C03A76-7437-CCE5-AA77-D22BE8AE05E8}"/>
              </a:ext>
            </a:extLst>
          </p:cNvPr>
          <p:cNvSpPr>
            <a:spLocks noGrp="1"/>
          </p:cNvSpPr>
          <p:nvPr>
            <p:ph type="body" sz="quarter" idx="13" hasCustomPrompt="1"/>
          </p:nvPr>
        </p:nvSpPr>
        <p:spPr>
          <a:xfrm>
            <a:off x="690933" y="2247900"/>
            <a:ext cx="3423867" cy="3227867"/>
          </a:xfrm>
          <a:noFill/>
        </p:spPr>
        <p:txBody>
          <a:bodyPr rIns="182880"/>
          <a:lstStyle>
            <a:lvl1pPr marL="219456" indent="-219456" algn="l" defTabSz="914400" rtl="0" eaLnBrk="1" latinLnBrk="0" hangingPunct="1">
              <a:lnSpc>
                <a:spcPct val="100000"/>
              </a:lnSpc>
              <a:spcBef>
                <a:spcPts val="0"/>
              </a:spcBef>
              <a:spcAft>
                <a:spcPts val="600"/>
              </a:spcAft>
              <a:buClrTx/>
              <a:buFont typeface="Arial" panose="020B0604020202020204" pitchFamily="34" charset="0"/>
              <a:defRPr lang="en-US" sz="1800" kern="1200" baseline="0" dirty="0" smtClean="0">
                <a:solidFill>
                  <a:schemeClr val="tx1"/>
                </a:solidFill>
                <a:latin typeface="+mn-lt"/>
                <a:ea typeface="+mn-ea"/>
                <a:cs typeface="+mn-cs"/>
              </a:defRPr>
            </a:lvl1pPr>
            <a:lvl2pPr marL="438150" indent="-20478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2pPr>
            <a:lvl3pPr marL="6905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3pPr>
            <a:lvl4pPr marL="914400" indent="-22383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4pPr>
            <a:lvl5pPr marL="11477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 name="Takeaway bar">
            <a:extLst>
              <a:ext uri="{FF2B5EF4-FFF2-40B4-BE49-F238E27FC236}">
                <a16:creationId xmlns:a16="http://schemas.microsoft.com/office/drawing/2014/main" id="{67AD0891-A881-5DC1-1013-43191733147F}"/>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5" name="Slide number">
            <a:extLst>
              <a:ext uri="{FF2B5EF4-FFF2-40B4-BE49-F238E27FC236}">
                <a16:creationId xmlns:a16="http://schemas.microsoft.com/office/drawing/2014/main" id="{0052439E-9AF4-ACA4-C314-22E8A138FFF9}"/>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6" name="Footer Placeholder 4">
            <a:extLst>
              <a:ext uri="{FF2B5EF4-FFF2-40B4-BE49-F238E27FC236}">
                <a16:creationId xmlns:a16="http://schemas.microsoft.com/office/drawing/2014/main" id="{48613A91-1CBF-FA98-ADF3-90762D8117A7}"/>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38835820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41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31" name="Body 1"/>
          <p:cNvSpPr>
            <a:spLocks noGrp="1"/>
          </p:cNvSpPr>
          <p:nvPr>
            <p:ph type="body" sz="quarter" idx="13" hasCustomPrompt="1"/>
          </p:nvPr>
        </p:nvSpPr>
        <p:spPr>
          <a:xfrm>
            <a:off x="696433" y="2294021"/>
            <a:ext cx="5247167" cy="3497178"/>
          </a:xfrm>
          <a:noFill/>
        </p:spPr>
        <p:txBody>
          <a:bodyPr rIns="182880"/>
          <a:lstStyle>
            <a:lvl1pPr marL="219456" indent="-219456" algn="l" defTabSz="914400" rtl="0" eaLnBrk="1" latinLnBrk="0" hangingPunct="1">
              <a:lnSpc>
                <a:spcPct val="100000"/>
              </a:lnSpc>
              <a:spcBef>
                <a:spcPts val="0"/>
              </a:spcBef>
              <a:spcAft>
                <a:spcPts val="600"/>
              </a:spcAft>
              <a:buClrTx/>
              <a:buFont typeface="Arial" panose="020B0604020202020204" pitchFamily="34" charset="0"/>
              <a:defRPr lang="en-US" sz="1800" kern="1200" baseline="0" dirty="0" smtClean="0">
                <a:solidFill>
                  <a:schemeClr val="tx1"/>
                </a:solidFill>
                <a:latin typeface="+mn-lt"/>
                <a:ea typeface="+mn-ea"/>
                <a:cs typeface="+mn-cs"/>
              </a:defRPr>
            </a:lvl1pPr>
            <a:lvl2pPr marL="438150" indent="-20478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2pPr>
            <a:lvl3pPr marL="6905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3pPr>
            <a:lvl4pPr marL="914400" indent="-22383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4pPr>
            <a:lvl5pPr marL="11477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21" hasCustomPrompt="1"/>
          </p:nvPr>
        </p:nvSpPr>
        <p:spPr>
          <a:xfrm>
            <a:off x="695325"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atin typeface="+mj-lt"/>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 </a:t>
            </a:r>
          </a:p>
        </p:txBody>
      </p:sp>
      <p:sp>
        <p:nvSpPr>
          <p:cNvPr id="14" name="Text Placeholder 2"/>
          <p:cNvSpPr>
            <a:spLocks noGrp="1"/>
          </p:cNvSpPr>
          <p:nvPr>
            <p:ph type="body" sz="quarter" idx="22" hasCustomPrompt="1"/>
          </p:nvPr>
        </p:nvSpPr>
        <p:spPr>
          <a:xfrm>
            <a:off x="6248401"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atin typeface="+mj-lt"/>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 </a:t>
            </a:r>
          </a:p>
        </p:txBody>
      </p:sp>
      <p:sp>
        <p:nvSpPr>
          <p:cNvPr id="15"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Body 1">
            <a:extLst>
              <a:ext uri="{FF2B5EF4-FFF2-40B4-BE49-F238E27FC236}">
                <a16:creationId xmlns:a16="http://schemas.microsoft.com/office/drawing/2014/main" id="{CBE0B946-A5C4-9B05-3ADE-B4FE96232286}"/>
              </a:ext>
            </a:extLst>
          </p:cNvPr>
          <p:cNvSpPr>
            <a:spLocks noGrp="1"/>
          </p:cNvSpPr>
          <p:nvPr>
            <p:ph type="body" sz="quarter" idx="23" hasCustomPrompt="1"/>
          </p:nvPr>
        </p:nvSpPr>
        <p:spPr>
          <a:xfrm>
            <a:off x="6248400" y="2294021"/>
            <a:ext cx="5247167" cy="3497178"/>
          </a:xfrm>
          <a:noFill/>
        </p:spPr>
        <p:txBody>
          <a:bodyPr rIns="182880"/>
          <a:lstStyle>
            <a:lvl1pPr marL="219456" indent="-219456" algn="l" defTabSz="914400" rtl="0" eaLnBrk="1" latinLnBrk="0" hangingPunct="1">
              <a:lnSpc>
                <a:spcPct val="100000"/>
              </a:lnSpc>
              <a:spcBef>
                <a:spcPts val="0"/>
              </a:spcBef>
              <a:spcAft>
                <a:spcPts val="600"/>
              </a:spcAft>
              <a:buClrTx/>
              <a:buFont typeface="Arial" panose="020B0604020202020204" pitchFamily="34" charset="0"/>
              <a:defRPr lang="en-US" sz="1800" kern="1200" baseline="0" dirty="0" smtClean="0">
                <a:solidFill>
                  <a:schemeClr val="tx1"/>
                </a:solidFill>
                <a:latin typeface="+mn-lt"/>
                <a:ea typeface="+mn-ea"/>
                <a:cs typeface="+mn-cs"/>
              </a:defRPr>
            </a:lvl1pPr>
            <a:lvl2pPr marL="438150" indent="-20478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2pPr>
            <a:lvl3pPr marL="6905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3pPr>
            <a:lvl4pPr marL="914400" indent="-22383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4pPr>
            <a:lvl5pPr marL="11477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 name="Takeaway bar">
            <a:extLst>
              <a:ext uri="{FF2B5EF4-FFF2-40B4-BE49-F238E27FC236}">
                <a16:creationId xmlns:a16="http://schemas.microsoft.com/office/drawing/2014/main" id="{5E9B1FFA-BD88-F9E9-59C9-C7AE0E13A901}"/>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4" name="Slide number">
            <a:extLst>
              <a:ext uri="{FF2B5EF4-FFF2-40B4-BE49-F238E27FC236}">
                <a16:creationId xmlns:a16="http://schemas.microsoft.com/office/drawing/2014/main" id="{F757467A-1A0B-9CF2-835A-4919955834C2}"/>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5" name="Footer Placeholder 4">
            <a:extLst>
              <a:ext uri="{FF2B5EF4-FFF2-40B4-BE49-F238E27FC236}">
                <a16:creationId xmlns:a16="http://schemas.microsoft.com/office/drawing/2014/main" id="{2BC0AEC2-7943-F5B6-CC5D-F70756F29907}"/>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330167053"/>
      </p:ext>
    </p:extLst>
  </p:cSld>
  <p:clrMapOvr>
    <a:masterClrMapping/>
  </p:clrMapOvr>
  <p:extLst>
    <p:ext uri="{DCECCB84-F9BA-43D5-87BE-67443E8EF086}">
      <p15:sldGuideLst xmlns:p15="http://schemas.microsoft.com/office/powerpoint/2012/main">
        <p15:guide id="1" orient="horz" pos="129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7" name="Title 3">
            <a:extLst>
              <a:ext uri="{FF2B5EF4-FFF2-40B4-BE49-F238E27FC236}">
                <a16:creationId xmlns:a16="http://schemas.microsoft.com/office/drawing/2014/main" id="{1227C6EA-CADE-4772-BF2C-DF04CBDCF77B}"/>
              </a:ext>
            </a:extLst>
          </p:cNvPr>
          <p:cNvSpPr>
            <a:spLocks noGrp="1"/>
          </p:cNvSpPr>
          <p:nvPr>
            <p:ph type="title" hasCustomPrompt="1"/>
          </p:nvPr>
        </p:nvSpPr>
        <p:spPr>
          <a:xfrm>
            <a:off x="694944" y="466347"/>
            <a:ext cx="10811256" cy="676653"/>
          </a:xfrm>
        </p:spPr>
        <p:txBody>
          <a:bodyPr/>
          <a:lstStyle/>
          <a:p>
            <a:r>
              <a:rPr lang="en-US"/>
              <a:t>Title. 32 pt. black. Bold. Sentence case. Two lines max.</a:t>
            </a:r>
          </a:p>
        </p:txBody>
      </p:sp>
      <p:sp>
        <p:nvSpPr>
          <p:cNvPr id="14" name="Picture Placeholder 2">
            <a:extLst>
              <a:ext uri="{FF2B5EF4-FFF2-40B4-BE49-F238E27FC236}">
                <a16:creationId xmlns:a16="http://schemas.microsoft.com/office/drawing/2014/main" id="{579596A4-F56F-4ABC-8E75-4BE60F7ED857}"/>
              </a:ext>
            </a:extLst>
          </p:cNvPr>
          <p:cNvSpPr>
            <a:spLocks noGrp="1"/>
          </p:cNvSpPr>
          <p:nvPr>
            <p:ph type="pic" sz="quarter" idx="22" hasCustomPrompt="1"/>
          </p:nvPr>
        </p:nvSpPr>
        <p:spPr>
          <a:xfrm>
            <a:off x="685802" y="1358207"/>
            <a:ext cx="3409912" cy="1940443"/>
          </a:xfrm>
          <a:solidFill>
            <a:schemeClr val="accent2">
              <a:lumMod val="20000"/>
              <a:lumOff val="80000"/>
            </a:schemeClr>
          </a:solidFill>
        </p:spPr>
        <p:txBody>
          <a:bodyPr tIns="365760"/>
          <a:lstStyle>
            <a:lvl1pPr marL="0" indent="0" algn="ctr">
              <a:buNone/>
              <a:defRPr sz="1800"/>
            </a:lvl1pPr>
          </a:lstStyle>
          <a:p>
            <a:r>
              <a:rPr lang="en-US"/>
              <a:t>Click to insert photo</a:t>
            </a:r>
          </a:p>
        </p:txBody>
      </p:sp>
      <p:sp>
        <p:nvSpPr>
          <p:cNvPr id="15" name="Picture Placeholder 2">
            <a:extLst>
              <a:ext uri="{FF2B5EF4-FFF2-40B4-BE49-F238E27FC236}">
                <a16:creationId xmlns:a16="http://schemas.microsoft.com/office/drawing/2014/main" id="{082A4F2F-B507-4076-99BD-50A0D640D832}"/>
              </a:ext>
            </a:extLst>
          </p:cNvPr>
          <p:cNvSpPr>
            <a:spLocks noGrp="1"/>
          </p:cNvSpPr>
          <p:nvPr>
            <p:ph type="pic" sz="quarter" idx="23" hasCustomPrompt="1"/>
          </p:nvPr>
        </p:nvSpPr>
        <p:spPr>
          <a:xfrm>
            <a:off x="4372358" y="1358206"/>
            <a:ext cx="3429000" cy="1940444"/>
          </a:xfrm>
          <a:solidFill>
            <a:schemeClr val="accent2">
              <a:lumMod val="20000"/>
              <a:lumOff val="80000"/>
            </a:schemeClr>
          </a:solidFill>
        </p:spPr>
        <p:txBody>
          <a:bodyPr tIns="365760"/>
          <a:lstStyle>
            <a:lvl1pPr marL="0" indent="0" algn="ctr">
              <a:buNone/>
              <a:defRPr sz="1800" baseline="0"/>
            </a:lvl1pPr>
          </a:lstStyle>
          <a:p>
            <a:r>
              <a:rPr lang="en-US"/>
              <a:t>Click to insert photo</a:t>
            </a:r>
          </a:p>
        </p:txBody>
      </p:sp>
      <p:sp>
        <p:nvSpPr>
          <p:cNvPr id="25" name="Picture Placeholder 2">
            <a:extLst>
              <a:ext uri="{FF2B5EF4-FFF2-40B4-BE49-F238E27FC236}">
                <a16:creationId xmlns:a16="http://schemas.microsoft.com/office/drawing/2014/main" id="{D1CCE81E-2A1A-4C37-8FB9-A87A38D462E4}"/>
              </a:ext>
            </a:extLst>
          </p:cNvPr>
          <p:cNvSpPr>
            <a:spLocks noGrp="1"/>
          </p:cNvSpPr>
          <p:nvPr>
            <p:ph type="pic" sz="quarter" idx="24" hasCustomPrompt="1"/>
          </p:nvPr>
        </p:nvSpPr>
        <p:spPr>
          <a:xfrm>
            <a:off x="8068057" y="1358207"/>
            <a:ext cx="3438143" cy="1940443"/>
          </a:xfrm>
          <a:solidFill>
            <a:schemeClr val="accent2">
              <a:lumMod val="20000"/>
              <a:lumOff val="80000"/>
            </a:schemeClr>
          </a:solidFill>
        </p:spPr>
        <p:txBody>
          <a:bodyPr tIns="365760"/>
          <a:lstStyle>
            <a:lvl1pPr marL="0" indent="0" algn="ctr">
              <a:buNone/>
              <a:defRPr sz="1800" baseline="0"/>
            </a:lvl1pPr>
          </a:lstStyle>
          <a:p>
            <a:r>
              <a:rPr lang="en-US"/>
              <a:t>Click to insert photo</a:t>
            </a:r>
          </a:p>
        </p:txBody>
      </p:sp>
      <p:sp>
        <p:nvSpPr>
          <p:cNvPr id="28" name="Body 1">
            <a:extLst>
              <a:ext uri="{FF2B5EF4-FFF2-40B4-BE49-F238E27FC236}">
                <a16:creationId xmlns:a16="http://schemas.microsoft.com/office/drawing/2014/main" id="{06DFA2EB-3972-43A4-8F2F-1FA925C492C7}"/>
              </a:ext>
            </a:extLst>
          </p:cNvPr>
          <p:cNvSpPr>
            <a:spLocks noGrp="1"/>
          </p:cNvSpPr>
          <p:nvPr>
            <p:ph type="body" sz="quarter" idx="13" hasCustomPrompt="1"/>
          </p:nvPr>
        </p:nvSpPr>
        <p:spPr>
          <a:xfrm>
            <a:off x="704888" y="4103771"/>
            <a:ext cx="3409912" cy="1655644"/>
          </a:xfrm>
          <a:noFill/>
        </p:spPr>
        <p:txBody>
          <a:bodyPr rIns="182880"/>
          <a:lstStyle>
            <a:lvl1pPr marL="182880" marR="0" indent="-182880" algn="l" defTabSz="685800" rtl="0" eaLnBrk="1" fontAlgn="auto" latinLnBrk="0" hangingPunct="1">
              <a:lnSpc>
                <a:spcPct val="100000"/>
              </a:lnSpc>
              <a:spcBef>
                <a:spcPct val="0"/>
              </a:spcBef>
              <a:spcAft>
                <a:spcPts val="450"/>
              </a:spcAft>
              <a:buClrTx/>
              <a:buSzPct val="100000"/>
              <a:buFont typeface="Arial" panose="020B0604020202020204" pitchFamily="34" charset="0"/>
              <a:buChar char="•"/>
              <a:tabLst/>
              <a:defRPr lang="en-US" sz="1500" kern="1200" baseline="0" dirty="0">
                <a:solidFill>
                  <a:schemeClr val="tx1"/>
                </a:solidFill>
                <a:latin typeface="+mn-lt"/>
                <a:ea typeface="+mn-ea"/>
                <a:cs typeface="+mn-cs"/>
              </a:defRPr>
            </a:lvl1pPr>
            <a:lvl2pPr marL="505206"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2pPr>
            <a:lvl3pPr marL="688086"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3pPr>
            <a:lvl4pPr marL="907542"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4pPr>
            <a:lvl5pPr marL="1126998"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5pPr>
          </a:lstStyle>
          <a:p>
            <a:pPr marL="219456" lvl="0"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Main bullet. 15 pt. black.</a:t>
            </a:r>
          </a:p>
          <a:p>
            <a:pPr marL="438912" lvl="1"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Second level</a:t>
            </a:r>
          </a:p>
          <a:p>
            <a:pPr marL="621792" lvl="2"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Third level</a:t>
            </a:r>
          </a:p>
          <a:p>
            <a:pPr marL="841248" lvl="3"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Fourth level</a:t>
            </a:r>
          </a:p>
          <a:p>
            <a:pPr marL="1060704" lvl="4"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Fifth level</a:t>
            </a:r>
          </a:p>
        </p:txBody>
      </p:sp>
      <p:sp>
        <p:nvSpPr>
          <p:cNvPr id="29" name="Text Placeholder 2">
            <a:extLst>
              <a:ext uri="{FF2B5EF4-FFF2-40B4-BE49-F238E27FC236}">
                <a16:creationId xmlns:a16="http://schemas.microsoft.com/office/drawing/2014/main" id="{A13B8C43-B217-4065-899D-965ABB835B4A}"/>
              </a:ext>
            </a:extLst>
          </p:cNvPr>
          <p:cNvSpPr>
            <a:spLocks noGrp="1"/>
          </p:cNvSpPr>
          <p:nvPr>
            <p:ph type="body" sz="quarter" idx="21" hasCustomPrompt="1"/>
          </p:nvPr>
        </p:nvSpPr>
        <p:spPr>
          <a:xfrm>
            <a:off x="704888" y="3513856"/>
            <a:ext cx="3411017" cy="563231"/>
          </a:xfrm>
          <a:noFill/>
        </p:spPr>
        <p:txBody>
          <a:bodyPr vert="horz" wrap="square" lIns="0" tIns="0" rIns="0" bIns="91440" rtlCol="0">
            <a:spAutoFit/>
          </a:bodyPr>
          <a:lstStyle>
            <a:lvl1pPr marL="0" marR="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700" b="1" baseline="0">
                <a:latin typeface="+mj-lt"/>
              </a:defRPr>
            </a:lvl1pPr>
          </a:lstStyle>
          <a:p>
            <a:pPr marL="0" marR="0" lvl="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17 pt. black. Bold. Sentence case.</a:t>
            </a:r>
          </a:p>
        </p:txBody>
      </p:sp>
      <p:sp>
        <p:nvSpPr>
          <p:cNvPr id="30" name="Text Placeholder 2">
            <a:extLst>
              <a:ext uri="{FF2B5EF4-FFF2-40B4-BE49-F238E27FC236}">
                <a16:creationId xmlns:a16="http://schemas.microsoft.com/office/drawing/2014/main" id="{70241EE5-BE3E-4ACB-AA02-55AD1071CF53}"/>
              </a:ext>
            </a:extLst>
          </p:cNvPr>
          <p:cNvSpPr>
            <a:spLocks noGrp="1"/>
          </p:cNvSpPr>
          <p:nvPr>
            <p:ph type="body" sz="quarter" idx="26" hasCustomPrompt="1"/>
          </p:nvPr>
        </p:nvSpPr>
        <p:spPr>
          <a:xfrm>
            <a:off x="4371270" y="3513856"/>
            <a:ext cx="3449084" cy="563231"/>
          </a:xfrm>
          <a:noFill/>
        </p:spPr>
        <p:txBody>
          <a:bodyPr vert="horz" wrap="square" lIns="0" tIns="0" rIns="0" bIns="91440" rtlCol="0">
            <a:spAutoFit/>
          </a:bodyPr>
          <a:lstStyle>
            <a:lvl1pPr marL="0" marR="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700" b="1" baseline="0">
                <a:latin typeface="+mj-lt"/>
              </a:defRPr>
            </a:lvl1pPr>
          </a:lstStyle>
          <a:p>
            <a:pPr marL="0" marR="0" lvl="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17 pt. black. Bold. Sentence case.</a:t>
            </a:r>
          </a:p>
        </p:txBody>
      </p:sp>
      <p:sp>
        <p:nvSpPr>
          <p:cNvPr id="31" name="Text Placeholder 2">
            <a:extLst>
              <a:ext uri="{FF2B5EF4-FFF2-40B4-BE49-F238E27FC236}">
                <a16:creationId xmlns:a16="http://schemas.microsoft.com/office/drawing/2014/main" id="{6C421A00-BD57-46F3-A96E-EBA27534BF52}"/>
              </a:ext>
            </a:extLst>
          </p:cNvPr>
          <p:cNvSpPr>
            <a:spLocks noGrp="1"/>
          </p:cNvSpPr>
          <p:nvPr>
            <p:ph type="body" sz="quarter" idx="27" hasCustomPrompt="1"/>
          </p:nvPr>
        </p:nvSpPr>
        <p:spPr>
          <a:xfrm>
            <a:off x="8079811" y="3513856"/>
            <a:ext cx="3410355" cy="563231"/>
          </a:xfrm>
          <a:noFill/>
        </p:spPr>
        <p:txBody>
          <a:bodyPr vert="horz" wrap="square" lIns="0" tIns="0" rIns="0" bIns="91440" rtlCol="0">
            <a:spAutoFit/>
          </a:bodyPr>
          <a:lstStyle>
            <a:lvl1pPr marL="0" marR="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700" b="1" baseline="0">
                <a:latin typeface="+mj-lt"/>
              </a:defRPr>
            </a:lvl1pPr>
          </a:lstStyle>
          <a:p>
            <a:pPr marL="0" marR="0" lvl="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17 pt. black. Bold. Sentence case.</a:t>
            </a:r>
          </a:p>
        </p:txBody>
      </p:sp>
      <p:sp>
        <p:nvSpPr>
          <p:cNvPr id="2" name="Body 1">
            <a:extLst>
              <a:ext uri="{FF2B5EF4-FFF2-40B4-BE49-F238E27FC236}">
                <a16:creationId xmlns:a16="http://schemas.microsoft.com/office/drawing/2014/main" id="{D8C205A4-A491-3354-D436-AF9BF1F62EBD}"/>
              </a:ext>
            </a:extLst>
          </p:cNvPr>
          <p:cNvSpPr>
            <a:spLocks noGrp="1"/>
          </p:cNvSpPr>
          <p:nvPr>
            <p:ph type="body" sz="quarter" idx="28" hasCustomPrompt="1"/>
          </p:nvPr>
        </p:nvSpPr>
        <p:spPr>
          <a:xfrm>
            <a:off x="4381500" y="4103771"/>
            <a:ext cx="3409912" cy="1655644"/>
          </a:xfrm>
          <a:noFill/>
        </p:spPr>
        <p:txBody>
          <a:bodyPr rIns="182880"/>
          <a:lstStyle>
            <a:lvl1pPr marL="182880" marR="0" indent="-182880" algn="l" defTabSz="685800" rtl="0" eaLnBrk="1" fontAlgn="auto" latinLnBrk="0" hangingPunct="1">
              <a:lnSpc>
                <a:spcPct val="100000"/>
              </a:lnSpc>
              <a:spcBef>
                <a:spcPct val="0"/>
              </a:spcBef>
              <a:spcAft>
                <a:spcPts val="450"/>
              </a:spcAft>
              <a:buClrTx/>
              <a:buSzPct val="100000"/>
              <a:buFont typeface="Arial" panose="020B0604020202020204" pitchFamily="34" charset="0"/>
              <a:buChar char="•"/>
              <a:tabLst/>
              <a:defRPr lang="en-US" sz="1500" kern="1200" baseline="0" dirty="0">
                <a:solidFill>
                  <a:schemeClr val="tx1"/>
                </a:solidFill>
                <a:latin typeface="+mn-lt"/>
                <a:ea typeface="+mn-ea"/>
                <a:cs typeface="+mn-cs"/>
              </a:defRPr>
            </a:lvl1pPr>
            <a:lvl2pPr marL="505206"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2pPr>
            <a:lvl3pPr marL="688086"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3pPr>
            <a:lvl4pPr marL="907542"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4pPr>
            <a:lvl5pPr marL="1126998"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5pPr>
          </a:lstStyle>
          <a:p>
            <a:pPr marL="219456" lvl="0"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Main bullet. 15 pt. black.</a:t>
            </a:r>
          </a:p>
          <a:p>
            <a:pPr marL="438912" lvl="1"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Second level</a:t>
            </a:r>
          </a:p>
          <a:p>
            <a:pPr marL="621792" lvl="2"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Third level</a:t>
            </a:r>
          </a:p>
          <a:p>
            <a:pPr marL="841248" lvl="3"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Fourth level</a:t>
            </a:r>
          </a:p>
          <a:p>
            <a:pPr marL="1060704" lvl="4"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Fifth level</a:t>
            </a:r>
          </a:p>
        </p:txBody>
      </p:sp>
      <p:sp>
        <p:nvSpPr>
          <p:cNvPr id="3" name="Body 1">
            <a:extLst>
              <a:ext uri="{FF2B5EF4-FFF2-40B4-BE49-F238E27FC236}">
                <a16:creationId xmlns:a16="http://schemas.microsoft.com/office/drawing/2014/main" id="{FB9FA8DA-D277-339F-4985-9623F740A897}"/>
              </a:ext>
            </a:extLst>
          </p:cNvPr>
          <p:cNvSpPr>
            <a:spLocks noGrp="1"/>
          </p:cNvSpPr>
          <p:nvPr>
            <p:ph type="body" sz="quarter" idx="29" hasCustomPrompt="1"/>
          </p:nvPr>
        </p:nvSpPr>
        <p:spPr>
          <a:xfrm>
            <a:off x="8085949" y="4103771"/>
            <a:ext cx="3409912" cy="1655644"/>
          </a:xfrm>
          <a:noFill/>
        </p:spPr>
        <p:txBody>
          <a:bodyPr rIns="182880"/>
          <a:lstStyle>
            <a:lvl1pPr marL="182880" marR="0" indent="-182880" algn="l" defTabSz="685800" rtl="0" eaLnBrk="1" fontAlgn="auto" latinLnBrk="0" hangingPunct="1">
              <a:lnSpc>
                <a:spcPct val="100000"/>
              </a:lnSpc>
              <a:spcBef>
                <a:spcPct val="0"/>
              </a:spcBef>
              <a:spcAft>
                <a:spcPts val="450"/>
              </a:spcAft>
              <a:buClrTx/>
              <a:buSzPct val="100000"/>
              <a:buFont typeface="Arial" panose="020B0604020202020204" pitchFamily="34" charset="0"/>
              <a:buChar char="•"/>
              <a:tabLst/>
              <a:defRPr lang="en-US" sz="1500" kern="1200" baseline="0" dirty="0">
                <a:solidFill>
                  <a:schemeClr val="tx1"/>
                </a:solidFill>
                <a:latin typeface="+mn-lt"/>
                <a:ea typeface="+mn-ea"/>
                <a:cs typeface="+mn-cs"/>
              </a:defRPr>
            </a:lvl1pPr>
            <a:lvl2pPr marL="505206"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2pPr>
            <a:lvl3pPr marL="688086"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3pPr>
            <a:lvl4pPr marL="907542"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4pPr>
            <a:lvl5pPr marL="1126998"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5pPr>
          </a:lstStyle>
          <a:p>
            <a:pPr marL="219456" lvl="0"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Main bullet. 15 pt. black.</a:t>
            </a:r>
          </a:p>
          <a:p>
            <a:pPr marL="438912" lvl="1"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Second level</a:t>
            </a:r>
          </a:p>
          <a:p>
            <a:pPr marL="621792" lvl="2"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Third level</a:t>
            </a:r>
          </a:p>
          <a:p>
            <a:pPr marL="841248" lvl="3"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Fourth level</a:t>
            </a:r>
          </a:p>
          <a:p>
            <a:pPr marL="1060704" lvl="4"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Fifth level</a:t>
            </a:r>
          </a:p>
        </p:txBody>
      </p:sp>
      <p:sp>
        <p:nvSpPr>
          <p:cNvPr id="4" name="Takeaway bar">
            <a:extLst>
              <a:ext uri="{FF2B5EF4-FFF2-40B4-BE49-F238E27FC236}">
                <a16:creationId xmlns:a16="http://schemas.microsoft.com/office/drawing/2014/main" id="{F1C626FD-9651-7619-B6B8-C33DB71F60D0}"/>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5" name="Slide number">
            <a:extLst>
              <a:ext uri="{FF2B5EF4-FFF2-40B4-BE49-F238E27FC236}">
                <a16:creationId xmlns:a16="http://schemas.microsoft.com/office/drawing/2014/main" id="{8A8EF709-B2B3-FDC4-BEA0-3E79EE4FFD43}"/>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6" name="Footer Placeholder 4">
            <a:extLst>
              <a:ext uri="{FF2B5EF4-FFF2-40B4-BE49-F238E27FC236}">
                <a16:creationId xmlns:a16="http://schemas.microsoft.com/office/drawing/2014/main" id="{F2A5591D-DFFC-8F13-EF1F-5B9D6E5E47F5}"/>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3959176817"/>
      </p:ext>
    </p:extLst>
  </p:cSld>
  <p:clrMapOvr>
    <a:masterClrMapping/>
  </p:clrMapOvr>
  <p:extLst>
    <p:ext uri="{DCECCB84-F9BA-43D5-87BE-67443E8EF086}">
      <p15:sldGuideLst xmlns:p15="http://schemas.microsoft.com/office/powerpoint/2012/main">
        <p15:guide id="1" orient="horz" pos="129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28FF1-F845-250C-ECC1-140DE755019B}"/>
              </a:ext>
            </a:extLst>
          </p:cNvPr>
          <p:cNvSpPr>
            <a:spLocks noGrp="1"/>
          </p:cNvSpPr>
          <p:nvPr>
            <p:ph type="title" hasCustomPrompt="1"/>
          </p:nvPr>
        </p:nvSpPr>
        <p:spPr>
          <a:xfrm>
            <a:off x="694943" y="365126"/>
            <a:ext cx="10791203" cy="835908"/>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F776507-EC28-4A62-183F-C120B5BEC43E}"/>
              </a:ext>
            </a:extLst>
          </p:cNvPr>
          <p:cNvSpPr>
            <a:spLocks noGrp="1"/>
          </p:cNvSpPr>
          <p:nvPr>
            <p:ph idx="1" hasCustomPrompt="1"/>
          </p:nvPr>
        </p:nvSpPr>
        <p:spPr>
          <a:xfrm>
            <a:off x="694944" y="1307164"/>
            <a:ext cx="10823288" cy="4805959"/>
          </a:xfrm>
        </p:spPr>
        <p:txBody>
          <a:bodyPr/>
          <a:lstStyle>
            <a:lvl1pPr>
              <a:defRPr>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291AB885-CBD3-2971-B2C6-9605A644EBCF}"/>
              </a:ext>
            </a:extLst>
          </p:cNvPr>
          <p:cNvSpPr>
            <a:spLocks noGrp="1"/>
          </p:cNvSpPr>
          <p:nvPr>
            <p:ph type="sldNum" sz="quarter" idx="4"/>
          </p:nvPr>
        </p:nvSpPr>
        <p:spPr>
          <a:xfrm>
            <a:off x="11045952" y="6491652"/>
            <a:ext cx="481584" cy="229188"/>
          </a:xfrm>
          <a:prstGeom prst="rect">
            <a:avLst/>
          </a:prstGeom>
        </p:spPr>
        <p:txBody>
          <a:bodyPr vert="horz" lIns="0" tIns="0" rIns="0" bIns="0" rtlCol="0" anchor="t" anchorCtr="0"/>
          <a:lstStyle>
            <a:lvl1pPr algn="r">
              <a:defRPr sz="800" b="0" i="0">
                <a:solidFill>
                  <a:schemeClr val="bg2"/>
                </a:solidFill>
                <a:latin typeface="Arial Narrow" panose="020B0604020202020204" pitchFamily="34" charset="0"/>
                <a:cs typeface="Arial Narrow" panose="020B0604020202020204" pitchFamily="34" charset="0"/>
              </a:defRPr>
            </a:lvl1pPr>
          </a:lstStyle>
          <a:p>
            <a:fld id="{A7EBF19F-9143-0D43-8AAF-A18B95D0386D}" type="slidenum">
              <a:rPr lang="en-US" smtClean="0"/>
              <a:pPr/>
              <a:t>‹#›</a:t>
            </a:fld>
            <a:endParaRPr lang="en-US"/>
          </a:p>
        </p:txBody>
      </p:sp>
      <p:sp>
        <p:nvSpPr>
          <p:cNvPr id="6" name="Footer Placeholder 4">
            <a:extLst>
              <a:ext uri="{FF2B5EF4-FFF2-40B4-BE49-F238E27FC236}">
                <a16:creationId xmlns:a16="http://schemas.microsoft.com/office/drawing/2014/main" id="{774000F6-D098-150F-92BA-4FEB80E018F3}"/>
              </a:ext>
            </a:extLst>
          </p:cNvPr>
          <p:cNvSpPr>
            <a:spLocks noGrp="1"/>
          </p:cNvSpPr>
          <p:nvPr>
            <p:ph type="ftr" sz="quarter" idx="3"/>
          </p:nvPr>
        </p:nvSpPr>
        <p:spPr>
          <a:xfrm>
            <a:off x="2072640" y="6492874"/>
            <a:ext cx="5279136" cy="365126"/>
          </a:xfrm>
          <a:prstGeom prst="rect">
            <a:avLst/>
          </a:prstGeom>
        </p:spPr>
        <p:txBody>
          <a:bodyPr vert="horz" lIns="0" tIns="0" rIns="0" bIns="0" rtlCol="0" anchor="t" anchorCtr="0"/>
          <a:lstStyle>
            <a:lvl1pPr algn="l">
              <a:lnSpc>
                <a:spcPct val="80000"/>
              </a:lnSpc>
              <a:defRPr sz="800" b="0" i="0">
                <a:solidFill>
                  <a:schemeClr val="bg2"/>
                </a:solidFill>
                <a:latin typeface="Arial Narrow" panose="020B0604020202020204" pitchFamily="34" charset="0"/>
                <a:cs typeface="Arial Narrow" panose="020B0604020202020204" pitchFamily="34" charset="0"/>
              </a:defRPr>
            </a:lvl1pPr>
          </a:lstStyle>
          <a:p>
            <a:r>
              <a:rPr lang="en-US"/>
              <a:t>EXPORT MARKING: INTERN'S PRESENTATION</a:t>
            </a:r>
          </a:p>
        </p:txBody>
      </p:sp>
      <p:sp>
        <p:nvSpPr>
          <p:cNvPr id="7" name="Date Placeholder 13">
            <a:extLst>
              <a:ext uri="{FF2B5EF4-FFF2-40B4-BE49-F238E27FC236}">
                <a16:creationId xmlns:a16="http://schemas.microsoft.com/office/drawing/2014/main" id="{F290E58A-D7A9-1D2A-AE68-1347C7AEFD6D}"/>
              </a:ext>
            </a:extLst>
          </p:cNvPr>
          <p:cNvSpPr>
            <a:spLocks noGrp="1"/>
          </p:cNvSpPr>
          <p:nvPr>
            <p:ph type="dt" sz="half" idx="2"/>
          </p:nvPr>
        </p:nvSpPr>
        <p:spPr>
          <a:xfrm>
            <a:off x="7644383" y="6491652"/>
            <a:ext cx="3366083" cy="274908"/>
          </a:xfrm>
          <a:prstGeom prst="rect">
            <a:avLst/>
          </a:prstGeom>
        </p:spPr>
        <p:txBody>
          <a:bodyPr vert="horz" lIns="0" tIns="0" rIns="0" bIns="0" rtlCol="0" anchor="t" anchorCtr="0"/>
          <a:lstStyle>
            <a:lvl1pPr algn="r">
              <a:defRPr sz="800" b="0" i="0">
                <a:solidFill>
                  <a:schemeClr val="bg2"/>
                </a:solidFill>
                <a:latin typeface="Arial Narrow" panose="020B0604020202020204" pitchFamily="34" charset="0"/>
                <a:cs typeface="Arial Narrow" panose="020B0604020202020204" pitchFamily="34" charset="0"/>
              </a:defRPr>
            </a:lvl1pPr>
          </a:lstStyle>
          <a:p>
            <a:r>
              <a:rPr lang="en-US"/>
              <a:t>PRATT &amp; WHITNEY CANADA PROPRIETARY     |    © </a:t>
            </a:r>
            <a:fld id="{7674C25C-9FE0-47D4-8031-5B4D704AC308}" type="datetimeyyyy">
              <a:rPr lang="en-US" smtClean="0"/>
              <a:t>2026</a:t>
            </a:fld>
            <a:r>
              <a:rPr lang="en-US"/>
              <a:t> PRATT &amp; WHITNEY</a:t>
            </a:r>
          </a:p>
          <a:p>
            <a:endParaRPr lang="en-US"/>
          </a:p>
        </p:txBody>
      </p:sp>
    </p:spTree>
    <p:extLst>
      <p:ext uri="{BB962C8B-B14F-4D97-AF65-F5344CB8AC3E}">
        <p14:creationId xmlns:p14="http://schemas.microsoft.com/office/powerpoint/2010/main" val="2720629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Blank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40536-8A51-9104-3388-A4C75CEF92C6}"/>
              </a:ext>
            </a:extLst>
          </p:cNvPr>
          <p:cNvSpPr>
            <a:spLocks noGrp="1"/>
          </p:cNvSpPr>
          <p:nvPr>
            <p:ph type="title" hasCustomPrompt="1"/>
          </p:nvPr>
        </p:nvSpPr>
        <p:spPr>
          <a:xfrm>
            <a:off x="694944" y="365125"/>
            <a:ext cx="10817352" cy="1043051"/>
          </a:xfrm>
          <a:prstGeom prst="rect">
            <a:avLst/>
          </a:prstGeom>
        </p:spPr>
        <p:txBody>
          <a:bodyPr>
            <a:noAutofit/>
          </a:bodyPr>
          <a:lstStyle/>
          <a:p>
            <a:r>
              <a:rPr lang="en-US"/>
              <a:t>Click to edit master title style</a:t>
            </a:r>
          </a:p>
        </p:txBody>
      </p:sp>
      <p:sp>
        <p:nvSpPr>
          <p:cNvPr id="3" name="Slide Number Placeholder 5">
            <a:extLst>
              <a:ext uri="{FF2B5EF4-FFF2-40B4-BE49-F238E27FC236}">
                <a16:creationId xmlns:a16="http://schemas.microsoft.com/office/drawing/2014/main" id="{8EE731E2-E1F5-D764-40D1-0F4B4DFB4172}"/>
              </a:ext>
            </a:extLst>
          </p:cNvPr>
          <p:cNvSpPr>
            <a:spLocks noGrp="1"/>
          </p:cNvSpPr>
          <p:nvPr>
            <p:ph type="sldNum" sz="quarter" idx="4"/>
          </p:nvPr>
        </p:nvSpPr>
        <p:spPr>
          <a:xfrm>
            <a:off x="11045952" y="6491652"/>
            <a:ext cx="481584" cy="229188"/>
          </a:xfrm>
          <a:prstGeom prst="rect">
            <a:avLst/>
          </a:prstGeom>
        </p:spPr>
        <p:txBody>
          <a:bodyPr vert="horz" lIns="0" tIns="0" rIns="0" bIns="0" rtlCol="0" anchor="t" anchorCtr="0"/>
          <a:lstStyle>
            <a:lvl1pPr algn="r">
              <a:defRPr sz="800" b="0" i="0">
                <a:solidFill>
                  <a:schemeClr val="bg2"/>
                </a:solidFill>
                <a:latin typeface="Arial Narrow" panose="020B0604020202020204" pitchFamily="34" charset="0"/>
                <a:cs typeface="Arial Narrow" panose="020B0604020202020204" pitchFamily="34" charset="0"/>
              </a:defRPr>
            </a:lvl1pPr>
          </a:lstStyle>
          <a:p>
            <a:fld id="{A7EBF19F-9143-0D43-8AAF-A18B95D0386D}" type="slidenum">
              <a:rPr lang="en-US" smtClean="0"/>
              <a:pPr/>
              <a:t>‹#›</a:t>
            </a:fld>
            <a:endParaRPr lang="en-US"/>
          </a:p>
        </p:txBody>
      </p:sp>
      <p:sp>
        <p:nvSpPr>
          <p:cNvPr id="5" name="Footer Placeholder 4">
            <a:extLst>
              <a:ext uri="{FF2B5EF4-FFF2-40B4-BE49-F238E27FC236}">
                <a16:creationId xmlns:a16="http://schemas.microsoft.com/office/drawing/2014/main" id="{1D953101-A0B0-8DCA-E080-1354134EDC4D}"/>
              </a:ext>
            </a:extLst>
          </p:cNvPr>
          <p:cNvSpPr>
            <a:spLocks noGrp="1"/>
          </p:cNvSpPr>
          <p:nvPr>
            <p:ph type="ftr" sz="quarter" idx="3"/>
          </p:nvPr>
        </p:nvSpPr>
        <p:spPr>
          <a:xfrm>
            <a:off x="2072640" y="6492874"/>
            <a:ext cx="5279136" cy="365126"/>
          </a:xfrm>
          <a:prstGeom prst="rect">
            <a:avLst/>
          </a:prstGeom>
        </p:spPr>
        <p:txBody>
          <a:bodyPr vert="horz" lIns="0" tIns="0" rIns="0" bIns="0" rtlCol="0" anchor="t" anchorCtr="0"/>
          <a:lstStyle>
            <a:lvl1pPr algn="l">
              <a:lnSpc>
                <a:spcPct val="80000"/>
              </a:lnSpc>
              <a:defRPr sz="800" b="0" i="0">
                <a:solidFill>
                  <a:schemeClr val="bg2"/>
                </a:solidFill>
                <a:latin typeface="Arial Narrow" panose="020B0604020202020204" pitchFamily="34" charset="0"/>
                <a:cs typeface="Arial Narrow" panose="020B0604020202020204" pitchFamily="34" charset="0"/>
              </a:defRPr>
            </a:lvl1pPr>
          </a:lstStyle>
          <a:p>
            <a:r>
              <a:rPr lang="en-US"/>
              <a:t>EXPORT MARKING: INTERN'S PRESENTATION</a:t>
            </a:r>
          </a:p>
        </p:txBody>
      </p:sp>
      <p:sp>
        <p:nvSpPr>
          <p:cNvPr id="6" name="Date Placeholder 13">
            <a:extLst>
              <a:ext uri="{FF2B5EF4-FFF2-40B4-BE49-F238E27FC236}">
                <a16:creationId xmlns:a16="http://schemas.microsoft.com/office/drawing/2014/main" id="{CB7AD8BB-204C-9CB4-B597-FA2CF22F1430}"/>
              </a:ext>
            </a:extLst>
          </p:cNvPr>
          <p:cNvSpPr>
            <a:spLocks noGrp="1"/>
          </p:cNvSpPr>
          <p:nvPr>
            <p:ph type="dt" sz="half" idx="2"/>
          </p:nvPr>
        </p:nvSpPr>
        <p:spPr>
          <a:xfrm>
            <a:off x="7644383" y="6491652"/>
            <a:ext cx="3366083" cy="274908"/>
          </a:xfrm>
          <a:prstGeom prst="rect">
            <a:avLst/>
          </a:prstGeom>
        </p:spPr>
        <p:txBody>
          <a:bodyPr vert="horz" lIns="0" tIns="0" rIns="0" bIns="0" rtlCol="0" anchor="t" anchorCtr="0"/>
          <a:lstStyle>
            <a:lvl1pPr algn="r">
              <a:defRPr sz="800" b="0" i="0">
                <a:solidFill>
                  <a:schemeClr val="bg2"/>
                </a:solidFill>
                <a:latin typeface="Arial Narrow" panose="020B0604020202020204" pitchFamily="34" charset="0"/>
                <a:cs typeface="Arial Narrow" panose="020B0604020202020204" pitchFamily="34" charset="0"/>
              </a:defRPr>
            </a:lvl1pPr>
          </a:lstStyle>
          <a:p>
            <a:r>
              <a:rPr lang="en-US"/>
              <a:t>PRATT &amp; WHITNEY CANADA PROPRIETARY     |    © </a:t>
            </a:r>
            <a:fld id="{4FC5A1D7-F76E-4F63-9E63-62D9884B7498}" type="datetimeyyyy">
              <a:rPr lang="en-US" smtClean="0"/>
              <a:t>2026</a:t>
            </a:fld>
            <a:r>
              <a:rPr lang="en-US"/>
              <a:t> PRATT &amp; WHITNEY</a:t>
            </a:r>
          </a:p>
          <a:p>
            <a:endParaRPr lang="en-US"/>
          </a:p>
        </p:txBody>
      </p:sp>
    </p:spTree>
    <p:extLst>
      <p:ext uri="{BB962C8B-B14F-4D97-AF65-F5344CB8AC3E}">
        <p14:creationId xmlns:p14="http://schemas.microsoft.com/office/powerpoint/2010/main" val="5435306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image" Target="../media/image1.png"/><Relationship Id="rId4" Type="http://schemas.openxmlformats.org/officeDocument/2006/relationships/slideLayout" Target="../slideLayouts/slideLayout10.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Slide number">
            <a:extLst>
              <a:ext uri="{FF2B5EF4-FFF2-40B4-BE49-F238E27FC236}">
                <a16:creationId xmlns:a16="http://schemas.microsoft.com/office/drawing/2014/main" id="{FA5E6F7A-6817-8E04-1DF6-BE2F34955A07}"/>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bg1"/>
                </a:solidFill>
                <a:latin typeface="+mn-lt"/>
                <a:ea typeface="+mn-ea"/>
                <a:cs typeface="+mn-cs"/>
              </a:defRPr>
            </a:lvl1pPr>
          </a:lstStyle>
          <a:p>
            <a:fld id="{07165E6F-54ED-4977-A15E-D44BE7238A65}" type="slidenum">
              <a:rPr lang="en-US" smtClean="0"/>
              <a:pPr/>
              <a:t>‹#›</a:t>
            </a:fld>
            <a:endParaRPr lang="en-US"/>
          </a:p>
        </p:txBody>
      </p:sp>
      <p:sp>
        <p:nvSpPr>
          <p:cNvPr id="8" name="Footer Placeholder 4">
            <a:extLst>
              <a:ext uri="{FF2B5EF4-FFF2-40B4-BE49-F238E27FC236}">
                <a16:creationId xmlns:a16="http://schemas.microsoft.com/office/drawing/2014/main" id="{4C0EF7E8-BCEE-6437-055D-00109D431AC8}"/>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
        <p:nvSpPr>
          <p:cNvPr id="3" name="Presenters"/>
          <p:cNvSpPr>
            <a:spLocks noGrp="1"/>
          </p:cNvSpPr>
          <p:nvPr>
            <p:ph type="body" idx="1"/>
          </p:nvPr>
        </p:nvSpPr>
        <p:spPr>
          <a:xfrm>
            <a:off x="647700" y="3811347"/>
            <a:ext cx="3581400" cy="333933"/>
          </a:xfrm>
          <a:prstGeom prst="rect">
            <a:avLst/>
          </a:prstGeom>
        </p:spPr>
        <p:txBody>
          <a:bodyPr vert="horz" lIns="0" tIns="0" rIns="0" bIns="0" rtlCol="0">
            <a:noAutofit/>
          </a:bodyPr>
          <a:lstStyle/>
          <a:p>
            <a:pPr lvl="0"/>
            <a:r>
              <a:rPr lang="en-US"/>
              <a:t>Edit Master text styles</a:t>
            </a:r>
          </a:p>
        </p:txBody>
      </p:sp>
      <p:sp>
        <p:nvSpPr>
          <p:cNvPr id="2" name="Title"/>
          <p:cNvSpPr>
            <a:spLocks noGrp="1"/>
          </p:cNvSpPr>
          <p:nvPr>
            <p:ph type="title"/>
          </p:nvPr>
        </p:nvSpPr>
        <p:spPr>
          <a:xfrm>
            <a:off x="647700" y="2743200"/>
            <a:ext cx="10896600" cy="701842"/>
          </a:xfrm>
          <a:prstGeom prst="rect">
            <a:avLst/>
          </a:prstGeom>
        </p:spPr>
        <p:txBody>
          <a:bodyPr vert="horz" lIns="0" tIns="0" rIns="0" bIns="0" rtlCol="0" anchor="b" anchorCtr="0">
            <a:noAutofit/>
          </a:bodyPr>
          <a:lstStyle/>
          <a:p>
            <a:r>
              <a:rPr lang="en-US"/>
              <a:t>Click to edit Master title style</a:t>
            </a:r>
          </a:p>
        </p:txBody>
      </p:sp>
      <p:sp>
        <p:nvSpPr>
          <p:cNvPr id="6" name="Footer Placeholder 1">
            <a:extLst>
              <a:ext uri="{FF2B5EF4-FFF2-40B4-BE49-F238E27FC236}">
                <a16:creationId xmlns:a16="http://schemas.microsoft.com/office/drawing/2014/main" id="{7D4EC5E4-36B6-F5AC-C7B7-8026AC28196D}"/>
              </a:ext>
            </a:extLst>
          </p:cNvPr>
          <p:cNvSpPr txBox="1">
            <a:spLocks/>
          </p:cNvSpPr>
          <p:nvPr userDrawn="1">
            <p:custDataLst>
              <p:tags r:id="rId7"/>
            </p:custDataLst>
          </p:nvPr>
        </p:nvSpPr>
        <p:spPr>
          <a:xfrm>
            <a:off x="0" y="6264461"/>
            <a:ext cx="12192000" cy="107722"/>
          </a:xfrm>
          <a:prstGeom prst="rect">
            <a:avLst/>
          </a:prstGeom>
          <a:noFill/>
        </p:spPr>
        <p:txBody>
          <a:bodyPr lIns="0" tIns="0" rIns="0" bIns="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00" b="1">
                <a:solidFill>
                  <a:schemeClr val="accent6"/>
                </a:solidFill>
              </a:rPr>
              <a:t>COVER PAGE MARKING REFLECTS THE MOST RESTRICTIVE EXPORT CONTROL CLASSIFICATION FOUND IN THE DOCUMENT UNDER EACH APPLICABLE JURISIDICTION (E.G., ITAR, EAR, EIPA OR OTHER LOCAL COUNTRY)</a:t>
            </a:r>
            <a:endParaRPr lang="en-US" sz="700" b="1" strike="sngStrike">
              <a:solidFill>
                <a:schemeClr val="accent6"/>
              </a:solidFill>
            </a:endParaRPr>
          </a:p>
        </p:txBody>
      </p:sp>
      <p:sp>
        <p:nvSpPr>
          <p:cNvPr id="12" name="TextBox 11">
            <a:extLst>
              <a:ext uri="{FF2B5EF4-FFF2-40B4-BE49-F238E27FC236}">
                <a16:creationId xmlns:a16="http://schemas.microsoft.com/office/drawing/2014/main" id="{0251440E-3835-00F8-A372-BF6999D1C8E1}"/>
              </a:ext>
            </a:extLst>
          </p:cNvPr>
          <p:cNvSpPr txBox="1"/>
          <p:nvPr userDrawn="1"/>
        </p:nvSpPr>
        <p:spPr>
          <a:xfrm>
            <a:off x="0" y="6565840"/>
            <a:ext cx="12192000" cy="107720"/>
          </a:xfrm>
          <a:prstGeom prst="rect">
            <a:avLst/>
          </a:prstGeom>
          <a:noFill/>
        </p:spPr>
        <p:txBody>
          <a:bodyPr vert="horz" wrap="square" lIns="91440" tIns="0" rIns="91440" bIns="0" rtlCol="0" anchor="ctr">
            <a:spAutoFit/>
          </a:bodyPr>
          <a:lstStyle>
            <a:defPPr>
              <a:defRPr lang="en-US"/>
            </a:defPPr>
            <a:lvl1pPr algn="ctr">
              <a:defRPr lang="en-US" sz="700"/>
            </a:lvl1pPr>
          </a:lstStyle>
          <a:p>
            <a:pPr lvl="0"/>
            <a:r>
              <a:rPr lang="en-US"/>
              <a:t>P&amp;WC Proprietary Information - The information contained on this page is subject to the notice set forth on page 2.  |   </a:t>
            </a:r>
            <a:r>
              <a:rPr lang="en-CA"/>
              <a:t>© 2025 Pratt &amp; Whitney Canada Corp. All rights reserved.</a:t>
            </a:r>
            <a:endParaRPr lang="en-US"/>
          </a:p>
        </p:txBody>
      </p:sp>
    </p:spTree>
    <p:extLst>
      <p:ext uri="{BB962C8B-B14F-4D97-AF65-F5344CB8AC3E}">
        <p14:creationId xmlns:p14="http://schemas.microsoft.com/office/powerpoint/2010/main" val="1815982091"/>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98" r:id="rId3"/>
    <p:sldLayoutId id="2147483702" r:id="rId4"/>
    <p:sldLayoutId id="2147483701" r:id="rId5"/>
  </p:sldLayoutIdLst>
  <p:hf hd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0" indent="0" algn="l" defTabSz="0" rtl="0" eaLnBrk="1" latinLnBrk="0" hangingPunct="1">
        <a:lnSpc>
          <a:spcPct val="90000"/>
        </a:lnSpc>
        <a:spcBef>
          <a:spcPts val="0"/>
        </a:spcBef>
        <a:buSzPct val="115000"/>
        <a:buFont typeface="Arial" panose="020B0604020202020204" pitchFamily="34" charset="0"/>
        <a:buNone/>
        <a:defRPr sz="2000" b="1" kern="1200">
          <a:solidFill>
            <a:schemeClr val="tx1"/>
          </a:solidFill>
          <a:latin typeface="+mn-lt"/>
          <a:ea typeface="+mn-ea"/>
          <a:cs typeface="+mn-cs"/>
        </a:defRPr>
      </a:lvl1pPr>
      <a:lvl2pPr marL="36576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2pPr>
      <a:lvl3pPr marL="54864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3pPr>
      <a:lvl4pPr marL="73152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4pPr>
      <a:lvl5pPr marL="91440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userDrawn="1">
          <p15:clr>
            <a:srgbClr val="A4A3A4"/>
          </p15:clr>
        </p15:guide>
        <p15:guide id="3" pos="7248" userDrawn="1">
          <p15:clr>
            <a:srgbClr val="A4A3A4"/>
          </p15:clr>
        </p15:guide>
        <p15:guide id="5" pos="1416" userDrawn="1">
          <p15:clr>
            <a:srgbClr val="A4A3A4"/>
          </p15:clr>
        </p15:guide>
        <p15:guide id="6" pos="1608" userDrawn="1">
          <p15:clr>
            <a:srgbClr val="A4A3A4"/>
          </p15:clr>
        </p15:guide>
        <p15:guide id="7" pos="2592" userDrawn="1">
          <p15:clr>
            <a:srgbClr val="A4A3A4"/>
          </p15:clr>
        </p15:guide>
        <p15:guide id="8" pos="2760" userDrawn="1">
          <p15:clr>
            <a:srgbClr val="A4A3A4"/>
          </p15:clr>
        </p15:guide>
        <p15:guide id="9" pos="3744" userDrawn="1">
          <p15:clr>
            <a:srgbClr val="A4A3A4"/>
          </p15:clr>
        </p15:guide>
        <p15:guide id="10" pos="3936" userDrawn="1">
          <p15:clr>
            <a:srgbClr val="A4A3A4"/>
          </p15:clr>
        </p15:guide>
        <p15:guide id="11" pos="4920" userDrawn="1">
          <p15:clr>
            <a:srgbClr val="A4A3A4"/>
          </p15:clr>
        </p15:guide>
        <p15:guide id="12" pos="5088" userDrawn="1">
          <p15:clr>
            <a:srgbClr val="A4A3A4"/>
          </p15:clr>
        </p15:guide>
        <p15:guide id="13" pos="6072" userDrawn="1">
          <p15:clr>
            <a:srgbClr val="A4A3A4"/>
          </p15:clr>
        </p15:guide>
        <p15:guide id="14" pos="6264" userDrawn="1">
          <p15:clr>
            <a:srgbClr val="A4A3A4"/>
          </p15:clr>
        </p15:guide>
        <p15:guide id="15" orient="horz" pos="3888" userDrawn="1">
          <p15:clr>
            <a:srgbClr val="547EBF"/>
          </p15:clr>
        </p15:guide>
        <p15:guide id="16" orient="horz" pos="1296" userDrawn="1">
          <p15:clr>
            <a:srgbClr val="547EBF"/>
          </p15:clr>
        </p15:guide>
        <p15:guide id="17" orient="horz" pos="2616" userDrawn="1">
          <p15:clr>
            <a:srgbClr val="547EBF"/>
          </p15:clr>
        </p15:guide>
        <p15:guide id="18" orient="horz" pos="2976" userDrawn="1">
          <p15:clr>
            <a:srgbClr val="547EB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3" name="Body"/>
          <p:cNvSpPr>
            <a:spLocks noGrp="1"/>
          </p:cNvSpPr>
          <p:nvPr>
            <p:ph type="body" idx="1"/>
          </p:nvPr>
        </p:nvSpPr>
        <p:spPr>
          <a:xfrm>
            <a:off x="685800" y="1476001"/>
            <a:ext cx="10821419" cy="4315200"/>
          </a:xfrm>
          <a:prstGeom prst="rect">
            <a:avLst/>
          </a:prstGeom>
        </p:spPr>
        <p:txBody>
          <a:bodyPr vert="horz" lIns="0" tIns="0" rIns="0" bIns="0" rtlCol="0">
            <a:noAutofit/>
          </a:bodyPr>
          <a:lstStyle/>
          <a:p>
            <a:pPr lvl="0"/>
            <a:r>
              <a:rPr lang="en-US"/>
              <a:t>Main bullet. 24 pt. black.</a:t>
            </a:r>
          </a:p>
          <a:p>
            <a:pPr lvl="1"/>
            <a:r>
              <a:rPr lang="en-US"/>
              <a:t>Second level</a:t>
            </a:r>
          </a:p>
          <a:p>
            <a:pPr lvl="2"/>
            <a:r>
              <a:rPr lang="en-US"/>
              <a:t>Third level</a:t>
            </a:r>
          </a:p>
          <a:p>
            <a:pPr lvl="3"/>
            <a:r>
              <a:rPr lang="en-US"/>
              <a:t>Fourth level</a:t>
            </a:r>
          </a:p>
          <a:p>
            <a:pPr lvl="4"/>
            <a:r>
              <a:rPr lang="en-US"/>
              <a:t>Fifth level</a:t>
            </a:r>
          </a:p>
        </p:txBody>
      </p:sp>
      <p:sp>
        <p:nvSpPr>
          <p:cNvPr id="15" name="Title Placeholder 14"/>
          <p:cNvSpPr>
            <a:spLocks noGrp="1"/>
          </p:cNvSpPr>
          <p:nvPr>
            <p:ph type="title"/>
          </p:nvPr>
        </p:nvSpPr>
        <p:spPr>
          <a:xfrm>
            <a:off x="694944" y="463255"/>
            <a:ext cx="10811256" cy="679745"/>
          </a:xfrm>
          <a:prstGeom prst="rect">
            <a:avLst/>
          </a:prstGeom>
        </p:spPr>
        <p:txBody>
          <a:bodyPr vert="horz" lIns="0" tIns="0" rIns="0" bIns="0" rtlCol="0" anchor="t" anchorCtr="0">
            <a:noAutofit/>
          </a:bodyPr>
          <a:lstStyle/>
          <a:p>
            <a:r>
              <a:rPr lang="en-US"/>
              <a:t>Click to edit Master title style</a:t>
            </a:r>
          </a:p>
        </p:txBody>
      </p:sp>
      <p:cxnSp>
        <p:nvCxnSpPr>
          <p:cNvPr id="11" name="Straight Connector 10"/>
          <p:cNvCxnSpPr/>
          <p:nvPr userDrawn="1"/>
        </p:nvCxnSpPr>
        <p:spPr>
          <a:xfrm>
            <a:off x="694944" y="126143"/>
            <a:ext cx="10820399" cy="0"/>
          </a:xfrm>
          <a:prstGeom prst="line">
            <a:avLst/>
          </a:prstGeom>
          <a:ln w="2540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4" name="Picture 3" descr="Shape&#10;&#10;Description automatically generated with medium confidence">
            <a:extLst>
              <a:ext uri="{FF2B5EF4-FFF2-40B4-BE49-F238E27FC236}">
                <a16:creationId xmlns:a16="http://schemas.microsoft.com/office/drawing/2014/main" id="{63D154A1-C5A2-892B-B83C-7D1708032DAE}"/>
              </a:ext>
            </a:extLst>
          </p:cNvPr>
          <p:cNvPicPr>
            <a:picLocks noChangeAspect="1"/>
          </p:cNvPicPr>
          <p:nvPr userDrawn="1"/>
        </p:nvPicPr>
        <p:blipFill>
          <a:blip r:embed="rId3"/>
          <a:stretch>
            <a:fillRect/>
          </a:stretch>
        </p:blipFill>
        <p:spPr>
          <a:xfrm>
            <a:off x="312841" y="6341034"/>
            <a:ext cx="1674709" cy="309982"/>
          </a:xfrm>
          <a:prstGeom prst="rect">
            <a:avLst/>
          </a:prstGeom>
        </p:spPr>
      </p:pic>
      <p:sp>
        <p:nvSpPr>
          <p:cNvPr id="12" name="TextBox 11">
            <a:extLst>
              <a:ext uri="{FF2B5EF4-FFF2-40B4-BE49-F238E27FC236}">
                <a16:creationId xmlns:a16="http://schemas.microsoft.com/office/drawing/2014/main" id="{902B6DB6-7A5B-5706-B4FB-812539ED7242}"/>
              </a:ext>
            </a:extLst>
          </p:cNvPr>
          <p:cNvSpPr txBox="1"/>
          <p:nvPr userDrawn="1"/>
        </p:nvSpPr>
        <p:spPr>
          <a:xfrm>
            <a:off x="0" y="6565840"/>
            <a:ext cx="12192000" cy="107720"/>
          </a:xfrm>
          <a:prstGeom prst="rect">
            <a:avLst/>
          </a:prstGeom>
          <a:noFill/>
        </p:spPr>
        <p:txBody>
          <a:bodyPr vert="horz" wrap="square" lIns="91440" tIns="0" rIns="91440" bIns="0" rtlCol="0" anchor="ctr">
            <a:spAutoFit/>
          </a:bodyPr>
          <a:lstStyle>
            <a:defPPr>
              <a:defRPr lang="en-US"/>
            </a:defPPr>
            <a:lvl1pPr algn="ctr">
              <a:defRPr lang="en-US" sz="700"/>
            </a:lvl1pPr>
          </a:lstStyle>
          <a:p>
            <a:pPr lvl="0"/>
            <a:r>
              <a:rPr lang="en-CA"/>
              <a:t>© 2025 Pratt &amp; Whitney Canada Corp. All rights reserved.</a:t>
            </a:r>
            <a:endParaRPr lang="en-US"/>
          </a:p>
        </p:txBody>
      </p:sp>
      <p:sp>
        <p:nvSpPr>
          <p:cNvPr id="13" name="Footer Placeholder 4">
            <a:extLst>
              <a:ext uri="{FF2B5EF4-FFF2-40B4-BE49-F238E27FC236}">
                <a16:creationId xmlns:a16="http://schemas.microsoft.com/office/drawing/2014/main" id="{7C6482A0-403B-001B-53A4-F2349A3E95B4}"/>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4147272027"/>
      </p:ext>
    </p:extLst>
  </p:cSld>
  <p:clrMap bg1="lt1" tx1="dk1" bg2="lt2" tx2="dk2" accent1="accent1" accent2="accent2" accent3="accent3" accent4="accent4" accent5="accent5" accent6="accent6" hlink="hlink" folHlink="folHlink"/>
  <p:sldLayoutIdLst>
    <p:sldLayoutId id="2147483705" r:id="rId1"/>
  </p:sldLayoutIdLst>
  <p:hf hdr="0" dt="0"/>
  <p:txStyles>
    <p:titleStyle>
      <a:lvl1pPr marL="0" algn="l" defTabSz="914400" rtl="0" eaLnBrk="1" latinLnBrk="0" hangingPunct="1">
        <a:lnSpc>
          <a:spcPct val="80000"/>
        </a:lnSpc>
        <a:spcBef>
          <a:spcPct val="0"/>
        </a:spcBef>
        <a:buNone/>
        <a:defRPr lang="en-US" sz="3200" b="1" kern="1200" baseline="0" dirty="0">
          <a:solidFill>
            <a:schemeClr val="tx1"/>
          </a:solidFill>
          <a:latin typeface="+mj-lt"/>
          <a:ea typeface="+mj-ea"/>
          <a:cs typeface="Arial" panose="020B0604020202020204" pitchFamily="34" charset="0"/>
        </a:defRPr>
      </a:lvl1pPr>
    </p:titleStyle>
    <p:bodyStyle>
      <a:lvl1pPr marL="219456"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4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48">
          <p15:clr>
            <a:srgbClr val="547EBF"/>
          </p15:clr>
        </p15:guide>
        <p15:guide id="3" pos="432">
          <p15:clr>
            <a:srgbClr val="547EBF"/>
          </p15:clr>
        </p15:guide>
        <p15:guide id="4" orient="horz" pos="3888">
          <p15:clr>
            <a:srgbClr val="547EBF"/>
          </p15:clr>
        </p15:guide>
        <p15:guide id="5" orient="horz" pos="288">
          <p15:clr>
            <a:srgbClr val="547EBF"/>
          </p15:clr>
        </p15:guide>
        <p15:guide id="6" pos="1416">
          <p15:clr>
            <a:srgbClr val="A4A3A4"/>
          </p15:clr>
        </p15:guide>
        <p15:guide id="7" pos="1608">
          <p15:clr>
            <a:srgbClr val="A4A3A4"/>
          </p15:clr>
        </p15:guide>
        <p15:guide id="8" pos="3744">
          <p15:clr>
            <a:srgbClr val="A4A3A4"/>
          </p15:clr>
        </p15:guide>
        <p15:guide id="9" pos="3936">
          <p15:clr>
            <a:srgbClr val="A4A3A4"/>
          </p15:clr>
        </p15:guide>
        <p15:guide id="10" pos="4920">
          <p15:clr>
            <a:srgbClr val="A4A3A4"/>
          </p15:clr>
        </p15:guide>
        <p15:guide id="11" pos="5088">
          <p15:clr>
            <a:srgbClr val="A4A3A4"/>
          </p15:clr>
        </p15:guide>
        <p15:guide id="12" pos="6072">
          <p15:clr>
            <a:srgbClr val="A4A3A4"/>
          </p15:clr>
        </p15:guide>
        <p15:guide id="13" pos="6264">
          <p15:clr>
            <a:srgbClr val="A4A3A4"/>
          </p15:clr>
        </p15:guide>
        <p15:guide id="14" pos="2592">
          <p15:clr>
            <a:srgbClr val="A4A3A4"/>
          </p15:clr>
        </p15:guide>
        <p15:guide id="15" pos="2760">
          <p15:clr>
            <a:srgbClr val="A4A3A4"/>
          </p15:clr>
        </p15:guide>
        <p15:guide id="16" orient="horz" pos="720">
          <p15:clr>
            <a:srgbClr val="547EBF"/>
          </p15:clr>
        </p15:guide>
        <p15:guide id="17" orient="horz" pos="480">
          <p15:clr>
            <a:srgbClr val="547EBF"/>
          </p15:clr>
        </p15:guide>
        <p15:guide id="18" orient="horz" pos="984">
          <p15:clr>
            <a:srgbClr val="F26B43"/>
          </p15:clr>
        </p15:guide>
        <p15:guide id="19" orient="horz" pos="36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3" name="Body"/>
          <p:cNvSpPr>
            <a:spLocks noGrp="1"/>
          </p:cNvSpPr>
          <p:nvPr>
            <p:ph type="body" idx="1"/>
          </p:nvPr>
        </p:nvSpPr>
        <p:spPr>
          <a:xfrm>
            <a:off x="685800" y="1476001"/>
            <a:ext cx="10821419" cy="4315200"/>
          </a:xfrm>
          <a:prstGeom prst="rect">
            <a:avLst/>
          </a:prstGeom>
        </p:spPr>
        <p:txBody>
          <a:bodyPr vert="horz" lIns="0" tIns="0" rIns="0" bIns="0" rtlCol="0">
            <a:noAutofit/>
          </a:bodyPr>
          <a:lstStyle/>
          <a:p>
            <a:pPr lvl="0"/>
            <a:r>
              <a:rPr lang="en-US"/>
              <a:t>Main bullet. 24 pt. black.</a:t>
            </a:r>
          </a:p>
          <a:p>
            <a:pPr lvl="1"/>
            <a:r>
              <a:rPr lang="en-US"/>
              <a:t>Second level</a:t>
            </a:r>
          </a:p>
          <a:p>
            <a:pPr lvl="2"/>
            <a:r>
              <a:rPr lang="en-US"/>
              <a:t>Third level</a:t>
            </a:r>
          </a:p>
          <a:p>
            <a:pPr lvl="3"/>
            <a:r>
              <a:rPr lang="en-US"/>
              <a:t>Fourth level</a:t>
            </a:r>
          </a:p>
          <a:p>
            <a:pPr lvl="4"/>
            <a:r>
              <a:rPr lang="en-US"/>
              <a:t>Fifth level</a:t>
            </a:r>
          </a:p>
        </p:txBody>
      </p:sp>
      <p:sp>
        <p:nvSpPr>
          <p:cNvPr id="15" name="Title Placeholder 14"/>
          <p:cNvSpPr>
            <a:spLocks noGrp="1"/>
          </p:cNvSpPr>
          <p:nvPr>
            <p:ph type="title"/>
          </p:nvPr>
        </p:nvSpPr>
        <p:spPr>
          <a:xfrm>
            <a:off x="694944" y="463255"/>
            <a:ext cx="10811256" cy="679745"/>
          </a:xfrm>
          <a:prstGeom prst="rect">
            <a:avLst/>
          </a:prstGeom>
        </p:spPr>
        <p:txBody>
          <a:bodyPr vert="horz" lIns="0" tIns="0" rIns="0" bIns="0" rtlCol="0" anchor="t" anchorCtr="0">
            <a:noAutofit/>
          </a:bodyPr>
          <a:lstStyle/>
          <a:p>
            <a:r>
              <a:rPr lang="en-US"/>
              <a:t>Click to edit Master title style</a:t>
            </a:r>
          </a:p>
        </p:txBody>
      </p:sp>
      <p:cxnSp>
        <p:nvCxnSpPr>
          <p:cNvPr id="11" name="Straight Connector 10"/>
          <p:cNvCxnSpPr/>
          <p:nvPr userDrawn="1"/>
        </p:nvCxnSpPr>
        <p:spPr>
          <a:xfrm>
            <a:off x="694944" y="126143"/>
            <a:ext cx="10820399" cy="0"/>
          </a:xfrm>
          <a:prstGeom prst="line">
            <a:avLst/>
          </a:prstGeom>
          <a:ln w="2540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4" name="Picture 3" descr="Shape&#10;&#10;Description automatically generated with medium confidence">
            <a:extLst>
              <a:ext uri="{FF2B5EF4-FFF2-40B4-BE49-F238E27FC236}">
                <a16:creationId xmlns:a16="http://schemas.microsoft.com/office/drawing/2014/main" id="{63D154A1-C5A2-892B-B83C-7D1708032DAE}"/>
              </a:ext>
            </a:extLst>
          </p:cNvPr>
          <p:cNvPicPr>
            <a:picLocks noChangeAspect="1"/>
          </p:cNvPicPr>
          <p:nvPr userDrawn="1"/>
        </p:nvPicPr>
        <p:blipFill>
          <a:blip r:embed="rId10"/>
          <a:stretch>
            <a:fillRect/>
          </a:stretch>
        </p:blipFill>
        <p:spPr>
          <a:xfrm>
            <a:off x="312841" y="6341034"/>
            <a:ext cx="1674709" cy="309982"/>
          </a:xfrm>
          <a:prstGeom prst="rect">
            <a:avLst/>
          </a:prstGeom>
        </p:spPr>
      </p:pic>
      <p:sp>
        <p:nvSpPr>
          <p:cNvPr id="16" name="TextBox 15">
            <a:extLst>
              <a:ext uri="{FF2B5EF4-FFF2-40B4-BE49-F238E27FC236}">
                <a16:creationId xmlns:a16="http://schemas.microsoft.com/office/drawing/2014/main" id="{E01CAEBF-E290-9844-7DD8-04B3A63B6B37}"/>
              </a:ext>
            </a:extLst>
          </p:cNvPr>
          <p:cNvSpPr txBox="1"/>
          <p:nvPr userDrawn="1"/>
        </p:nvSpPr>
        <p:spPr>
          <a:xfrm>
            <a:off x="0" y="6565840"/>
            <a:ext cx="12192000" cy="107720"/>
          </a:xfrm>
          <a:prstGeom prst="rect">
            <a:avLst/>
          </a:prstGeom>
          <a:noFill/>
        </p:spPr>
        <p:txBody>
          <a:bodyPr vert="horz" wrap="square" lIns="91440" tIns="0" rIns="91440" bIns="0" rtlCol="0" anchor="ctr">
            <a:spAutoFit/>
          </a:bodyPr>
          <a:lstStyle>
            <a:defPPr>
              <a:defRPr lang="en-US"/>
            </a:defPPr>
            <a:lvl1pPr algn="ctr">
              <a:defRPr lang="en-US" sz="700"/>
            </a:lvl1pPr>
          </a:lstStyle>
          <a:p>
            <a:pPr lvl="0"/>
            <a:r>
              <a:rPr lang="en-US"/>
              <a:t>P&amp;WC Proprietary Information - The information contained on this page is subject to the notice set forth on page 2.  |   </a:t>
            </a:r>
            <a:r>
              <a:rPr lang="en-CA"/>
              <a:t>© 2025 Pratt &amp; Whitney Canada Corp. All rights reserved.</a:t>
            </a:r>
            <a:endParaRPr lang="en-US"/>
          </a:p>
        </p:txBody>
      </p:sp>
      <p:sp>
        <p:nvSpPr>
          <p:cNvPr id="17" name="Footer Placeholder 4">
            <a:extLst>
              <a:ext uri="{FF2B5EF4-FFF2-40B4-BE49-F238E27FC236}">
                <a16:creationId xmlns:a16="http://schemas.microsoft.com/office/drawing/2014/main" id="{BECEB253-0F45-CCB8-17AF-D1207701B3B1}"/>
              </a:ext>
            </a:extLst>
          </p:cNvPr>
          <p:cNvSpPr>
            <a:spLocks noGrp="1"/>
          </p:cNvSpPr>
          <p:nvPr>
            <p:ph type="ftr" sz="quarter" idx="3"/>
          </p:nvPr>
        </p:nvSpPr>
        <p:spPr>
          <a:xfrm>
            <a:off x="0" y="6416377"/>
            <a:ext cx="12192000" cy="107722"/>
          </a:xfrm>
          <a:prstGeom prst="rect">
            <a:avLst/>
          </a:prstGeom>
          <a:noFill/>
        </p:spPr>
        <p:txBody>
          <a:bodyPr vert="horz" lIns="0" tIns="0" rIns="0" bIns="0" rtlCol="0" anchor="ctr">
            <a:spAutoFit/>
          </a:bodyPr>
          <a:lstStyle>
            <a:lvl1pPr algn="ctr">
              <a:defRPr lang="en-US" sz="700"/>
            </a:lvl1pPr>
          </a:lstStyle>
          <a:p>
            <a:r>
              <a:rPr lang="en-US"/>
              <a:t>EXPORT MARKING: (Insert Export Marking) [TO CHANGE GO TO INSERT &gt; HEADER &amp; FOOTER] </a:t>
            </a:r>
          </a:p>
        </p:txBody>
      </p:sp>
    </p:spTree>
    <p:extLst>
      <p:ext uri="{BB962C8B-B14F-4D97-AF65-F5344CB8AC3E}">
        <p14:creationId xmlns:p14="http://schemas.microsoft.com/office/powerpoint/2010/main" val="4080327739"/>
      </p:ext>
    </p:extLst>
  </p:cSld>
  <p:clrMap bg1="lt1" tx1="dk1" bg2="lt2" tx2="dk2" accent1="accent1" accent2="accent2" accent3="accent3" accent4="accent4" accent5="accent5" accent6="accent6" hlink="hlink" folHlink="folHlink"/>
  <p:sldLayoutIdLst>
    <p:sldLayoutId id="2147483668" r:id="rId1"/>
    <p:sldLayoutId id="2147483692" r:id="rId2"/>
    <p:sldLayoutId id="2147483695" r:id="rId3"/>
    <p:sldLayoutId id="2147483669" r:id="rId4"/>
    <p:sldLayoutId id="2147483664" r:id="rId5"/>
    <p:sldLayoutId id="2147483694" r:id="rId6"/>
    <p:sldLayoutId id="2147483706" r:id="rId7"/>
    <p:sldLayoutId id="2147483707" r:id="rId8"/>
  </p:sldLayoutIdLst>
  <p:hf hdr="0" dt="0"/>
  <p:txStyles>
    <p:titleStyle>
      <a:lvl1pPr marL="0" algn="l" defTabSz="914400" rtl="0" eaLnBrk="1" latinLnBrk="0" hangingPunct="1">
        <a:lnSpc>
          <a:spcPct val="80000"/>
        </a:lnSpc>
        <a:spcBef>
          <a:spcPct val="0"/>
        </a:spcBef>
        <a:buNone/>
        <a:defRPr lang="en-US" sz="3200" b="1" kern="1200" baseline="0" dirty="0">
          <a:solidFill>
            <a:schemeClr val="tx1"/>
          </a:solidFill>
          <a:latin typeface="+mj-lt"/>
          <a:ea typeface="+mj-ea"/>
          <a:cs typeface="Arial" panose="020B0604020202020204" pitchFamily="34" charset="0"/>
        </a:defRPr>
      </a:lvl1pPr>
    </p:titleStyle>
    <p:bodyStyle>
      <a:lvl1pPr marL="219456"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4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48" userDrawn="1">
          <p15:clr>
            <a:srgbClr val="547EBF"/>
          </p15:clr>
        </p15:guide>
        <p15:guide id="3" pos="432" userDrawn="1">
          <p15:clr>
            <a:srgbClr val="547EBF"/>
          </p15:clr>
        </p15:guide>
        <p15:guide id="4" orient="horz" pos="3888" userDrawn="1">
          <p15:clr>
            <a:srgbClr val="547EBF"/>
          </p15:clr>
        </p15:guide>
        <p15:guide id="5" orient="horz" pos="288" userDrawn="1">
          <p15:clr>
            <a:srgbClr val="547EBF"/>
          </p15:clr>
        </p15:guide>
        <p15:guide id="6" pos="1416" userDrawn="1">
          <p15:clr>
            <a:srgbClr val="A4A3A4"/>
          </p15:clr>
        </p15:guide>
        <p15:guide id="7" pos="1608" userDrawn="1">
          <p15:clr>
            <a:srgbClr val="A4A3A4"/>
          </p15:clr>
        </p15:guide>
        <p15:guide id="8" pos="3744" userDrawn="1">
          <p15:clr>
            <a:srgbClr val="A4A3A4"/>
          </p15:clr>
        </p15:guide>
        <p15:guide id="9" pos="3936" userDrawn="1">
          <p15:clr>
            <a:srgbClr val="A4A3A4"/>
          </p15:clr>
        </p15:guide>
        <p15:guide id="10" pos="4920" userDrawn="1">
          <p15:clr>
            <a:srgbClr val="A4A3A4"/>
          </p15:clr>
        </p15:guide>
        <p15:guide id="11" pos="5088" userDrawn="1">
          <p15:clr>
            <a:srgbClr val="A4A3A4"/>
          </p15:clr>
        </p15:guide>
        <p15:guide id="12" pos="6072" userDrawn="1">
          <p15:clr>
            <a:srgbClr val="A4A3A4"/>
          </p15:clr>
        </p15:guide>
        <p15:guide id="13" pos="6264" userDrawn="1">
          <p15:clr>
            <a:srgbClr val="A4A3A4"/>
          </p15:clr>
        </p15:guide>
        <p15:guide id="14" pos="2592" userDrawn="1">
          <p15:clr>
            <a:srgbClr val="A4A3A4"/>
          </p15:clr>
        </p15:guide>
        <p15:guide id="15" pos="2760" userDrawn="1">
          <p15:clr>
            <a:srgbClr val="A4A3A4"/>
          </p15:clr>
        </p15:guide>
        <p15:guide id="16" orient="horz" pos="720" userDrawn="1">
          <p15:clr>
            <a:srgbClr val="547EBF"/>
          </p15:clr>
        </p15:guide>
        <p15:guide id="17" orient="horz" pos="480" userDrawn="1">
          <p15:clr>
            <a:srgbClr val="547EBF"/>
          </p15:clr>
        </p15:guide>
        <p15:guide id="18" orient="horz" pos="984" userDrawn="1">
          <p15:clr>
            <a:srgbClr val="F26B43"/>
          </p15:clr>
        </p15:guide>
        <p15:guide id="19"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collaboration.pwc.ca/team/D1043ITCIntra/Documents/All%20Users/QRG's%20pdf/GT-Marking/PWC_GT_QRG_Marking_EN.pdf"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hyperlink" Target="https://home.rtx.com/Cybersecurity/Storing-and-Sharing-information/Artificial-Intelligence-Guidance" TargetMode="External"/><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2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4.svg"/><Relationship Id="rId18" Type="http://schemas.openxmlformats.org/officeDocument/2006/relationships/image" Target="../media/image39.png"/><Relationship Id="rId3" Type="http://schemas.openxmlformats.org/officeDocument/2006/relationships/image" Target="../media/image26.png"/><Relationship Id="rId7" Type="http://schemas.microsoft.com/office/2007/relationships/hdphoto" Target="../media/hdphoto1.wdp"/><Relationship Id="rId12" Type="http://schemas.openxmlformats.org/officeDocument/2006/relationships/image" Target="../media/image33.svg"/><Relationship Id="rId17" Type="http://schemas.openxmlformats.org/officeDocument/2006/relationships/image" Target="../media/image38.svg"/><Relationship Id="rId2" Type="http://schemas.openxmlformats.org/officeDocument/2006/relationships/notesSlide" Target="../notesSlides/notesSlide7.xml"/><Relationship Id="rId16" Type="http://schemas.openxmlformats.org/officeDocument/2006/relationships/image" Target="../media/image37.svg"/><Relationship Id="rId20" Type="http://schemas.openxmlformats.org/officeDocument/2006/relationships/image" Target="../media/image41.svg"/><Relationship Id="rId1" Type="http://schemas.openxmlformats.org/officeDocument/2006/relationships/slideLayout" Target="../slideLayouts/slideLayout13.xml"/><Relationship Id="rId6" Type="http://schemas.openxmlformats.org/officeDocument/2006/relationships/image" Target="../media/image29.png"/><Relationship Id="rId11" Type="http://schemas.openxmlformats.org/officeDocument/2006/relationships/image" Target="../media/image32.jpeg"/><Relationship Id="rId5" Type="http://schemas.openxmlformats.org/officeDocument/2006/relationships/image" Target="../media/image28.png"/><Relationship Id="rId15" Type="http://schemas.openxmlformats.org/officeDocument/2006/relationships/image" Target="../media/image36.svg"/><Relationship Id="rId10" Type="http://schemas.openxmlformats.org/officeDocument/2006/relationships/image" Target="../media/image24.svg"/><Relationship Id="rId19" Type="http://schemas.openxmlformats.org/officeDocument/2006/relationships/image" Target="../media/image40.png"/><Relationship Id="rId4" Type="http://schemas.openxmlformats.org/officeDocument/2006/relationships/image" Target="../media/image27.png"/><Relationship Id="rId9" Type="http://schemas.openxmlformats.org/officeDocument/2006/relationships/image" Target="../media/image31.svg"/><Relationship Id="rId14" Type="http://schemas.openxmlformats.org/officeDocument/2006/relationships/image" Target="../media/image35.svg"/></Relationships>
</file>

<file path=ppt/slides/_rels/slide11.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44.svg"/><Relationship Id="rId18" Type="http://schemas.openxmlformats.org/officeDocument/2006/relationships/image" Target="../media/image49.svg"/><Relationship Id="rId3" Type="http://schemas.openxmlformats.org/officeDocument/2006/relationships/image" Target="../media/image24.svg"/><Relationship Id="rId7" Type="http://schemas.openxmlformats.org/officeDocument/2006/relationships/image" Target="../media/image29.png"/><Relationship Id="rId12" Type="http://schemas.openxmlformats.org/officeDocument/2006/relationships/image" Target="../media/image43.svg"/><Relationship Id="rId17" Type="http://schemas.openxmlformats.org/officeDocument/2006/relationships/image" Target="../media/image48.svg"/><Relationship Id="rId2" Type="http://schemas.openxmlformats.org/officeDocument/2006/relationships/image" Target="../media/image42.svg"/><Relationship Id="rId16" Type="http://schemas.openxmlformats.org/officeDocument/2006/relationships/image" Target="../media/image47.svg"/><Relationship Id="rId20" Type="http://schemas.openxmlformats.org/officeDocument/2006/relationships/image" Target="../media/image39.png"/><Relationship Id="rId1" Type="http://schemas.openxmlformats.org/officeDocument/2006/relationships/slideLayout" Target="../slideLayouts/slideLayout14.xml"/><Relationship Id="rId6" Type="http://schemas.openxmlformats.org/officeDocument/2006/relationships/image" Target="../media/image28.png"/><Relationship Id="rId11" Type="http://schemas.openxmlformats.org/officeDocument/2006/relationships/image" Target="../media/image40.png"/><Relationship Id="rId5" Type="http://schemas.openxmlformats.org/officeDocument/2006/relationships/image" Target="../media/image27.png"/><Relationship Id="rId15" Type="http://schemas.openxmlformats.org/officeDocument/2006/relationships/image" Target="../media/image46.svg"/><Relationship Id="rId10" Type="http://schemas.openxmlformats.org/officeDocument/2006/relationships/image" Target="../media/image32.jpeg"/><Relationship Id="rId19" Type="http://schemas.openxmlformats.org/officeDocument/2006/relationships/image" Target="../media/image50.svg"/><Relationship Id="rId4" Type="http://schemas.openxmlformats.org/officeDocument/2006/relationships/image" Target="../media/image26.png"/><Relationship Id="rId9" Type="http://schemas.openxmlformats.org/officeDocument/2006/relationships/image" Target="../media/image30.png"/><Relationship Id="rId14" Type="http://schemas.openxmlformats.org/officeDocument/2006/relationships/image" Target="../media/image4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55.png"/><Relationship Id="rId3" Type="http://schemas.openxmlformats.org/officeDocument/2006/relationships/image" Target="../media/image51.jpeg"/><Relationship Id="rId7" Type="http://schemas.openxmlformats.org/officeDocument/2006/relationships/diagramQuickStyle" Target="../diagrams/quickStyle1.xml"/><Relationship Id="rId12"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Layout" Target="../diagrams/layout1.xml"/><Relationship Id="rId11" Type="http://schemas.openxmlformats.org/officeDocument/2006/relationships/image" Target="../media/image53.jpeg"/><Relationship Id="rId5" Type="http://schemas.openxmlformats.org/officeDocument/2006/relationships/diagramData" Target="../diagrams/data1.xml"/><Relationship Id="rId15" Type="http://schemas.openxmlformats.org/officeDocument/2006/relationships/image" Target="../media/image57.png"/><Relationship Id="rId10" Type="http://schemas.openxmlformats.org/officeDocument/2006/relationships/image" Target="../media/image40.png"/><Relationship Id="rId4" Type="http://schemas.openxmlformats.org/officeDocument/2006/relationships/image" Target="../media/image52.jpeg"/><Relationship Id="rId9" Type="http://schemas.microsoft.com/office/2007/relationships/diagramDrawing" Target="../diagrams/drawing1.xml"/><Relationship Id="rId14" Type="http://schemas.openxmlformats.org/officeDocument/2006/relationships/image" Target="../media/image5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59.svg"/><Relationship Id="rId7" Type="http://schemas.openxmlformats.org/officeDocument/2006/relationships/image" Target="../media/image63.sv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62.svg"/><Relationship Id="rId5" Type="http://schemas.openxmlformats.org/officeDocument/2006/relationships/image" Target="../media/image61.svg"/><Relationship Id="rId4" Type="http://schemas.openxmlformats.org/officeDocument/2006/relationships/image" Target="../media/image60.svg"/><Relationship Id="rId9" Type="http://schemas.openxmlformats.org/officeDocument/2006/relationships/image" Target="../media/image65.svg"/></Relationships>
</file>

<file path=ppt/slides/_rels/slide2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hyperlink" Target="https://webcon.pwc.ca/db/1/app/1107/element/276708/form?returnurl=%2Fdb%2F1%2Fapp%2F1107%2Freport%2F960" TargetMode="Externa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hyperlink" Target="https://archergrc.corp.ray.com/apps/ArcherApp/Home.aspx?requestUrl=..%2fGenericContent%2fRecord.aspx%3fid%3d8291537%26moduleId%3d608&amp;code=" TargetMode="External"/><Relationship Id="rId2" Type="http://schemas.openxmlformats.org/officeDocument/2006/relationships/hyperlink" Target="https://app.onetrust.com/assessment/details/de85ff9d-7927-42cf-86f4-9a652d7ba3bb?type=assessments" TargetMode="External"/><Relationship Id="rId1" Type="http://schemas.openxmlformats.org/officeDocument/2006/relationships/slideLayout" Target="../slideLayouts/slideLayout9.xml"/><Relationship Id="rId4" Type="http://schemas.openxmlformats.org/officeDocument/2006/relationships/image" Target="../media/image68.jpeg"/></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archergrc.corp.ray.com/default.aspx?requestUrl=..%2fGenericContent%2fRecord.aspx%3fid%3d8291537%26moduleId%3d608" TargetMode="Externa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9.xml"/><Relationship Id="rId4" Type="http://schemas.openxmlformats.org/officeDocument/2006/relationships/image" Target="../media/image72.png"/></Relationships>
</file>

<file path=ppt/slides/_rels/slide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9.xml"/><Relationship Id="rId5" Type="http://schemas.openxmlformats.org/officeDocument/2006/relationships/image" Target="../media/image76.png"/><Relationship Id="rId4" Type="http://schemas.openxmlformats.org/officeDocument/2006/relationships/image" Target="../media/image7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F9032B4-E9AE-1342-D32D-8DC55CDA3DE2}"/>
              </a:ext>
            </a:extLst>
          </p:cNvPr>
          <p:cNvSpPr>
            <a:spLocks noGrp="1"/>
          </p:cNvSpPr>
          <p:nvPr>
            <p:ph type="title"/>
          </p:nvPr>
        </p:nvSpPr>
        <p:spPr>
          <a:xfrm>
            <a:off x="676776" y="3638859"/>
            <a:ext cx="7162800" cy="664797"/>
          </a:xfrm>
        </p:spPr>
        <p:txBody>
          <a:bodyPr/>
          <a:lstStyle/>
          <a:p>
            <a:r>
              <a:rPr lang="en-US" dirty="0"/>
              <a:t>OPO’s OSKAR</a:t>
            </a:r>
          </a:p>
        </p:txBody>
      </p:sp>
      <p:sp>
        <p:nvSpPr>
          <p:cNvPr id="12" name="Text Placeholder 11">
            <a:extLst>
              <a:ext uri="{FF2B5EF4-FFF2-40B4-BE49-F238E27FC236}">
                <a16:creationId xmlns:a16="http://schemas.microsoft.com/office/drawing/2014/main" id="{7C3A2054-45D7-0691-B03F-3572A6F83265}"/>
              </a:ext>
            </a:extLst>
          </p:cNvPr>
          <p:cNvSpPr>
            <a:spLocks noGrp="1"/>
          </p:cNvSpPr>
          <p:nvPr>
            <p:ph type="body" sz="quarter" idx="15"/>
          </p:nvPr>
        </p:nvSpPr>
        <p:spPr>
          <a:xfrm>
            <a:off x="676776" y="4492807"/>
            <a:ext cx="5257799" cy="307829"/>
          </a:xfrm>
        </p:spPr>
        <p:txBody>
          <a:bodyPr/>
          <a:lstStyle/>
          <a:p>
            <a:r>
              <a:rPr lang="en-CA" dirty="0"/>
              <a:t>OPO’s Smart Knowledge Assistant &amp; Researcher</a:t>
            </a:r>
            <a:endParaRPr lang="en-US" dirty="0"/>
          </a:p>
        </p:txBody>
      </p:sp>
      <p:sp>
        <p:nvSpPr>
          <p:cNvPr id="10" name="Text Placeholder 9">
            <a:extLst>
              <a:ext uri="{FF2B5EF4-FFF2-40B4-BE49-F238E27FC236}">
                <a16:creationId xmlns:a16="http://schemas.microsoft.com/office/drawing/2014/main" id="{596C930D-05C9-C715-A595-BAB335A08CC7}"/>
              </a:ext>
            </a:extLst>
          </p:cNvPr>
          <p:cNvSpPr>
            <a:spLocks noGrp="1"/>
          </p:cNvSpPr>
          <p:nvPr>
            <p:ph type="body" sz="quarter" idx="14"/>
          </p:nvPr>
        </p:nvSpPr>
        <p:spPr/>
        <p:txBody>
          <a:bodyPr/>
          <a:lstStyle/>
          <a:p>
            <a:r>
              <a:rPr lang="en-US"/>
              <a:t>18</a:t>
            </a:r>
            <a:r>
              <a:rPr lang="en-US" baseline="30000"/>
              <a:t>th</a:t>
            </a:r>
            <a:r>
              <a:rPr lang="en-US"/>
              <a:t> September 2025</a:t>
            </a:r>
          </a:p>
        </p:txBody>
      </p:sp>
      <p:sp>
        <p:nvSpPr>
          <p:cNvPr id="9" name="Text Placeholder 8">
            <a:extLst>
              <a:ext uri="{FF2B5EF4-FFF2-40B4-BE49-F238E27FC236}">
                <a16:creationId xmlns:a16="http://schemas.microsoft.com/office/drawing/2014/main" id="{FEA58673-3547-6A70-2CCD-E766BFDA6984}"/>
              </a:ext>
            </a:extLst>
          </p:cNvPr>
          <p:cNvSpPr>
            <a:spLocks noGrp="1"/>
          </p:cNvSpPr>
          <p:nvPr>
            <p:ph type="body" sz="quarter" idx="13"/>
          </p:nvPr>
        </p:nvSpPr>
        <p:spPr>
          <a:xfrm>
            <a:off x="6210300" y="5354849"/>
            <a:ext cx="5257799" cy="221599"/>
          </a:xfrm>
        </p:spPr>
        <p:txBody>
          <a:bodyPr/>
          <a:lstStyle/>
          <a:p>
            <a:r>
              <a:rPr lang="en-US"/>
              <a:t>Gurleen Pannu, Vinit Bhamare, Maged Youssef</a:t>
            </a:r>
          </a:p>
        </p:txBody>
      </p:sp>
      <p:sp>
        <p:nvSpPr>
          <p:cNvPr id="11" name="Footer Placeholder 10">
            <a:extLst>
              <a:ext uri="{FF2B5EF4-FFF2-40B4-BE49-F238E27FC236}">
                <a16:creationId xmlns:a16="http://schemas.microsoft.com/office/drawing/2014/main" id="{912B3DC0-151D-61E6-E79B-99D7432E64F3}"/>
              </a:ext>
            </a:extLst>
          </p:cNvPr>
          <p:cNvSpPr>
            <a:spLocks noGrp="1"/>
          </p:cNvSpPr>
          <p:nvPr>
            <p:ph type="ftr" sz="quarter" idx="3"/>
          </p:nvPr>
        </p:nvSpPr>
        <p:spPr>
          <a:xfrm>
            <a:off x="0" y="6416377"/>
            <a:ext cx="12192000" cy="107722"/>
          </a:xfrm>
        </p:spPr>
        <p:txBody>
          <a:bodyPr/>
          <a:lstStyle/>
          <a:p>
            <a:r>
              <a:rPr lang="en-US"/>
              <a:t>EXPORT MARKING: (Insert Export Marking) [TO CHANGE GO TO INSERT &gt; HEADER &amp; FOOTER] </a:t>
            </a:r>
          </a:p>
        </p:txBody>
      </p:sp>
      <p:sp>
        <p:nvSpPr>
          <p:cNvPr id="22" name="Slide Number Placeholder 21">
            <a:extLst>
              <a:ext uri="{FF2B5EF4-FFF2-40B4-BE49-F238E27FC236}">
                <a16:creationId xmlns:a16="http://schemas.microsoft.com/office/drawing/2014/main" id="{57418AAE-FA82-95B2-2FC9-B02056A3CAEB}"/>
              </a:ext>
            </a:extLst>
          </p:cNvPr>
          <p:cNvSpPr>
            <a:spLocks noGrp="1"/>
          </p:cNvSpPr>
          <p:nvPr>
            <p:ph type="sldNum" sz="quarter" idx="4"/>
          </p:nvPr>
        </p:nvSpPr>
        <p:spPr/>
        <p:txBody>
          <a:bodyPr/>
          <a:lstStyle/>
          <a:p>
            <a:fld id="{07165E6F-54ED-4977-A15E-D44BE7238A65}" type="slidenum">
              <a:rPr lang="en-US" smtClean="0"/>
              <a:pPr/>
              <a:t>1</a:t>
            </a:fld>
            <a:endParaRPr lang="en-US"/>
          </a:p>
        </p:txBody>
      </p:sp>
    </p:spTree>
    <p:extLst>
      <p:ext uri="{BB962C8B-B14F-4D97-AF65-F5344CB8AC3E}">
        <p14:creationId xmlns:p14="http://schemas.microsoft.com/office/powerpoint/2010/main" val="1780806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5B9A9B2-D9CD-D8BA-3FB7-0B00209C350B}"/>
              </a:ext>
            </a:extLst>
          </p:cNvPr>
          <p:cNvGraphicFramePr>
            <a:graphicFrameLocks noGrp="1"/>
          </p:cNvGraphicFramePr>
          <p:nvPr>
            <p:extLst>
              <p:ext uri="{D42A27DB-BD31-4B8C-83A1-F6EECF244321}">
                <p14:modId xmlns:p14="http://schemas.microsoft.com/office/powerpoint/2010/main" val="4053530739"/>
              </p:ext>
            </p:extLst>
          </p:nvPr>
        </p:nvGraphicFramePr>
        <p:xfrm>
          <a:off x="685799" y="2162766"/>
          <a:ext cx="6858227" cy="2735641"/>
        </p:xfrm>
        <a:graphic>
          <a:graphicData uri="http://schemas.openxmlformats.org/drawingml/2006/table">
            <a:tbl>
              <a:tblPr firstRow="1" firstCol="1" bandRow="1"/>
              <a:tblGrid>
                <a:gridCol w="1920240">
                  <a:extLst>
                    <a:ext uri="{9D8B030D-6E8A-4147-A177-3AD203B41FA5}">
                      <a16:colId xmlns:a16="http://schemas.microsoft.com/office/drawing/2014/main" val="24973952"/>
                    </a:ext>
                  </a:extLst>
                </a:gridCol>
                <a:gridCol w="914627">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188093">
                <a:tc>
                  <a:txBody>
                    <a:bodyPr/>
                    <a:lstStyle/>
                    <a:p>
                      <a:pPr algn="l">
                        <a:spcAft>
                          <a:spcPts val="0"/>
                        </a:spcAft>
                      </a:pPr>
                      <a:endParaRPr lang="en-US" sz="1000" b="0" i="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accent2">
                        <a:lumMod val="20000"/>
                        <a:lumOff val="80000"/>
                      </a:schemeClr>
                    </a:solidFill>
                  </a:tcPr>
                </a:tc>
                <a:tc gridSpan="3">
                  <a:txBody>
                    <a:bodyPr/>
                    <a:lstStyle/>
                    <a:p>
                      <a:pPr algn="ctr">
                        <a:spcAft>
                          <a:spcPts val="0"/>
                        </a:spcAft>
                      </a:pPr>
                      <a:r>
                        <a:rPr lang="en-US" sz="1200" b="1" i="0">
                          <a:solidFill>
                            <a:schemeClr val="bg2"/>
                          </a:solidFill>
                          <a:effectLst/>
                          <a:latin typeface="+mn-lt"/>
                          <a:ea typeface="Times New Roman"/>
                          <a:cs typeface="Arial Narrow" panose="020B0604020202020204" pitchFamily="34" charset="0"/>
                        </a:rPr>
                        <a:t>Classification</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hMerge="1">
                  <a:txBody>
                    <a:bodyPr/>
                    <a:lstStyle/>
                    <a:p>
                      <a:pPr algn="ctr">
                        <a:spcAft>
                          <a:spcPts val="0"/>
                        </a:spcAft>
                      </a:pPr>
                      <a:endParaRPr lang="en-US" sz="1100">
                        <a:solidFill>
                          <a:schemeClr val="bg1"/>
                        </a:solidFill>
                        <a:effectLst/>
                        <a:latin typeface="Calibri"/>
                        <a:ea typeface="Times New Roman"/>
                        <a:cs typeface="Times New Roman"/>
                      </a:endParaRPr>
                    </a:p>
                  </a:txBody>
                  <a:tcPr marL="68580" marR="68580" marT="0" marB="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hMerge="1">
                  <a:txBody>
                    <a:bodyPr/>
                    <a:lstStyle/>
                    <a:p>
                      <a:endParaRPr lang="en-CA"/>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182649">
                <a:tc>
                  <a:txBody>
                    <a:bodyPr/>
                    <a:lstStyle/>
                    <a:p>
                      <a:pPr algn="l">
                        <a:spcAft>
                          <a:spcPts val="0"/>
                        </a:spcAft>
                      </a:pPr>
                      <a:endParaRPr lang="en-US" sz="1000" b="0" i="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2">
                        <a:lumMod val="20000"/>
                        <a:lumOff val="80000"/>
                      </a:schemeClr>
                    </a:solidFill>
                  </a:tcPr>
                </a:tc>
                <a:tc>
                  <a:txBody>
                    <a:bodyPr/>
                    <a:lstStyle/>
                    <a:p>
                      <a:pPr algn="ctr">
                        <a:spcAft>
                          <a:spcPts val="0"/>
                        </a:spcAft>
                      </a:pPr>
                      <a:r>
                        <a:rPr lang="en-US" sz="1000" b="1" i="0">
                          <a:solidFill>
                            <a:schemeClr val="tx1"/>
                          </a:solidFill>
                          <a:effectLst/>
                          <a:latin typeface="+mn-lt"/>
                          <a:ea typeface="Times New Roman"/>
                          <a:cs typeface="Arial Narrow" panose="020B0604020202020204" pitchFamily="34" charset="0"/>
                        </a:rPr>
                        <a:t>Location</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gridSpan="2">
                  <a:txBody>
                    <a:bodyPr/>
                    <a:lstStyle/>
                    <a:p>
                      <a:pPr algn="ctr">
                        <a:spcAft>
                          <a:spcPts val="0"/>
                        </a:spcAft>
                      </a:pPr>
                      <a:r>
                        <a:rPr lang="en-US" sz="1000" b="1" i="0">
                          <a:solidFill>
                            <a:schemeClr val="tx1"/>
                          </a:solidFill>
                          <a:effectLst/>
                          <a:latin typeface="+mn-lt"/>
                          <a:ea typeface="Times New Roman"/>
                          <a:cs typeface="Arial Narrow" panose="020B0604020202020204" pitchFamily="34" charset="0"/>
                        </a:rPr>
                        <a:t>U.S.</a:t>
                      </a:r>
                      <a:r>
                        <a:rPr lang="en-US" sz="1000" b="1" i="0" baseline="0">
                          <a:solidFill>
                            <a:schemeClr val="tx1"/>
                          </a:solidFill>
                          <a:effectLst/>
                          <a:latin typeface="+mn-lt"/>
                          <a:ea typeface="Times New Roman"/>
                          <a:cs typeface="Arial Narrow" panose="020B0604020202020204" pitchFamily="34" charset="0"/>
                        </a:rPr>
                        <a:t> </a:t>
                      </a:r>
                      <a:r>
                        <a:rPr lang="en-US" sz="1000" b="1" i="0">
                          <a:solidFill>
                            <a:schemeClr val="tx1"/>
                          </a:solidFill>
                          <a:effectLst/>
                          <a:latin typeface="+mn-lt"/>
                          <a:ea typeface="Times New Roman"/>
                          <a:cs typeface="Arial Narrow" panose="020B0604020202020204" pitchFamily="34" charset="0"/>
                        </a:rPr>
                        <a:t>regulation</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CA"/>
                    </a:p>
                  </a:txBody>
                  <a:tcPr>
                    <a:lnL w="31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67194">
                <a:tc>
                  <a:txBody>
                    <a:bodyPr/>
                    <a:lstStyle/>
                    <a:p>
                      <a:pPr algn="l">
                        <a:spcAft>
                          <a:spcPts val="0"/>
                        </a:spcAft>
                      </a:pPr>
                      <a:endParaRPr lang="en-US" sz="1000" b="0" i="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spcAft>
                          <a:spcPts val="0"/>
                        </a:spcAft>
                      </a:pPr>
                      <a:endParaRPr lang="en-US" sz="1000" b="0" i="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ltUpDiag">
                      <a:fgClr>
                        <a:schemeClr val="tx1"/>
                      </a:fgClr>
                      <a:bgClr>
                        <a:schemeClr val="bg1"/>
                      </a:bgClr>
                    </a:pattFill>
                  </a:tcPr>
                </a:tc>
                <a:tc>
                  <a:txBody>
                    <a:bodyPr/>
                    <a:lstStyle/>
                    <a:p>
                      <a:pPr algn="ctr">
                        <a:spcAft>
                          <a:spcPts val="0"/>
                        </a:spcAft>
                      </a:pPr>
                      <a:r>
                        <a:rPr lang="en-US" sz="1000" b="0" i="0">
                          <a:solidFill>
                            <a:schemeClr val="tx1"/>
                          </a:solidFill>
                          <a:effectLst/>
                          <a:latin typeface="+mn-lt"/>
                          <a:ea typeface="Times New Roman"/>
                          <a:cs typeface="Arial Narrow" panose="020B0604020202020204" pitchFamily="34" charset="0"/>
                        </a:rPr>
                        <a:t>EAR</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spcAft>
                          <a:spcPts val="0"/>
                        </a:spcAft>
                      </a:pPr>
                      <a:r>
                        <a:rPr lang="en-US" sz="1000" b="0" i="0">
                          <a:solidFill>
                            <a:schemeClr val="tx1"/>
                          </a:solidFill>
                          <a:effectLst/>
                          <a:latin typeface="+mn-lt"/>
                          <a:ea typeface="Times New Roman"/>
                          <a:cs typeface="Arial Narrow" panose="020B0604020202020204" pitchFamily="34" charset="0"/>
                        </a:rPr>
                        <a:t>ITAR</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0002"/>
                  </a:ext>
                </a:extLst>
              </a:tr>
              <a:tr h="388681">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00" b="0" i="0">
                          <a:solidFill>
                            <a:schemeClr val="tx1"/>
                          </a:solidFill>
                          <a:effectLst/>
                          <a:latin typeface="+mn-lt"/>
                          <a:ea typeface="Times New Roman"/>
                          <a:cs typeface="Arial Narrow" panose="020B0604020202020204" pitchFamily="34" charset="0"/>
                        </a:rPr>
                        <a:t>Classifications must always be </a:t>
                      </a:r>
                      <a:br>
                        <a:rPr lang="en-US" sz="1000" b="0" i="0">
                          <a:solidFill>
                            <a:schemeClr val="tx1"/>
                          </a:solidFill>
                          <a:effectLst/>
                          <a:latin typeface="+mn-lt"/>
                          <a:ea typeface="Times New Roman"/>
                          <a:cs typeface="Arial Narrow" panose="020B0604020202020204" pitchFamily="34" charset="0"/>
                        </a:rPr>
                      </a:br>
                      <a:r>
                        <a:rPr lang="en-US" sz="1000" b="0" i="0">
                          <a:solidFill>
                            <a:schemeClr val="tx1"/>
                          </a:solidFill>
                          <a:effectLst/>
                          <a:latin typeface="+mn-lt"/>
                          <a:ea typeface="Times New Roman"/>
                          <a:cs typeface="Arial Narrow" panose="020B0604020202020204" pitchFamily="34" charset="0"/>
                        </a:rPr>
                        <a:t>provided for U.S. and Outside U.S. boxes</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0" i="0">
                          <a:solidFill>
                            <a:schemeClr val="tx1"/>
                          </a:solidFill>
                          <a:effectLst/>
                          <a:latin typeface="+mn-lt"/>
                          <a:ea typeface="Times New Roman"/>
                          <a:cs typeface="Arial Narrow" panose="020B0604020202020204" pitchFamily="34" charset="0"/>
                        </a:rPr>
                        <a:t>U.S.</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0" i="0">
                        <a:solidFill>
                          <a:schemeClr val="tx1"/>
                        </a:solidFill>
                        <a:latin typeface="+mn-lt"/>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A" sz="1000" b="0" i="0">
                        <a:solidFill>
                          <a:schemeClr val="tx1"/>
                        </a:solidFill>
                        <a:latin typeface="+mn-lt"/>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169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000" b="0" i="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2">
                        <a:lumMod val="20000"/>
                        <a:lumOff val="80000"/>
                      </a:schemeClr>
                    </a:solidFill>
                  </a:tcPr>
                </a:tc>
                <a:tc>
                  <a:txBody>
                    <a:bodyPr/>
                    <a:lstStyle/>
                    <a:p>
                      <a:pPr algn="ctr">
                        <a:spcAft>
                          <a:spcPts val="0"/>
                        </a:spcAft>
                      </a:pPr>
                      <a:r>
                        <a:rPr lang="en-US" sz="1000" b="0" i="0">
                          <a:solidFill>
                            <a:schemeClr val="tx1"/>
                          </a:solidFill>
                          <a:effectLst/>
                          <a:latin typeface="+mn-lt"/>
                          <a:ea typeface="Times New Roman"/>
                          <a:cs typeface="Arial Narrow" panose="020B0604020202020204" pitchFamily="34" charset="0"/>
                        </a:rPr>
                        <a:t>Outside </a:t>
                      </a:r>
                    </a:p>
                    <a:p>
                      <a:pPr algn="ctr">
                        <a:spcAft>
                          <a:spcPts val="0"/>
                        </a:spcAft>
                      </a:pPr>
                      <a:r>
                        <a:rPr lang="en-US" sz="1000" b="0" i="0">
                          <a:solidFill>
                            <a:schemeClr val="tx1"/>
                          </a:solidFill>
                          <a:effectLst/>
                          <a:latin typeface="+mn-lt"/>
                          <a:ea typeface="Times New Roman"/>
                          <a:cs typeface="Arial Narrow" panose="020B0604020202020204" pitchFamily="34" charset="0"/>
                        </a:rPr>
                        <a:t>U.S.</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en-US" sz="1000" b="0" i="0">
                        <a:solidFill>
                          <a:schemeClr val="tx1"/>
                        </a:solidFill>
                        <a:latin typeface="+mn-lt"/>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A" sz="1000" b="0" i="0">
                        <a:solidFill>
                          <a:schemeClr val="tx1"/>
                        </a:solidFill>
                        <a:latin typeface="+mn-lt"/>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67194">
                <a:tc>
                  <a:txBody>
                    <a:bodyPr/>
                    <a:lstStyle/>
                    <a:p>
                      <a:pPr marL="0" algn="l" defTabSz="914400" rtl="0" eaLnBrk="1" latinLnBrk="0" hangingPunct="1">
                        <a:spcAft>
                          <a:spcPts val="0"/>
                        </a:spcAft>
                      </a:pPr>
                      <a:endParaRPr lang="en-US" sz="1000" b="0" i="0" kern="120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accent2">
                        <a:lumMod val="20000"/>
                        <a:lumOff val="80000"/>
                      </a:schemeClr>
                    </a:solidFill>
                  </a:tcPr>
                </a:tc>
                <a:tc>
                  <a:txBody>
                    <a:bodyPr/>
                    <a:lstStyle/>
                    <a:p>
                      <a:pPr marL="0" algn="ctr" defTabSz="914400" rtl="0" eaLnBrk="1" latinLnBrk="0" hangingPunct="1">
                        <a:spcAft>
                          <a:spcPts val="0"/>
                        </a:spcAft>
                      </a:pPr>
                      <a:endParaRPr lang="en-US" sz="1000" b="0" i="0" kern="120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pattFill prst="ltUpDiag">
                      <a:fgClr>
                        <a:schemeClr val="tx1"/>
                      </a:fgClr>
                      <a:bgClr>
                        <a:schemeClr val="bg1"/>
                      </a:bgClr>
                    </a:patt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CA" sz="1000" b="1" i="0">
                          <a:solidFill>
                            <a:schemeClr val="tx1"/>
                          </a:solidFill>
                          <a:effectLst/>
                          <a:latin typeface="+mn-lt"/>
                          <a:ea typeface="Times New Roman"/>
                          <a:cs typeface="Arial Narrow" panose="020B0604020202020204" pitchFamily="34" charset="0"/>
                        </a:rPr>
                        <a:t>Local regulation</a:t>
                      </a:r>
                      <a:endParaRPr lang="en-US" sz="1000" b="1" i="0" u="sng">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hMerge="1">
                  <a:txBody>
                    <a:bodyPr/>
                    <a:lstStyle/>
                    <a:p>
                      <a:endParaRPr lang="en-CA"/>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172737">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effectLst/>
                          <a:latin typeface="+mn-lt"/>
                          <a:ea typeface="Times New Roman"/>
                          <a:cs typeface="Arial Narrow" panose="020B0604020202020204" pitchFamily="34" charset="0"/>
                        </a:rPr>
                        <a:t>When the person completing the grid is physically located outside of the U.S., the local classifications must also be provided.</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CA" sz="1000" b="0" i="0" kern="1200">
                          <a:solidFill>
                            <a:schemeClr val="tx1"/>
                          </a:solidFill>
                          <a:effectLst/>
                          <a:latin typeface="+mn-lt"/>
                          <a:ea typeface="Times New Roman"/>
                          <a:cs typeface="Arial Narrow" panose="020B0604020202020204" pitchFamily="34" charset="0"/>
                        </a:rPr>
                        <a:t>Canada</a:t>
                      </a:r>
                      <a:endParaRPr lang="en-US" sz="1000" b="0" i="0" kern="120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tc>
                  <a:txBody>
                    <a:bodyPr/>
                    <a:lstStyle/>
                    <a:p>
                      <a:pPr algn="ctr">
                        <a:spcAft>
                          <a:spcPts val="0"/>
                        </a:spcAft>
                      </a:pPr>
                      <a:r>
                        <a:rPr lang="en-US" sz="1000" b="0" i="0">
                          <a:solidFill>
                            <a:schemeClr val="tx1"/>
                          </a:solidFill>
                          <a:effectLst/>
                          <a:latin typeface="+mn-lt"/>
                          <a:ea typeface="Times New Roman"/>
                          <a:cs typeface="Arial Narrow" panose="020B0604020202020204" pitchFamily="34" charset="0"/>
                        </a:rPr>
                        <a:t>EIPA (ECL)</a:t>
                      </a:r>
                    </a:p>
                  </a:txBody>
                  <a:tcPr marL="45720" marR="45720" anchor="ctr">
                    <a:lnL w="12700" cap="flat" cmpd="sng" algn="ctr">
                      <a:solidFill>
                        <a:schemeClr val="accent2"/>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spcAft>
                          <a:spcPts val="0"/>
                        </a:spcAft>
                      </a:pPr>
                      <a:r>
                        <a:rPr lang="en-US" sz="1000" b="0" i="0">
                          <a:solidFill>
                            <a:schemeClr val="tx1"/>
                          </a:solidFill>
                          <a:effectLst/>
                          <a:latin typeface="+mn-lt"/>
                          <a:ea typeface="Times New Roman"/>
                          <a:cs typeface="Arial Narrow" panose="020B0604020202020204" pitchFamily="34" charset="0"/>
                        </a:rPr>
                        <a:t>DPA (CG)</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6"/>
                  </a:ext>
                </a:extLst>
              </a:tr>
              <a:tr h="680703">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lumMod val="20000"/>
                        <a:lumOff val="80000"/>
                      </a:schemeClr>
                    </a:solidFill>
                  </a:tcPr>
                </a:tc>
                <a:tc vMerge="1">
                  <a:txBody>
                    <a:bodyPr/>
                    <a:lstStyle/>
                    <a:p>
                      <a:pPr marL="0" algn="ctr" defTabSz="914400" rtl="0" eaLnBrk="1" latinLnBrk="0" hangingPunct="1">
                        <a:spcAft>
                          <a:spcPts val="0"/>
                        </a:spcAft>
                      </a:pPr>
                      <a:endParaRPr lang="en-US" sz="700" b="1" i="0" kern="1200">
                        <a:solidFill>
                          <a:srgbClr val="000000"/>
                        </a:solidFill>
                        <a:effectLst/>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endParaRPr lang="en-US" sz="1000" b="0" i="0">
                        <a:solidFill>
                          <a:schemeClr val="tx1"/>
                        </a:solidFill>
                        <a:latin typeface="+mn-lt"/>
                        <a:cs typeface="Arial Narrow" panose="020B0604020202020204" pitchFamily="34" charset="0"/>
                      </a:endParaRPr>
                    </a:p>
                  </a:txBody>
                  <a:tcPr marL="45720" marR="45720" anchor="ctr">
                    <a:lnL w="12700" cap="flat" cmpd="sng" algn="ctr">
                      <a:solidFill>
                        <a:schemeClr val="accent2"/>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effectLst/>
                          <a:latin typeface="+mn-lt"/>
                          <a:ea typeface="Times New Roman"/>
                          <a:cs typeface="Arial Narrow" panose="020B0604020202020204" pitchFamily="34" charset="0"/>
                        </a:rPr>
                        <a:t>Document may be DPA controlled if EIPA value starts with “2” or US ITAR box contains any value other than “NSR</a:t>
                      </a:r>
                      <a:r>
                        <a:rPr lang="en-CA" sz="1000" b="0" i="0" kern="1200">
                          <a:solidFill>
                            <a:schemeClr val="tx1"/>
                          </a:solidFill>
                          <a:effectLst/>
                          <a:latin typeface="+mn-lt"/>
                          <a:ea typeface="Times New Roman"/>
                          <a:cs typeface="Arial Narrow" panose="020B0604020202020204" pitchFamily="34" charset="0"/>
                        </a:rPr>
                        <a:t>”.</a:t>
                      </a:r>
                      <a:endParaRPr lang="en-US" sz="1000" b="0" i="0" kern="1200">
                        <a:solidFill>
                          <a:schemeClr val="tx1"/>
                        </a:solidFill>
                        <a:effectLst/>
                        <a:latin typeface="+mn-lt"/>
                        <a:ea typeface="Times New Roman"/>
                        <a:cs typeface="Arial Narrow" panose="020B0604020202020204" pitchFamily="34" charset="0"/>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graphicFrame>
        <p:nvGraphicFramePr>
          <p:cNvPr id="8" name="Table 7">
            <a:extLst>
              <a:ext uri="{FF2B5EF4-FFF2-40B4-BE49-F238E27FC236}">
                <a16:creationId xmlns:a16="http://schemas.microsoft.com/office/drawing/2014/main" id="{719E8BDC-FB4E-8E20-E1D5-3456E273D44C}"/>
              </a:ext>
            </a:extLst>
          </p:cNvPr>
          <p:cNvGraphicFramePr>
            <a:graphicFrameLocks noGrp="1"/>
          </p:cNvGraphicFramePr>
          <p:nvPr>
            <p:extLst>
              <p:ext uri="{D42A27DB-BD31-4B8C-83A1-F6EECF244321}">
                <p14:modId xmlns:p14="http://schemas.microsoft.com/office/powerpoint/2010/main" val="1097691841"/>
              </p:ext>
            </p:extLst>
          </p:nvPr>
        </p:nvGraphicFramePr>
        <p:xfrm>
          <a:off x="685800" y="1165915"/>
          <a:ext cx="6858226" cy="321197"/>
        </p:xfrm>
        <a:graphic>
          <a:graphicData uri="http://schemas.openxmlformats.org/drawingml/2006/table">
            <a:tbl>
              <a:tblPr firstRow="1" firstCol="1" bandRow="1"/>
              <a:tblGrid>
                <a:gridCol w="2124456">
                  <a:extLst>
                    <a:ext uri="{9D8B030D-6E8A-4147-A177-3AD203B41FA5}">
                      <a16:colId xmlns:a16="http://schemas.microsoft.com/office/drawing/2014/main" val="20000"/>
                    </a:ext>
                  </a:extLst>
                </a:gridCol>
                <a:gridCol w="1623316">
                  <a:extLst>
                    <a:ext uri="{9D8B030D-6E8A-4147-A177-3AD203B41FA5}">
                      <a16:colId xmlns:a16="http://schemas.microsoft.com/office/drawing/2014/main" val="20001"/>
                    </a:ext>
                  </a:extLst>
                </a:gridCol>
                <a:gridCol w="1823469">
                  <a:extLst>
                    <a:ext uri="{9D8B030D-6E8A-4147-A177-3AD203B41FA5}">
                      <a16:colId xmlns:a16="http://schemas.microsoft.com/office/drawing/2014/main" val="20002"/>
                    </a:ext>
                  </a:extLst>
                </a:gridCol>
                <a:gridCol w="1286985">
                  <a:extLst>
                    <a:ext uri="{9D8B030D-6E8A-4147-A177-3AD203B41FA5}">
                      <a16:colId xmlns:a16="http://schemas.microsoft.com/office/drawing/2014/main" val="20003"/>
                    </a:ext>
                  </a:extLst>
                </a:gridCol>
              </a:tblGrid>
              <a:tr h="321197">
                <a:tc>
                  <a:txBody>
                    <a:bodyPr/>
                    <a:lstStyle/>
                    <a:p>
                      <a:pPr marL="0" marR="0" lvl="0" indent="0" algn="l" defTabSz="685800" rtl="0" eaLnBrk="1" fontAlgn="auto" latinLnBrk="0" hangingPunct="1">
                        <a:lnSpc>
                          <a:spcPct val="100000"/>
                        </a:lnSpc>
                        <a:spcBef>
                          <a:spcPts val="0"/>
                        </a:spcBef>
                        <a:spcAft>
                          <a:spcPts val="1200"/>
                        </a:spcAft>
                        <a:buClrTx/>
                        <a:buSzTx/>
                        <a:buFontTx/>
                        <a:buNone/>
                        <a:tabLst/>
                        <a:defRPr/>
                      </a:pPr>
                      <a:r>
                        <a:rPr lang="en-CA" sz="800" b="1">
                          <a:solidFill>
                            <a:schemeClr val="tx1"/>
                          </a:solidFill>
                          <a:effectLst/>
                          <a:latin typeface="+mn-lt"/>
                          <a:ea typeface="Times New Roman"/>
                          <a:cs typeface="Times New Roman"/>
                        </a:rPr>
                        <a:t>DATE OF </a:t>
                      </a:r>
                      <a:r>
                        <a:rPr lang="en-CA" sz="800" b="1" kern="1200">
                          <a:solidFill>
                            <a:schemeClr val="tx1"/>
                          </a:solidFill>
                          <a:effectLst/>
                          <a:latin typeface="+mn-lt"/>
                          <a:ea typeface="Times New Roman"/>
                          <a:cs typeface="Times New Roman"/>
                        </a:rPr>
                        <a:t>MARKING (</a:t>
                      </a:r>
                      <a:r>
                        <a:rPr lang="en-US" sz="800" b="1" kern="1200">
                          <a:solidFill>
                            <a:schemeClr val="tx1"/>
                          </a:solidFill>
                          <a:effectLst/>
                          <a:latin typeface="+mn-lt"/>
                          <a:ea typeface="Times New Roman"/>
                          <a:cs typeface="Times New Roman"/>
                        </a:rPr>
                        <a:t>YYYY-MM-DD):</a:t>
                      </a:r>
                      <a:endParaRPr lang="en-US" sz="800" b="1">
                        <a:solidFill>
                          <a:schemeClr val="tx1"/>
                        </a:solidFill>
                        <a:effectLst/>
                        <a:latin typeface="+mn-lt"/>
                        <a:ea typeface="Times New Roman"/>
                        <a:cs typeface="Times New Roman"/>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a:spcAft>
                          <a:spcPts val="1200"/>
                        </a:spcAft>
                      </a:pPr>
                      <a:r>
                        <a:rPr lang="en-US" sz="800" b="0" i="0" kern="1200">
                          <a:solidFill>
                            <a:schemeClr val="tx1"/>
                          </a:solidFill>
                          <a:latin typeface="+mn-lt"/>
                          <a:ea typeface="+mn-ea"/>
                          <a:cs typeface="+mn-cs"/>
                        </a:rPr>
                        <a:t>2025-09-18</a:t>
                      </a: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lang="en-US" sz="800" b="1" kern="1200">
                          <a:solidFill>
                            <a:schemeClr val="tx1"/>
                          </a:solidFill>
                          <a:effectLst/>
                          <a:latin typeface="+mn-lt"/>
                          <a:ea typeface="Times New Roman"/>
                          <a:cs typeface="Times New Roman"/>
                        </a:rPr>
                        <a:t>BADGE</a:t>
                      </a:r>
                      <a:r>
                        <a:rPr lang="en-US" sz="800" b="1" kern="1200" baseline="0">
                          <a:solidFill>
                            <a:schemeClr val="tx1"/>
                          </a:solidFill>
                          <a:effectLst/>
                          <a:latin typeface="+mn-lt"/>
                          <a:ea typeface="Times New Roman"/>
                          <a:cs typeface="Times New Roman"/>
                        </a:rPr>
                        <a:t> </a:t>
                      </a:r>
                      <a:r>
                        <a:rPr lang="en-US" sz="800" b="1" kern="1200">
                          <a:solidFill>
                            <a:schemeClr val="tx1"/>
                          </a:solidFill>
                          <a:effectLst/>
                          <a:latin typeface="+mn-lt"/>
                          <a:ea typeface="Times New Roman"/>
                          <a:cs typeface="Times New Roman"/>
                        </a:rPr>
                        <a:t> (######):</a:t>
                      </a: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2"/>
                    </a:solidFill>
                  </a:tcPr>
                </a:tc>
                <a:tc>
                  <a:txBody>
                    <a:bodyPr/>
                    <a:lstStyle/>
                    <a:p>
                      <a:pPr marL="0" algn="l" defTabSz="914400" rtl="0" eaLnBrk="1" latinLnBrk="0" hangingPunct="1">
                        <a:spcAft>
                          <a:spcPts val="1200"/>
                        </a:spcAft>
                      </a:pPr>
                      <a:r>
                        <a:rPr lang="en-US" sz="800" b="0" i="0" kern="1200">
                          <a:solidFill>
                            <a:schemeClr val="tx1"/>
                          </a:solidFill>
                          <a:latin typeface="+mn-lt"/>
                          <a:ea typeface="+mn-ea"/>
                          <a:cs typeface="+mn-cs"/>
                        </a:rPr>
                        <a:t>PW195247</a:t>
                      </a: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10" name="Rectangle 9">
            <a:extLst>
              <a:ext uri="{FF2B5EF4-FFF2-40B4-BE49-F238E27FC236}">
                <a16:creationId xmlns:a16="http://schemas.microsoft.com/office/drawing/2014/main" id="{85CB9E00-1844-6B99-142B-9A5B13CBBE8F}"/>
              </a:ext>
            </a:extLst>
          </p:cNvPr>
          <p:cNvSpPr>
            <a:spLocks noChangeArrowheads="1"/>
          </p:cNvSpPr>
          <p:nvPr/>
        </p:nvSpPr>
        <p:spPr bwMode="auto">
          <a:xfrm>
            <a:off x="685800" y="1618309"/>
            <a:ext cx="230670" cy="236278"/>
          </a:xfrm>
          <a:prstGeom prst="rect">
            <a:avLst/>
          </a:prstGeom>
          <a:solidFill>
            <a:schemeClr val="bg1"/>
          </a:solidFill>
          <a:ln w="19050">
            <a:solidFill>
              <a:srgbClr val="000000"/>
            </a:solidFill>
            <a:miter lim="800000"/>
            <a:headEnd/>
            <a:tailEnd/>
          </a:ln>
        </p:spPr>
        <p:txBody>
          <a:bodyPr lIns="0" tIns="0" rIns="0" bIns="0" anchor="ctr"/>
          <a:lstStyle/>
          <a:p>
            <a:pPr marL="0" marR="0" lvl="0" indent="0" algn="ctr" defTabSz="681038" rtl="0" eaLnBrk="0" fontAlgn="auto" latinLnBrk="0" hangingPunct="0">
              <a:lnSpc>
                <a:spcPct val="100000"/>
              </a:lnSpc>
              <a:spcBef>
                <a:spcPct val="20000"/>
              </a:spcBef>
              <a:spcAft>
                <a:spcPts val="0"/>
              </a:spcAft>
              <a:buClrTx/>
              <a:buSzPct val="100000"/>
              <a:buFontTx/>
              <a:buNone/>
              <a:tabLst>
                <a:tab pos="3592513" algn="l"/>
              </a:tabLst>
              <a:defRPr/>
            </a:pPr>
            <a:endParaRPr kumimoji="0" lang="en-CA" sz="1400" u="none" strike="noStrike" kern="1200" cap="none" spc="0" normalizeH="0" baseline="0" noProof="0">
              <a:ln>
                <a:noFill/>
              </a:ln>
              <a:solidFill>
                <a:srgbClr val="000000"/>
              </a:solidFill>
              <a:effectLst/>
              <a:uLnTx/>
              <a:uFillTx/>
              <a:cs typeface="Arial Narrow" panose="020B0604020202020204" pitchFamily="34" charset="0"/>
            </a:endParaRPr>
          </a:p>
        </p:txBody>
      </p:sp>
      <p:sp>
        <p:nvSpPr>
          <p:cNvPr id="11" name="TextBox 10">
            <a:extLst>
              <a:ext uri="{FF2B5EF4-FFF2-40B4-BE49-F238E27FC236}">
                <a16:creationId xmlns:a16="http://schemas.microsoft.com/office/drawing/2014/main" id="{4EDE0C54-FA9B-CF1C-925D-48A26C8C33AB}"/>
              </a:ext>
            </a:extLst>
          </p:cNvPr>
          <p:cNvSpPr txBox="1"/>
          <p:nvPr/>
        </p:nvSpPr>
        <p:spPr>
          <a:xfrm>
            <a:off x="1049639" y="1580370"/>
            <a:ext cx="1605368" cy="29864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900"/>
              </a:spcBef>
              <a:spcAft>
                <a:spcPts val="0"/>
              </a:spcAft>
              <a:buClr>
                <a:srgbClr val="000000"/>
              </a:buClr>
              <a:buSzPct val="100000"/>
              <a:buFontTx/>
              <a:buNone/>
              <a:tabLst/>
              <a:defRPr/>
            </a:pPr>
            <a:r>
              <a:rPr kumimoji="0" lang="en-CA" sz="900" u="none" strike="noStrike" kern="1200" cap="none" spc="0" normalizeH="0" baseline="0" noProof="0">
                <a:ln>
                  <a:noFill/>
                </a:ln>
                <a:solidFill>
                  <a:srgbClr val="000000"/>
                </a:solidFill>
                <a:effectLst/>
                <a:uLnTx/>
                <a:uFillTx/>
                <a:cs typeface="Arial Narrow" panose="020B0604020202020204" pitchFamily="34" charset="0"/>
              </a:rPr>
              <a:t>Check this box if the document contains </a:t>
            </a:r>
            <a:r>
              <a:rPr kumimoji="0" lang="en-CA" sz="900" b="1" u="none" strike="noStrike" kern="1200" cap="none" spc="0" normalizeH="0" baseline="0" noProof="0">
                <a:ln>
                  <a:noFill/>
                </a:ln>
                <a:solidFill>
                  <a:srgbClr val="000000"/>
                </a:solidFill>
                <a:effectLst/>
                <a:uLnTx/>
                <a:uFillTx/>
                <a:cs typeface="Arial Narrow" panose="020B0604020202020204" pitchFamily="34" charset="0"/>
              </a:rPr>
              <a:t>no technical data</a:t>
            </a:r>
            <a:r>
              <a:rPr kumimoji="0" lang="en-CA" sz="900" u="none" strike="noStrike" kern="1200" cap="none" spc="0" normalizeH="0" baseline="0" noProof="0">
                <a:ln>
                  <a:noFill/>
                </a:ln>
                <a:solidFill>
                  <a:srgbClr val="000000"/>
                </a:solidFill>
                <a:effectLst/>
                <a:uLnTx/>
                <a:uFillTx/>
                <a:cs typeface="Arial Narrow" panose="020B0604020202020204" pitchFamily="34" charset="0"/>
              </a:rPr>
              <a:t>.</a:t>
            </a:r>
          </a:p>
        </p:txBody>
      </p:sp>
      <p:sp>
        <p:nvSpPr>
          <p:cNvPr id="12" name="TextBox 11">
            <a:extLst>
              <a:ext uri="{FF2B5EF4-FFF2-40B4-BE49-F238E27FC236}">
                <a16:creationId xmlns:a16="http://schemas.microsoft.com/office/drawing/2014/main" id="{A8C47782-6A41-44A4-007E-322610FA511F}"/>
              </a:ext>
            </a:extLst>
          </p:cNvPr>
          <p:cNvSpPr txBox="1"/>
          <p:nvPr/>
        </p:nvSpPr>
        <p:spPr>
          <a:xfrm>
            <a:off x="2788176" y="1618309"/>
            <a:ext cx="263347" cy="204112"/>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900"/>
              </a:spcBef>
              <a:spcAft>
                <a:spcPts val="0"/>
              </a:spcAft>
              <a:buClr>
                <a:srgbClr val="000000"/>
              </a:buClr>
              <a:buSzPct val="100000"/>
              <a:buFontTx/>
              <a:buNone/>
              <a:tabLst/>
              <a:defRPr/>
            </a:pPr>
            <a:r>
              <a:rPr kumimoji="0" lang="en-CA" sz="1100" u="sng" strike="noStrike" kern="1200" cap="none" spc="0" normalizeH="0" baseline="0" noProof="0">
                <a:ln>
                  <a:noFill/>
                </a:ln>
                <a:solidFill>
                  <a:srgbClr val="000000"/>
                </a:solidFill>
                <a:effectLst/>
                <a:uLnTx/>
                <a:uFillTx/>
                <a:cs typeface="Arial Narrow" panose="020B0604020202020204" pitchFamily="34" charset="0"/>
              </a:rPr>
              <a:t>OR</a:t>
            </a:r>
          </a:p>
        </p:txBody>
      </p:sp>
      <p:sp>
        <p:nvSpPr>
          <p:cNvPr id="13" name="TextBox 12">
            <a:extLst>
              <a:ext uri="{FF2B5EF4-FFF2-40B4-BE49-F238E27FC236}">
                <a16:creationId xmlns:a16="http://schemas.microsoft.com/office/drawing/2014/main" id="{FC3D6DF8-8A45-AD86-6C2D-9837E997764A}"/>
              </a:ext>
            </a:extLst>
          </p:cNvPr>
          <p:cNvSpPr txBox="1"/>
          <p:nvPr/>
        </p:nvSpPr>
        <p:spPr>
          <a:xfrm>
            <a:off x="3243219" y="1580370"/>
            <a:ext cx="3971510" cy="32668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900"/>
              </a:spcBef>
              <a:spcAft>
                <a:spcPts val="0"/>
              </a:spcAft>
              <a:buClr>
                <a:srgbClr val="000000"/>
              </a:buClr>
              <a:buSzPct val="100000"/>
              <a:buFontTx/>
              <a:buNone/>
              <a:tabLst/>
              <a:defRPr/>
            </a:pPr>
            <a:r>
              <a:rPr kumimoji="0" lang="en-CA" sz="900" u="none" strike="noStrike" kern="1200" cap="none" spc="0" normalizeH="0" baseline="0" noProof="0">
                <a:ln>
                  <a:noFill/>
                </a:ln>
                <a:solidFill>
                  <a:srgbClr val="000000"/>
                </a:solidFill>
                <a:effectLst/>
                <a:uLnTx/>
                <a:uFillTx/>
                <a:cs typeface="Arial Narrow" panose="020B0604020202020204" pitchFamily="34" charset="0"/>
              </a:rPr>
              <a:t>Summarize the export classification of all </a:t>
            </a:r>
            <a:br>
              <a:rPr kumimoji="0" lang="en-CA" sz="900" u="none" strike="noStrike" kern="1200" cap="none" spc="0" normalizeH="0" baseline="0" noProof="0">
                <a:ln>
                  <a:noFill/>
                </a:ln>
                <a:solidFill>
                  <a:srgbClr val="000000"/>
                </a:solidFill>
                <a:effectLst/>
                <a:uLnTx/>
                <a:uFillTx/>
                <a:cs typeface="Arial Narrow" panose="020B0604020202020204" pitchFamily="34" charset="0"/>
              </a:rPr>
            </a:br>
            <a:r>
              <a:rPr kumimoji="0" lang="en-CA" sz="900" u="none" strike="noStrike" kern="1200" cap="none" spc="0" normalizeH="0" baseline="0" noProof="0">
                <a:ln>
                  <a:noFill/>
                </a:ln>
                <a:solidFill>
                  <a:srgbClr val="000000"/>
                </a:solidFill>
                <a:effectLst/>
                <a:uLnTx/>
                <a:uFillTx/>
                <a:cs typeface="Arial Narrow" panose="020B0604020202020204" pitchFamily="34" charset="0"/>
              </a:rPr>
              <a:t>slides in this presentation as instructed below.</a:t>
            </a:r>
          </a:p>
        </p:txBody>
      </p:sp>
      <p:sp>
        <p:nvSpPr>
          <p:cNvPr id="3" name="TextBox 2">
            <a:extLst>
              <a:ext uri="{FF2B5EF4-FFF2-40B4-BE49-F238E27FC236}">
                <a16:creationId xmlns:a16="http://schemas.microsoft.com/office/drawing/2014/main" id="{2E382223-7506-9ED0-9BD9-E3B0C2D9457B}"/>
              </a:ext>
            </a:extLst>
          </p:cNvPr>
          <p:cNvSpPr txBox="1"/>
          <p:nvPr/>
        </p:nvSpPr>
        <p:spPr>
          <a:xfrm>
            <a:off x="7948187" y="1191355"/>
            <a:ext cx="3558013" cy="584775"/>
          </a:xfrm>
          <a:prstGeom prst="rect">
            <a:avLst/>
          </a:prstGeom>
          <a:noFill/>
        </p:spPr>
        <p:txBody>
          <a:bodyPr wrap="square">
            <a:spAutoFit/>
          </a:bodyPr>
          <a:lstStyle/>
          <a:p>
            <a:pPr marL="0" marR="0" lvl="0" indent="0" defTabSz="457200" rtl="0" eaLnBrk="1" fontAlgn="auto" latinLnBrk="0" hangingPunct="1">
              <a:lnSpc>
                <a:spcPct val="100000"/>
              </a:lnSpc>
              <a:spcBef>
                <a:spcPts val="600"/>
              </a:spcBef>
              <a:spcAft>
                <a:spcPts val="0"/>
              </a:spcAft>
              <a:buClr>
                <a:srgbClr val="000000"/>
              </a:buClr>
              <a:buSzPct val="100000"/>
              <a:buFontTx/>
              <a:buNone/>
              <a:tabLst/>
              <a:defRPr/>
            </a:pPr>
            <a:r>
              <a:rPr kumimoji="0" lang="en-CA" sz="900" b="0" i="0" u="none" strike="noStrike" kern="1200" cap="none" spc="0" normalizeH="0" baseline="0" noProof="0">
                <a:ln>
                  <a:noFill/>
                </a:ln>
                <a:effectLst/>
                <a:uLnTx/>
                <a:uFillTx/>
                <a:latin typeface="Arial"/>
                <a:ea typeface="+mn-ea"/>
                <a:cs typeface="+mn-cs"/>
              </a:rPr>
              <a:t>For </a:t>
            </a:r>
            <a:r>
              <a:rPr kumimoji="0" lang="en-CA" sz="900" b="0" i="0" u="none" strike="noStrike" kern="1200" cap="none" spc="0" normalizeH="0" baseline="0" noProof="0">
                <a:ln>
                  <a:noFill/>
                </a:ln>
                <a:solidFill>
                  <a:schemeClr val="accent6"/>
                </a:solidFill>
                <a:effectLst/>
                <a:uLnTx/>
                <a:uFillTx/>
                <a:latin typeface="Arial"/>
                <a:ea typeface="+mn-ea"/>
                <a:cs typeface="+mn-cs"/>
              </a:rPr>
              <a:t>instructions and examples </a:t>
            </a:r>
            <a:r>
              <a:rPr kumimoji="0" lang="en-CA" sz="900" b="0" i="0" u="none" strike="noStrike" kern="1200" cap="none" spc="0" normalizeH="0" baseline="0" noProof="0">
                <a:ln>
                  <a:noFill/>
                </a:ln>
                <a:effectLst/>
                <a:uLnTx/>
                <a:uFillTx/>
                <a:latin typeface="Arial"/>
                <a:ea typeface="+mn-ea"/>
                <a:cs typeface="+mn-cs"/>
              </a:rPr>
              <a:t>on how to fill in this slide, </a:t>
            </a:r>
            <a:r>
              <a:rPr kumimoji="0" lang="en-CA" sz="900" b="0" i="0" u="none" strike="noStrike" kern="1200" cap="none" spc="0" normalizeH="0" baseline="0" noProof="0">
                <a:ln>
                  <a:noFill/>
                </a:ln>
                <a:solidFill>
                  <a:schemeClr val="accent6"/>
                </a:solidFill>
                <a:effectLst/>
                <a:uLnTx/>
                <a:uFillTx/>
                <a:latin typeface="Arial"/>
                <a:ea typeface="+mn-ea"/>
                <a:cs typeface="+mn-cs"/>
                <a:hlinkClick r:id="rId3">
                  <a:extLst>
                    <a:ext uri="{A12FA001-AC4F-418D-AE19-62706E023703}">
                      <ahyp:hlinkClr xmlns:ahyp="http://schemas.microsoft.com/office/drawing/2018/hyperlinkcolor" val="tx"/>
                    </a:ext>
                  </a:extLst>
                </a:hlinkClick>
              </a:rPr>
              <a:t>click here</a:t>
            </a:r>
            <a:r>
              <a:rPr kumimoji="0" lang="en-CA" sz="900" b="0" i="0" u="none" strike="noStrike" kern="1200" cap="none" spc="0" normalizeH="0" baseline="0" noProof="0">
                <a:ln>
                  <a:noFill/>
                </a:ln>
                <a:effectLst/>
                <a:uLnTx/>
                <a:uFillTx/>
                <a:latin typeface="Arial"/>
                <a:ea typeface="+mn-ea"/>
                <a:cs typeface="+mn-cs"/>
              </a:rPr>
              <a:t>.</a:t>
            </a:r>
          </a:p>
          <a:p>
            <a:pPr marL="0" marR="0" lvl="0" indent="0" defTabSz="457200" rtl="0" eaLnBrk="1" fontAlgn="auto" latinLnBrk="0" hangingPunct="1">
              <a:lnSpc>
                <a:spcPct val="100000"/>
              </a:lnSpc>
              <a:spcBef>
                <a:spcPts val="600"/>
              </a:spcBef>
              <a:spcAft>
                <a:spcPts val="0"/>
              </a:spcAft>
              <a:buClr>
                <a:srgbClr val="000000"/>
              </a:buClr>
              <a:buSzPct val="100000"/>
              <a:buFontTx/>
              <a:buNone/>
              <a:tabLst/>
              <a:defRPr/>
            </a:pPr>
            <a:r>
              <a:rPr kumimoji="0" lang="en-US" sz="900" b="0" i="0" u="none" strike="noStrike" kern="1200" cap="none" spc="0" normalizeH="0" baseline="0" noProof="0">
                <a:ln>
                  <a:noFill/>
                </a:ln>
                <a:effectLst/>
                <a:uLnTx/>
                <a:uFillTx/>
                <a:latin typeface="Arial"/>
                <a:ea typeface="+mn-ea"/>
                <a:cs typeface="+mn-cs"/>
              </a:rPr>
              <a:t>When you are located </a:t>
            </a:r>
            <a:r>
              <a:rPr kumimoji="0" lang="en-US" sz="900" b="0" i="0" u="none" strike="noStrike" kern="1200" cap="none" spc="0" normalizeH="0" baseline="0" noProof="0">
                <a:ln>
                  <a:noFill/>
                </a:ln>
                <a:solidFill>
                  <a:schemeClr val="accent6"/>
                </a:solidFill>
                <a:effectLst/>
                <a:uLnTx/>
                <a:uFillTx/>
                <a:latin typeface="Arial"/>
                <a:ea typeface="+mn-ea"/>
                <a:cs typeface="+mn-cs"/>
              </a:rPr>
              <a:t>outside of Canada</a:t>
            </a:r>
            <a:r>
              <a:rPr kumimoji="0" lang="en-US" sz="900" b="0" i="0" u="none" strike="noStrike" kern="1200" cap="none" spc="0" normalizeH="0" baseline="0" noProof="0">
                <a:ln>
                  <a:noFill/>
                </a:ln>
                <a:effectLst/>
                <a:uLnTx/>
                <a:uFillTx/>
                <a:latin typeface="Arial"/>
                <a:ea typeface="+mn-ea"/>
                <a:cs typeface="+mn-cs"/>
              </a:rPr>
              <a:t>, modify the Local Regulation section accordingly</a:t>
            </a:r>
          </a:p>
        </p:txBody>
      </p:sp>
      <p:sp>
        <p:nvSpPr>
          <p:cNvPr id="17" name="Footer Placeholder 16">
            <a:extLst>
              <a:ext uri="{FF2B5EF4-FFF2-40B4-BE49-F238E27FC236}">
                <a16:creationId xmlns:a16="http://schemas.microsoft.com/office/drawing/2014/main" id="{B52733C8-95C4-B1C2-889E-4AE413E27C68}"/>
              </a:ext>
            </a:extLst>
          </p:cNvPr>
          <p:cNvSpPr>
            <a:spLocks noGrp="1"/>
          </p:cNvSpPr>
          <p:nvPr>
            <p:ph type="ftr" sz="quarter" idx="3"/>
          </p:nvPr>
        </p:nvSpPr>
        <p:spPr/>
        <p:txBody>
          <a:bodyPr/>
          <a:lstStyle/>
          <a:p>
            <a:r>
              <a:rPr lang="en-US"/>
              <a:t>EXPORT MARKING: (Insert Export Marking) [TO CHANGE GO TO INSERT &gt; HEADER &amp; FOOTER] </a:t>
            </a:r>
          </a:p>
        </p:txBody>
      </p:sp>
      <p:sp>
        <p:nvSpPr>
          <p:cNvPr id="19" name="Slide Number Placeholder 18">
            <a:extLst>
              <a:ext uri="{FF2B5EF4-FFF2-40B4-BE49-F238E27FC236}">
                <a16:creationId xmlns:a16="http://schemas.microsoft.com/office/drawing/2014/main" id="{5C6E207C-4E15-0125-44D7-301C5E5F26E2}"/>
              </a:ext>
            </a:extLst>
          </p:cNvPr>
          <p:cNvSpPr>
            <a:spLocks noGrp="1"/>
          </p:cNvSpPr>
          <p:nvPr>
            <p:ph type="sldNum" sz="quarter" idx="4"/>
          </p:nvPr>
        </p:nvSpPr>
        <p:spPr/>
        <p:txBody>
          <a:bodyPr/>
          <a:lstStyle/>
          <a:p>
            <a:fld id="{07165E6F-54ED-4977-A15E-D44BE7238A65}" type="slidenum">
              <a:rPr lang="en-US" smtClean="0"/>
              <a:pPr/>
              <a:t>2</a:t>
            </a:fld>
            <a:endParaRPr lang="en-US"/>
          </a:p>
        </p:txBody>
      </p:sp>
      <p:pic>
        <p:nvPicPr>
          <p:cNvPr id="4" name="Graphic 3" descr="Checkmark with solid fill">
            <a:extLst>
              <a:ext uri="{FF2B5EF4-FFF2-40B4-BE49-F238E27FC236}">
                <a16:creationId xmlns:a16="http://schemas.microsoft.com/office/drawing/2014/main" id="{A04E2DD8-5E83-0716-6847-27FE511542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5413" y="1650726"/>
            <a:ext cx="171444" cy="171444"/>
          </a:xfrm>
          <a:prstGeom prst="rect">
            <a:avLst/>
          </a:prstGeom>
        </p:spPr>
      </p:pic>
    </p:spTree>
    <p:extLst>
      <p:ext uri="{BB962C8B-B14F-4D97-AF65-F5344CB8AC3E}">
        <p14:creationId xmlns:p14="http://schemas.microsoft.com/office/powerpoint/2010/main" val="2552804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23323-AB10-6BFB-7017-71961B66342A}"/>
              </a:ext>
            </a:extLst>
          </p:cNvPr>
          <p:cNvSpPr>
            <a:spLocks noGrp="1"/>
          </p:cNvSpPr>
          <p:nvPr>
            <p:ph type="title"/>
          </p:nvPr>
        </p:nvSpPr>
        <p:spPr/>
        <p:txBody>
          <a:bodyPr/>
          <a:lstStyle/>
          <a:p>
            <a:r>
              <a:rPr lang="en-CA" sz="2800"/>
              <a:t>WHY DO WE CARE ABOUT AI &amp; DIGITIZATION NOW?</a:t>
            </a:r>
          </a:p>
        </p:txBody>
      </p:sp>
      <p:sp>
        <p:nvSpPr>
          <p:cNvPr id="3" name="Slide Number Placeholder 2">
            <a:extLst>
              <a:ext uri="{FF2B5EF4-FFF2-40B4-BE49-F238E27FC236}">
                <a16:creationId xmlns:a16="http://schemas.microsoft.com/office/drawing/2014/main" id="{620029C2-3D9A-E5D0-7B25-8E9515E845F3}"/>
              </a:ext>
            </a:extLst>
          </p:cNvPr>
          <p:cNvSpPr>
            <a:spLocks noGrp="1"/>
          </p:cNvSpPr>
          <p:nvPr>
            <p:ph type="sldNum" sz="quarter" idx="4"/>
          </p:nvPr>
        </p:nvSpPr>
        <p:spPr/>
        <p:txBody>
          <a:bodyPr/>
          <a:lstStyle/>
          <a:p>
            <a:fld id="{07165E6F-54ED-4977-A15E-D44BE7238A65}" type="slidenum">
              <a:rPr lang="en-US" smtClean="0"/>
              <a:pPr/>
              <a:t>3</a:t>
            </a:fld>
            <a:endParaRPr lang="en-US"/>
          </a:p>
        </p:txBody>
      </p:sp>
      <p:sp>
        <p:nvSpPr>
          <p:cNvPr id="4" name="Footer Placeholder 3">
            <a:extLst>
              <a:ext uri="{FF2B5EF4-FFF2-40B4-BE49-F238E27FC236}">
                <a16:creationId xmlns:a16="http://schemas.microsoft.com/office/drawing/2014/main" id="{2FC8F02C-1016-5D43-2609-BD56FAB8E0BD}"/>
              </a:ext>
            </a:extLst>
          </p:cNvPr>
          <p:cNvSpPr>
            <a:spLocks noGrp="1"/>
          </p:cNvSpPr>
          <p:nvPr>
            <p:ph type="ftr" sz="quarter" idx="3"/>
          </p:nvPr>
        </p:nvSpPr>
        <p:spPr/>
        <p:txBody>
          <a:bodyPr/>
          <a:lstStyle/>
          <a:p>
            <a:r>
              <a:rPr lang="en-US"/>
              <a:t>EXPORT MARKING: (Insert Export Marking) [TO CHANGE GO TO INSERT &gt; HEADER &amp; FOOTER] </a:t>
            </a:r>
          </a:p>
        </p:txBody>
      </p:sp>
      <p:sp>
        <p:nvSpPr>
          <p:cNvPr id="9" name="Text Placeholder 11">
            <a:extLst>
              <a:ext uri="{FF2B5EF4-FFF2-40B4-BE49-F238E27FC236}">
                <a16:creationId xmlns:a16="http://schemas.microsoft.com/office/drawing/2014/main" id="{74558B30-EF36-B921-62AA-77C6EED7377E}"/>
              </a:ext>
            </a:extLst>
          </p:cNvPr>
          <p:cNvSpPr txBox="1">
            <a:spLocks/>
          </p:cNvSpPr>
          <p:nvPr/>
        </p:nvSpPr>
        <p:spPr>
          <a:xfrm>
            <a:off x="1220428" y="1106070"/>
            <a:ext cx="9751144" cy="320088"/>
          </a:xfrm>
          <a:prstGeom prst="rect">
            <a:avLst/>
          </a:prstGeom>
          <a:solidFill>
            <a:schemeClr val="bg2">
              <a:lumMod val="85000"/>
            </a:schemeClr>
          </a:solidFill>
          <a:ln>
            <a:solidFill>
              <a:schemeClr val="tx1"/>
            </a:solidFill>
          </a:ln>
        </p:spPr>
        <p:txBody>
          <a:bodyPr vert="horz" wrap="square" lIns="621792" tIns="36576" rIns="621792" bIns="36576" rtlCol="0" anchor="b" anchorCtr="0">
            <a:spAutoFit/>
          </a:bodyPr>
          <a:lstStyle>
            <a:lvl1pPr marL="0" indent="0" algn="ctr" defTabSz="0" rtl="0" eaLnBrk="1" latinLnBrk="0" hangingPunct="1">
              <a:lnSpc>
                <a:spcPct val="100000"/>
              </a:lnSpc>
              <a:spcBef>
                <a:spcPts val="0"/>
              </a:spcBef>
              <a:spcAft>
                <a:spcPts val="600"/>
              </a:spcAft>
              <a:buClr>
                <a:schemeClr val="tx2"/>
              </a:buClr>
              <a:buSzPct val="100000"/>
              <a:buFontTx/>
              <a:buNone/>
              <a:defRPr lang="en-US" sz="1600" b="1" kern="1200" dirty="0">
                <a:solidFill>
                  <a:schemeClr val="tx1"/>
                </a:solidFill>
                <a:latin typeface="Arial" panose="020B0604020202020204" pitchFamily="34" charset="0"/>
                <a:ea typeface="+mj-ea"/>
                <a:cs typeface="Arial" panose="020B0604020202020204" pitchFamily="34" charset="0"/>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b="0" i="1"/>
              <a:t>The global A&amp;D market can unlock </a:t>
            </a:r>
            <a:r>
              <a:rPr lang="en-CA" i="1"/>
              <a:t>over $20 billion in annual value from digitization</a:t>
            </a:r>
          </a:p>
        </p:txBody>
      </p:sp>
      <p:sp>
        <p:nvSpPr>
          <p:cNvPr id="10" name="Text Placeholder 11">
            <a:extLst>
              <a:ext uri="{FF2B5EF4-FFF2-40B4-BE49-F238E27FC236}">
                <a16:creationId xmlns:a16="http://schemas.microsoft.com/office/drawing/2014/main" id="{6CCF5916-C3A1-412D-11EF-58C1036455AB}"/>
              </a:ext>
            </a:extLst>
          </p:cNvPr>
          <p:cNvSpPr txBox="1">
            <a:spLocks/>
          </p:cNvSpPr>
          <p:nvPr/>
        </p:nvSpPr>
        <p:spPr>
          <a:xfrm>
            <a:off x="1220428" y="2111762"/>
            <a:ext cx="9751144" cy="566309"/>
          </a:xfrm>
          <a:prstGeom prst="rect">
            <a:avLst/>
          </a:prstGeom>
          <a:solidFill>
            <a:schemeClr val="bg2">
              <a:lumMod val="85000"/>
            </a:schemeClr>
          </a:solidFill>
          <a:ln>
            <a:solidFill>
              <a:schemeClr val="tx1"/>
            </a:solidFill>
          </a:ln>
        </p:spPr>
        <p:txBody>
          <a:bodyPr vert="horz" wrap="square" lIns="621792" tIns="36576" rIns="621792" bIns="36576" rtlCol="0" anchor="b" anchorCtr="0">
            <a:spAutoFit/>
          </a:bodyPr>
          <a:lstStyle>
            <a:lvl1pPr marL="0" indent="0" algn="ctr" defTabSz="0" rtl="0" eaLnBrk="1" latinLnBrk="0" hangingPunct="1">
              <a:lnSpc>
                <a:spcPct val="100000"/>
              </a:lnSpc>
              <a:spcBef>
                <a:spcPts val="0"/>
              </a:spcBef>
              <a:spcAft>
                <a:spcPts val="600"/>
              </a:spcAft>
              <a:buClr>
                <a:schemeClr val="tx2"/>
              </a:buClr>
              <a:buSzPct val="100000"/>
              <a:buFontTx/>
              <a:buNone/>
              <a:defRPr lang="en-US" sz="1600" b="1" kern="1200" dirty="0">
                <a:solidFill>
                  <a:schemeClr val="tx1"/>
                </a:solidFill>
                <a:latin typeface="Arial" panose="020B0604020202020204" pitchFamily="34" charset="0"/>
                <a:ea typeface="+mj-ea"/>
                <a:cs typeface="Arial" panose="020B0604020202020204" pitchFamily="34" charset="0"/>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i="1"/>
              <a:t>Proven past examples - Pratt &amp; Whitney Canada’s</a:t>
            </a:r>
            <a:r>
              <a:rPr lang="en-CA" b="0" i="1"/>
              <a:t> AI - enhanced oil analysis technology in 2017 </a:t>
            </a:r>
            <a:r>
              <a:rPr lang="en-CA" i="1"/>
              <a:t>saved PW210 customers over $1 million</a:t>
            </a:r>
            <a:r>
              <a:rPr lang="en-CA" b="0" i="1"/>
              <a:t> in averted secondary damage </a:t>
            </a:r>
          </a:p>
        </p:txBody>
      </p:sp>
      <p:sp>
        <p:nvSpPr>
          <p:cNvPr id="12" name="Text Placeholder 11">
            <a:extLst>
              <a:ext uri="{FF2B5EF4-FFF2-40B4-BE49-F238E27FC236}">
                <a16:creationId xmlns:a16="http://schemas.microsoft.com/office/drawing/2014/main" id="{A0A16EAF-2DDD-BAEB-78F3-B49DD42272D3}"/>
              </a:ext>
            </a:extLst>
          </p:cNvPr>
          <p:cNvSpPr txBox="1">
            <a:spLocks/>
          </p:cNvSpPr>
          <p:nvPr/>
        </p:nvSpPr>
        <p:spPr>
          <a:xfrm>
            <a:off x="1220428" y="1611506"/>
            <a:ext cx="9751144" cy="320088"/>
          </a:xfrm>
          <a:prstGeom prst="rect">
            <a:avLst/>
          </a:prstGeom>
          <a:solidFill>
            <a:schemeClr val="bg2">
              <a:lumMod val="85000"/>
            </a:schemeClr>
          </a:solidFill>
          <a:ln>
            <a:solidFill>
              <a:schemeClr val="tx1"/>
            </a:solidFill>
          </a:ln>
        </p:spPr>
        <p:txBody>
          <a:bodyPr vert="horz" wrap="square" lIns="621792" tIns="36576" rIns="621792" bIns="36576" rtlCol="0" anchor="b" anchorCtr="0">
            <a:spAutoFit/>
          </a:bodyPr>
          <a:lstStyle>
            <a:lvl1pPr marL="0" indent="0" algn="ctr" defTabSz="0" rtl="0" eaLnBrk="1" latinLnBrk="0" hangingPunct="1">
              <a:lnSpc>
                <a:spcPct val="100000"/>
              </a:lnSpc>
              <a:spcBef>
                <a:spcPts val="0"/>
              </a:spcBef>
              <a:spcAft>
                <a:spcPts val="600"/>
              </a:spcAft>
              <a:buClr>
                <a:schemeClr val="tx2"/>
              </a:buClr>
              <a:buSzPct val="100000"/>
              <a:buFontTx/>
              <a:buNone/>
              <a:defRPr lang="en-US" sz="1600" b="1" kern="1200" dirty="0">
                <a:solidFill>
                  <a:schemeClr val="tx1"/>
                </a:solidFill>
                <a:latin typeface="Arial" panose="020B0604020202020204" pitchFamily="34" charset="0"/>
                <a:ea typeface="+mj-ea"/>
                <a:cs typeface="Arial" panose="020B0604020202020204" pitchFamily="34" charset="0"/>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b="0" i="1"/>
              <a:t>In 2024, </a:t>
            </a:r>
            <a:r>
              <a:rPr lang="en-CA" i="1"/>
              <a:t>North America dominated AI in A&amp;D </a:t>
            </a:r>
            <a:r>
              <a:rPr lang="en-CA" b="0" i="1"/>
              <a:t>with the largest market share of 41%</a:t>
            </a:r>
          </a:p>
        </p:txBody>
      </p:sp>
      <p:grpSp>
        <p:nvGrpSpPr>
          <p:cNvPr id="18" name="Group 17">
            <a:extLst>
              <a:ext uri="{FF2B5EF4-FFF2-40B4-BE49-F238E27FC236}">
                <a16:creationId xmlns:a16="http://schemas.microsoft.com/office/drawing/2014/main" id="{7A4B6719-C0DF-8FC3-FC6D-D2AAAC24DD8B}"/>
              </a:ext>
            </a:extLst>
          </p:cNvPr>
          <p:cNvGrpSpPr/>
          <p:nvPr/>
        </p:nvGrpSpPr>
        <p:grpSpPr>
          <a:xfrm>
            <a:off x="2677365" y="3089855"/>
            <a:ext cx="8294207" cy="1196410"/>
            <a:chOff x="1983587" y="3161542"/>
            <a:chExt cx="9000000" cy="1298218"/>
          </a:xfrm>
        </p:grpSpPr>
        <p:pic>
          <p:nvPicPr>
            <p:cNvPr id="14" name="Picture 13">
              <a:extLst>
                <a:ext uri="{FF2B5EF4-FFF2-40B4-BE49-F238E27FC236}">
                  <a16:creationId xmlns:a16="http://schemas.microsoft.com/office/drawing/2014/main" id="{1C36ADBB-79CA-F79C-DFE4-99426F4E8DA5}"/>
                </a:ext>
              </a:extLst>
            </p:cNvPr>
            <p:cNvPicPr>
              <a:picLocks noChangeAspect="1"/>
            </p:cNvPicPr>
            <p:nvPr/>
          </p:nvPicPr>
          <p:blipFill>
            <a:blip r:embed="rId3"/>
            <a:srcRect t="1235" b="85745"/>
            <a:stretch>
              <a:fillRect/>
            </a:stretch>
          </p:blipFill>
          <p:spPr>
            <a:xfrm>
              <a:off x="1983587" y="3161542"/>
              <a:ext cx="9000000" cy="474851"/>
            </a:xfrm>
            <a:prstGeom prst="rect">
              <a:avLst/>
            </a:prstGeom>
            <a:ln>
              <a:noFill/>
            </a:ln>
          </p:spPr>
        </p:pic>
        <p:pic>
          <p:nvPicPr>
            <p:cNvPr id="15" name="Picture 14">
              <a:extLst>
                <a:ext uri="{FF2B5EF4-FFF2-40B4-BE49-F238E27FC236}">
                  <a16:creationId xmlns:a16="http://schemas.microsoft.com/office/drawing/2014/main" id="{2D8B2A84-7B8D-66F9-85AE-CDED11132649}"/>
                </a:ext>
              </a:extLst>
            </p:cNvPr>
            <p:cNvPicPr>
              <a:picLocks noChangeAspect="1"/>
            </p:cNvPicPr>
            <p:nvPr/>
          </p:nvPicPr>
          <p:blipFill>
            <a:blip r:embed="rId3"/>
            <a:srcRect t="47880" b="30736"/>
            <a:stretch>
              <a:fillRect/>
            </a:stretch>
          </p:blipFill>
          <p:spPr>
            <a:xfrm>
              <a:off x="1983587" y="3679902"/>
              <a:ext cx="9000000" cy="779858"/>
            </a:xfrm>
            <a:prstGeom prst="rect">
              <a:avLst/>
            </a:prstGeom>
            <a:ln>
              <a:noFill/>
            </a:ln>
          </p:spPr>
        </p:pic>
      </p:grpSp>
      <p:grpSp>
        <p:nvGrpSpPr>
          <p:cNvPr id="20" name="Group 19">
            <a:extLst>
              <a:ext uri="{FF2B5EF4-FFF2-40B4-BE49-F238E27FC236}">
                <a16:creationId xmlns:a16="http://schemas.microsoft.com/office/drawing/2014/main" id="{79A15EED-7040-B926-95B6-7CC3CC75E862}"/>
              </a:ext>
            </a:extLst>
          </p:cNvPr>
          <p:cNvGrpSpPr/>
          <p:nvPr/>
        </p:nvGrpSpPr>
        <p:grpSpPr>
          <a:xfrm>
            <a:off x="3540845" y="4638514"/>
            <a:ext cx="7230119" cy="1570443"/>
            <a:chOff x="2273731" y="4514222"/>
            <a:chExt cx="7230119" cy="1570443"/>
          </a:xfrm>
        </p:grpSpPr>
        <p:pic>
          <p:nvPicPr>
            <p:cNvPr id="17" name="Picture 16">
              <a:extLst>
                <a:ext uri="{FF2B5EF4-FFF2-40B4-BE49-F238E27FC236}">
                  <a16:creationId xmlns:a16="http://schemas.microsoft.com/office/drawing/2014/main" id="{177765F9-6444-3A3D-1AD9-8D32768A1741}"/>
                </a:ext>
              </a:extLst>
            </p:cNvPr>
            <p:cNvPicPr>
              <a:picLocks noChangeAspect="1"/>
            </p:cNvPicPr>
            <p:nvPr/>
          </p:nvPicPr>
          <p:blipFill>
            <a:blip r:embed="rId4"/>
            <a:srcRect t="13873" b="79325"/>
            <a:stretch>
              <a:fillRect/>
            </a:stretch>
          </p:blipFill>
          <p:spPr>
            <a:xfrm>
              <a:off x="2273732" y="4514222"/>
              <a:ext cx="7230110" cy="355675"/>
            </a:xfrm>
            <a:prstGeom prst="rect">
              <a:avLst/>
            </a:prstGeom>
          </p:spPr>
        </p:pic>
        <p:pic>
          <p:nvPicPr>
            <p:cNvPr id="19" name="Picture 18">
              <a:extLst>
                <a:ext uri="{FF2B5EF4-FFF2-40B4-BE49-F238E27FC236}">
                  <a16:creationId xmlns:a16="http://schemas.microsoft.com/office/drawing/2014/main" id="{A7C475FD-884C-62AC-F70E-691ABBFFFC35}"/>
                </a:ext>
              </a:extLst>
            </p:cNvPr>
            <p:cNvPicPr>
              <a:picLocks noChangeAspect="1"/>
            </p:cNvPicPr>
            <p:nvPr/>
          </p:nvPicPr>
          <p:blipFill>
            <a:blip r:embed="rId4"/>
            <a:srcRect t="74646" b="240"/>
            <a:stretch>
              <a:fillRect/>
            </a:stretch>
          </p:blipFill>
          <p:spPr>
            <a:xfrm>
              <a:off x="2273731" y="4771397"/>
              <a:ext cx="7230119" cy="1313268"/>
            </a:xfrm>
            <a:prstGeom prst="rect">
              <a:avLst/>
            </a:prstGeom>
          </p:spPr>
        </p:pic>
      </p:grpSp>
      <p:pic>
        <p:nvPicPr>
          <p:cNvPr id="22" name="Picture 21">
            <a:extLst>
              <a:ext uri="{FF2B5EF4-FFF2-40B4-BE49-F238E27FC236}">
                <a16:creationId xmlns:a16="http://schemas.microsoft.com/office/drawing/2014/main" id="{C8818A2E-9286-B149-DF50-482464A46BA3}"/>
              </a:ext>
            </a:extLst>
          </p:cNvPr>
          <p:cNvPicPr>
            <a:picLocks noChangeAspect="1"/>
          </p:cNvPicPr>
          <p:nvPr/>
        </p:nvPicPr>
        <p:blipFill>
          <a:blip r:embed="rId5"/>
          <a:stretch>
            <a:fillRect/>
          </a:stretch>
        </p:blipFill>
        <p:spPr>
          <a:xfrm>
            <a:off x="1326229" y="3348758"/>
            <a:ext cx="1141918" cy="437614"/>
          </a:xfrm>
          <a:prstGeom prst="rect">
            <a:avLst/>
          </a:prstGeom>
        </p:spPr>
      </p:pic>
      <p:sp>
        <p:nvSpPr>
          <p:cNvPr id="23" name="TextBox 22">
            <a:extLst>
              <a:ext uri="{FF2B5EF4-FFF2-40B4-BE49-F238E27FC236}">
                <a16:creationId xmlns:a16="http://schemas.microsoft.com/office/drawing/2014/main" id="{B4873748-BF4F-1F42-0BF1-14F13DC83DBA}"/>
              </a:ext>
            </a:extLst>
          </p:cNvPr>
          <p:cNvSpPr txBox="1"/>
          <p:nvPr/>
        </p:nvSpPr>
        <p:spPr>
          <a:xfrm>
            <a:off x="1220428" y="5105599"/>
            <a:ext cx="2280878" cy="646331"/>
          </a:xfrm>
          <a:prstGeom prst="rect">
            <a:avLst/>
          </a:prstGeom>
          <a:noFill/>
        </p:spPr>
        <p:txBody>
          <a:bodyPr wrap="square" rtlCol="0">
            <a:spAutoFit/>
          </a:bodyPr>
          <a:lstStyle/>
          <a:p>
            <a:pPr algn="ctr"/>
            <a:r>
              <a:rPr lang="en-CA" b="1"/>
              <a:t>Operations</a:t>
            </a:r>
          </a:p>
          <a:p>
            <a:pPr algn="ctr"/>
            <a:r>
              <a:rPr lang="en-CA" b="1"/>
              <a:t>Goal Alignment</a:t>
            </a:r>
          </a:p>
        </p:txBody>
      </p:sp>
      <p:sp>
        <p:nvSpPr>
          <p:cNvPr id="24" name="Rectangle 23">
            <a:extLst>
              <a:ext uri="{FF2B5EF4-FFF2-40B4-BE49-F238E27FC236}">
                <a16:creationId xmlns:a16="http://schemas.microsoft.com/office/drawing/2014/main" id="{462B469A-CEBD-4570-6EA3-4B7CF3DC174C}"/>
              </a:ext>
            </a:extLst>
          </p:cNvPr>
          <p:cNvSpPr/>
          <p:nvPr/>
        </p:nvSpPr>
        <p:spPr>
          <a:xfrm>
            <a:off x="6934824" y="5687184"/>
            <a:ext cx="3710354" cy="28636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049347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A7C7D2-8762-E4FA-18FA-DB6A590DE35F}"/>
              </a:ext>
            </a:extLst>
          </p:cNvPr>
          <p:cNvSpPr>
            <a:spLocks noGrp="1"/>
          </p:cNvSpPr>
          <p:nvPr>
            <p:ph type="body" sz="quarter" idx="13"/>
          </p:nvPr>
        </p:nvSpPr>
        <p:spPr>
          <a:xfrm>
            <a:off x="694944" y="1143000"/>
            <a:ext cx="10943196" cy="4804291"/>
          </a:xfrm>
        </p:spPr>
        <p:txBody>
          <a:bodyPr vert="horz" lIns="0" tIns="0" rIns="0" bIns="0" rtlCol="0" anchor="t">
            <a:noAutofit/>
          </a:bodyPr>
          <a:lstStyle/>
          <a:p>
            <a:pPr marL="0" indent="0" fontAlgn="base">
              <a:spcAft>
                <a:spcPts val="400"/>
              </a:spcAft>
              <a:buNone/>
            </a:pPr>
            <a:r>
              <a:rPr lang="en-CA" sz="1400" b="1" dirty="0"/>
              <a:t>Hallucinations and Factual Errors</a:t>
            </a:r>
            <a:r>
              <a:rPr lang="en-US" sz="1400" dirty="0"/>
              <a:t>​</a:t>
            </a:r>
          </a:p>
          <a:p>
            <a:pPr fontAlgn="base">
              <a:spcAft>
                <a:spcPts val="400"/>
              </a:spcAft>
            </a:pPr>
            <a:r>
              <a:rPr lang="en-CA" sz="1200">
                <a:cs typeface="Arial"/>
              </a:rPr>
              <a:t>Can confidently state incorrect technical specifications​</a:t>
            </a:r>
          </a:p>
          <a:p>
            <a:pPr>
              <a:spcAft>
                <a:spcPts val="400"/>
              </a:spcAft>
            </a:pPr>
            <a:r>
              <a:rPr lang="en-CA" sz="1200">
                <a:cs typeface="Arial"/>
              </a:rPr>
              <a:t>May invent plausible-sounding but false regulations</a:t>
            </a:r>
            <a:r>
              <a:rPr lang="en-US" sz="1200">
                <a:cs typeface="Arial"/>
              </a:rPr>
              <a:t>​</a:t>
            </a:r>
            <a:endParaRPr lang="en-CA"/>
          </a:p>
          <a:p>
            <a:pPr marL="0" indent="0" fontAlgn="base">
              <a:spcAft>
                <a:spcPts val="400"/>
              </a:spcAft>
              <a:buNone/>
            </a:pPr>
            <a:endParaRPr lang="en-CA" sz="600"/>
          </a:p>
          <a:p>
            <a:pPr marL="0" indent="0" fontAlgn="base">
              <a:spcAft>
                <a:spcPts val="400"/>
              </a:spcAft>
              <a:buNone/>
            </a:pPr>
            <a:r>
              <a:rPr lang="en-CA" sz="1400" b="1" dirty="0"/>
              <a:t>Lack of Determinism</a:t>
            </a:r>
            <a:r>
              <a:rPr lang="en-US" sz="1400" dirty="0"/>
              <a:t>​</a:t>
            </a:r>
            <a:endParaRPr lang="en-US" sz="1400" dirty="0">
              <a:cs typeface="Arial"/>
            </a:endParaRPr>
          </a:p>
          <a:p>
            <a:pPr fontAlgn="base">
              <a:spcAft>
                <a:spcPts val="400"/>
              </a:spcAft>
            </a:pPr>
            <a:r>
              <a:rPr lang="en-CA" sz="1200" dirty="0"/>
              <a:t>Same input can produce different outputs</a:t>
            </a:r>
            <a:r>
              <a:rPr lang="en-US" sz="1200" dirty="0"/>
              <a:t>​</a:t>
            </a:r>
            <a:endParaRPr lang="en-US" sz="1200" dirty="0">
              <a:cs typeface="Arial"/>
            </a:endParaRPr>
          </a:p>
          <a:p>
            <a:pPr marL="0" indent="0" fontAlgn="base">
              <a:spcAft>
                <a:spcPts val="400"/>
              </a:spcAft>
              <a:buNone/>
            </a:pPr>
            <a:endParaRPr lang="en-CA" sz="600"/>
          </a:p>
          <a:p>
            <a:pPr marL="0" indent="0" fontAlgn="base">
              <a:spcAft>
                <a:spcPts val="400"/>
              </a:spcAft>
              <a:buNone/>
            </a:pPr>
            <a:r>
              <a:rPr lang="en-CA" sz="1400" b="1" dirty="0"/>
              <a:t>No Domain-Specific Training</a:t>
            </a:r>
            <a:r>
              <a:rPr lang="en-CA" sz="1400" dirty="0"/>
              <a:t>​</a:t>
            </a:r>
            <a:endParaRPr lang="en-CA" sz="1400" dirty="0">
              <a:cs typeface="Arial"/>
            </a:endParaRPr>
          </a:p>
          <a:p>
            <a:pPr fontAlgn="base">
              <a:spcAft>
                <a:spcPts val="400"/>
              </a:spcAft>
            </a:pPr>
            <a:r>
              <a:rPr lang="en-CA" sz="1200" dirty="0"/>
              <a:t>Trained on internet text, not proprietary RTX data</a:t>
            </a:r>
            <a:r>
              <a:rPr lang="en-US" sz="1200" dirty="0"/>
              <a:t>​</a:t>
            </a:r>
            <a:endParaRPr lang="en-US" sz="1200" dirty="0">
              <a:cs typeface="Arial"/>
            </a:endParaRPr>
          </a:p>
          <a:p>
            <a:pPr fontAlgn="base">
              <a:spcAft>
                <a:spcPts val="400"/>
              </a:spcAft>
            </a:pPr>
            <a:r>
              <a:rPr lang="en-CA" sz="1200" dirty="0"/>
              <a:t>Doesn't understand RTX specific procedures</a:t>
            </a:r>
            <a:r>
              <a:rPr lang="en-US" sz="1200" dirty="0"/>
              <a:t>​</a:t>
            </a:r>
            <a:endParaRPr lang="en-US" sz="1200" dirty="0">
              <a:cs typeface="Arial"/>
            </a:endParaRPr>
          </a:p>
          <a:p>
            <a:pPr marL="0" indent="0" fontAlgn="base">
              <a:spcAft>
                <a:spcPts val="400"/>
              </a:spcAft>
              <a:buNone/>
            </a:pPr>
            <a:endParaRPr lang="en-CA" sz="600"/>
          </a:p>
          <a:p>
            <a:pPr marL="0" indent="0" fontAlgn="base">
              <a:spcAft>
                <a:spcPts val="400"/>
              </a:spcAft>
              <a:buNone/>
            </a:pPr>
            <a:r>
              <a:rPr lang="en-CA" sz="1400" b="1" dirty="0"/>
              <a:t>Regulatory and Liability Issues</a:t>
            </a:r>
            <a:r>
              <a:rPr lang="en-US" sz="1400" dirty="0"/>
              <a:t>​</a:t>
            </a:r>
            <a:endParaRPr lang="en-US" sz="1400" dirty="0">
              <a:cs typeface="Arial"/>
            </a:endParaRPr>
          </a:p>
          <a:p>
            <a:pPr fontAlgn="base">
              <a:spcAft>
                <a:spcPts val="400"/>
              </a:spcAft>
            </a:pPr>
            <a:r>
              <a:rPr lang="en-CA" sz="1200" dirty="0"/>
              <a:t>Who is responsible when AI makes an error?</a:t>
            </a:r>
            <a:r>
              <a:rPr lang="en-US" sz="1200" dirty="0"/>
              <a:t>​</a:t>
            </a:r>
            <a:endParaRPr lang="en-US" sz="1200" dirty="0">
              <a:cs typeface="Arial"/>
            </a:endParaRPr>
          </a:p>
          <a:p>
            <a:pPr marL="0" indent="0" fontAlgn="base">
              <a:spcAft>
                <a:spcPts val="400"/>
              </a:spcAft>
              <a:buNone/>
            </a:pPr>
            <a:endParaRPr lang="en-CA" sz="600"/>
          </a:p>
          <a:p>
            <a:pPr marL="0" indent="0" fontAlgn="base">
              <a:spcAft>
                <a:spcPts val="400"/>
              </a:spcAft>
              <a:buNone/>
            </a:pPr>
            <a:r>
              <a:rPr lang="en-CA" sz="1400" b="1" dirty="0"/>
              <a:t>Data Security Concerns</a:t>
            </a:r>
            <a:r>
              <a:rPr lang="en-CA" sz="1400" dirty="0"/>
              <a:t>​</a:t>
            </a:r>
            <a:endParaRPr lang="en-CA" sz="1400" dirty="0">
              <a:cs typeface="Arial"/>
            </a:endParaRPr>
          </a:p>
          <a:p>
            <a:pPr fontAlgn="base">
              <a:spcAft>
                <a:spcPts val="400"/>
              </a:spcAft>
            </a:pPr>
            <a:r>
              <a:rPr lang="en-CA" sz="1200" dirty="0"/>
              <a:t>Can't send proprietary data to external APIs</a:t>
            </a:r>
            <a:r>
              <a:rPr lang="en-US" sz="1200" dirty="0"/>
              <a:t>​</a:t>
            </a:r>
            <a:endParaRPr lang="en-US" sz="1200" dirty="0">
              <a:cs typeface="Arial"/>
            </a:endParaRPr>
          </a:p>
          <a:p>
            <a:pPr fontAlgn="base">
              <a:spcAft>
                <a:spcPts val="400"/>
              </a:spcAft>
            </a:pPr>
            <a:r>
              <a:rPr lang="en-CA" sz="1200" dirty="0"/>
              <a:t>Risk of information leakage</a:t>
            </a:r>
            <a:r>
              <a:rPr lang="en-US" sz="1200" dirty="0"/>
              <a:t>​</a:t>
            </a:r>
            <a:endParaRPr lang="en-US" sz="1200" dirty="0">
              <a:cs typeface="Arial"/>
            </a:endParaRPr>
          </a:p>
          <a:p>
            <a:pPr marL="0" indent="0" fontAlgn="base">
              <a:spcAft>
                <a:spcPts val="400"/>
              </a:spcAft>
              <a:buNone/>
            </a:pPr>
            <a:endParaRPr lang="en-CA" sz="600"/>
          </a:p>
          <a:p>
            <a:pPr marL="0" indent="0" fontAlgn="base">
              <a:spcAft>
                <a:spcPts val="400"/>
              </a:spcAft>
              <a:buNone/>
            </a:pPr>
            <a:r>
              <a:rPr lang="en-CA" sz="1400" b="1" dirty="0"/>
              <a:t>Lack of Explainability</a:t>
            </a:r>
            <a:r>
              <a:rPr lang="en-CA" sz="1400" dirty="0"/>
              <a:t>​</a:t>
            </a:r>
            <a:endParaRPr lang="en-CA" sz="1400" dirty="0">
              <a:cs typeface="Arial"/>
            </a:endParaRPr>
          </a:p>
          <a:p>
            <a:pPr fontAlgn="base">
              <a:spcAft>
                <a:spcPts val="400"/>
              </a:spcAft>
            </a:pPr>
            <a:r>
              <a:rPr lang="en-CA" sz="1200" dirty="0"/>
              <a:t>"Black box" decisions unacceptable for accident investigation​</a:t>
            </a:r>
            <a:endParaRPr lang="en-CA" sz="1200" dirty="0">
              <a:cs typeface="Arial"/>
            </a:endParaRPr>
          </a:p>
        </p:txBody>
      </p:sp>
      <p:sp>
        <p:nvSpPr>
          <p:cNvPr id="3" name="Title 2">
            <a:extLst>
              <a:ext uri="{FF2B5EF4-FFF2-40B4-BE49-F238E27FC236}">
                <a16:creationId xmlns:a16="http://schemas.microsoft.com/office/drawing/2014/main" id="{0AD9A006-8B5E-17EE-F692-4184E379E02F}"/>
              </a:ext>
            </a:extLst>
          </p:cNvPr>
          <p:cNvSpPr>
            <a:spLocks noGrp="1"/>
          </p:cNvSpPr>
          <p:nvPr>
            <p:ph type="title"/>
          </p:nvPr>
        </p:nvSpPr>
        <p:spPr>
          <a:xfrm>
            <a:off x="694944" y="466347"/>
            <a:ext cx="10801497" cy="676653"/>
          </a:xfrm>
        </p:spPr>
        <p:txBody>
          <a:bodyPr/>
          <a:lstStyle/>
          <a:p>
            <a:r>
              <a:rPr lang="en-CA" sz="2800">
                <a:cs typeface="Arial"/>
              </a:rPr>
              <a:t>ISSUES WITH USING NON-APPROVED AI TOOLS WITHIN RTX</a:t>
            </a:r>
          </a:p>
        </p:txBody>
      </p:sp>
      <p:sp>
        <p:nvSpPr>
          <p:cNvPr id="5" name="Slide Number Placeholder 4">
            <a:extLst>
              <a:ext uri="{FF2B5EF4-FFF2-40B4-BE49-F238E27FC236}">
                <a16:creationId xmlns:a16="http://schemas.microsoft.com/office/drawing/2014/main" id="{44158369-8937-1093-B686-771901ACF384}"/>
              </a:ext>
            </a:extLst>
          </p:cNvPr>
          <p:cNvSpPr>
            <a:spLocks noGrp="1"/>
          </p:cNvSpPr>
          <p:nvPr>
            <p:ph type="sldNum" sz="quarter" idx="4"/>
          </p:nvPr>
        </p:nvSpPr>
        <p:spPr/>
        <p:txBody>
          <a:bodyPr/>
          <a:lstStyle/>
          <a:p>
            <a:fld id="{07165E6F-54ED-4977-A15E-D44BE7238A65}" type="slidenum">
              <a:rPr lang="en-US" smtClean="0"/>
              <a:pPr/>
              <a:t>4</a:t>
            </a:fld>
            <a:endParaRPr lang="en-US"/>
          </a:p>
        </p:txBody>
      </p:sp>
      <p:sp>
        <p:nvSpPr>
          <p:cNvPr id="6" name="Footer Placeholder 5">
            <a:extLst>
              <a:ext uri="{FF2B5EF4-FFF2-40B4-BE49-F238E27FC236}">
                <a16:creationId xmlns:a16="http://schemas.microsoft.com/office/drawing/2014/main" id="{A41831CC-BCD6-5240-0633-CC9C0F24C66C}"/>
              </a:ext>
            </a:extLst>
          </p:cNvPr>
          <p:cNvSpPr>
            <a:spLocks noGrp="1"/>
          </p:cNvSpPr>
          <p:nvPr>
            <p:ph type="ftr" sz="quarter" idx="3"/>
          </p:nvPr>
        </p:nvSpPr>
        <p:spPr/>
        <p:txBody>
          <a:bodyPr/>
          <a:lstStyle/>
          <a:p>
            <a:r>
              <a:rPr lang="en-US"/>
              <a:t>EXPORT MARKING: (Insert Export Marking) [TO CHANGE GO TO INSERT &gt; HEADER &amp; FOOTER] </a:t>
            </a:r>
          </a:p>
        </p:txBody>
      </p:sp>
      <p:pic>
        <p:nvPicPr>
          <p:cNvPr id="9" name="Picture 2" descr="No AI Plagiarism in ChatGPT Research Paper Writing! - iLovePhD">
            <a:extLst>
              <a:ext uri="{FF2B5EF4-FFF2-40B4-BE49-F238E27FC236}">
                <a16:creationId xmlns:a16="http://schemas.microsoft.com/office/drawing/2014/main" id="{5C3D06DD-8AA6-DA96-2242-91591198A1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288" t="11115" r="33390" b="20791"/>
          <a:stretch>
            <a:fillRect/>
          </a:stretch>
        </p:blipFill>
        <p:spPr bwMode="auto">
          <a:xfrm>
            <a:off x="6727314" y="1281401"/>
            <a:ext cx="1182144" cy="131925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pilot-logo-color - Parsec Automation, LLC">
            <a:extLst>
              <a:ext uri="{FF2B5EF4-FFF2-40B4-BE49-F238E27FC236}">
                <a16:creationId xmlns:a16="http://schemas.microsoft.com/office/drawing/2014/main" id="{A9E3936E-4B8E-2A17-0347-006A5753B1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2522" y="1891320"/>
            <a:ext cx="2363814" cy="74066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Google Gemini Logo PNG With Transparent Background">
            <a:extLst>
              <a:ext uri="{FF2B5EF4-FFF2-40B4-BE49-F238E27FC236}">
                <a16:creationId xmlns:a16="http://schemas.microsoft.com/office/drawing/2014/main" id="{C5239E12-B54C-0BAE-87FF-0F1CD87438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3232" y="3374012"/>
            <a:ext cx="2017837" cy="74066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44859779-D926-C9D3-8F60-5719513C13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31769" y="3269286"/>
            <a:ext cx="2105671" cy="454703"/>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Descript - Is This The Best AI Audio Tool in 2024? 🏆">
            <a:extLst>
              <a:ext uri="{FF2B5EF4-FFF2-40B4-BE49-F238E27FC236}">
                <a16:creationId xmlns:a16="http://schemas.microsoft.com/office/drawing/2014/main" id="{1227B148-ACE7-5E48-274A-51D3EED821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85445" y="4805033"/>
            <a:ext cx="2543659" cy="600304"/>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3">
            <a:extLst>
              <a:ext uri="{FF2B5EF4-FFF2-40B4-BE49-F238E27FC236}">
                <a16:creationId xmlns:a16="http://schemas.microsoft.com/office/drawing/2014/main" id="{B28B869C-9587-7ACF-1D88-87BE00A208A4}"/>
              </a:ext>
            </a:extLst>
          </p:cNvPr>
          <p:cNvSpPr>
            <a:spLocks noGrp="1"/>
          </p:cNvSpPr>
          <p:nvPr>
            <p:ph type="body" sz="quarter" idx="15"/>
          </p:nvPr>
        </p:nvSpPr>
        <p:spPr>
          <a:xfrm>
            <a:off x="694944" y="5949789"/>
            <a:ext cx="10820399" cy="258532"/>
          </a:xfrm>
        </p:spPr>
        <p:txBody>
          <a:bodyPr/>
          <a:lstStyle/>
          <a:p>
            <a:r>
              <a:rPr lang="en-CA" sz="1200" b="0" u="sng">
                <a:hlinkClick r:id="rId8"/>
              </a:rPr>
              <a:t>Acceptable Use of Artificial Intelligence  | RTX Connect</a:t>
            </a:r>
            <a:r>
              <a:rPr lang="en-CA" sz="1200" b="0"/>
              <a:t>​</a:t>
            </a:r>
            <a:endParaRPr lang="en-CA" sz="1200"/>
          </a:p>
        </p:txBody>
      </p:sp>
    </p:spTree>
    <p:extLst>
      <p:ext uri="{BB962C8B-B14F-4D97-AF65-F5344CB8AC3E}">
        <p14:creationId xmlns:p14="http://schemas.microsoft.com/office/powerpoint/2010/main" val="2325837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0F83D-634D-C553-BD80-ACC1D25279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ED55BF-D816-2A5C-7E7F-EC7BCAA49166}"/>
              </a:ext>
            </a:extLst>
          </p:cNvPr>
          <p:cNvSpPr>
            <a:spLocks noGrp="1"/>
          </p:cNvSpPr>
          <p:nvPr>
            <p:ph type="title"/>
          </p:nvPr>
        </p:nvSpPr>
        <p:spPr>
          <a:xfrm>
            <a:off x="677410" y="466347"/>
            <a:ext cx="10837934" cy="404825"/>
          </a:xfrm>
        </p:spPr>
        <p:txBody>
          <a:bodyPr/>
          <a:lstStyle/>
          <a:p>
            <a:r>
              <a:rPr lang="en-CA" sz="2800">
                <a:cs typeface="Arial"/>
              </a:rPr>
              <a:t>WHY EXISTING RTX GEN AI TOOLS WON'T WORK FOR OPO</a:t>
            </a:r>
          </a:p>
        </p:txBody>
      </p:sp>
      <p:sp>
        <p:nvSpPr>
          <p:cNvPr id="5" name="Slide Number Placeholder 4">
            <a:extLst>
              <a:ext uri="{FF2B5EF4-FFF2-40B4-BE49-F238E27FC236}">
                <a16:creationId xmlns:a16="http://schemas.microsoft.com/office/drawing/2014/main" id="{6E408FA4-CA1D-6F00-832A-D428AF30D48E}"/>
              </a:ext>
            </a:extLst>
          </p:cNvPr>
          <p:cNvSpPr>
            <a:spLocks noGrp="1"/>
          </p:cNvSpPr>
          <p:nvPr>
            <p:ph type="sldNum" sz="quarter" idx="4"/>
          </p:nvPr>
        </p:nvSpPr>
        <p:spPr/>
        <p:txBody>
          <a:bodyPr/>
          <a:lstStyle/>
          <a:p>
            <a:fld id="{07165E6F-54ED-4977-A15E-D44BE7238A65}" type="slidenum">
              <a:rPr lang="en-US" smtClean="0"/>
              <a:pPr/>
              <a:t>5</a:t>
            </a:fld>
            <a:endParaRPr lang="en-US"/>
          </a:p>
        </p:txBody>
      </p:sp>
      <p:sp>
        <p:nvSpPr>
          <p:cNvPr id="6" name="Footer Placeholder 5">
            <a:extLst>
              <a:ext uri="{FF2B5EF4-FFF2-40B4-BE49-F238E27FC236}">
                <a16:creationId xmlns:a16="http://schemas.microsoft.com/office/drawing/2014/main" id="{9CD9834E-35EF-034A-13A1-9E07F74BAEA8}"/>
              </a:ext>
            </a:extLst>
          </p:cNvPr>
          <p:cNvSpPr>
            <a:spLocks noGrp="1"/>
          </p:cNvSpPr>
          <p:nvPr>
            <p:ph type="ftr" sz="quarter" idx="3"/>
          </p:nvPr>
        </p:nvSpPr>
        <p:spPr/>
        <p:txBody>
          <a:bodyPr/>
          <a:lstStyle/>
          <a:p>
            <a:r>
              <a:rPr lang="en-US"/>
              <a:t>EXPORT MARKING: (Insert Export Marking) [TO CHANGE GO TO INSERT &gt; HEADER &amp; FOOTER] </a:t>
            </a:r>
          </a:p>
        </p:txBody>
      </p:sp>
      <p:graphicFrame>
        <p:nvGraphicFramePr>
          <p:cNvPr id="10" name="Table 9">
            <a:extLst>
              <a:ext uri="{FF2B5EF4-FFF2-40B4-BE49-F238E27FC236}">
                <a16:creationId xmlns:a16="http://schemas.microsoft.com/office/drawing/2014/main" id="{F82463FD-C8E8-86C1-5064-4EF6E55C3C1D}"/>
              </a:ext>
            </a:extLst>
          </p:cNvPr>
          <p:cNvGraphicFramePr>
            <a:graphicFrameLocks noGrp="1"/>
          </p:cNvGraphicFramePr>
          <p:nvPr>
            <p:extLst>
              <p:ext uri="{D42A27DB-BD31-4B8C-83A1-F6EECF244321}">
                <p14:modId xmlns:p14="http://schemas.microsoft.com/office/powerpoint/2010/main" val="2190162653"/>
              </p:ext>
            </p:extLst>
          </p:nvPr>
        </p:nvGraphicFramePr>
        <p:xfrm>
          <a:off x="681228" y="2752797"/>
          <a:ext cx="10829543" cy="2731756"/>
        </p:xfrm>
        <a:graphic>
          <a:graphicData uri="http://schemas.openxmlformats.org/drawingml/2006/table">
            <a:tbl>
              <a:tblPr firstRow="1" bandRow="1">
                <a:tableStyleId>{21E4AEA4-8DFA-4A89-87EB-49C32662AFE0}</a:tableStyleId>
              </a:tblPr>
              <a:tblGrid>
                <a:gridCol w="1371863">
                  <a:extLst>
                    <a:ext uri="{9D8B030D-6E8A-4147-A177-3AD203B41FA5}">
                      <a16:colId xmlns:a16="http://schemas.microsoft.com/office/drawing/2014/main" val="1923841906"/>
                    </a:ext>
                  </a:extLst>
                </a:gridCol>
                <a:gridCol w="4475123">
                  <a:extLst>
                    <a:ext uri="{9D8B030D-6E8A-4147-A177-3AD203B41FA5}">
                      <a16:colId xmlns:a16="http://schemas.microsoft.com/office/drawing/2014/main" val="1051836876"/>
                    </a:ext>
                  </a:extLst>
                </a:gridCol>
                <a:gridCol w="4982557">
                  <a:extLst>
                    <a:ext uri="{9D8B030D-6E8A-4147-A177-3AD203B41FA5}">
                      <a16:colId xmlns:a16="http://schemas.microsoft.com/office/drawing/2014/main" val="2043010635"/>
                    </a:ext>
                  </a:extLst>
                </a:gridCol>
              </a:tblGrid>
              <a:tr h="830660">
                <a:tc>
                  <a:txBody>
                    <a:bodyPr/>
                    <a:lstStyle/>
                    <a:p>
                      <a:pPr algn="ctr"/>
                      <a:endParaRPr lang="en-CA"/>
                    </a:p>
                  </a:txBody>
                  <a:tcPr anchor="ctr"/>
                </a:tc>
                <a:tc>
                  <a:txBody>
                    <a:bodyPr/>
                    <a:lstStyle/>
                    <a:p>
                      <a:pPr algn="ctr"/>
                      <a:endParaRPr lang="en-CA" sz="1600">
                        <a:solidFill>
                          <a:schemeClr val="tx1"/>
                        </a:solidFill>
                      </a:endParaRPr>
                    </a:p>
                  </a:txBody>
                  <a:tcPr anchor="ctr"/>
                </a:tc>
                <a:tc>
                  <a:txBody>
                    <a:bodyPr/>
                    <a:lstStyle/>
                    <a:p>
                      <a:pPr algn="ctr"/>
                      <a:endParaRPr lang="en-CA" sz="1600">
                        <a:solidFill>
                          <a:schemeClr val="tx1"/>
                        </a:solidFill>
                      </a:endParaRPr>
                    </a:p>
                  </a:txBody>
                  <a:tcPr anchor="ctr"/>
                </a:tc>
                <a:extLst>
                  <a:ext uri="{0D108BD9-81ED-4DB2-BD59-A6C34878D82A}">
                    <a16:rowId xmlns:a16="http://schemas.microsoft.com/office/drawing/2014/main" val="3080368710"/>
                  </a:ext>
                </a:extLst>
              </a:tr>
              <a:tr h="539383">
                <a:tc>
                  <a:txBody>
                    <a:bodyPr/>
                    <a:lstStyle/>
                    <a:p>
                      <a:pPr algn="ctr"/>
                      <a:r>
                        <a:rPr lang="en-CA" sz="1400" b="1"/>
                        <a:t>Knowledge Base</a:t>
                      </a:r>
                    </a:p>
                  </a:txBody>
                  <a:tcPr anchor="ctr"/>
                </a:tc>
                <a:tc>
                  <a:txBody>
                    <a:bodyPr/>
                    <a:lstStyle/>
                    <a:p>
                      <a:pPr marL="285750" indent="-285750">
                        <a:buFont typeface="Arial" panose="020B0604020202020204" pitchFamily="34" charset="0"/>
                        <a:buChar char="•"/>
                      </a:pPr>
                      <a:r>
                        <a:rPr lang="en-CA" sz="1300"/>
                        <a:t>EKS - Engineering Knowledge System (PWA data)</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300"/>
                        <a:t>RTX corporate policies, GCP and more</a:t>
                      </a:r>
                    </a:p>
                  </a:txBody>
                  <a:tcPr anchor="ctr"/>
                </a:tc>
                <a:extLst>
                  <a:ext uri="{0D108BD9-81ED-4DB2-BD59-A6C34878D82A}">
                    <a16:rowId xmlns:a16="http://schemas.microsoft.com/office/drawing/2014/main" val="1986913114"/>
                  </a:ext>
                </a:extLst>
              </a:tr>
              <a:tr h="1361713">
                <a:tc>
                  <a:txBody>
                    <a:bodyPr/>
                    <a:lstStyle/>
                    <a:p>
                      <a:pPr algn="ctr"/>
                      <a:r>
                        <a:rPr lang="en-CA" sz="1400" b="1"/>
                        <a:t>Key Features</a:t>
                      </a:r>
                    </a:p>
                  </a:txBody>
                  <a:tcPr anchor="ctr"/>
                </a:tc>
                <a:tc>
                  <a:txBody>
                    <a:bodyPr/>
                    <a:lstStyle/>
                    <a:p>
                      <a:pPr marL="285750" indent="-285750">
                        <a:buFont typeface="Arial" panose="020B0604020202020204" pitchFamily="34" charset="0"/>
                        <a:buChar char="•"/>
                      </a:pPr>
                      <a:r>
                        <a:rPr lang="en-CA" sz="1300"/>
                        <a:t>Provides Source link and has a source viewer with paragraphs contributing to the answer highlighted</a:t>
                      </a:r>
                    </a:p>
                    <a:p>
                      <a:pPr marL="0" indent="0">
                        <a:buFont typeface="Arial" panose="020B0604020202020204" pitchFamily="34" charset="0"/>
                        <a:buNone/>
                      </a:pPr>
                      <a:endParaRPr lang="en-CA" sz="600"/>
                    </a:p>
                    <a:p>
                      <a:pPr marL="285750" indent="-285750">
                        <a:buFont typeface="Arial" panose="020B0604020202020204" pitchFamily="34" charset="0"/>
                        <a:buChar char="•"/>
                      </a:pPr>
                      <a:r>
                        <a:rPr lang="en-CA" sz="1300"/>
                        <a:t>Information access is based on the LDAP group</a:t>
                      </a:r>
                    </a:p>
                  </a:txBody>
                  <a:tcPr anchor="ctr"/>
                </a:tc>
                <a:tc>
                  <a:txBody>
                    <a:bodyPr/>
                    <a:lstStyle/>
                    <a:p>
                      <a:pPr marL="285750" indent="-285750">
                        <a:buFont typeface="Arial" panose="020B0604020202020204" pitchFamily="34" charset="0"/>
                        <a:buChar char="•"/>
                      </a:pPr>
                      <a:r>
                        <a:rPr lang="en-CA" sz="1300"/>
                        <a:t>Generates basic content for emails, meeting agendas, etc.</a:t>
                      </a:r>
                    </a:p>
                    <a:p>
                      <a:pPr marL="0" indent="0">
                        <a:buFont typeface="Arial" panose="020B0604020202020204" pitchFamily="34" charset="0"/>
                        <a:buNone/>
                      </a:pPr>
                      <a:endParaRPr lang="en-CA" sz="6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300"/>
                        <a:t>Summarizes reports, internal documents and articles.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6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300"/>
                        <a:t>Provides information about RTX policies, CORE, and more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6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300"/>
                        <a:t>Provides feedback on ideas.</a:t>
                      </a:r>
                    </a:p>
                  </a:txBody>
                  <a:tcPr anchor="ctr"/>
                </a:tc>
                <a:extLst>
                  <a:ext uri="{0D108BD9-81ED-4DB2-BD59-A6C34878D82A}">
                    <a16:rowId xmlns:a16="http://schemas.microsoft.com/office/drawing/2014/main" val="1433145359"/>
                  </a:ext>
                </a:extLst>
              </a:tr>
            </a:tbl>
          </a:graphicData>
        </a:graphic>
      </p:graphicFrame>
      <p:sp>
        <p:nvSpPr>
          <p:cNvPr id="2" name="Text Placeholder 11">
            <a:extLst>
              <a:ext uri="{FF2B5EF4-FFF2-40B4-BE49-F238E27FC236}">
                <a16:creationId xmlns:a16="http://schemas.microsoft.com/office/drawing/2014/main" id="{73E2D8B2-5A8A-4AF5-8D4E-8B22F2CC00B5}"/>
              </a:ext>
            </a:extLst>
          </p:cNvPr>
          <p:cNvSpPr txBox="1">
            <a:spLocks/>
          </p:cNvSpPr>
          <p:nvPr/>
        </p:nvSpPr>
        <p:spPr>
          <a:xfrm>
            <a:off x="1764199" y="1158738"/>
            <a:ext cx="9751144" cy="320088"/>
          </a:xfrm>
          <a:prstGeom prst="rect">
            <a:avLst/>
          </a:prstGeom>
          <a:solidFill>
            <a:schemeClr val="accent6">
              <a:lumMod val="20000"/>
              <a:lumOff val="80000"/>
            </a:schemeClr>
          </a:solidFill>
        </p:spPr>
        <p:txBody>
          <a:bodyPr vert="horz" wrap="square" lIns="621792" tIns="36576" rIns="621792" bIns="36576" rtlCol="0" anchor="b" anchorCtr="0">
            <a:spAutoFit/>
          </a:bodyPr>
          <a:lstStyle>
            <a:lvl1pPr marL="0" indent="0" algn="ctr" defTabSz="0" rtl="0" eaLnBrk="1" latinLnBrk="0" hangingPunct="1">
              <a:lnSpc>
                <a:spcPct val="100000"/>
              </a:lnSpc>
              <a:spcBef>
                <a:spcPts val="0"/>
              </a:spcBef>
              <a:spcAft>
                <a:spcPts val="600"/>
              </a:spcAft>
              <a:buClr>
                <a:schemeClr val="tx2"/>
              </a:buClr>
              <a:buSzPct val="100000"/>
              <a:buFontTx/>
              <a:buNone/>
              <a:defRPr lang="en-US" sz="1600" b="1" kern="1200" dirty="0">
                <a:solidFill>
                  <a:schemeClr val="tx1"/>
                </a:solidFill>
                <a:latin typeface="Arial" panose="020B0604020202020204" pitchFamily="34" charset="0"/>
                <a:ea typeface="+mj-ea"/>
                <a:cs typeface="Arial" panose="020B0604020202020204" pitchFamily="34" charset="0"/>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i="1"/>
              <a:t>Does not include PWC &amp; OPO specific knowledgebase</a:t>
            </a:r>
          </a:p>
        </p:txBody>
      </p:sp>
      <p:pic>
        <p:nvPicPr>
          <p:cNvPr id="11" name="Graphic 10" descr="Comment Important with solid fill">
            <a:extLst>
              <a:ext uri="{FF2B5EF4-FFF2-40B4-BE49-F238E27FC236}">
                <a16:creationId xmlns:a16="http://schemas.microsoft.com/office/drawing/2014/main" id="{ACD08D54-3B27-00BC-5D7A-4C1E4B81CD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9860" y="1186561"/>
            <a:ext cx="1186904" cy="1186904"/>
          </a:xfrm>
          <a:prstGeom prst="rect">
            <a:avLst/>
          </a:prstGeom>
        </p:spPr>
      </p:pic>
      <p:pic>
        <p:nvPicPr>
          <p:cNvPr id="1026" name="Picture 2">
            <a:extLst>
              <a:ext uri="{FF2B5EF4-FFF2-40B4-BE49-F238E27FC236}">
                <a16:creationId xmlns:a16="http://schemas.microsoft.com/office/drawing/2014/main" id="{932F0AB9-0EC4-DEDA-6E23-FCB56EB406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8616" y="2930498"/>
            <a:ext cx="2128818" cy="47825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902C7BC2-A4CA-06DE-0E1F-0FB320916CF9}"/>
              </a:ext>
            </a:extLst>
          </p:cNvPr>
          <p:cNvPicPr>
            <a:picLocks noChangeAspect="1"/>
          </p:cNvPicPr>
          <p:nvPr/>
        </p:nvPicPr>
        <p:blipFill>
          <a:blip r:embed="rId5"/>
          <a:srcRect l="12186" t="34921" r="12843" b="36003"/>
          <a:stretch>
            <a:fillRect/>
          </a:stretch>
        </p:blipFill>
        <p:spPr>
          <a:xfrm>
            <a:off x="8299314" y="2893143"/>
            <a:ext cx="1567490" cy="552963"/>
          </a:xfrm>
          <a:prstGeom prst="rect">
            <a:avLst/>
          </a:prstGeom>
        </p:spPr>
      </p:pic>
      <p:sp>
        <p:nvSpPr>
          <p:cNvPr id="15" name="Text Placeholder 11">
            <a:extLst>
              <a:ext uri="{FF2B5EF4-FFF2-40B4-BE49-F238E27FC236}">
                <a16:creationId xmlns:a16="http://schemas.microsoft.com/office/drawing/2014/main" id="{65D492EE-2758-02D0-85C1-87AD2D13BCFE}"/>
              </a:ext>
            </a:extLst>
          </p:cNvPr>
          <p:cNvSpPr txBox="1">
            <a:spLocks/>
          </p:cNvSpPr>
          <p:nvPr/>
        </p:nvSpPr>
        <p:spPr>
          <a:xfrm>
            <a:off x="1764199" y="1580516"/>
            <a:ext cx="9751144" cy="320088"/>
          </a:xfrm>
          <a:prstGeom prst="rect">
            <a:avLst/>
          </a:prstGeom>
          <a:solidFill>
            <a:schemeClr val="accent6">
              <a:lumMod val="20000"/>
              <a:lumOff val="80000"/>
            </a:schemeClr>
          </a:solidFill>
        </p:spPr>
        <p:txBody>
          <a:bodyPr vert="horz" wrap="square" lIns="621792" tIns="36576" rIns="621792" bIns="36576" rtlCol="0" anchor="b" anchorCtr="0">
            <a:spAutoFit/>
          </a:bodyPr>
          <a:lstStyle>
            <a:lvl1pPr marL="0" indent="0" algn="ctr" defTabSz="0" rtl="0" eaLnBrk="1" latinLnBrk="0" hangingPunct="1">
              <a:lnSpc>
                <a:spcPct val="100000"/>
              </a:lnSpc>
              <a:spcBef>
                <a:spcPts val="0"/>
              </a:spcBef>
              <a:spcAft>
                <a:spcPts val="600"/>
              </a:spcAft>
              <a:buClr>
                <a:schemeClr val="tx2"/>
              </a:buClr>
              <a:buSzPct val="100000"/>
              <a:buFontTx/>
              <a:buNone/>
              <a:defRPr lang="en-US" sz="1600" b="1" kern="1200" dirty="0">
                <a:solidFill>
                  <a:schemeClr val="tx1"/>
                </a:solidFill>
                <a:latin typeface="Arial" panose="020B0604020202020204" pitchFamily="34" charset="0"/>
                <a:ea typeface="+mj-ea"/>
                <a:cs typeface="Arial" panose="020B0604020202020204" pitchFamily="34" charset="0"/>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i="1"/>
              <a:t>Access to the tools is only upon request and has long lead time</a:t>
            </a:r>
          </a:p>
        </p:txBody>
      </p:sp>
      <p:sp>
        <p:nvSpPr>
          <p:cNvPr id="16" name="Text Placeholder 11">
            <a:extLst>
              <a:ext uri="{FF2B5EF4-FFF2-40B4-BE49-F238E27FC236}">
                <a16:creationId xmlns:a16="http://schemas.microsoft.com/office/drawing/2014/main" id="{66E4336F-AC14-2F6A-FB84-CBC3CE0C7F7F}"/>
              </a:ext>
            </a:extLst>
          </p:cNvPr>
          <p:cNvSpPr txBox="1">
            <a:spLocks/>
          </p:cNvSpPr>
          <p:nvPr/>
        </p:nvSpPr>
        <p:spPr>
          <a:xfrm>
            <a:off x="1764199" y="2002294"/>
            <a:ext cx="9751144" cy="320088"/>
          </a:xfrm>
          <a:prstGeom prst="rect">
            <a:avLst/>
          </a:prstGeom>
          <a:solidFill>
            <a:schemeClr val="accent6">
              <a:lumMod val="20000"/>
              <a:lumOff val="80000"/>
            </a:schemeClr>
          </a:solidFill>
        </p:spPr>
        <p:txBody>
          <a:bodyPr vert="horz" wrap="square" lIns="621792" tIns="36576" rIns="621792" bIns="36576" rtlCol="0" anchor="b" anchorCtr="0">
            <a:spAutoFit/>
          </a:bodyPr>
          <a:lstStyle>
            <a:lvl1pPr marL="0" indent="0" algn="ctr" defTabSz="0" rtl="0" eaLnBrk="1" latinLnBrk="0" hangingPunct="1">
              <a:lnSpc>
                <a:spcPct val="100000"/>
              </a:lnSpc>
              <a:spcBef>
                <a:spcPts val="0"/>
              </a:spcBef>
              <a:spcAft>
                <a:spcPts val="600"/>
              </a:spcAft>
              <a:buClr>
                <a:schemeClr val="tx2"/>
              </a:buClr>
              <a:buSzPct val="100000"/>
              <a:buFontTx/>
              <a:buNone/>
              <a:defRPr lang="en-US" sz="1600" b="1" kern="1200" dirty="0">
                <a:solidFill>
                  <a:schemeClr val="tx1"/>
                </a:solidFill>
                <a:latin typeface="Arial" panose="020B0604020202020204" pitchFamily="34" charset="0"/>
                <a:ea typeface="+mj-ea"/>
                <a:cs typeface="Arial" panose="020B0604020202020204" pitchFamily="34" charset="0"/>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i="1"/>
              <a:t>Creates false but believable response when asked about OPO specific questions </a:t>
            </a:r>
          </a:p>
        </p:txBody>
      </p:sp>
      <p:sp>
        <p:nvSpPr>
          <p:cNvPr id="7" name="Text Placeholder 11">
            <a:extLst>
              <a:ext uri="{FF2B5EF4-FFF2-40B4-BE49-F238E27FC236}">
                <a16:creationId xmlns:a16="http://schemas.microsoft.com/office/drawing/2014/main" id="{5EDD2A99-3100-1F27-E753-7A23339E8727}"/>
              </a:ext>
            </a:extLst>
          </p:cNvPr>
          <p:cNvSpPr txBox="1">
            <a:spLocks/>
          </p:cNvSpPr>
          <p:nvPr/>
        </p:nvSpPr>
        <p:spPr>
          <a:xfrm>
            <a:off x="677409" y="5905192"/>
            <a:ext cx="10820399" cy="338188"/>
          </a:xfrm>
          <a:prstGeom prst="rect">
            <a:avLst/>
          </a:prstGeom>
          <a:solidFill>
            <a:schemeClr val="accent2">
              <a:lumMod val="40000"/>
              <a:lumOff val="60000"/>
            </a:schemeClr>
          </a:solidFill>
        </p:spPr>
        <p:txBody>
          <a:bodyPr anchor="ctr"/>
          <a:lstStyle>
            <a:lvl1pPr marL="219456"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4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sz="1600" b="1" i="1"/>
              <a:t>No ability to leverage existing platforms with OPO discipline</a:t>
            </a:r>
            <a:endParaRPr lang="en-US" sz="1600" b="1" i="1"/>
          </a:p>
        </p:txBody>
      </p:sp>
    </p:spTree>
    <p:extLst>
      <p:ext uri="{BB962C8B-B14F-4D97-AF65-F5344CB8AC3E}">
        <p14:creationId xmlns:p14="http://schemas.microsoft.com/office/powerpoint/2010/main" val="1404205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DCD13-B7EF-35BE-C121-3529E81C8F0E}"/>
              </a:ext>
            </a:extLst>
          </p:cNvPr>
          <p:cNvSpPr>
            <a:spLocks noGrp="1"/>
          </p:cNvSpPr>
          <p:nvPr>
            <p:ph type="title"/>
          </p:nvPr>
        </p:nvSpPr>
        <p:spPr/>
        <p:txBody>
          <a:bodyPr/>
          <a:lstStyle/>
          <a:p>
            <a:r>
              <a:rPr lang="en-CA" sz="2800"/>
              <a:t>LOSING CRITICAL SKILLS​</a:t>
            </a:r>
          </a:p>
        </p:txBody>
      </p:sp>
      <p:sp>
        <p:nvSpPr>
          <p:cNvPr id="3" name="Slide Number Placeholder 2">
            <a:extLst>
              <a:ext uri="{FF2B5EF4-FFF2-40B4-BE49-F238E27FC236}">
                <a16:creationId xmlns:a16="http://schemas.microsoft.com/office/drawing/2014/main" id="{C19AC5D0-E0C4-7FBA-2DBB-5EE06000A814}"/>
              </a:ext>
            </a:extLst>
          </p:cNvPr>
          <p:cNvSpPr>
            <a:spLocks noGrp="1"/>
          </p:cNvSpPr>
          <p:nvPr>
            <p:ph type="sldNum" sz="quarter" idx="4"/>
          </p:nvPr>
        </p:nvSpPr>
        <p:spPr/>
        <p:txBody>
          <a:bodyPr/>
          <a:lstStyle/>
          <a:p>
            <a:fld id="{07165E6F-54ED-4977-A15E-D44BE7238A65}" type="slidenum">
              <a:rPr lang="en-US" smtClean="0"/>
              <a:pPr/>
              <a:t>6</a:t>
            </a:fld>
            <a:endParaRPr lang="en-US"/>
          </a:p>
        </p:txBody>
      </p:sp>
      <p:sp>
        <p:nvSpPr>
          <p:cNvPr id="4" name="Footer Placeholder 3">
            <a:extLst>
              <a:ext uri="{FF2B5EF4-FFF2-40B4-BE49-F238E27FC236}">
                <a16:creationId xmlns:a16="http://schemas.microsoft.com/office/drawing/2014/main" id="{86E817CD-5DFB-2C3B-5D03-BF6FAA1D4BD1}"/>
              </a:ext>
            </a:extLst>
          </p:cNvPr>
          <p:cNvSpPr>
            <a:spLocks noGrp="1"/>
          </p:cNvSpPr>
          <p:nvPr>
            <p:ph type="ftr" sz="quarter" idx="3"/>
          </p:nvPr>
        </p:nvSpPr>
        <p:spPr/>
        <p:txBody>
          <a:bodyPr/>
          <a:lstStyle/>
          <a:p>
            <a:r>
              <a:rPr lang="en-US"/>
              <a:t>EXPORT MARKING: (Insert Export Marking) [TO CHANGE GO TO INSERT &gt; HEADER &amp; FOOTER] </a:t>
            </a:r>
          </a:p>
        </p:txBody>
      </p:sp>
      <p:pic>
        <p:nvPicPr>
          <p:cNvPr id="11" name="Picture 10">
            <a:extLst>
              <a:ext uri="{FF2B5EF4-FFF2-40B4-BE49-F238E27FC236}">
                <a16:creationId xmlns:a16="http://schemas.microsoft.com/office/drawing/2014/main" id="{1B7ED748-AE2E-4EB0-3893-BC9F14C02914}"/>
              </a:ext>
            </a:extLst>
          </p:cNvPr>
          <p:cNvPicPr>
            <a:picLocks noChangeAspect="1"/>
          </p:cNvPicPr>
          <p:nvPr/>
        </p:nvPicPr>
        <p:blipFill>
          <a:blip r:embed="rId2"/>
          <a:stretch>
            <a:fillRect/>
          </a:stretch>
        </p:blipFill>
        <p:spPr>
          <a:xfrm>
            <a:off x="861188" y="1695866"/>
            <a:ext cx="4378157" cy="3290044"/>
          </a:xfrm>
          <a:prstGeom prst="rect">
            <a:avLst/>
          </a:prstGeom>
        </p:spPr>
      </p:pic>
      <p:pic>
        <p:nvPicPr>
          <p:cNvPr id="12" name="Picture 11">
            <a:extLst>
              <a:ext uri="{FF2B5EF4-FFF2-40B4-BE49-F238E27FC236}">
                <a16:creationId xmlns:a16="http://schemas.microsoft.com/office/drawing/2014/main" id="{95355EEF-BB72-44F7-76D8-0714E91BF257}"/>
              </a:ext>
            </a:extLst>
          </p:cNvPr>
          <p:cNvPicPr>
            <a:picLocks noChangeAspect="1"/>
          </p:cNvPicPr>
          <p:nvPr/>
        </p:nvPicPr>
        <p:blipFill>
          <a:blip r:embed="rId3"/>
          <a:stretch>
            <a:fillRect/>
          </a:stretch>
        </p:blipFill>
        <p:spPr>
          <a:xfrm>
            <a:off x="6919011" y="1702009"/>
            <a:ext cx="4378157" cy="3293266"/>
          </a:xfrm>
          <a:prstGeom prst="rect">
            <a:avLst/>
          </a:prstGeom>
        </p:spPr>
      </p:pic>
      <p:sp>
        <p:nvSpPr>
          <p:cNvPr id="14" name="TextBox 16">
            <a:extLst>
              <a:ext uri="{FF2B5EF4-FFF2-40B4-BE49-F238E27FC236}">
                <a16:creationId xmlns:a16="http://schemas.microsoft.com/office/drawing/2014/main" id="{9962FAA7-58F5-5156-4CBB-AC1E2756D195}"/>
              </a:ext>
            </a:extLst>
          </p:cNvPr>
          <p:cNvSpPr txBox="1"/>
          <p:nvPr/>
        </p:nvSpPr>
        <p:spPr>
          <a:xfrm>
            <a:off x="890444" y="1419164"/>
            <a:ext cx="4319644"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Calibri" panose="020F0502020204030204"/>
                <a:ea typeface="+mn-ea"/>
                <a:cs typeface="+mn-cs"/>
              </a:rPr>
              <a:t>OPM 2013 = </a:t>
            </a:r>
            <a:r>
              <a:rPr kumimoji="0" lang="en-US" sz="2800" b="1" i="0" u="none" strike="noStrike" kern="1200" cap="none" spc="0" normalizeH="0" baseline="0" noProof="0">
                <a:ln>
                  <a:noFill/>
                </a:ln>
                <a:solidFill>
                  <a:prstClr val="black"/>
                </a:solidFill>
                <a:effectLst/>
                <a:uLnTx/>
                <a:uFillTx/>
                <a:latin typeface="Calibri" panose="020F0502020204030204"/>
                <a:ea typeface="+mn-ea"/>
                <a:cs typeface="+mn-cs"/>
              </a:rPr>
              <a:t>35</a:t>
            </a:r>
            <a:r>
              <a:rPr kumimoji="0" lang="en-US" b="0" i="0" u="none" strike="noStrike" kern="1200" cap="none" spc="0" normalizeH="0" baseline="0" noProof="0">
                <a:ln>
                  <a:noFill/>
                </a:ln>
                <a:solidFill>
                  <a:prstClr val="black"/>
                </a:solidFill>
                <a:effectLst/>
                <a:uLnTx/>
                <a:uFillTx/>
                <a:latin typeface="Calibri" panose="020F0502020204030204"/>
                <a:ea typeface="+mn-ea"/>
                <a:cs typeface="+mn-cs"/>
              </a:rPr>
              <a:t> Subject Matter Experts </a:t>
            </a:r>
          </a:p>
        </p:txBody>
      </p:sp>
      <p:sp>
        <p:nvSpPr>
          <p:cNvPr id="15" name="TextBox 20">
            <a:extLst>
              <a:ext uri="{FF2B5EF4-FFF2-40B4-BE49-F238E27FC236}">
                <a16:creationId xmlns:a16="http://schemas.microsoft.com/office/drawing/2014/main" id="{14364764-41F8-F130-9768-E7504F806BC4}"/>
              </a:ext>
            </a:extLst>
          </p:cNvPr>
          <p:cNvSpPr txBox="1"/>
          <p:nvPr/>
        </p:nvSpPr>
        <p:spPr>
          <a:xfrm>
            <a:off x="6948267" y="1419164"/>
            <a:ext cx="4319644"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Calibri" panose="020F0502020204030204"/>
                <a:ea typeface="+mn-ea"/>
                <a:cs typeface="+mn-cs"/>
              </a:rPr>
              <a:t>OPM 2025 = </a:t>
            </a:r>
            <a:r>
              <a:rPr kumimoji="0" lang="en-US" sz="2800" b="1" i="0" u="none" strike="noStrike" kern="1200" cap="none" spc="0" normalizeH="0" baseline="0" noProof="0">
                <a:ln>
                  <a:noFill/>
                </a:ln>
                <a:solidFill>
                  <a:prstClr val="black"/>
                </a:solidFill>
                <a:effectLst/>
                <a:uLnTx/>
                <a:uFillTx/>
                <a:latin typeface="Calibri" panose="020F0502020204030204"/>
                <a:ea typeface="+mn-ea"/>
                <a:cs typeface="+mn-cs"/>
              </a:rPr>
              <a:t>7</a:t>
            </a:r>
            <a:r>
              <a:rPr kumimoji="0" lang="en-US" b="0" i="0" u="none" strike="noStrike" kern="1200" cap="none" spc="0" normalizeH="0" baseline="0" noProof="0">
                <a:ln>
                  <a:noFill/>
                </a:ln>
                <a:solidFill>
                  <a:prstClr val="black"/>
                </a:solidFill>
                <a:effectLst/>
                <a:uLnTx/>
                <a:uFillTx/>
                <a:latin typeface="Calibri" panose="020F0502020204030204"/>
                <a:ea typeface="+mn-ea"/>
                <a:cs typeface="+mn-cs"/>
              </a:rPr>
              <a:t> Subject Matter Experts </a:t>
            </a:r>
          </a:p>
        </p:txBody>
      </p:sp>
      <p:sp>
        <p:nvSpPr>
          <p:cNvPr id="16" name="Rectangle 15">
            <a:extLst>
              <a:ext uri="{FF2B5EF4-FFF2-40B4-BE49-F238E27FC236}">
                <a16:creationId xmlns:a16="http://schemas.microsoft.com/office/drawing/2014/main" id="{E0C55B49-9E83-FC4D-E1E6-9992D438AC18}"/>
              </a:ext>
            </a:extLst>
          </p:cNvPr>
          <p:cNvSpPr/>
          <p:nvPr/>
        </p:nvSpPr>
        <p:spPr>
          <a:xfrm>
            <a:off x="8610046" y="3148151"/>
            <a:ext cx="333375" cy="164306"/>
          </a:xfrm>
          <a:prstGeom prst="rect">
            <a:avLst/>
          </a:prstGeom>
          <a:solidFill>
            <a:schemeClr val="tx2">
              <a:lumMod val="65000"/>
              <a:lumOff val="3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B435C0E1-41A6-F394-F800-3406DD67F414}"/>
              </a:ext>
            </a:extLst>
          </p:cNvPr>
          <p:cNvSpPr/>
          <p:nvPr/>
        </p:nvSpPr>
        <p:spPr>
          <a:xfrm>
            <a:off x="8209996" y="3386676"/>
            <a:ext cx="333375" cy="164306"/>
          </a:xfrm>
          <a:prstGeom prst="rect">
            <a:avLst/>
          </a:prstGeom>
          <a:solidFill>
            <a:schemeClr val="tx2">
              <a:lumMod val="65000"/>
              <a:lumOff val="3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17">
            <a:extLst>
              <a:ext uri="{FF2B5EF4-FFF2-40B4-BE49-F238E27FC236}">
                <a16:creationId xmlns:a16="http://schemas.microsoft.com/office/drawing/2014/main" id="{47D07F4D-E826-CFE5-0EC6-C48BB1F90243}"/>
              </a:ext>
            </a:extLst>
          </p:cNvPr>
          <p:cNvSpPr/>
          <p:nvPr/>
        </p:nvSpPr>
        <p:spPr>
          <a:xfrm>
            <a:off x="9991171" y="3856176"/>
            <a:ext cx="333375" cy="164306"/>
          </a:xfrm>
          <a:prstGeom prst="rect">
            <a:avLst/>
          </a:prstGeom>
          <a:solidFill>
            <a:schemeClr val="tx2">
              <a:lumMod val="65000"/>
              <a:lumOff val="3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 Placeholder 11">
            <a:extLst>
              <a:ext uri="{FF2B5EF4-FFF2-40B4-BE49-F238E27FC236}">
                <a16:creationId xmlns:a16="http://schemas.microsoft.com/office/drawing/2014/main" id="{CAF0B333-C9EE-B71E-7937-1FE941019FA7}"/>
              </a:ext>
            </a:extLst>
          </p:cNvPr>
          <p:cNvSpPr txBox="1">
            <a:spLocks/>
          </p:cNvSpPr>
          <p:nvPr/>
        </p:nvSpPr>
        <p:spPr>
          <a:xfrm>
            <a:off x="677409" y="5369864"/>
            <a:ext cx="10820399" cy="801796"/>
          </a:xfrm>
          <a:prstGeom prst="rect">
            <a:avLst/>
          </a:prstGeom>
          <a:solidFill>
            <a:schemeClr val="accent2">
              <a:lumMod val="40000"/>
              <a:lumOff val="60000"/>
            </a:schemeClr>
          </a:solidFill>
        </p:spPr>
        <p:txBody>
          <a:bodyPr anchor="ctr"/>
          <a:lstStyle>
            <a:lvl1pPr marL="219456"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4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sz="1600" b="1" i="1"/>
              <a:t>Losing SMEs faster than before.</a:t>
            </a:r>
          </a:p>
          <a:p>
            <a:pPr marL="0" indent="0" algn="ctr">
              <a:buNone/>
            </a:pPr>
            <a:r>
              <a:rPr lang="en-CA" sz="1600" b="1" i="1"/>
              <a:t>Need a tool to fill the void of the 35 years old veteran​ for the new generation. </a:t>
            </a:r>
            <a:endParaRPr lang="en-US" sz="1600" b="1" i="1"/>
          </a:p>
        </p:txBody>
      </p:sp>
      <p:sp>
        <p:nvSpPr>
          <p:cNvPr id="20" name="Arrow: Right 19">
            <a:extLst>
              <a:ext uri="{FF2B5EF4-FFF2-40B4-BE49-F238E27FC236}">
                <a16:creationId xmlns:a16="http://schemas.microsoft.com/office/drawing/2014/main" id="{0147B41A-ECB0-D570-AC13-47E0BEF5B941}"/>
              </a:ext>
            </a:extLst>
          </p:cNvPr>
          <p:cNvSpPr/>
          <p:nvPr/>
        </p:nvSpPr>
        <p:spPr>
          <a:xfrm>
            <a:off x="5495371" y="3236257"/>
            <a:ext cx="1237129" cy="5109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075140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FE0B-AA97-CB98-9075-68743BCB9FD1}"/>
              </a:ext>
            </a:extLst>
          </p:cNvPr>
          <p:cNvSpPr>
            <a:spLocks noGrp="1"/>
          </p:cNvSpPr>
          <p:nvPr>
            <p:ph type="title"/>
          </p:nvPr>
        </p:nvSpPr>
        <p:spPr>
          <a:xfrm>
            <a:off x="690372" y="3386626"/>
            <a:ext cx="10811256" cy="2225245"/>
          </a:xfrm>
        </p:spPr>
        <p:txBody>
          <a:bodyPr anchor="ctr"/>
          <a:lstStyle/>
          <a:p>
            <a:pPr algn="ctr"/>
            <a:br>
              <a:rPr lang="en-CA" sz="8000"/>
            </a:br>
            <a:r>
              <a:rPr lang="en-CA">
                <a:cs typeface="Arial"/>
              </a:rPr>
              <a:t> </a:t>
            </a:r>
            <a:br>
              <a:rPr lang="en-CA"/>
            </a:br>
            <a:r>
              <a:rPr lang="en-CA">
                <a:cs typeface="Arial"/>
              </a:rPr>
              <a:t>OPO's Smart Knowledge Assistant and Researcher</a:t>
            </a:r>
          </a:p>
        </p:txBody>
      </p:sp>
      <p:sp>
        <p:nvSpPr>
          <p:cNvPr id="3" name="Slide Number Placeholder 2">
            <a:extLst>
              <a:ext uri="{FF2B5EF4-FFF2-40B4-BE49-F238E27FC236}">
                <a16:creationId xmlns:a16="http://schemas.microsoft.com/office/drawing/2014/main" id="{B64E6ED6-A12B-8802-2D22-69B819C8921E}"/>
              </a:ext>
            </a:extLst>
          </p:cNvPr>
          <p:cNvSpPr>
            <a:spLocks noGrp="1"/>
          </p:cNvSpPr>
          <p:nvPr>
            <p:ph type="sldNum" sz="quarter" idx="4"/>
          </p:nvPr>
        </p:nvSpPr>
        <p:spPr/>
        <p:txBody>
          <a:bodyPr/>
          <a:lstStyle/>
          <a:p>
            <a:fld id="{07165E6F-54ED-4977-A15E-D44BE7238A65}" type="slidenum">
              <a:rPr lang="en-US" dirty="0" smtClean="0"/>
              <a:pPr/>
              <a:t>7</a:t>
            </a:fld>
            <a:endParaRPr lang="en-US" dirty="0"/>
          </a:p>
        </p:txBody>
      </p:sp>
      <p:sp>
        <p:nvSpPr>
          <p:cNvPr id="4" name="Footer Placeholder 3">
            <a:extLst>
              <a:ext uri="{FF2B5EF4-FFF2-40B4-BE49-F238E27FC236}">
                <a16:creationId xmlns:a16="http://schemas.microsoft.com/office/drawing/2014/main" id="{CCBFC9C5-3EFA-8288-71B8-2DE9F5CD680D}"/>
              </a:ext>
            </a:extLst>
          </p:cNvPr>
          <p:cNvSpPr>
            <a:spLocks noGrp="1"/>
          </p:cNvSpPr>
          <p:nvPr>
            <p:ph type="ftr" sz="quarter" idx="3"/>
          </p:nvPr>
        </p:nvSpPr>
        <p:spPr/>
        <p:txBody>
          <a:bodyPr/>
          <a:lstStyle/>
          <a:p>
            <a:r>
              <a:rPr lang="en-US" dirty="0"/>
              <a:t>EXPORT MARKING: (Insert Export Marking) [TO CHANGE GO TO INSERT &gt; HEADER &amp; FOOTER] </a:t>
            </a:r>
          </a:p>
        </p:txBody>
      </p:sp>
      <p:sp>
        <p:nvSpPr>
          <p:cNvPr id="6" name="Text Placeholder 11">
            <a:extLst>
              <a:ext uri="{FF2B5EF4-FFF2-40B4-BE49-F238E27FC236}">
                <a16:creationId xmlns:a16="http://schemas.microsoft.com/office/drawing/2014/main" id="{0BDBDDC3-B4E3-E18A-B210-05C9A82A1D3B}"/>
              </a:ext>
            </a:extLst>
          </p:cNvPr>
          <p:cNvSpPr txBox="1">
            <a:spLocks/>
          </p:cNvSpPr>
          <p:nvPr/>
        </p:nvSpPr>
        <p:spPr>
          <a:xfrm>
            <a:off x="681229" y="5629248"/>
            <a:ext cx="10820399" cy="417791"/>
          </a:xfrm>
          <a:prstGeom prst="rect">
            <a:avLst/>
          </a:prstGeom>
          <a:solidFill>
            <a:schemeClr val="accent1"/>
          </a:solidFill>
        </p:spPr>
        <p:txBody>
          <a:bodyPr anchor="ctr"/>
          <a:lstStyle>
            <a:lvl1pPr marL="219456"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4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sz="1800" b="1" i="1"/>
              <a:t>OPO’s personalized chat tool being developed in-house at OPO</a:t>
            </a:r>
            <a:endParaRPr lang="en-US" sz="1800" b="1" i="1"/>
          </a:p>
        </p:txBody>
      </p:sp>
      <p:pic>
        <p:nvPicPr>
          <p:cNvPr id="5" name="Picture 4">
            <a:extLst>
              <a:ext uri="{FF2B5EF4-FFF2-40B4-BE49-F238E27FC236}">
                <a16:creationId xmlns:a16="http://schemas.microsoft.com/office/drawing/2014/main" id="{15DE2E0E-7F20-341A-FBC5-4C01ED0C878B}"/>
              </a:ext>
            </a:extLst>
          </p:cNvPr>
          <p:cNvPicPr>
            <a:picLocks noChangeAspect="1"/>
          </p:cNvPicPr>
          <p:nvPr/>
        </p:nvPicPr>
        <p:blipFill>
          <a:blip r:embed="rId2"/>
          <a:srcRect l="7240" t="12217" r="8145" b="8379"/>
          <a:stretch>
            <a:fillRect/>
          </a:stretch>
        </p:blipFill>
        <p:spPr>
          <a:xfrm>
            <a:off x="3640666" y="372534"/>
            <a:ext cx="4902205" cy="4639425"/>
          </a:xfrm>
          <a:prstGeom prst="rect">
            <a:avLst/>
          </a:prstGeom>
        </p:spPr>
      </p:pic>
    </p:spTree>
    <p:extLst>
      <p:ext uri="{BB962C8B-B14F-4D97-AF65-F5344CB8AC3E}">
        <p14:creationId xmlns:p14="http://schemas.microsoft.com/office/powerpoint/2010/main" val="2117616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AF441BA-0233-4D3E-A0C5-011AD7B74F85}"/>
              </a:ext>
            </a:extLst>
          </p:cNvPr>
          <p:cNvSpPr>
            <a:spLocks noGrp="1"/>
          </p:cNvSpPr>
          <p:nvPr>
            <p:ph type="title"/>
          </p:nvPr>
        </p:nvSpPr>
        <p:spPr>
          <a:xfrm>
            <a:off x="690372" y="251652"/>
            <a:ext cx="10811256" cy="676653"/>
          </a:xfrm>
        </p:spPr>
        <p:txBody>
          <a:bodyPr anchor="ctr"/>
          <a:lstStyle/>
          <a:p>
            <a:r>
              <a:rPr lang="en-US" dirty="0"/>
              <a:t>OSKAR </a:t>
            </a:r>
            <a:r>
              <a:rPr lang="en-US" b="0" dirty="0"/>
              <a:t>- </a:t>
            </a:r>
            <a:r>
              <a:rPr lang="en-US" sz="2800" b="0" dirty="0"/>
              <a:t>OPO Generative AI Chat Tool</a:t>
            </a:r>
            <a:endParaRPr lang="en-US" b="0" dirty="0"/>
          </a:p>
        </p:txBody>
      </p:sp>
      <p:sp>
        <p:nvSpPr>
          <p:cNvPr id="11" name="Slide Number Placeholder 10">
            <a:extLst>
              <a:ext uri="{FF2B5EF4-FFF2-40B4-BE49-F238E27FC236}">
                <a16:creationId xmlns:a16="http://schemas.microsoft.com/office/drawing/2014/main" id="{1D86B101-30DD-BC1C-1E44-FE988DBE8D0F}"/>
              </a:ext>
            </a:extLst>
          </p:cNvPr>
          <p:cNvSpPr>
            <a:spLocks noGrp="1"/>
          </p:cNvSpPr>
          <p:nvPr>
            <p:ph type="sldNum" sz="quarter" idx="4"/>
          </p:nvPr>
        </p:nvSpPr>
        <p:spPr/>
        <p:txBody>
          <a:bodyPr/>
          <a:lstStyle/>
          <a:p>
            <a:fld id="{07165E6F-54ED-4977-A15E-D44BE7238A65}" type="slidenum">
              <a:rPr lang="en-US" dirty="0" smtClean="0"/>
              <a:pPr/>
              <a:t>8</a:t>
            </a:fld>
            <a:endParaRPr lang="en-US" dirty="0"/>
          </a:p>
        </p:txBody>
      </p:sp>
      <p:grpSp>
        <p:nvGrpSpPr>
          <p:cNvPr id="60" name="Group 59">
            <a:extLst>
              <a:ext uri="{FF2B5EF4-FFF2-40B4-BE49-F238E27FC236}">
                <a16:creationId xmlns:a16="http://schemas.microsoft.com/office/drawing/2014/main" id="{28D119E7-AC5D-E958-E804-A012E66D7B0F}"/>
              </a:ext>
            </a:extLst>
          </p:cNvPr>
          <p:cNvGrpSpPr/>
          <p:nvPr/>
        </p:nvGrpSpPr>
        <p:grpSpPr>
          <a:xfrm>
            <a:off x="910727" y="664840"/>
            <a:ext cx="10338643" cy="1745632"/>
            <a:chOff x="910727" y="804673"/>
            <a:chExt cx="10338643" cy="1745632"/>
          </a:xfrm>
        </p:grpSpPr>
        <p:pic>
          <p:nvPicPr>
            <p:cNvPr id="9" name="Graphic 47" descr="Laptop with solid fill">
              <a:extLst>
                <a:ext uri="{FF2B5EF4-FFF2-40B4-BE49-F238E27FC236}">
                  <a16:creationId xmlns:a16="http://schemas.microsoft.com/office/drawing/2014/main" id="{026B9444-7E30-AEAA-E66F-99116C2C3A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55900" y="804673"/>
              <a:ext cx="1429105" cy="1465654"/>
            </a:xfrm>
            <a:prstGeom prst="rect">
              <a:avLst/>
            </a:prstGeom>
          </p:spPr>
        </p:pic>
        <p:sp>
          <p:nvSpPr>
            <p:cNvPr id="4" name="Cylinder 3">
              <a:extLst>
                <a:ext uri="{FF2B5EF4-FFF2-40B4-BE49-F238E27FC236}">
                  <a16:creationId xmlns:a16="http://schemas.microsoft.com/office/drawing/2014/main" id="{7A48E2B2-61A2-DA7A-4743-C8435FE6C746}"/>
                </a:ext>
              </a:extLst>
            </p:cNvPr>
            <p:cNvSpPr/>
            <p:nvPr/>
          </p:nvSpPr>
          <p:spPr>
            <a:xfrm>
              <a:off x="9584520" y="1418570"/>
              <a:ext cx="1664850" cy="929744"/>
            </a:xfrm>
            <a:prstGeom prst="ca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chemeClr val="bg2"/>
                  </a:solidFill>
                  <a:effectLst/>
                  <a:uLnTx/>
                  <a:uFillTx/>
                  <a:latin typeface="Arial" panose="020B0604020202020204"/>
                  <a:ea typeface="+mn-ea"/>
                  <a:cs typeface="+mn-cs"/>
                </a:rPr>
                <a:t>OPO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chemeClr val="bg2"/>
                  </a:solidFill>
                  <a:effectLst/>
                  <a:uLnTx/>
                  <a:uFillTx/>
                  <a:latin typeface="Arial" panose="020B0604020202020204"/>
                  <a:ea typeface="+mn-ea"/>
                  <a:cs typeface="+mn-cs"/>
                </a:rPr>
                <a:t>Knowledge Base</a:t>
              </a:r>
            </a:p>
          </p:txBody>
        </p:sp>
        <p:grpSp>
          <p:nvGrpSpPr>
            <p:cNvPr id="5" name="Group 4">
              <a:extLst>
                <a:ext uri="{FF2B5EF4-FFF2-40B4-BE49-F238E27FC236}">
                  <a16:creationId xmlns:a16="http://schemas.microsoft.com/office/drawing/2014/main" id="{E5445196-276E-8CE2-D7F9-A4439A35EF4F}"/>
                </a:ext>
              </a:extLst>
            </p:cNvPr>
            <p:cNvGrpSpPr/>
            <p:nvPr/>
          </p:nvGrpSpPr>
          <p:grpSpPr>
            <a:xfrm>
              <a:off x="910727" y="1344573"/>
              <a:ext cx="792990" cy="938791"/>
              <a:chOff x="144448" y="3688178"/>
              <a:chExt cx="914400" cy="1055529"/>
            </a:xfrm>
          </p:grpSpPr>
          <p:pic>
            <p:nvPicPr>
              <p:cNvPr id="40" name="Graphic 44" descr="User with solid fill">
                <a:extLst>
                  <a:ext uri="{FF2B5EF4-FFF2-40B4-BE49-F238E27FC236}">
                    <a16:creationId xmlns:a16="http://schemas.microsoft.com/office/drawing/2014/main" id="{37E7D758-96A0-9819-74E3-16F591E1E7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448" y="3688178"/>
                <a:ext cx="914400" cy="914400"/>
              </a:xfrm>
              <a:prstGeom prst="rect">
                <a:avLst/>
              </a:prstGeom>
            </p:spPr>
          </p:pic>
          <p:sp>
            <p:nvSpPr>
              <p:cNvPr id="47" name="Rectangle: Rounded Corners 46">
                <a:extLst>
                  <a:ext uri="{FF2B5EF4-FFF2-40B4-BE49-F238E27FC236}">
                    <a16:creationId xmlns:a16="http://schemas.microsoft.com/office/drawing/2014/main" id="{91462CAA-8C7E-45DB-5910-0C76EE7D7CB1}"/>
                  </a:ext>
                </a:extLst>
              </p:cNvPr>
              <p:cNvSpPr/>
              <p:nvPr/>
            </p:nvSpPr>
            <p:spPr>
              <a:xfrm>
                <a:off x="238298" y="4442309"/>
                <a:ext cx="726699" cy="301398"/>
              </a:xfrm>
              <a:prstGeom prst="roundRect">
                <a:avLst/>
              </a:prstGeom>
              <a:solidFill>
                <a:schemeClr val="tx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rgbClr val="FFFFFF"/>
                    </a:solidFill>
                    <a:effectLst/>
                    <a:uLnTx/>
                    <a:uFillTx/>
                    <a:latin typeface="Arial" panose="020B0604020202020204"/>
                    <a:ea typeface="+mn-ea"/>
                    <a:cs typeface="+mn-cs"/>
                  </a:rPr>
                  <a:t>User</a:t>
                </a:r>
              </a:p>
            </p:txBody>
          </p:sp>
        </p:grpSp>
        <p:sp>
          <p:nvSpPr>
            <p:cNvPr id="7" name="Rectangle: Rounded Corners 6">
              <a:extLst>
                <a:ext uri="{FF2B5EF4-FFF2-40B4-BE49-F238E27FC236}">
                  <a16:creationId xmlns:a16="http://schemas.microsoft.com/office/drawing/2014/main" id="{8286BD00-8383-CB91-2174-B198B0008172}"/>
                </a:ext>
              </a:extLst>
            </p:cNvPr>
            <p:cNvSpPr/>
            <p:nvPr/>
          </p:nvSpPr>
          <p:spPr>
            <a:xfrm>
              <a:off x="2542066" y="1417633"/>
              <a:ext cx="1169957" cy="447618"/>
            </a:xfrm>
            <a:prstGeom prst="roundRect">
              <a:avLst/>
            </a:prstGeom>
            <a:solidFill>
              <a:schemeClr val="tx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rgbClr val="FFFFFF"/>
                  </a:solidFill>
                  <a:effectLst/>
                  <a:uLnTx/>
                  <a:uFillTx/>
                  <a:latin typeface="Arial" panose="020B0604020202020204"/>
                  <a:ea typeface="+mn-ea"/>
                  <a:cs typeface="+mn-cs"/>
                </a:rPr>
                <a:t>Asks a Question</a:t>
              </a:r>
            </a:p>
          </p:txBody>
        </p:sp>
        <p:sp>
          <p:nvSpPr>
            <p:cNvPr id="10" name="Rectangle: Rounded Corners 9">
              <a:extLst>
                <a:ext uri="{FF2B5EF4-FFF2-40B4-BE49-F238E27FC236}">
                  <a16:creationId xmlns:a16="http://schemas.microsoft.com/office/drawing/2014/main" id="{619A87EE-D810-BE7D-B9A5-615D3C3059A1}"/>
                </a:ext>
              </a:extLst>
            </p:cNvPr>
            <p:cNvSpPr/>
            <p:nvPr/>
          </p:nvSpPr>
          <p:spPr>
            <a:xfrm>
              <a:off x="5155900" y="2002263"/>
              <a:ext cx="1399448" cy="548042"/>
            </a:xfrm>
            <a:prstGeom prst="roundRect">
              <a:avLst/>
            </a:prstGeom>
            <a:ln>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chemeClr val="bg2"/>
                  </a:solidFill>
                  <a:effectLst/>
                  <a:uLnTx/>
                  <a:uFillTx/>
                  <a:latin typeface="Arial" panose="020B0604020202020204"/>
                  <a:ea typeface="+mn-ea"/>
                  <a:cs typeface="+mn-cs"/>
                </a:rPr>
                <a:t>Generative AI Chat Tool</a:t>
              </a:r>
            </a:p>
          </p:txBody>
        </p:sp>
        <p:sp>
          <p:nvSpPr>
            <p:cNvPr id="12" name="Rectangle: Rounded Corners 11">
              <a:extLst>
                <a:ext uri="{FF2B5EF4-FFF2-40B4-BE49-F238E27FC236}">
                  <a16:creationId xmlns:a16="http://schemas.microsoft.com/office/drawing/2014/main" id="{F4D6D2AB-00F1-90DA-76F4-A1577AFACF63}"/>
                </a:ext>
              </a:extLst>
            </p:cNvPr>
            <p:cNvSpPr/>
            <p:nvPr/>
          </p:nvSpPr>
          <p:spPr>
            <a:xfrm>
              <a:off x="2168694" y="1925568"/>
              <a:ext cx="1952872" cy="491322"/>
            </a:xfrm>
            <a:prstGeom prst="roundRect">
              <a:avLst/>
            </a:prstGeom>
            <a:solidFill>
              <a:schemeClr val="tx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rgbClr val="FFFFFF"/>
                  </a:solidFill>
                  <a:effectLst/>
                  <a:uLnTx/>
                  <a:uFillTx/>
                  <a:latin typeface="Arial" panose="020B0604020202020204"/>
                  <a:ea typeface="+mn-ea"/>
                  <a:cs typeface="+mn-cs"/>
                </a:rPr>
                <a:t>Generated Response</a:t>
              </a:r>
            </a:p>
          </p:txBody>
        </p:sp>
        <p:sp>
          <p:nvSpPr>
            <p:cNvPr id="17" name="Rectangle: Rounded Corners 16">
              <a:extLst>
                <a:ext uri="{FF2B5EF4-FFF2-40B4-BE49-F238E27FC236}">
                  <a16:creationId xmlns:a16="http://schemas.microsoft.com/office/drawing/2014/main" id="{60E4613F-529A-873D-DB11-74124CCC21BF}"/>
                </a:ext>
              </a:extLst>
            </p:cNvPr>
            <p:cNvSpPr/>
            <p:nvPr/>
          </p:nvSpPr>
          <p:spPr>
            <a:xfrm>
              <a:off x="7596379" y="1407134"/>
              <a:ext cx="1429105" cy="447618"/>
            </a:xfrm>
            <a:prstGeom prst="roundRect">
              <a:avLst/>
            </a:prstGeom>
            <a:solidFill>
              <a:schemeClr val="tx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rgbClr val="FFFFFF"/>
                  </a:solidFill>
                  <a:effectLst/>
                  <a:uLnTx/>
                  <a:uFillTx/>
                  <a:latin typeface="Arial" panose="020B0604020202020204"/>
                  <a:ea typeface="+mn-ea"/>
                  <a:cs typeface="+mn-cs"/>
                </a:rPr>
                <a:t>Retrieval Query</a:t>
              </a:r>
            </a:p>
          </p:txBody>
        </p:sp>
        <p:sp>
          <p:nvSpPr>
            <p:cNvPr id="19" name="Rectangle: Rounded Corners 18">
              <a:extLst>
                <a:ext uri="{FF2B5EF4-FFF2-40B4-BE49-F238E27FC236}">
                  <a16:creationId xmlns:a16="http://schemas.microsoft.com/office/drawing/2014/main" id="{09AAAE44-61B4-2256-FB48-2415D56BA722}"/>
                </a:ext>
              </a:extLst>
            </p:cNvPr>
            <p:cNvSpPr/>
            <p:nvPr/>
          </p:nvSpPr>
          <p:spPr>
            <a:xfrm>
              <a:off x="7279587" y="1994687"/>
              <a:ext cx="1816138" cy="422203"/>
            </a:xfrm>
            <a:prstGeom prst="roundRect">
              <a:avLst/>
            </a:prstGeom>
            <a:solidFill>
              <a:schemeClr val="tx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rgbClr val="FFFFFF"/>
                  </a:solidFill>
                  <a:effectLst/>
                  <a:uLnTx/>
                  <a:uFillTx/>
                  <a:latin typeface="Arial" panose="020B0604020202020204"/>
                  <a:ea typeface="+mn-ea"/>
                  <a:cs typeface="+mn-cs"/>
                </a:rPr>
                <a:t>Retrieved Information</a:t>
              </a:r>
            </a:p>
          </p:txBody>
        </p:sp>
        <p:cxnSp>
          <p:nvCxnSpPr>
            <p:cNvPr id="20" name="Straight Arrow Connector 19">
              <a:extLst>
                <a:ext uri="{FF2B5EF4-FFF2-40B4-BE49-F238E27FC236}">
                  <a16:creationId xmlns:a16="http://schemas.microsoft.com/office/drawing/2014/main" id="{5921BCAF-2173-13EB-FA87-01AEA7E5E083}"/>
                </a:ext>
              </a:extLst>
            </p:cNvPr>
            <p:cNvCxnSpPr>
              <a:cxnSpLocks/>
            </p:cNvCxnSpPr>
            <p:nvPr/>
          </p:nvCxnSpPr>
          <p:spPr>
            <a:xfrm>
              <a:off x="1619356" y="1605039"/>
              <a:ext cx="91303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BE8267E-4971-F46C-EFF8-C8D10BBB1E09}"/>
                </a:ext>
              </a:extLst>
            </p:cNvPr>
            <p:cNvCxnSpPr>
              <a:cxnSpLocks/>
              <a:endCxn id="47" idx="3"/>
            </p:cNvCxnSpPr>
            <p:nvPr/>
          </p:nvCxnSpPr>
          <p:spPr>
            <a:xfrm flipH="1">
              <a:off x="1622328" y="2149331"/>
              <a:ext cx="47564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352E48F-6448-B75D-6236-D75186FA5B8A}"/>
                </a:ext>
              </a:extLst>
            </p:cNvPr>
            <p:cNvCxnSpPr>
              <a:cxnSpLocks/>
            </p:cNvCxnSpPr>
            <p:nvPr/>
          </p:nvCxnSpPr>
          <p:spPr>
            <a:xfrm flipV="1">
              <a:off x="3816037" y="1605038"/>
              <a:ext cx="1503345"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0DDDE74-41B1-D054-2E7B-292054738784}"/>
                </a:ext>
              </a:extLst>
            </p:cNvPr>
            <p:cNvCxnSpPr>
              <a:cxnSpLocks/>
              <a:endCxn id="12" idx="3"/>
            </p:cNvCxnSpPr>
            <p:nvPr/>
          </p:nvCxnSpPr>
          <p:spPr>
            <a:xfrm flipH="1">
              <a:off x="4121565" y="2157843"/>
              <a:ext cx="928716" cy="133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F51DBC0-0F5C-18D2-E1E5-F67743E0CA48}"/>
                </a:ext>
              </a:extLst>
            </p:cNvPr>
            <p:cNvCxnSpPr>
              <a:cxnSpLocks/>
            </p:cNvCxnSpPr>
            <p:nvPr/>
          </p:nvCxnSpPr>
          <p:spPr>
            <a:xfrm>
              <a:off x="6385280" y="1590979"/>
              <a:ext cx="117682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A6FFE46-0588-17FB-CDE9-1A37E99E5BDF}"/>
                </a:ext>
              </a:extLst>
            </p:cNvPr>
            <p:cNvCxnSpPr>
              <a:cxnSpLocks/>
            </p:cNvCxnSpPr>
            <p:nvPr/>
          </p:nvCxnSpPr>
          <p:spPr>
            <a:xfrm>
              <a:off x="9046793" y="1596818"/>
              <a:ext cx="487840" cy="46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A699BC6-70E1-C6F4-6D48-C5699902D881}"/>
                </a:ext>
              </a:extLst>
            </p:cNvPr>
            <p:cNvCxnSpPr>
              <a:cxnSpLocks/>
            </p:cNvCxnSpPr>
            <p:nvPr/>
          </p:nvCxnSpPr>
          <p:spPr>
            <a:xfrm flipH="1">
              <a:off x="9095726" y="2157843"/>
              <a:ext cx="43890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C0864F0-3548-DAD7-EABC-4DC4A66A2876}"/>
                </a:ext>
              </a:extLst>
            </p:cNvPr>
            <p:cNvCxnSpPr>
              <a:cxnSpLocks/>
            </p:cNvCxnSpPr>
            <p:nvPr/>
          </p:nvCxnSpPr>
          <p:spPr>
            <a:xfrm flipH="1">
              <a:off x="6585005" y="2205788"/>
              <a:ext cx="5976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8083F7E8-1161-17CE-E095-40F1C766D02B}"/>
              </a:ext>
            </a:extLst>
          </p:cNvPr>
          <p:cNvSpPr txBox="1"/>
          <p:nvPr/>
        </p:nvSpPr>
        <p:spPr>
          <a:xfrm>
            <a:off x="643059" y="2604332"/>
            <a:ext cx="10905882" cy="584775"/>
          </a:xfrm>
          <a:prstGeom prst="rect">
            <a:avLst/>
          </a:prstGeom>
          <a:noFill/>
        </p:spPr>
        <p:txBody>
          <a:bodyPr wrap="square">
            <a:spAutoFit/>
          </a:bodyPr>
          <a:lstStyle/>
          <a:p>
            <a:r>
              <a:rPr lang="en-CA" sz="1600"/>
              <a:t>A specialized smart </a:t>
            </a:r>
            <a:r>
              <a:rPr lang="en-CA" sz="1600" b="1"/>
              <a:t>AI assistant </a:t>
            </a:r>
            <a:r>
              <a:rPr lang="en-CA" sz="1600"/>
              <a:t>that leverages </a:t>
            </a:r>
            <a:r>
              <a:rPr lang="en-CA" sz="1600" b="1"/>
              <a:t>OPO departmental knowledge </a:t>
            </a:r>
            <a:r>
              <a:rPr lang="en-CA" sz="1600"/>
              <a:t>to provide </a:t>
            </a:r>
            <a:r>
              <a:rPr lang="en-CA" sz="1600" b="1"/>
              <a:t>instant, grounded and accurate responses</a:t>
            </a:r>
            <a:r>
              <a:rPr lang="en-CA" sz="1600"/>
              <a:t> using Retrieval Augmented Generation (RAG*) &amp; Generative AI**.</a:t>
            </a:r>
          </a:p>
        </p:txBody>
      </p:sp>
      <p:sp>
        <p:nvSpPr>
          <p:cNvPr id="50" name="Rectangle: Rounded Corners 49">
            <a:extLst>
              <a:ext uri="{FF2B5EF4-FFF2-40B4-BE49-F238E27FC236}">
                <a16:creationId xmlns:a16="http://schemas.microsoft.com/office/drawing/2014/main" id="{1DD0FF99-309C-6A41-6D22-03EFD792BEA3}"/>
              </a:ext>
            </a:extLst>
          </p:cNvPr>
          <p:cNvSpPr/>
          <p:nvPr/>
        </p:nvSpPr>
        <p:spPr>
          <a:xfrm>
            <a:off x="4493179" y="3364955"/>
            <a:ext cx="1593794" cy="365126"/>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a:ln>
                  <a:noFill/>
                </a:ln>
                <a:solidFill>
                  <a:srgbClr val="FFFFFF"/>
                </a:solidFill>
                <a:effectLst/>
                <a:uLnTx/>
                <a:uFillTx/>
                <a:latin typeface="Arial" panose="020B0604020202020204"/>
                <a:ea typeface="+mn-ea"/>
                <a:cs typeface="+mn-cs"/>
              </a:rPr>
              <a:t>Key Features</a:t>
            </a:r>
          </a:p>
        </p:txBody>
      </p:sp>
      <p:sp>
        <p:nvSpPr>
          <p:cNvPr id="51" name="Content Placeholder 2">
            <a:extLst>
              <a:ext uri="{FF2B5EF4-FFF2-40B4-BE49-F238E27FC236}">
                <a16:creationId xmlns:a16="http://schemas.microsoft.com/office/drawing/2014/main" id="{004DB91D-461D-5382-78AE-F685619D542D}"/>
              </a:ext>
            </a:extLst>
          </p:cNvPr>
          <p:cNvSpPr txBox="1">
            <a:spLocks/>
          </p:cNvSpPr>
          <p:nvPr/>
        </p:nvSpPr>
        <p:spPr>
          <a:xfrm>
            <a:off x="1017907" y="3776342"/>
            <a:ext cx="2546566" cy="2226092"/>
          </a:xfrm>
          <a:prstGeom prst="rect">
            <a:avLst/>
          </a:prstGeom>
        </p:spPr>
        <p:txBody>
          <a:bodyPr vert="horz" lIns="0" tIns="0" rIns="0" bIns="0" rtlCol="0">
            <a:noAutofit/>
          </a:bodyPr>
          <a:lstStyle>
            <a:defPPr>
              <a:defRPr lang="en-US"/>
            </a:defPPr>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400"/>
              </a:spcAft>
              <a:buClrTx/>
              <a:buSzTx/>
              <a:buFontTx/>
              <a:buNone/>
              <a:tabLst/>
              <a:defRPr/>
            </a:pP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 Scattered Documentation</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 Time-Consuming Search</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 Productivity Drain</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 Information Overload</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 Onboarding Struggles</a:t>
            </a:r>
          </a:p>
        </p:txBody>
      </p:sp>
      <p:sp>
        <p:nvSpPr>
          <p:cNvPr id="52" name="Rectangle: Rounded Corners 51">
            <a:extLst>
              <a:ext uri="{FF2B5EF4-FFF2-40B4-BE49-F238E27FC236}">
                <a16:creationId xmlns:a16="http://schemas.microsoft.com/office/drawing/2014/main" id="{008C672F-3AF4-CB89-C5DB-CD839B0D5A80}"/>
              </a:ext>
            </a:extLst>
          </p:cNvPr>
          <p:cNvSpPr/>
          <p:nvPr/>
        </p:nvSpPr>
        <p:spPr>
          <a:xfrm>
            <a:off x="1005924" y="3364955"/>
            <a:ext cx="2239941" cy="365126"/>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a:ln>
                  <a:noFill/>
                </a:ln>
                <a:solidFill>
                  <a:srgbClr val="FFFFFF"/>
                </a:solidFill>
                <a:effectLst/>
                <a:uLnTx/>
                <a:uFillTx/>
                <a:latin typeface="Arial" panose="020B0604020202020204"/>
                <a:ea typeface="+mn-ea"/>
                <a:cs typeface="+mn-cs"/>
              </a:rPr>
              <a:t>Current Challenges</a:t>
            </a:r>
          </a:p>
        </p:txBody>
      </p:sp>
      <p:sp>
        <p:nvSpPr>
          <p:cNvPr id="58" name="Content Placeholder 2">
            <a:extLst>
              <a:ext uri="{FF2B5EF4-FFF2-40B4-BE49-F238E27FC236}">
                <a16:creationId xmlns:a16="http://schemas.microsoft.com/office/drawing/2014/main" id="{A1DF61DA-C4DC-3B8D-3138-B0EBDA530BC6}"/>
              </a:ext>
            </a:extLst>
          </p:cNvPr>
          <p:cNvSpPr txBox="1">
            <a:spLocks/>
          </p:cNvSpPr>
          <p:nvPr/>
        </p:nvSpPr>
        <p:spPr>
          <a:xfrm>
            <a:off x="4496963" y="3776342"/>
            <a:ext cx="3825774" cy="2226092"/>
          </a:xfrm>
          <a:prstGeom prst="rect">
            <a:avLst/>
          </a:prstGeom>
        </p:spPr>
        <p:txBody>
          <a:bodyPr vert="horz" lIns="0" tIns="0" rIns="0" bIns="0" rtlCol="0" anchor="t">
            <a:noAutofit/>
          </a:bodyPr>
          <a:lstStyle>
            <a:defPPr>
              <a:defRPr lang="en-US"/>
            </a:defPPr>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400"/>
              </a:spcAft>
              <a:buClrTx/>
              <a:buSzTx/>
              <a:buFontTx/>
              <a:buNone/>
              <a:tabLst/>
              <a:defRPr/>
            </a:pP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 Unified Knowledgebase</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 Instant answers with AI-Powered Tool</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 Smart, Efficient &amp; Accurate</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 Reliable &amp; Linked Sources</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 Boosted Efficiency &amp; Seamless Onboarding</a:t>
            </a:r>
          </a:p>
        </p:txBody>
      </p:sp>
      <p:sp>
        <p:nvSpPr>
          <p:cNvPr id="61" name="Rectangle: Rounded Corners 60">
            <a:extLst>
              <a:ext uri="{FF2B5EF4-FFF2-40B4-BE49-F238E27FC236}">
                <a16:creationId xmlns:a16="http://schemas.microsoft.com/office/drawing/2014/main" id="{CD46D4F4-1F29-B8A7-1C89-CEA3147FE71B}"/>
              </a:ext>
            </a:extLst>
          </p:cNvPr>
          <p:cNvSpPr/>
          <p:nvPr/>
        </p:nvSpPr>
        <p:spPr>
          <a:xfrm>
            <a:off x="8851565" y="3364955"/>
            <a:ext cx="1593794" cy="365126"/>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a:ln>
                  <a:noFill/>
                </a:ln>
                <a:solidFill>
                  <a:srgbClr val="FFFFFF"/>
                </a:solidFill>
                <a:effectLst/>
                <a:uLnTx/>
                <a:uFillTx/>
                <a:latin typeface="Arial" panose="020B0604020202020204"/>
                <a:ea typeface="+mn-ea"/>
                <a:cs typeface="+mn-cs"/>
              </a:rPr>
              <a:t>Key Metrics</a:t>
            </a:r>
          </a:p>
        </p:txBody>
      </p:sp>
      <p:grpSp>
        <p:nvGrpSpPr>
          <p:cNvPr id="63" name="Group 62">
            <a:extLst>
              <a:ext uri="{FF2B5EF4-FFF2-40B4-BE49-F238E27FC236}">
                <a16:creationId xmlns:a16="http://schemas.microsoft.com/office/drawing/2014/main" id="{0FAD7795-6036-DC4E-2163-B99D654109C3}"/>
              </a:ext>
            </a:extLst>
          </p:cNvPr>
          <p:cNvGrpSpPr/>
          <p:nvPr/>
        </p:nvGrpSpPr>
        <p:grpSpPr>
          <a:xfrm>
            <a:off x="8906600" y="3822603"/>
            <a:ext cx="2259773" cy="1767916"/>
            <a:chOff x="9694001" y="3890769"/>
            <a:chExt cx="2259773" cy="1767916"/>
          </a:xfrm>
        </p:grpSpPr>
        <p:sp>
          <p:nvSpPr>
            <p:cNvPr id="54" name="Flowchart: Extract 53">
              <a:extLst>
                <a:ext uri="{FF2B5EF4-FFF2-40B4-BE49-F238E27FC236}">
                  <a16:creationId xmlns:a16="http://schemas.microsoft.com/office/drawing/2014/main" id="{245BF616-6959-9449-53AB-EDA08EA1310A}"/>
                </a:ext>
              </a:extLst>
            </p:cNvPr>
            <p:cNvSpPr/>
            <p:nvPr/>
          </p:nvSpPr>
          <p:spPr>
            <a:xfrm>
              <a:off x="9694001" y="4515794"/>
              <a:ext cx="206208" cy="196516"/>
            </a:xfrm>
            <a:prstGeom prst="flowChartExtra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5" name="Flowchart: Merge 54">
              <a:extLst>
                <a:ext uri="{FF2B5EF4-FFF2-40B4-BE49-F238E27FC236}">
                  <a16:creationId xmlns:a16="http://schemas.microsoft.com/office/drawing/2014/main" id="{3DD7038E-23D9-4F5B-1AEB-94CA90FA8786}"/>
                </a:ext>
              </a:extLst>
            </p:cNvPr>
            <p:cNvSpPr/>
            <p:nvPr/>
          </p:nvSpPr>
          <p:spPr>
            <a:xfrm>
              <a:off x="9694001" y="4079520"/>
              <a:ext cx="206208" cy="196516"/>
            </a:xfrm>
            <a:prstGeom prst="flowChartMerg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6" name="Flowchart: Merge 55">
              <a:extLst>
                <a:ext uri="{FF2B5EF4-FFF2-40B4-BE49-F238E27FC236}">
                  <a16:creationId xmlns:a16="http://schemas.microsoft.com/office/drawing/2014/main" id="{EB3FE3F2-B29D-F1D4-D26C-40E3EAADBED9}"/>
                </a:ext>
              </a:extLst>
            </p:cNvPr>
            <p:cNvSpPr/>
            <p:nvPr/>
          </p:nvSpPr>
          <p:spPr>
            <a:xfrm>
              <a:off x="9694001" y="4979997"/>
              <a:ext cx="206208" cy="196516"/>
            </a:xfrm>
            <a:prstGeom prst="flowChartMerg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7" name="Flowchart: Extract 56">
              <a:extLst>
                <a:ext uri="{FF2B5EF4-FFF2-40B4-BE49-F238E27FC236}">
                  <a16:creationId xmlns:a16="http://schemas.microsoft.com/office/drawing/2014/main" id="{F22714AF-8CEF-A7D2-DBE7-4A905F7163F2}"/>
                </a:ext>
              </a:extLst>
            </p:cNvPr>
            <p:cNvSpPr/>
            <p:nvPr/>
          </p:nvSpPr>
          <p:spPr>
            <a:xfrm>
              <a:off x="9694001" y="5461000"/>
              <a:ext cx="206208" cy="196516"/>
            </a:xfrm>
            <a:prstGeom prst="flowChartExtra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2" name="Content Placeholder 2">
              <a:extLst>
                <a:ext uri="{FF2B5EF4-FFF2-40B4-BE49-F238E27FC236}">
                  <a16:creationId xmlns:a16="http://schemas.microsoft.com/office/drawing/2014/main" id="{CB8E7114-9B23-CDB6-4142-8148F6805300}"/>
                </a:ext>
              </a:extLst>
            </p:cNvPr>
            <p:cNvSpPr txBox="1">
              <a:spLocks/>
            </p:cNvSpPr>
            <p:nvPr/>
          </p:nvSpPr>
          <p:spPr>
            <a:xfrm>
              <a:off x="10007599" y="3890769"/>
              <a:ext cx="1946175" cy="1767916"/>
            </a:xfrm>
            <a:prstGeom prst="rect">
              <a:avLst/>
            </a:prstGeom>
          </p:spPr>
          <p:txBody>
            <a:bodyPr vert="horz" lIns="0" tIns="0" rIns="0" bIns="0" rtlCol="0" anchor="t">
              <a:noAutofit/>
            </a:bodyPr>
            <a:lstStyle>
              <a:defPPr>
                <a:defRPr lang="en-US"/>
              </a:defPPr>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defRPr/>
              </a:pPr>
              <a:r>
                <a:rPr lang="en-CA" sz="1400" b="0">
                  <a:solidFill>
                    <a:srgbClr val="1F2A44"/>
                  </a:solidFill>
                </a:rPr>
                <a:t>Time Spent – 98%</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Search Efficiency</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Redundant Queries</a:t>
              </a:r>
              <a:b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br>
              <a:r>
                <a:rPr kumimoji="0" lang="en-CA" sz="1400" b="0" i="0" u="none" strike="noStrike" kern="1200" cap="none" spc="0" normalizeH="0" baseline="0" noProof="0">
                  <a:ln>
                    <a:noFill/>
                  </a:ln>
                  <a:solidFill>
                    <a:srgbClr val="1F2A44"/>
                  </a:solidFill>
                  <a:effectLst/>
                  <a:uLnTx/>
                  <a:uFillTx/>
                  <a:latin typeface="Arial" panose="020B0604020202020204"/>
                  <a:ea typeface="+mn-ea"/>
                  <a:cs typeface="+mn-cs"/>
                </a:rPr>
                <a:t>Accurate Answer – 96%</a:t>
              </a:r>
            </a:p>
          </p:txBody>
        </p:sp>
      </p:grpSp>
      <p:sp>
        <p:nvSpPr>
          <p:cNvPr id="3" name="TextBox 2">
            <a:extLst>
              <a:ext uri="{FF2B5EF4-FFF2-40B4-BE49-F238E27FC236}">
                <a16:creationId xmlns:a16="http://schemas.microsoft.com/office/drawing/2014/main" id="{D83799A9-4B4B-B83A-2465-B96FC0AF011A}"/>
              </a:ext>
            </a:extLst>
          </p:cNvPr>
          <p:cNvSpPr txBox="1"/>
          <p:nvPr/>
        </p:nvSpPr>
        <p:spPr>
          <a:xfrm>
            <a:off x="298145" y="6091511"/>
            <a:ext cx="11595710" cy="230832"/>
          </a:xfrm>
          <a:prstGeom prst="rect">
            <a:avLst/>
          </a:prstGeom>
          <a:noFill/>
        </p:spPr>
        <p:txBody>
          <a:bodyPr wrap="square">
            <a:spAutoFit/>
          </a:bodyPr>
          <a:lstStyle/>
          <a:p>
            <a:r>
              <a:rPr lang="en-CA" sz="900"/>
              <a:t>* A RAG-based LLM combines a large language model with a retrieval system that searches external documents to provide more accurate, up-to-date answers by incorporating relevant information found in those documents.</a:t>
            </a:r>
          </a:p>
        </p:txBody>
      </p:sp>
      <p:sp>
        <p:nvSpPr>
          <p:cNvPr id="13" name="TextBox 12">
            <a:extLst>
              <a:ext uri="{FF2B5EF4-FFF2-40B4-BE49-F238E27FC236}">
                <a16:creationId xmlns:a16="http://schemas.microsoft.com/office/drawing/2014/main" id="{F3F68CD8-7924-E597-6FD9-0343CED01E40}"/>
              </a:ext>
            </a:extLst>
          </p:cNvPr>
          <p:cNvSpPr txBox="1"/>
          <p:nvPr/>
        </p:nvSpPr>
        <p:spPr>
          <a:xfrm>
            <a:off x="2292908" y="6266674"/>
            <a:ext cx="7606185" cy="230832"/>
          </a:xfrm>
          <a:prstGeom prst="rect">
            <a:avLst/>
          </a:prstGeom>
          <a:noFill/>
        </p:spPr>
        <p:txBody>
          <a:bodyPr wrap="square">
            <a:spAutoFit/>
          </a:bodyPr>
          <a:lstStyle/>
          <a:p>
            <a:pPr algn="ctr"/>
            <a:r>
              <a:rPr lang="en-CA" sz="900"/>
              <a:t>** An artificial intelligence that creates new content like text, images, code, or audio by learning patterns from existing data based on user prompts.</a:t>
            </a:r>
          </a:p>
        </p:txBody>
      </p:sp>
    </p:spTree>
    <p:extLst>
      <p:ext uri="{BB962C8B-B14F-4D97-AF65-F5344CB8AC3E}">
        <p14:creationId xmlns:p14="http://schemas.microsoft.com/office/powerpoint/2010/main" val="2695307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31CD1D0-3C27-D753-F372-01C93902D280}"/>
              </a:ext>
            </a:extLst>
          </p:cNvPr>
          <p:cNvSpPr>
            <a:spLocks noGrp="1"/>
          </p:cNvSpPr>
          <p:nvPr>
            <p:ph type="body" sz="quarter" idx="13"/>
          </p:nvPr>
        </p:nvSpPr>
        <p:spPr>
          <a:xfrm>
            <a:off x="694944" y="1143000"/>
            <a:ext cx="10829543" cy="4315200"/>
          </a:xfrm>
        </p:spPr>
        <p:txBody>
          <a:bodyPr/>
          <a:lstStyle/>
          <a:p>
            <a:pPr fontAlgn="base"/>
            <a:r>
              <a:rPr lang="en-CA" sz="1800" dirty="0"/>
              <a:t>Data Type : Strictly No Technical Data</a:t>
            </a:r>
            <a:r>
              <a:rPr lang="en-US" sz="1800" dirty="0"/>
              <a:t>​</a:t>
            </a:r>
          </a:p>
          <a:p>
            <a:pPr fontAlgn="base"/>
            <a:r>
              <a:rPr lang="en-CA" sz="1800" dirty="0"/>
              <a:t>Data Ownership : OPO / QMS is the owner of the data (Internal Procedures)</a:t>
            </a:r>
            <a:r>
              <a:rPr lang="en-US" sz="1800" dirty="0"/>
              <a:t>​</a:t>
            </a:r>
          </a:p>
          <a:p>
            <a:pPr fontAlgn="base"/>
            <a:r>
              <a:rPr lang="en-CA" sz="1800" dirty="0"/>
              <a:t>SLA, Evaluation Parameters &amp; Logic defined</a:t>
            </a:r>
            <a:r>
              <a:rPr lang="en-US" sz="1800" dirty="0"/>
              <a:t>​</a:t>
            </a:r>
          </a:p>
          <a:p>
            <a:pPr fontAlgn="base"/>
            <a:r>
              <a:rPr lang="en-CA" sz="1800" dirty="0"/>
              <a:t>Developed after Benchmarking 2 existing tools – EngineGPT &amp; PW Gen AI Tool</a:t>
            </a:r>
            <a:r>
              <a:rPr lang="en-US" sz="1800" dirty="0"/>
              <a:t>​</a:t>
            </a:r>
          </a:p>
          <a:p>
            <a:pPr fontAlgn="base"/>
            <a:r>
              <a:rPr lang="en-CA" sz="1800" dirty="0"/>
              <a:t>Software Architecture defined (including libraries &amp; models used)</a:t>
            </a:r>
            <a:r>
              <a:rPr lang="en-US" sz="1800" dirty="0"/>
              <a:t>​</a:t>
            </a:r>
          </a:p>
          <a:p>
            <a:pPr fontAlgn="base"/>
            <a:r>
              <a:rPr lang="en-CA" sz="1800" dirty="0"/>
              <a:t>Business Case &amp; Project Plan in Place</a:t>
            </a:r>
            <a:r>
              <a:rPr lang="en-US" sz="1800" dirty="0"/>
              <a:t>​</a:t>
            </a:r>
          </a:p>
          <a:p>
            <a:pPr fontAlgn="base"/>
            <a:r>
              <a:rPr lang="en-CA" sz="1800" dirty="0"/>
              <a:t>Fully developed &amp; Running on Local System</a:t>
            </a:r>
            <a:endParaRPr lang="en-US" sz="1800" dirty="0"/>
          </a:p>
          <a:p>
            <a:pPr marL="0" indent="0" fontAlgn="base">
              <a:buNone/>
            </a:pPr>
            <a:endParaRPr lang="en-CA" sz="1800" dirty="0"/>
          </a:p>
          <a:p>
            <a:pPr marL="0" indent="0" fontAlgn="base">
              <a:buNone/>
            </a:pPr>
            <a:r>
              <a:rPr lang="en-CA" sz="1800" b="1" dirty="0"/>
              <a:t>Next Steps &amp; Ask</a:t>
            </a:r>
            <a:r>
              <a:rPr lang="en-US" sz="1800" dirty="0"/>
              <a:t>​</a:t>
            </a:r>
          </a:p>
          <a:p>
            <a:pPr fontAlgn="base"/>
            <a:r>
              <a:rPr lang="en-CA" sz="1800" dirty="0"/>
              <a:t>Cloud Space to Host the tool to Run the Pilot with Group of SMEs before deploying for whole OPO</a:t>
            </a:r>
            <a:r>
              <a:rPr lang="en-US" sz="1800" dirty="0"/>
              <a:t>​</a:t>
            </a:r>
          </a:p>
          <a:p>
            <a:pPr marL="0" indent="0" fontAlgn="base">
              <a:buNone/>
            </a:pPr>
            <a:endParaRPr lang="en-CA" sz="1800" dirty="0"/>
          </a:p>
          <a:p>
            <a:pPr marL="0" indent="0" fontAlgn="base">
              <a:buNone/>
            </a:pPr>
            <a:r>
              <a:rPr lang="en-CA" sz="1800" b="1" dirty="0"/>
              <a:t>Product Owner</a:t>
            </a:r>
            <a:r>
              <a:rPr lang="en-US" sz="1800" dirty="0"/>
              <a:t>​</a:t>
            </a:r>
          </a:p>
          <a:p>
            <a:pPr fontAlgn="base"/>
            <a:r>
              <a:rPr lang="en-CA" sz="1800" dirty="0"/>
              <a:t>OPO - Continuous Improvement Team (Maged Youssef &amp; Team)</a:t>
            </a:r>
            <a:r>
              <a:rPr lang="en-US" sz="1800" dirty="0"/>
              <a:t>​</a:t>
            </a:r>
          </a:p>
        </p:txBody>
      </p:sp>
      <p:sp>
        <p:nvSpPr>
          <p:cNvPr id="2" name="Title 1">
            <a:extLst>
              <a:ext uri="{FF2B5EF4-FFF2-40B4-BE49-F238E27FC236}">
                <a16:creationId xmlns:a16="http://schemas.microsoft.com/office/drawing/2014/main" id="{1D0F96A8-3B6A-B884-6501-A17DA8CA169A}"/>
              </a:ext>
            </a:extLst>
          </p:cNvPr>
          <p:cNvSpPr>
            <a:spLocks noGrp="1"/>
          </p:cNvSpPr>
          <p:nvPr>
            <p:ph type="title"/>
          </p:nvPr>
        </p:nvSpPr>
        <p:spPr/>
        <p:txBody>
          <a:bodyPr/>
          <a:lstStyle/>
          <a:p>
            <a:r>
              <a:rPr lang="en-US" dirty="0"/>
              <a:t>OSKAR </a:t>
            </a:r>
            <a:r>
              <a:rPr lang="en-US" b="0" dirty="0"/>
              <a:t>- OPO Generative AI Chat Tool</a:t>
            </a:r>
            <a:endParaRPr lang="en-CA" dirty="0"/>
          </a:p>
        </p:txBody>
      </p:sp>
      <p:sp>
        <p:nvSpPr>
          <p:cNvPr id="3" name="Slide Number Placeholder 2">
            <a:extLst>
              <a:ext uri="{FF2B5EF4-FFF2-40B4-BE49-F238E27FC236}">
                <a16:creationId xmlns:a16="http://schemas.microsoft.com/office/drawing/2014/main" id="{3838F55C-F4CA-3276-4919-4FA4F150671E}"/>
              </a:ext>
            </a:extLst>
          </p:cNvPr>
          <p:cNvSpPr>
            <a:spLocks noGrp="1"/>
          </p:cNvSpPr>
          <p:nvPr>
            <p:ph type="sldNum" sz="quarter" idx="4"/>
          </p:nvPr>
        </p:nvSpPr>
        <p:spPr/>
        <p:txBody>
          <a:bodyPr/>
          <a:lstStyle/>
          <a:p>
            <a:fld id="{07165E6F-54ED-4977-A15E-D44BE7238A65}" type="slidenum">
              <a:rPr lang="en-US" smtClean="0"/>
              <a:pPr/>
              <a:t>9</a:t>
            </a:fld>
            <a:endParaRPr lang="en-US"/>
          </a:p>
        </p:txBody>
      </p:sp>
      <p:sp>
        <p:nvSpPr>
          <p:cNvPr id="4" name="Footer Placeholder 3">
            <a:extLst>
              <a:ext uri="{FF2B5EF4-FFF2-40B4-BE49-F238E27FC236}">
                <a16:creationId xmlns:a16="http://schemas.microsoft.com/office/drawing/2014/main" id="{00DFC0A4-5741-2FAA-36AC-E4C09046D079}"/>
              </a:ext>
            </a:extLst>
          </p:cNvPr>
          <p:cNvSpPr>
            <a:spLocks noGrp="1"/>
          </p:cNvSpPr>
          <p:nvPr>
            <p:ph type="ftr" sz="quarter" idx="3"/>
          </p:nvPr>
        </p:nvSpPr>
        <p:spPr/>
        <p:txBody>
          <a:bodyPr/>
          <a:lstStyle/>
          <a:p>
            <a:r>
              <a:rPr lang="en-US"/>
              <a:t>EXPORT MARKING: (Insert Export Marking) [TO CHANGE GO TO INSERT &gt; HEADER &amp; FOOTER] </a:t>
            </a:r>
          </a:p>
        </p:txBody>
      </p:sp>
    </p:spTree>
    <p:extLst>
      <p:ext uri="{BB962C8B-B14F-4D97-AF65-F5344CB8AC3E}">
        <p14:creationId xmlns:p14="http://schemas.microsoft.com/office/powerpoint/2010/main" val="3604965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8DCC1-894F-FE3B-DEA9-D30048053B4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339EC16-0297-15EA-30F3-BF9E955C2457}"/>
              </a:ext>
            </a:extLst>
          </p:cNvPr>
          <p:cNvSpPr/>
          <p:nvPr/>
        </p:nvSpPr>
        <p:spPr>
          <a:xfrm>
            <a:off x="4356537" y="2546914"/>
            <a:ext cx="1803594" cy="192750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a:p>
            <a:pPr algn="ctr"/>
            <a:endParaRPr lang="en-CA"/>
          </a:p>
          <a:p>
            <a:pPr algn="ctr"/>
            <a:endParaRPr lang="en-CA"/>
          </a:p>
          <a:p>
            <a:pPr algn="ctr"/>
            <a:endParaRPr lang="en-CA"/>
          </a:p>
          <a:p>
            <a:pPr algn="ctr"/>
            <a:endParaRPr lang="en-CA"/>
          </a:p>
          <a:p>
            <a:pPr algn="ctr"/>
            <a:r>
              <a:rPr lang="en-CA" sz="1000" b="1">
                <a:solidFill>
                  <a:schemeClr val="bg2">
                    <a:lumMod val="50000"/>
                  </a:schemeClr>
                </a:solidFill>
              </a:rPr>
              <a:t>Local System</a:t>
            </a:r>
          </a:p>
          <a:p>
            <a:pPr algn="ctr"/>
            <a:endParaRPr lang="en-CA" b="1">
              <a:solidFill>
                <a:schemeClr val="bg2">
                  <a:lumMod val="50000"/>
                </a:schemeClr>
              </a:solidFill>
            </a:endParaRPr>
          </a:p>
          <a:p>
            <a:pPr algn="ctr"/>
            <a:endParaRPr lang="en-CA" sz="1050" b="1">
              <a:solidFill>
                <a:schemeClr val="bg2">
                  <a:lumMod val="50000"/>
                </a:schemeClr>
              </a:solidFill>
            </a:endParaRPr>
          </a:p>
          <a:p>
            <a:pPr algn="ctr"/>
            <a:endParaRPr lang="en-CA" sz="105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p:txBody>
      </p:sp>
      <p:sp>
        <p:nvSpPr>
          <p:cNvPr id="11" name="Rectangle 10">
            <a:extLst>
              <a:ext uri="{FF2B5EF4-FFF2-40B4-BE49-F238E27FC236}">
                <a16:creationId xmlns:a16="http://schemas.microsoft.com/office/drawing/2014/main" id="{959E0D36-EF20-CBBD-61CC-2A80315150CD}"/>
              </a:ext>
            </a:extLst>
          </p:cNvPr>
          <p:cNvSpPr/>
          <p:nvPr/>
        </p:nvSpPr>
        <p:spPr>
          <a:xfrm>
            <a:off x="10559333" y="2546914"/>
            <a:ext cx="1565587" cy="1931732"/>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a:p>
            <a:pPr algn="ctr"/>
            <a:endParaRPr lang="en-CA"/>
          </a:p>
          <a:p>
            <a:pPr algn="ctr"/>
            <a:endParaRPr lang="en-CA"/>
          </a:p>
          <a:p>
            <a:pPr algn="ctr"/>
            <a:endParaRPr lang="en-CA"/>
          </a:p>
          <a:p>
            <a:pPr algn="ctr"/>
            <a:endParaRPr lang="en-CA"/>
          </a:p>
          <a:p>
            <a:pPr algn="ctr"/>
            <a:endParaRPr lang="en-CA" sz="1000" b="1">
              <a:solidFill>
                <a:schemeClr val="bg2">
                  <a:lumMod val="50000"/>
                </a:schemeClr>
              </a:solidFill>
            </a:endParaRPr>
          </a:p>
          <a:p>
            <a:pPr algn="ctr"/>
            <a:r>
              <a:rPr lang="en-CA" sz="1000" b="1">
                <a:solidFill>
                  <a:schemeClr val="bg2">
                    <a:lumMod val="50000"/>
                  </a:schemeClr>
                </a:solidFill>
              </a:rPr>
              <a:t>Local System </a:t>
            </a:r>
          </a:p>
          <a:p>
            <a:pPr algn="ctr"/>
            <a:r>
              <a:rPr lang="en-CA" sz="1000" b="1">
                <a:solidFill>
                  <a:schemeClr val="bg2">
                    <a:lumMod val="50000"/>
                  </a:schemeClr>
                </a:solidFill>
              </a:rPr>
              <a:t>(FAISS Index)</a:t>
            </a:r>
          </a:p>
        </p:txBody>
      </p:sp>
      <p:sp>
        <p:nvSpPr>
          <p:cNvPr id="5" name="Footer Placeholder 4">
            <a:extLst>
              <a:ext uri="{FF2B5EF4-FFF2-40B4-BE49-F238E27FC236}">
                <a16:creationId xmlns:a16="http://schemas.microsoft.com/office/drawing/2014/main" id="{E843CDD2-2BD8-8D22-1073-D37C60449005}"/>
              </a:ext>
            </a:extLst>
          </p:cNvPr>
          <p:cNvSpPr>
            <a:spLocks noGrp="1"/>
          </p:cNvSpPr>
          <p:nvPr>
            <p:ph type="ftr" sz="quarter" idx="3"/>
          </p:nvPr>
        </p:nvSpPr>
        <p:spPr/>
        <p:txBody>
          <a:bodyPr/>
          <a:lstStyle/>
          <a:p>
            <a:r>
              <a:rPr lang="en-US"/>
              <a:t>EXPORT MARKING: INTERN'S PRESENTATION</a:t>
            </a:r>
          </a:p>
        </p:txBody>
      </p:sp>
      <p:sp>
        <p:nvSpPr>
          <p:cNvPr id="16" name="Title 1">
            <a:extLst>
              <a:ext uri="{FF2B5EF4-FFF2-40B4-BE49-F238E27FC236}">
                <a16:creationId xmlns:a16="http://schemas.microsoft.com/office/drawing/2014/main" id="{30F66239-E904-4433-DAA2-34DB67051C7A}"/>
              </a:ext>
            </a:extLst>
          </p:cNvPr>
          <p:cNvSpPr>
            <a:spLocks noGrp="1"/>
          </p:cNvSpPr>
          <p:nvPr>
            <p:ph type="title"/>
          </p:nvPr>
        </p:nvSpPr>
        <p:spPr>
          <a:xfrm>
            <a:off x="695325" y="365126"/>
            <a:ext cx="10832211" cy="570285"/>
          </a:xfrm>
        </p:spPr>
        <p:txBody>
          <a:bodyPr anchor="ctr"/>
          <a:lstStyle/>
          <a:p>
            <a:r>
              <a:rPr lang="en-CA" sz="2600"/>
              <a:t>OPO </a:t>
            </a:r>
            <a:r>
              <a:rPr lang="en-CA" sz="2600" err="1"/>
              <a:t>GenAI</a:t>
            </a:r>
            <a:r>
              <a:rPr lang="en-CA" sz="2600"/>
              <a:t> Tool - RAG based LLM Architecture</a:t>
            </a:r>
            <a:endParaRPr lang="fr-CA" sz="2600"/>
          </a:p>
        </p:txBody>
      </p:sp>
      <p:sp>
        <p:nvSpPr>
          <p:cNvPr id="3" name="Rectangle: Rounded Corners 2">
            <a:extLst>
              <a:ext uri="{FF2B5EF4-FFF2-40B4-BE49-F238E27FC236}">
                <a16:creationId xmlns:a16="http://schemas.microsoft.com/office/drawing/2014/main" id="{11FC23B5-B1A7-18A3-FF89-52615F156DC1}"/>
              </a:ext>
            </a:extLst>
          </p:cNvPr>
          <p:cNvSpPr/>
          <p:nvPr/>
        </p:nvSpPr>
        <p:spPr>
          <a:xfrm>
            <a:off x="189457" y="1088857"/>
            <a:ext cx="1192696"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Raw Data</a:t>
            </a:r>
          </a:p>
        </p:txBody>
      </p:sp>
      <p:pic>
        <p:nvPicPr>
          <p:cNvPr id="2050" name="Picture 2" descr="Pdf icon on transparent background. 17197488 PNG">
            <a:extLst>
              <a:ext uri="{FF2B5EF4-FFF2-40B4-BE49-F238E27FC236}">
                <a16:creationId xmlns:a16="http://schemas.microsoft.com/office/drawing/2014/main" id="{03D43987-1DF0-1176-3304-1D321FD876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62" y="1628839"/>
            <a:ext cx="446259" cy="33181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icrosoft Word Logo - PNG and Vector - Logo Download">
            <a:extLst>
              <a:ext uri="{FF2B5EF4-FFF2-40B4-BE49-F238E27FC236}">
                <a16:creationId xmlns:a16="http://schemas.microsoft.com/office/drawing/2014/main" id="{ACCCBD05-373B-0AEC-8C25-63D8C884C7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921" y="1665379"/>
            <a:ext cx="323425" cy="3234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oft Excel Logo - Télécharger PNG et vecteur">
            <a:extLst>
              <a:ext uri="{FF2B5EF4-FFF2-40B4-BE49-F238E27FC236}">
                <a16:creationId xmlns:a16="http://schemas.microsoft.com/office/drawing/2014/main" id="{FEC73595-1946-3E36-4911-666E4702AB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686" y="1579977"/>
            <a:ext cx="429538" cy="42953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Microsoft PowerPoint Logo PNG vector in SVG, PDF, AI, CDR format">
            <a:extLst>
              <a:ext uri="{FF2B5EF4-FFF2-40B4-BE49-F238E27FC236}">
                <a16:creationId xmlns:a16="http://schemas.microsoft.com/office/drawing/2014/main" id="{A8AA396E-0CA5-E74C-0445-21F9360673CB}"/>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0000" b="90000" l="10000" r="90000">
                        <a14:foregroundMark x1="30600" y1="42923" x2="34065" y2="44154"/>
                      </a14:backgroundRemoval>
                    </a14:imgEffect>
                  </a14:imgLayer>
                </a14:imgProps>
              </a:ext>
              <a:ext uri="{28A0092B-C50C-407E-A947-70E740481C1C}">
                <a14:useLocalDpi xmlns:a14="http://schemas.microsoft.com/office/drawing/2010/main" val="0"/>
              </a:ext>
            </a:extLst>
          </a:blip>
          <a:srcRect/>
          <a:stretch>
            <a:fillRect/>
          </a:stretch>
        </p:blipFill>
        <p:spPr bwMode="auto">
          <a:xfrm>
            <a:off x="490837" y="2028482"/>
            <a:ext cx="479882" cy="3601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50A88D1-9344-E3BE-8CF8-118655E7CA30}"/>
              </a:ext>
            </a:extLst>
          </p:cNvPr>
          <p:cNvSpPr/>
          <p:nvPr/>
        </p:nvSpPr>
        <p:spPr>
          <a:xfrm>
            <a:off x="3875591" y="1013920"/>
            <a:ext cx="1285603" cy="571292"/>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Preprocess Data</a:t>
            </a:r>
          </a:p>
        </p:txBody>
      </p:sp>
      <p:pic>
        <p:nvPicPr>
          <p:cNvPr id="3078" name="Picture 6" descr="Txt, file, type, format, extension, document icon - Download on Iconfinder">
            <a:extLst>
              <a:ext uri="{FF2B5EF4-FFF2-40B4-BE49-F238E27FC236}">
                <a16:creationId xmlns:a16="http://schemas.microsoft.com/office/drawing/2014/main" id="{98ABE858-8344-3750-682C-D0AAACFC9B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07682" y="1662872"/>
            <a:ext cx="421419" cy="42141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Rounded Corners 6">
            <a:extLst>
              <a:ext uri="{FF2B5EF4-FFF2-40B4-BE49-F238E27FC236}">
                <a16:creationId xmlns:a16="http://schemas.microsoft.com/office/drawing/2014/main" id="{648A3B9D-6A7D-656B-0143-117BA9BEFF76}"/>
              </a:ext>
            </a:extLst>
          </p:cNvPr>
          <p:cNvSpPr/>
          <p:nvPr/>
        </p:nvSpPr>
        <p:spPr>
          <a:xfrm>
            <a:off x="9539055" y="1096662"/>
            <a:ext cx="1382948"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Embeddings</a:t>
            </a:r>
          </a:p>
        </p:txBody>
      </p:sp>
      <p:sp>
        <p:nvSpPr>
          <p:cNvPr id="15" name="Cylinder 14">
            <a:extLst>
              <a:ext uri="{FF2B5EF4-FFF2-40B4-BE49-F238E27FC236}">
                <a16:creationId xmlns:a16="http://schemas.microsoft.com/office/drawing/2014/main" id="{7B64BF38-35DE-719F-4C26-F269BA72B952}"/>
              </a:ext>
            </a:extLst>
          </p:cNvPr>
          <p:cNvSpPr/>
          <p:nvPr/>
        </p:nvSpPr>
        <p:spPr>
          <a:xfrm>
            <a:off x="10741116" y="2835670"/>
            <a:ext cx="1192696" cy="1224500"/>
          </a:xfrm>
          <a:prstGeom prst="ca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Vector Database</a:t>
            </a:r>
          </a:p>
        </p:txBody>
      </p:sp>
      <p:sp>
        <p:nvSpPr>
          <p:cNvPr id="17" name="Rectangle: Rounded Corners 16">
            <a:extLst>
              <a:ext uri="{FF2B5EF4-FFF2-40B4-BE49-F238E27FC236}">
                <a16:creationId xmlns:a16="http://schemas.microsoft.com/office/drawing/2014/main" id="{097DE55A-F104-C938-5336-9D7AB6230F83}"/>
              </a:ext>
            </a:extLst>
          </p:cNvPr>
          <p:cNvSpPr/>
          <p:nvPr/>
        </p:nvSpPr>
        <p:spPr>
          <a:xfrm>
            <a:off x="5847920" y="1022228"/>
            <a:ext cx="1509423" cy="570285"/>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Token based Chunking</a:t>
            </a:r>
          </a:p>
        </p:txBody>
      </p:sp>
      <p:cxnSp>
        <p:nvCxnSpPr>
          <p:cNvPr id="23" name="Straight Arrow Connector 22">
            <a:extLst>
              <a:ext uri="{FF2B5EF4-FFF2-40B4-BE49-F238E27FC236}">
                <a16:creationId xmlns:a16="http://schemas.microsoft.com/office/drawing/2014/main" id="{E0FED817-E7A5-A527-955E-B62C0CA36DD6}"/>
              </a:ext>
            </a:extLst>
          </p:cNvPr>
          <p:cNvCxnSpPr>
            <a:cxnSpLocks/>
            <a:stCxn id="17" idx="3"/>
            <a:endCxn id="7" idx="1"/>
          </p:cNvCxnSpPr>
          <p:nvPr/>
        </p:nvCxnSpPr>
        <p:spPr>
          <a:xfrm>
            <a:off x="7357343" y="1307371"/>
            <a:ext cx="21817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257AECB4-C6E7-B347-B6B7-4A161284A5DD}"/>
              </a:ext>
            </a:extLst>
          </p:cNvPr>
          <p:cNvCxnSpPr>
            <a:cxnSpLocks/>
            <a:stCxn id="7" idx="3"/>
            <a:endCxn id="15" idx="1"/>
          </p:cNvCxnSpPr>
          <p:nvPr/>
        </p:nvCxnSpPr>
        <p:spPr>
          <a:xfrm>
            <a:off x="10922003" y="1307372"/>
            <a:ext cx="415461" cy="15282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Graphic 27" descr="User with solid fill">
            <a:extLst>
              <a:ext uri="{FF2B5EF4-FFF2-40B4-BE49-F238E27FC236}">
                <a16:creationId xmlns:a16="http://schemas.microsoft.com/office/drawing/2014/main" id="{0F27216E-DBD5-B83B-2CDB-5E22D5F7A29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17729" y="2880984"/>
            <a:ext cx="914400" cy="914400"/>
          </a:xfrm>
          <a:prstGeom prst="rect">
            <a:avLst/>
          </a:prstGeom>
        </p:spPr>
      </p:pic>
      <p:sp>
        <p:nvSpPr>
          <p:cNvPr id="29" name="Rectangle: Rounded Corners 28">
            <a:extLst>
              <a:ext uri="{FF2B5EF4-FFF2-40B4-BE49-F238E27FC236}">
                <a16:creationId xmlns:a16="http://schemas.microsoft.com/office/drawing/2014/main" id="{FD2D56C5-6430-67DD-4D4A-02398D8CD4D8}"/>
              </a:ext>
            </a:extLst>
          </p:cNvPr>
          <p:cNvSpPr/>
          <p:nvPr/>
        </p:nvSpPr>
        <p:spPr>
          <a:xfrm>
            <a:off x="311579" y="3635115"/>
            <a:ext cx="726699" cy="301398"/>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User</a:t>
            </a:r>
          </a:p>
        </p:txBody>
      </p:sp>
      <p:sp>
        <p:nvSpPr>
          <p:cNvPr id="30" name="Rectangle: Rounded Corners 29">
            <a:extLst>
              <a:ext uri="{FF2B5EF4-FFF2-40B4-BE49-F238E27FC236}">
                <a16:creationId xmlns:a16="http://schemas.microsoft.com/office/drawing/2014/main" id="{D42C35B9-AE43-1CDA-34FA-93D0322B6873}"/>
              </a:ext>
            </a:extLst>
          </p:cNvPr>
          <p:cNvSpPr/>
          <p:nvPr/>
        </p:nvSpPr>
        <p:spPr>
          <a:xfrm>
            <a:off x="2098833" y="2963130"/>
            <a:ext cx="1311861"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User Query</a:t>
            </a:r>
          </a:p>
        </p:txBody>
      </p:sp>
      <p:pic>
        <p:nvPicPr>
          <p:cNvPr id="2057" name="Graphic 2056" descr="Laptop with solid fill">
            <a:extLst>
              <a:ext uri="{FF2B5EF4-FFF2-40B4-BE49-F238E27FC236}">
                <a16:creationId xmlns:a16="http://schemas.microsoft.com/office/drawing/2014/main" id="{04F9DDAC-33E7-9071-8551-C05412CBD45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27052" y="2448874"/>
            <a:ext cx="1647908" cy="1647908"/>
          </a:xfrm>
          <a:prstGeom prst="rect">
            <a:avLst/>
          </a:prstGeom>
        </p:spPr>
      </p:pic>
      <p:sp>
        <p:nvSpPr>
          <p:cNvPr id="2058" name="Rectangle: Rounded Corners 2057">
            <a:extLst>
              <a:ext uri="{FF2B5EF4-FFF2-40B4-BE49-F238E27FC236}">
                <a16:creationId xmlns:a16="http://schemas.microsoft.com/office/drawing/2014/main" id="{218D65DB-BE91-6A9F-9010-DFEBEFC5635B}"/>
              </a:ext>
            </a:extLst>
          </p:cNvPr>
          <p:cNvSpPr/>
          <p:nvPr/>
        </p:nvSpPr>
        <p:spPr>
          <a:xfrm>
            <a:off x="4657354" y="3795384"/>
            <a:ext cx="1187304" cy="301398"/>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Application</a:t>
            </a:r>
          </a:p>
        </p:txBody>
      </p:sp>
      <p:sp>
        <p:nvSpPr>
          <p:cNvPr id="2064" name="Rectangle: Rounded Corners 2063">
            <a:extLst>
              <a:ext uri="{FF2B5EF4-FFF2-40B4-BE49-F238E27FC236}">
                <a16:creationId xmlns:a16="http://schemas.microsoft.com/office/drawing/2014/main" id="{0E166BEB-4E5B-2847-D6EB-DDF279E0FDFB}"/>
              </a:ext>
            </a:extLst>
          </p:cNvPr>
          <p:cNvSpPr/>
          <p:nvPr/>
        </p:nvSpPr>
        <p:spPr>
          <a:xfrm>
            <a:off x="1756912" y="3616086"/>
            <a:ext cx="1995702"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Generated Response</a:t>
            </a:r>
          </a:p>
        </p:txBody>
      </p:sp>
      <p:sp>
        <p:nvSpPr>
          <p:cNvPr id="2070" name="Rectangle: Rounded Corners 2069">
            <a:extLst>
              <a:ext uri="{FF2B5EF4-FFF2-40B4-BE49-F238E27FC236}">
                <a16:creationId xmlns:a16="http://schemas.microsoft.com/office/drawing/2014/main" id="{BCB9E18D-7F9A-CA68-A310-E227FF7D05EA}"/>
              </a:ext>
            </a:extLst>
          </p:cNvPr>
          <p:cNvSpPr/>
          <p:nvPr/>
        </p:nvSpPr>
        <p:spPr>
          <a:xfrm>
            <a:off x="8138653" y="2963130"/>
            <a:ext cx="1647908"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Retrieval Query</a:t>
            </a:r>
          </a:p>
        </p:txBody>
      </p:sp>
      <p:sp>
        <p:nvSpPr>
          <p:cNvPr id="2072" name="Rectangle: Rounded Corners 2071">
            <a:extLst>
              <a:ext uri="{FF2B5EF4-FFF2-40B4-BE49-F238E27FC236}">
                <a16:creationId xmlns:a16="http://schemas.microsoft.com/office/drawing/2014/main" id="{BF02C26F-6911-DA28-976A-19700F55F3F0}"/>
              </a:ext>
            </a:extLst>
          </p:cNvPr>
          <p:cNvSpPr/>
          <p:nvPr/>
        </p:nvSpPr>
        <p:spPr>
          <a:xfrm>
            <a:off x="7852293" y="3637403"/>
            <a:ext cx="1803594" cy="539896"/>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Retrieved Chunks + Metadata</a:t>
            </a:r>
          </a:p>
        </p:txBody>
      </p:sp>
      <p:cxnSp>
        <p:nvCxnSpPr>
          <p:cNvPr id="2075" name="Straight Arrow Connector 2074">
            <a:extLst>
              <a:ext uri="{FF2B5EF4-FFF2-40B4-BE49-F238E27FC236}">
                <a16:creationId xmlns:a16="http://schemas.microsoft.com/office/drawing/2014/main" id="{BAFADA35-D16E-C949-83BB-5D254BE5BDDC}"/>
              </a:ext>
            </a:extLst>
          </p:cNvPr>
          <p:cNvCxnSpPr>
            <a:cxnSpLocks/>
          </p:cNvCxnSpPr>
          <p:nvPr/>
        </p:nvCxnSpPr>
        <p:spPr>
          <a:xfrm>
            <a:off x="1034852" y="3173839"/>
            <a:ext cx="105282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77" name="Straight Arrow Connector 2076">
            <a:extLst>
              <a:ext uri="{FF2B5EF4-FFF2-40B4-BE49-F238E27FC236}">
                <a16:creationId xmlns:a16="http://schemas.microsoft.com/office/drawing/2014/main" id="{B1611110-2939-8D13-C13E-835BC76C49AA}"/>
              </a:ext>
            </a:extLst>
          </p:cNvPr>
          <p:cNvCxnSpPr>
            <a:stCxn id="2064" idx="1"/>
          </p:cNvCxnSpPr>
          <p:nvPr/>
        </p:nvCxnSpPr>
        <p:spPr>
          <a:xfrm flipH="1" flipV="1">
            <a:off x="1038278" y="3826795"/>
            <a:ext cx="71863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79" name="Straight Arrow Connector 2078">
            <a:extLst>
              <a:ext uri="{FF2B5EF4-FFF2-40B4-BE49-F238E27FC236}">
                <a16:creationId xmlns:a16="http://schemas.microsoft.com/office/drawing/2014/main" id="{CE85F5A5-52CC-35A5-D856-8845618D248C}"/>
              </a:ext>
            </a:extLst>
          </p:cNvPr>
          <p:cNvCxnSpPr>
            <a:cxnSpLocks/>
          </p:cNvCxnSpPr>
          <p:nvPr/>
        </p:nvCxnSpPr>
        <p:spPr>
          <a:xfrm flipV="1">
            <a:off x="3410694" y="3164596"/>
            <a:ext cx="1186706" cy="9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73" name="Straight Arrow Connector 3072">
            <a:extLst>
              <a:ext uri="{FF2B5EF4-FFF2-40B4-BE49-F238E27FC236}">
                <a16:creationId xmlns:a16="http://schemas.microsoft.com/office/drawing/2014/main" id="{DC3C7E62-5DBC-A7A8-1791-B18F65C52968}"/>
              </a:ext>
            </a:extLst>
          </p:cNvPr>
          <p:cNvCxnSpPr>
            <a:cxnSpLocks/>
            <a:endCxn id="2064" idx="3"/>
          </p:cNvCxnSpPr>
          <p:nvPr/>
        </p:nvCxnSpPr>
        <p:spPr>
          <a:xfrm flipH="1" flipV="1">
            <a:off x="3752614" y="3826796"/>
            <a:ext cx="844786" cy="6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77" name="Straight Arrow Connector 3076">
            <a:extLst>
              <a:ext uri="{FF2B5EF4-FFF2-40B4-BE49-F238E27FC236}">
                <a16:creationId xmlns:a16="http://schemas.microsoft.com/office/drawing/2014/main" id="{2AF94E6D-DBFB-4CCC-8129-3E94261BC63B}"/>
              </a:ext>
            </a:extLst>
          </p:cNvPr>
          <p:cNvCxnSpPr>
            <a:cxnSpLocks/>
          </p:cNvCxnSpPr>
          <p:nvPr/>
        </p:nvCxnSpPr>
        <p:spPr>
          <a:xfrm>
            <a:off x="9811131" y="3164596"/>
            <a:ext cx="874308" cy="9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79" name="Straight Arrow Connector 3078">
            <a:extLst>
              <a:ext uri="{FF2B5EF4-FFF2-40B4-BE49-F238E27FC236}">
                <a16:creationId xmlns:a16="http://schemas.microsoft.com/office/drawing/2014/main" id="{24434FA9-652C-EA72-7E96-440934930C09}"/>
              </a:ext>
            </a:extLst>
          </p:cNvPr>
          <p:cNvCxnSpPr>
            <a:cxnSpLocks/>
            <a:endCxn id="2072" idx="3"/>
          </p:cNvCxnSpPr>
          <p:nvPr/>
        </p:nvCxnSpPr>
        <p:spPr>
          <a:xfrm flipH="1">
            <a:off x="9655887" y="3907351"/>
            <a:ext cx="11926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82" name="Straight Arrow Connector 3081">
            <a:extLst>
              <a:ext uri="{FF2B5EF4-FFF2-40B4-BE49-F238E27FC236}">
                <a16:creationId xmlns:a16="http://schemas.microsoft.com/office/drawing/2014/main" id="{89C5AE83-1CA5-15B4-99F8-36D07D6A1CF8}"/>
              </a:ext>
            </a:extLst>
          </p:cNvPr>
          <p:cNvCxnSpPr>
            <a:cxnSpLocks/>
            <a:stCxn id="2072" idx="1"/>
          </p:cNvCxnSpPr>
          <p:nvPr/>
        </p:nvCxnSpPr>
        <p:spPr>
          <a:xfrm flipH="1">
            <a:off x="5884109" y="3907351"/>
            <a:ext cx="19681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098" name="Picture 2" descr="Abstract Brain Logo #69 Gráfico por skyacegraphic0220 · Creative Fabrica">
            <a:extLst>
              <a:ext uri="{FF2B5EF4-FFF2-40B4-BE49-F238E27FC236}">
                <a16:creationId xmlns:a16="http://schemas.microsoft.com/office/drawing/2014/main" id="{5B30859C-93B2-C451-BF8D-CF029DCC6B21}"/>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29071" t="14377" r="29352" b="14087"/>
          <a:stretch/>
        </p:blipFill>
        <p:spPr bwMode="auto">
          <a:xfrm>
            <a:off x="4953746" y="5519758"/>
            <a:ext cx="739087" cy="846180"/>
          </a:xfrm>
          <a:prstGeom prst="rect">
            <a:avLst/>
          </a:prstGeom>
          <a:noFill/>
          <a:extLst>
            <a:ext uri="{909E8E84-426E-40DD-AFC4-6F175D3DCCD1}">
              <a14:hiddenFill xmlns:a14="http://schemas.microsoft.com/office/drawing/2010/main">
                <a:solidFill>
                  <a:srgbClr val="FFFFFF"/>
                </a:solidFill>
              </a14:hiddenFill>
            </a:ext>
          </a:extLst>
        </p:spPr>
      </p:pic>
      <p:sp>
        <p:nvSpPr>
          <p:cNvPr id="3085" name="Rectangle: Rounded Corners 3084">
            <a:extLst>
              <a:ext uri="{FF2B5EF4-FFF2-40B4-BE49-F238E27FC236}">
                <a16:creationId xmlns:a16="http://schemas.microsoft.com/office/drawing/2014/main" id="{DA02BF5F-6622-661B-F169-5B8D65B9AD8B}"/>
              </a:ext>
            </a:extLst>
          </p:cNvPr>
          <p:cNvSpPr/>
          <p:nvPr/>
        </p:nvSpPr>
        <p:spPr>
          <a:xfrm>
            <a:off x="4953746" y="6384047"/>
            <a:ext cx="739087" cy="301398"/>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LLM</a:t>
            </a:r>
          </a:p>
        </p:txBody>
      </p:sp>
      <p:sp>
        <p:nvSpPr>
          <p:cNvPr id="3086" name="Rectangle: Rounded Corners 3085">
            <a:extLst>
              <a:ext uri="{FF2B5EF4-FFF2-40B4-BE49-F238E27FC236}">
                <a16:creationId xmlns:a16="http://schemas.microsoft.com/office/drawing/2014/main" id="{A6311ADF-7C58-8413-C500-3400E62B4211}"/>
              </a:ext>
            </a:extLst>
          </p:cNvPr>
          <p:cNvSpPr/>
          <p:nvPr/>
        </p:nvSpPr>
        <p:spPr>
          <a:xfrm>
            <a:off x="5423064" y="5002171"/>
            <a:ext cx="3059336"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User Query + Chunks + Metadata</a:t>
            </a:r>
          </a:p>
        </p:txBody>
      </p:sp>
      <p:sp>
        <p:nvSpPr>
          <p:cNvPr id="3087" name="Rectangle: Rounded Corners 3086">
            <a:extLst>
              <a:ext uri="{FF2B5EF4-FFF2-40B4-BE49-F238E27FC236}">
                <a16:creationId xmlns:a16="http://schemas.microsoft.com/office/drawing/2014/main" id="{3299B514-D19E-71FF-89B4-66ECA8E64F59}"/>
              </a:ext>
            </a:extLst>
          </p:cNvPr>
          <p:cNvSpPr/>
          <p:nvPr/>
        </p:nvSpPr>
        <p:spPr>
          <a:xfrm>
            <a:off x="2963003" y="5002171"/>
            <a:ext cx="2145864"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Generated Response</a:t>
            </a:r>
          </a:p>
        </p:txBody>
      </p:sp>
      <p:cxnSp>
        <p:nvCxnSpPr>
          <p:cNvPr id="3091" name="Connector: Elbow 3090">
            <a:extLst>
              <a:ext uri="{FF2B5EF4-FFF2-40B4-BE49-F238E27FC236}">
                <a16:creationId xmlns:a16="http://schemas.microsoft.com/office/drawing/2014/main" id="{22521362-6E9F-5A15-B126-D8A4B53BFB24}"/>
              </a:ext>
            </a:extLst>
          </p:cNvPr>
          <p:cNvCxnSpPr>
            <a:cxnSpLocks/>
            <a:stCxn id="3086" idx="2"/>
            <a:endCxn id="4098" idx="3"/>
          </p:cNvCxnSpPr>
          <p:nvPr/>
        </p:nvCxnSpPr>
        <p:spPr>
          <a:xfrm rot="5400000">
            <a:off x="6063154" y="5053270"/>
            <a:ext cx="519258" cy="12598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95" name="Connector: Elbow 3094">
            <a:extLst>
              <a:ext uri="{FF2B5EF4-FFF2-40B4-BE49-F238E27FC236}">
                <a16:creationId xmlns:a16="http://schemas.microsoft.com/office/drawing/2014/main" id="{7AC76194-A57B-79D8-B30D-576F81CC69A9}"/>
              </a:ext>
            </a:extLst>
          </p:cNvPr>
          <p:cNvCxnSpPr>
            <a:stCxn id="4098" idx="1"/>
            <a:endCxn id="3087" idx="2"/>
          </p:cNvCxnSpPr>
          <p:nvPr/>
        </p:nvCxnSpPr>
        <p:spPr>
          <a:xfrm rot="10800000">
            <a:off x="4035936" y="5423590"/>
            <a:ext cx="917811" cy="51925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02" name="Straight Arrow Connector 3101">
            <a:extLst>
              <a:ext uri="{FF2B5EF4-FFF2-40B4-BE49-F238E27FC236}">
                <a16:creationId xmlns:a16="http://schemas.microsoft.com/office/drawing/2014/main" id="{5D5D5E3B-52B3-A99B-3465-E2C423B57DFB}"/>
              </a:ext>
            </a:extLst>
          </p:cNvPr>
          <p:cNvCxnSpPr/>
          <p:nvPr/>
        </p:nvCxnSpPr>
        <p:spPr>
          <a:xfrm>
            <a:off x="5692833" y="4137242"/>
            <a:ext cx="0" cy="864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96" name="Straight Arrow Connector 4095">
            <a:extLst>
              <a:ext uri="{FF2B5EF4-FFF2-40B4-BE49-F238E27FC236}">
                <a16:creationId xmlns:a16="http://schemas.microsoft.com/office/drawing/2014/main" id="{597C6F2D-F853-3975-7B87-2E6FA25C00A6}"/>
              </a:ext>
            </a:extLst>
          </p:cNvPr>
          <p:cNvCxnSpPr/>
          <p:nvPr/>
        </p:nvCxnSpPr>
        <p:spPr>
          <a:xfrm flipV="1">
            <a:off x="4880918" y="4137242"/>
            <a:ext cx="0" cy="864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099" name="Graphic 4098" descr="Badge 5 with solid fill">
            <a:extLst>
              <a:ext uri="{FF2B5EF4-FFF2-40B4-BE49-F238E27FC236}">
                <a16:creationId xmlns:a16="http://schemas.microsoft.com/office/drawing/2014/main" id="{C90FEFE7-C2E2-A528-8BAA-8107970EB37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772732" y="4631121"/>
            <a:ext cx="360000" cy="360000"/>
          </a:xfrm>
          <a:prstGeom prst="rect">
            <a:avLst/>
          </a:prstGeom>
        </p:spPr>
      </p:pic>
      <p:pic>
        <p:nvPicPr>
          <p:cNvPr id="4101" name="Graphic 4100" descr="Badge 4 with solid fill">
            <a:extLst>
              <a:ext uri="{FF2B5EF4-FFF2-40B4-BE49-F238E27FC236}">
                <a16:creationId xmlns:a16="http://schemas.microsoft.com/office/drawing/2014/main" id="{0240D8B4-051D-887E-310F-DCDE67279A5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574090" y="4191788"/>
            <a:ext cx="360000" cy="360000"/>
          </a:xfrm>
          <a:prstGeom prst="rect">
            <a:avLst/>
          </a:prstGeom>
        </p:spPr>
      </p:pic>
      <p:pic>
        <p:nvPicPr>
          <p:cNvPr id="4103" name="Graphic 4102" descr="Badge 3 with solid fill">
            <a:extLst>
              <a:ext uri="{FF2B5EF4-FFF2-40B4-BE49-F238E27FC236}">
                <a16:creationId xmlns:a16="http://schemas.microsoft.com/office/drawing/2014/main" id="{7383CA07-A3F3-F431-E4DF-1574EF209BE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780367" y="2587821"/>
            <a:ext cx="360000" cy="360000"/>
          </a:xfrm>
          <a:prstGeom prst="rect">
            <a:avLst/>
          </a:prstGeom>
        </p:spPr>
      </p:pic>
      <p:pic>
        <p:nvPicPr>
          <p:cNvPr id="4105" name="Graphic 4104" descr="Badge with solid fill">
            <a:extLst>
              <a:ext uri="{FF2B5EF4-FFF2-40B4-BE49-F238E27FC236}">
                <a16:creationId xmlns:a16="http://schemas.microsoft.com/office/drawing/2014/main" id="{8EFF606A-A22F-2EC5-D71B-06F764AA53D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864936" y="2578658"/>
            <a:ext cx="360000" cy="360000"/>
          </a:xfrm>
          <a:prstGeom prst="rect">
            <a:avLst/>
          </a:prstGeom>
        </p:spPr>
      </p:pic>
      <p:pic>
        <p:nvPicPr>
          <p:cNvPr id="4107" name="Graphic 4106" descr="Badge 1 with solid fill">
            <a:extLst>
              <a:ext uri="{FF2B5EF4-FFF2-40B4-BE49-F238E27FC236}">
                <a16:creationId xmlns:a16="http://schemas.microsoft.com/office/drawing/2014/main" id="{7304CC81-E57F-7D4C-88A6-A5255A36ACA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574763" y="2592447"/>
            <a:ext cx="360000" cy="360000"/>
          </a:xfrm>
          <a:prstGeom prst="rect">
            <a:avLst/>
          </a:prstGeom>
        </p:spPr>
      </p:pic>
      <p:pic>
        <p:nvPicPr>
          <p:cNvPr id="4109" name="Graphic 4108" descr="Badge 6 with solid fill">
            <a:extLst>
              <a:ext uri="{FF2B5EF4-FFF2-40B4-BE49-F238E27FC236}">
                <a16:creationId xmlns:a16="http://schemas.microsoft.com/office/drawing/2014/main" id="{00A61A3F-8A72-694E-7977-745C4974ABB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855935" y="4629076"/>
            <a:ext cx="360000" cy="360000"/>
          </a:xfrm>
          <a:prstGeom prst="rect">
            <a:avLst/>
          </a:prstGeom>
        </p:spPr>
      </p:pic>
      <p:cxnSp>
        <p:nvCxnSpPr>
          <p:cNvPr id="4111" name="Straight Connector 4110">
            <a:extLst>
              <a:ext uri="{FF2B5EF4-FFF2-40B4-BE49-F238E27FC236}">
                <a16:creationId xmlns:a16="http://schemas.microsoft.com/office/drawing/2014/main" id="{0A47D520-5B73-467F-89CE-7C95B8B46BBE}"/>
              </a:ext>
            </a:extLst>
          </p:cNvPr>
          <p:cNvCxnSpPr/>
          <p:nvPr/>
        </p:nvCxnSpPr>
        <p:spPr>
          <a:xfrm>
            <a:off x="0" y="2501869"/>
            <a:ext cx="12192000" cy="0"/>
          </a:xfrm>
          <a:prstGeom prst="line">
            <a:avLst/>
          </a:prstGeom>
          <a:ln>
            <a:solidFill>
              <a:schemeClr val="accent2">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112" name="Straight Connector 4111">
            <a:extLst>
              <a:ext uri="{FF2B5EF4-FFF2-40B4-BE49-F238E27FC236}">
                <a16:creationId xmlns:a16="http://schemas.microsoft.com/office/drawing/2014/main" id="{D5D662D6-FB1A-5938-62D5-3D02B00EF1A8}"/>
              </a:ext>
            </a:extLst>
          </p:cNvPr>
          <p:cNvCxnSpPr/>
          <p:nvPr/>
        </p:nvCxnSpPr>
        <p:spPr>
          <a:xfrm>
            <a:off x="12869" y="4574143"/>
            <a:ext cx="12192000" cy="0"/>
          </a:xfrm>
          <a:prstGeom prst="line">
            <a:avLst/>
          </a:prstGeom>
          <a:ln>
            <a:solidFill>
              <a:schemeClr val="accent2">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4113" name="Content Placeholder 2">
            <a:extLst>
              <a:ext uri="{FF2B5EF4-FFF2-40B4-BE49-F238E27FC236}">
                <a16:creationId xmlns:a16="http://schemas.microsoft.com/office/drawing/2014/main" id="{05BDAE90-2FFF-7ABA-03BC-E1ED760E9B18}"/>
              </a:ext>
            </a:extLst>
          </p:cNvPr>
          <p:cNvSpPr txBox="1">
            <a:spLocks/>
          </p:cNvSpPr>
          <p:nvPr/>
        </p:nvSpPr>
        <p:spPr>
          <a:xfrm>
            <a:off x="51176" y="836955"/>
            <a:ext cx="659937" cy="223245"/>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1000" b="0" i="1"/>
              <a:t>Indexing</a:t>
            </a:r>
          </a:p>
        </p:txBody>
      </p:sp>
      <p:sp>
        <p:nvSpPr>
          <p:cNvPr id="4114" name="Content Placeholder 2">
            <a:extLst>
              <a:ext uri="{FF2B5EF4-FFF2-40B4-BE49-F238E27FC236}">
                <a16:creationId xmlns:a16="http://schemas.microsoft.com/office/drawing/2014/main" id="{5D847898-B2A8-E545-477A-8C5E019C040D}"/>
              </a:ext>
            </a:extLst>
          </p:cNvPr>
          <p:cNvSpPr txBox="1">
            <a:spLocks/>
          </p:cNvSpPr>
          <p:nvPr/>
        </p:nvSpPr>
        <p:spPr>
          <a:xfrm>
            <a:off x="51176" y="2571576"/>
            <a:ext cx="659937" cy="223245"/>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1000" b="0" i="1"/>
              <a:t>Retrieval</a:t>
            </a:r>
          </a:p>
        </p:txBody>
      </p:sp>
      <p:sp>
        <p:nvSpPr>
          <p:cNvPr id="4115" name="Content Placeholder 2">
            <a:extLst>
              <a:ext uri="{FF2B5EF4-FFF2-40B4-BE49-F238E27FC236}">
                <a16:creationId xmlns:a16="http://schemas.microsoft.com/office/drawing/2014/main" id="{00750603-E463-970D-C12C-712146AD3D4F}"/>
              </a:ext>
            </a:extLst>
          </p:cNvPr>
          <p:cNvSpPr txBox="1">
            <a:spLocks/>
          </p:cNvSpPr>
          <p:nvPr/>
        </p:nvSpPr>
        <p:spPr>
          <a:xfrm>
            <a:off x="31791" y="4587876"/>
            <a:ext cx="1685231" cy="223245"/>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1000" b="0" i="1"/>
              <a:t>Augmentation &amp; Generation</a:t>
            </a:r>
          </a:p>
        </p:txBody>
      </p:sp>
      <p:sp>
        <p:nvSpPr>
          <p:cNvPr id="6" name="Rectangle: Rounded Corners 5">
            <a:extLst>
              <a:ext uri="{FF2B5EF4-FFF2-40B4-BE49-F238E27FC236}">
                <a16:creationId xmlns:a16="http://schemas.microsoft.com/office/drawing/2014/main" id="{EB1816E5-5E16-8198-ACF6-242E5905ADFA}"/>
              </a:ext>
            </a:extLst>
          </p:cNvPr>
          <p:cNvSpPr/>
          <p:nvPr/>
        </p:nvSpPr>
        <p:spPr>
          <a:xfrm>
            <a:off x="1997600" y="1009952"/>
            <a:ext cx="1192696" cy="579228"/>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Data Ingestion</a:t>
            </a:r>
          </a:p>
        </p:txBody>
      </p:sp>
      <p:cxnSp>
        <p:nvCxnSpPr>
          <p:cNvPr id="31" name="Straight Arrow Connector 30">
            <a:extLst>
              <a:ext uri="{FF2B5EF4-FFF2-40B4-BE49-F238E27FC236}">
                <a16:creationId xmlns:a16="http://schemas.microsoft.com/office/drawing/2014/main" id="{0F06E1D1-D9A7-BCBF-01C3-D23865FAF9CE}"/>
              </a:ext>
            </a:extLst>
          </p:cNvPr>
          <p:cNvCxnSpPr>
            <a:stCxn id="3" idx="3"/>
            <a:endCxn id="6" idx="1"/>
          </p:cNvCxnSpPr>
          <p:nvPr/>
        </p:nvCxnSpPr>
        <p:spPr>
          <a:xfrm flipV="1">
            <a:off x="1382153" y="1299566"/>
            <a:ext cx="6154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0" name="Straight Arrow Connector 2059">
            <a:extLst>
              <a:ext uri="{FF2B5EF4-FFF2-40B4-BE49-F238E27FC236}">
                <a16:creationId xmlns:a16="http://schemas.microsoft.com/office/drawing/2014/main" id="{6B1AB08E-73DD-760C-1F3C-91A1381E52F2}"/>
              </a:ext>
            </a:extLst>
          </p:cNvPr>
          <p:cNvCxnSpPr>
            <a:stCxn id="6" idx="3"/>
            <a:endCxn id="2" idx="1"/>
          </p:cNvCxnSpPr>
          <p:nvPr/>
        </p:nvCxnSpPr>
        <p:spPr>
          <a:xfrm>
            <a:off x="3190296" y="1299566"/>
            <a:ext cx="6852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5" name="Straight Arrow Connector 2064">
            <a:extLst>
              <a:ext uri="{FF2B5EF4-FFF2-40B4-BE49-F238E27FC236}">
                <a16:creationId xmlns:a16="http://schemas.microsoft.com/office/drawing/2014/main" id="{420FEBC6-917F-28EC-7691-43D7987435EF}"/>
              </a:ext>
            </a:extLst>
          </p:cNvPr>
          <p:cNvCxnSpPr>
            <a:stCxn id="2" idx="3"/>
            <a:endCxn id="17" idx="1"/>
          </p:cNvCxnSpPr>
          <p:nvPr/>
        </p:nvCxnSpPr>
        <p:spPr>
          <a:xfrm>
            <a:off x="5161194" y="1299566"/>
            <a:ext cx="686726" cy="78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67" name="Picture 2" descr="FastAPI">
            <a:extLst>
              <a:ext uri="{FF2B5EF4-FFF2-40B4-BE49-F238E27FC236}">
                <a16:creationId xmlns:a16="http://schemas.microsoft.com/office/drawing/2014/main" id="{56A3EE95-5147-467A-9930-9626AF9FDF2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88880" y="3022581"/>
            <a:ext cx="919153" cy="331779"/>
          </a:xfrm>
          <a:prstGeom prst="rect">
            <a:avLst/>
          </a:prstGeom>
          <a:noFill/>
          <a:extLst>
            <a:ext uri="{909E8E84-426E-40DD-AFC4-6F175D3DCCD1}">
              <a14:hiddenFill xmlns:a14="http://schemas.microsoft.com/office/drawing/2010/main">
                <a:solidFill>
                  <a:srgbClr val="FFFFFF"/>
                </a:solidFill>
              </a14:hiddenFill>
            </a:ext>
          </a:extLst>
        </p:spPr>
      </p:pic>
      <p:sp>
        <p:nvSpPr>
          <p:cNvPr id="2068" name="Rectangle: Rounded Corners 2067">
            <a:extLst>
              <a:ext uri="{FF2B5EF4-FFF2-40B4-BE49-F238E27FC236}">
                <a16:creationId xmlns:a16="http://schemas.microsoft.com/office/drawing/2014/main" id="{78DCEA9D-A258-6BE7-AB56-2E629790203A}"/>
              </a:ext>
            </a:extLst>
          </p:cNvPr>
          <p:cNvSpPr/>
          <p:nvPr/>
        </p:nvSpPr>
        <p:spPr>
          <a:xfrm>
            <a:off x="7980340" y="1643662"/>
            <a:ext cx="1187865"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Metadata</a:t>
            </a:r>
          </a:p>
        </p:txBody>
      </p:sp>
      <p:sp>
        <p:nvSpPr>
          <p:cNvPr id="2069" name="Content Placeholder 2">
            <a:extLst>
              <a:ext uri="{FF2B5EF4-FFF2-40B4-BE49-F238E27FC236}">
                <a16:creationId xmlns:a16="http://schemas.microsoft.com/office/drawing/2014/main" id="{399537F8-9D79-F51C-CB67-1B59C1A5C24C}"/>
              </a:ext>
            </a:extLst>
          </p:cNvPr>
          <p:cNvSpPr txBox="1">
            <a:spLocks/>
          </p:cNvSpPr>
          <p:nvPr/>
        </p:nvSpPr>
        <p:spPr>
          <a:xfrm>
            <a:off x="7980340" y="2108511"/>
            <a:ext cx="1192696" cy="24991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1000" b="0"/>
              <a:t>Pandas </a:t>
            </a:r>
            <a:r>
              <a:rPr lang="en-CA" sz="1000" b="0" err="1"/>
              <a:t>DataFrame</a:t>
            </a:r>
            <a:endParaRPr lang="en-CA" sz="1000" b="0"/>
          </a:p>
        </p:txBody>
      </p:sp>
      <p:cxnSp>
        <p:nvCxnSpPr>
          <p:cNvPr id="2073" name="Connector: Elbow 2072">
            <a:extLst>
              <a:ext uri="{FF2B5EF4-FFF2-40B4-BE49-F238E27FC236}">
                <a16:creationId xmlns:a16="http://schemas.microsoft.com/office/drawing/2014/main" id="{E0CDE765-EA50-C2BB-E17A-FAE1449A4299}"/>
              </a:ext>
            </a:extLst>
          </p:cNvPr>
          <p:cNvCxnSpPr>
            <a:cxnSpLocks/>
            <a:stCxn id="17" idx="3"/>
            <a:endCxn id="2068" idx="1"/>
          </p:cNvCxnSpPr>
          <p:nvPr/>
        </p:nvCxnSpPr>
        <p:spPr>
          <a:xfrm>
            <a:off x="7357343" y="1307371"/>
            <a:ext cx="622997" cy="54700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4110" name="Picture 24" descr="Mistral AI. Mistral AI is a French artificial… | by Innovate Forge | Medium">
            <a:extLst>
              <a:ext uri="{FF2B5EF4-FFF2-40B4-BE49-F238E27FC236}">
                <a16:creationId xmlns:a16="http://schemas.microsoft.com/office/drawing/2014/main" id="{3F7141BE-6B74-8578-B8E0-A77EBDDF1FFE}"/>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l="24049" t="35606" r="20514" b="30049"/>
          <a:stretch/>
        </p:blipFill>
        <p:spPr bwMode="auto">
          <a:xfrm>
            <a:off x="5792368" y="6316175"/>
            <a:ext cx="1275185" cy="437141"/>
          </a:xfrm>
          <a:prstGeom prst="rect">
            <a:avLst/>
          </a:prstGeom>
          <a:noFill/>
          <a:extLst>
            <a:ext uri="{909E8E84-426E-40DD-AFC4-6F175D3DCCD1}">
              <a14:hiddenFill xmlns:a14="http://schemas.microsoft.com/office/drawing/2010/main">
                <a:solidFill>
                  <a:srgbClr val="FFFFFF"/>
                </a:solidFill>
              </a14:hiddenFill>
            </a:ext>
          </a:extLst>
        </p:spPr>
      </p:pic>
      <p:cxnSp>
        <p:nvCxnSpPr>
          <p:cNvPr id="4117" name="Connector: Elbow 4116">
            <a:extLst>
              <a:ext uri="{FF2B5EF4-FFF2-40B4-BE49-F238E27FC236}">
                <a16:creationId xmlns:a16="http://schemas.microsoft.com/office/drawing/2014/main" id="{2C19A5F7-3459-2920-B977-8ECFDC3EF184}"/>
              </a:ext>
            </a:extLst>
          </p:cNvPr>
          <p:cNvCxnSpPr>
            <a:cxnSpLocks/>
            <a:stCxn id="2068" idx="3"/>
            <a:endCxn id="2072" idx="3"/>
          </p:cNvCxnSpPr>
          <p:nvPr/>
        </p:nvCxnSpPr>
        <p:spPr>
          <a:xfrm>
            <a:off x="9168205" y="1854372"/>
            <a:ext cx="487682" cy="2052979"/>
          </a:xfrm>
          <a:prstGeom prst="bentConnector3">
            <a:avLst>
              <a:gd name="adj1" fmla="val 197222"/>
            </a:avLst>
          </a:prstGeom>
          <a:ln>
            <a:tailEnd type="triangle"/>
          </a:ln>
        </p:spPr>
        <p:style>
          <a:lnRef idx="1">
            <a:schemeClr val="accent1"/>
          </a:lnRef>
          <a:fillRef idx="0">
            <a:schemeClr val="accent1"/>
          </a:fillRef>
          <a:effectRef idx="0">
            <a:schemeClr val="accent1"/>
          </a:effectRef>
          <a:fontRef idx="minor">
            <a:schemeClr val="tx1"/>
          </a:fontRef>
        </p:style>
      </p:cxnSp>
      <p:sp>
        <p:nvSpPr>
          <p:cNvPr id="4127" name="Rectangle: Rounded Corners 4126">
            <a:extLst>
              <a:ext uri="{FF2B5EF4-FFF2-40B4-BE49-F238E27FC236}">
                <a16:creationId xmlns:a16="http://schemas.microsoft.com/office/drawing/2014/main" id="{4CC1BAE4-D9F8-6822-DF51-F4D708EAF01E}"/>
              </a:ext>
            </a:extLst>
          </p:cNvPr>
          <p:cNvSpPr/>
          <p:nvPr/>
        </p:nvSpPr>
        <p:spPr>
          <a:xfrm>
            <a:off x="6365462" y="2958505"/>
            <a:ext cx="1358948"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Embeddings</a:t>
            </a:r>
          </a:p>
        </p:txBody>
      </p:sp>
      <p:cxnSp>
        <p:nvCxnSpPr>
          <p:cNvPr id="1027" name="Straight Arrow Connector 1026">
            <a:extLst>
              <a:ext uri="{FF2B5EF4-FFF2-40B4-BE49-F238E27FC236}">
                <a16:creationId xmlns:a16="http://schemas.microsoft.com/office/drawing/2014/main" id="{16565C80-AE2A-B156-B70F-F4D4D8D8C177}"/>
              </a:ext>
            </a:extLst>
          </p:cNvPr>
          <p:cNvCxnSpPr>
            <a:cxnSpLocks/>
            <a:endCxn id="4127" idx="1"/>
          </p:cNvCxnSpPr>
          <p:nvPr/>
        </p:nvCxnSpPr>
        <p:spPr>
          <a:xfrm>
            <a:off x="5884109" y="3165139"/>
            <a:ext cx="481353" cy="4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1" name="Straight Arrow Connector 1030">
            <a:extLst>
              <a:ext uri="{FF2B5EF4-FFF2-40B4-BE49-F238E27FC236}">
                <a16:creationId xmlns:a16="http://schemas.microsoft.com/office/drawing/2014/main" id="{DFA31A42-9F88-5F0B-1CDF-C273957E1F7C}"/>
              </a:ext>
            </a:extLst>
          </p:cNvPr>
          <p:cNvCxnSpPr>
            <a:stCxn id="4127" idx="3"/>
            <a:endCxn id="2070" idx="1"/>
          </p:cNvCxnSpPr>
          <p:nvPr/>
        </p:nvCxnSpPr>
        <p:spPr>
          <a:xfrm>
            <a:off x="7724410" y="3169215"/>
            <a:ext cx="414243" cy="4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3" name="Content Placeholder 2">
            <a:extLst>
              <a:ext uri="{FF2B5EF4-FFF2-40B4-BE49-F238E27FC236}">
                <a16:creationId xmlns:a16="http://schemas.microsoft.com/office/drawing/2014/main" id="{8B0E2D5E-A15E-14D3-62AE-26BCE0875343}"/>
              </a:ext>
            </a:extLst>
          </p:cNvPr>
          <p:cNvSpPr txBox="1">
            <a:spLocks/>
          </p:cNvSpPr>
          <p:nvPr/>
        </p:nvSpPr>
        <p:spPr>
          <a:xfrm>
            <a:off x="6448588" y="3379667"/>
            <a:ext cx="1192696" cy="24991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1000" b="0"/>
              <a:t>of the User Query</a:t>
            </a:r>
          </a:p>
        </p:txBody>
      </p:sp>
      <p:pic>
        <p:nvPicPr>
          <p:cNvPr id="1035" name="Graphic 1034" descr="Badge 7 with solid fill">
            <a:extLst>
              <a:ext uri="{FF2B5EF4-FFF2-40B4-BE49-F238E27FC236}">
                <a16:creationId xmlns:a16="http://schemas.microsoft.com/office/drawing/2014/main" id="{B1D7450B-1B1B-5D42-994E-2697B8C918A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2574763" y="4060600"/>
            <a:ext cx="360000" cy="360000"/>
          </a:xfrm>
          <a:prstGeom prst="rect">
            <a:avLst/>
          </a:prstGeom>
        </p:spPr>
      </p:pic>
      <p:sp>
        <p:nvSpPr>
          <p:cNvPr id="4" name="Content Placeholder 2">
            <a:extLst>
              <a:ext uri="{FF2B5EF4-FFF2-40B4-BE49-F238E27FC236}">
                <a16:creationId xmlns:a16="http://schemas.microsoft.com/office/drawing/2014/main" id="{0025A190-8D4A-0F2A-A872-D713BCF7FD1E}"/>
              </a:ext>
            </a:extLst>
          </p:cNvPr>
          <p:cNvSpPr txBox="1">
            <a:spLocks/>
          </p:cNvSpPr>
          <p:nvPr/>
        </p:nvSpPr>
        <p:spPr>
          <a:xfrm>
            <a:off x="8624257" y="6207161"/>
            <a:ext cx="3485781" cy="353771"/>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800" b="0" dirty="0"/>
              <a:t>* </a:t>
            </a:r>
            <a:r>
              <a:rPr lang="en-CA" sz="800" b="0" dirty="0" err="1"/>
              <a:t>FastAPI</a:t>
            </a:r>
            <a:r>
              <a:rPr lang="en-CA" sz="800" b="0" dirty="0"/>
              <a:t> Is only being used for the prototype. In production, we may use AWS Gateway for backend purposes</a:t>
            </a:r>
          </a:p>
        </p:txBody>
      </p:sp>
    </p:spTree>
    <p:extLst>
      <p:ext uri="{BB962C8B-B14F-4D97-AF65-F5344CB8AC3E}">
        <p14:creationId xmlns:p14="http://schemas.microsoft.com/office/powerpoint/2010/main" val="3108696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1D19420-BA77-3F5E-C8A9-C979872F6D61}"/>
              </a:ext>
            </a:extLst>
          </p:cNvPr>
          <p:cNvSpPr>
            <a:spLocks noGrp="1"/>
          </p:cNvSpPr>
          <p:nvPr>
            <p:ph type="sldNum" sz="quarter" idx="4"/>
          </p:nvPr>
        </p:nvSpPr>
        <p:spPr/>
        <p:txBody>
          <a:bodyPr/>
          <a:lstStyle/>
          <a:p>
            <a:fld id="{A7EBF19F-9143-0D43-8AAF-A18B95D0386D}" type="slidenum">
              <a:rPr lang="en-US" smtClean="0"/>
              <a:pPr/>
              <a:t>11</a:t>
            </a:fld>
            <a:endParaRPr lang="en-US"/>
          </a:p>
        </p:txBody>
      </p:sp>
      <p:sp>
        <p:nvSpPr>
          <p:cNvPr id="4" name="Footer Placeholder 3">
            <a:extLst>
              <a:ext uri="{FF2B5EF4-FFF2-40B4-BE49-F238E27FC236}">
                <a16:creationId xmlns:a16="http://schemas.microsoft.com/office/drawing/2014/main" id="{628B5BD9-23FB-A19A-67A6-F7B495A826B8}"/>
              </a:ext>
            </a:extLst>
          </p:cNvPr>
          <p:cNvSpPr>
            <a:spLocks noGrp="1"/>
          </p:cNvSpPr>
          <p:nvPr>
            <p:ph type="ftr" sz="quarter" idx="3"/>
          </p:nvPr>
        </p:nvSpPr>
        <p:spPr/>
        <p:txBody>
          <a:bodyPr/>
          <a:lstStyle/>
          <a:p>
            <a:r>
              <a:rPr lang="en-US"/>
              <a:t>EXPORT MARKING: INTERN'S PRESENTATION</a:t>
            </a:r>
          </a:p>
        </p:txBody>
      </p:sp>
      <p:sp>
        <p:nvSpPr>
          <p:cNvPr id="6" name="Title 1">
            <a:extLst>
              <a:ext uri="{FF2B5EF4-FFF2-40B4-BE49-F238E27FC236}">
                <a16:creationId xmlns:a16="http://schemas.microsoft.com/office/drawing/2014/main" id="{A371BFBF-49C8-0F54-076F-5B8801402FCE}"/>
              </a:ext>
            </a:extLst>
          </p:cNvPr>
          <p:cNvSpPr>
            <a:spLocks noGrp="1"/>
          </p:cNvSpPr>
          <p:nvPr>
            <p:ph type="title"/>
          </p:nvPr>
        </p:nvSpPr>
        <p:spPr>
          <a:xfrm>
            <a:off x="695325" y="365126"/>
            <a:ext cx="10832211" cy="570285"/>
          </a:xfrm>
        </p:spPr>
        <p:txBody>
          <a:bodyPr anchor="ctr"/>
          <a:lstStyle/>
          <a:p>
            <a:r>
              <a:rPr lang="en-CA" sz="2600"/>
              <a:t>OPO </a:t>
            </a:r>
            <a:r>
              <a:rPr lang="en-CA" sz="2600" err="1"/>
              <a:t>GenAI</a:t>
            </a:r>
            <a:r>
              <a:rPr lang="en-CA" sz="2600"/>
              <a:t> Tool - RAG based LLM Architecture </a:t>
            </a:r>
            <a:r>
              <a:rPr lang="en-CA" sz="2000"/>
              <a:t>(with User Authentication)</a:t>
            </a:r>
            <a:endParaRPr lang="fr-CA" sz="2600"/>
          </a:p>
        </p:txBody>
      </p:sp>
      <p:pic>
        <p:nvPicPr>
          <p:cNvPr id="7" name="Graphic 6" descr="User with solid fill">
            <a:extLst>
              <a:ext uri="{FF2B5EF4-FFF2-40B4-BE49-F238E27FC236}">
                <a16:creationId xmlns:a16="http://schemas.microsoft.com/office/drawing/2014/main" id="{911EDF58-6AF3-FC54-C8EC-B64B93757B9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269" y="2969830"/>
            <a:ext cx="719741" cy="719741"/>
          </a:xfrm>
          <a:prstGeom prst="rect">
            <a:avLst/>
          </a:prstGeom>
        </p:spPr>
      </p:pic>
      <p:sp>
        <p:nvSpPr>
          <p:cNvPr id="8" name="Rectangle: Rounded Corners 7">
            <a:extLst>
              <a:ext uri="{FF2B5EF4-FFF2-40B4-BE49-F238E27FC236}">
                <a16:creationId xmlns:a16="http://schemas.microsoft.com/office/drawing/2014/main" id="{A8627D46-397A-DAD9-7AD4-7EA404A3F458}"/>
              </a:ext>
            </a:extLst>
          </p:cNvPr>
          <p:cNvSpPr/>
          <p:nvPr/>
        </p:nvSpPr>
        <p:spPr>
          <a:xfrm>
            <a:off x="169140" y="3595800"/>
            <a:ext cx="571998" cy="237236"/>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dirty="0">
                <a:solidFill>
                  <a:schemeClr val="bg1"/>
                </a:solidFill>
              </a:rPr>
              <a:t>User</a:t>
            </a:r>
          </a:p>
        </p:txBody>
      </p:sp>
      <p:sp>
        <p:nvSpPr>
          <p:cNvPr id="9" name="Diamond 8">
            <a:extLst>
              <a:ext uri="{FF2B5EF4-FFF2-40B4-BE49-F238E27FC236}">
                <a16:creationId xmlns:a16="http://schemas.microsoft.com/office/drawing/2014/main" id="{ADB29537-76F9-50BA-8AC9-01A9DFD7A08D}"/>
              </a:ext>
            </a:extLst>
          </p:cNvPr>
          <p:cNvSpPr/>
          <p:nvPr/>
        </p:nvSpPr>
        <p:spPr>
          <a:xfrm>
            <a:off x="1296579" y="2696381"/>
            <a:ext cx="1798318" cy="1565565"/>
          </a:xfrm>
          <a:prstGeom prst="diamond">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PWC </a:t>
            </a:r>
            <a:r>
              <a:rPr lang="en-CA" sz="800" b="1">
                <a:solidFill>
                  <a:schemeClr val="bg1"/>
                </a:solidFill>
              </a:rPr>
              <a:t>Authentication</a:t>
            </a:r>
          </a:p>
          <a:p>
            <a:pPr algn="ctr"/>
            <a:endParaRPr lang="en-CA" sz="800" b="1">
              <a:solidFill>
                <a:schemeClr val="bg1"/>
              </a:solidFill>
            </a:endParaRPr>
          </a:p>
          <a:p>
            <a:pPr algn="ctr"/>
            <a:r>
              <a:rPr lang="en-CA" sz="1400" b="1">
                <a:solidFill>
                  <a:schemeClr val="bg1"/>
                </a:solidFill>
              </a:rPr>
              <a:t>SSO, User Login</a:t>
            </a:r>
          </a:p>
        </p:txBody>
      </p:sp>
      <p:cxnSp>
        <p:nvCxnSpPr>
          <p:cNvPr id="12" name="Straight Arrow Connector 11">
            <a:extLst>
              <a:ext uri="{FF2B5EF4-FFF2-40B4-BE49-F238E27FC236}">
                <a16:creationId xmlns:a16="http://schemas.microsoft.com/office/drawing/2014/main" id="{321EEDF7-D0C9-E8F9-8430-3108945A1B25}"/>
              </a:ext>
            </a:extLst>
          </p:cNvPr>
          <p:cNvCxnSpPr>
            <a:cxnSpLocks/>
          </p:cNvCxnSpPr>
          <p:nvPr/>
        </p:nvCxnSpPr>
        <p:spPr>
          <a:xfrm>
            <a:off x="771050" y="3523124"/>
            <a:ext cx="5255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85A7FCD-3F18-D1FD-D827-171D1FD02094}"/>
              </a:ext>
            </a:extLst>
          </p:cNvPr>
          <p:cNvCxnSpPr>
            <a:cxnSpLocks/>
            <a:stCxn id="9" idx="3"/>
            <a:endCxn id="22" idx="1"/>
          </p:cNvCxnSpPr>
          <p:nvPr/>
        </p:nvCxnSpPr>
        <p:spPr>
          <a:xfrm>
            <a:off x="3094897" y="3479164"/>
            <a:ext cx="8000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AC7F4768-E666-9F1A-7637-E4E28AE20350}"/>
              </a:ext>
            </a:extLst>
          </p:cNvPr>
          <p:cNvSpPr txBox="1">
            <a:spLocks/>
          </p:cNvSpPr>
          <p:nvPr/>
        </p:nvSpPr>
        <p:spPr>
          <a:xfrm>
            <a:off x="3036407" y="3255620"/>
            <a:ext cx="823419" cy="250608"/>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900" b="0" i="1"/>
              <a:t>Authorized</a:t>
            </a:r>
          </a:p>
        </p:txBody>
      </p:sp>
      <p:sp>
        <p:nvSpPr>
          <p:cNvPr id="20" name="Content Placeholder 2">
            <a:extLst>
              <a:ext uri="{FF2B5EF4-FFF2-40B4-BE49-F238E27FC236}">
                <a16:creationId xmlns:a16="http://schemas.microsoft.com/office/drawing/2014/main" id="{C34C4675-805E-DF86-0658-1E491651DCE1}"/>
              </a:ext>
            </a:extLst>
          </p:cNvPr>
          <p:cNvSpPr txBox="1">
            <a:spLocks/>
          </p:cNvSpPr>
          <p:nvPr/>
        </p:nvSpPr>
        <p:spPr>
          <a:xfrm>
            <a:off x="1143937" y="4561551"/>
            <a:ext cx="1192696" cy="24991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900" b="0" i="1"/>
              <a:t>Unauthorized</a:t>
            </a:r>
          </a:p>
        </p:txBody>
      </p:sp>
      <p:sp>
        <p:nvSpPr>
          <p:cNvPr id="21" name="Content Placeholder 2">
            <a:extLst>
              <a:ext uri="{FF2B5EF4-FFF2-40B4-BE49-F238E27FC236}">
                <a16:creationId xmlns:a16="http://schemas.microsoft.com/office/drawing/2014/main" id="{7F52CC0D-DEE4-E26B-3D33-3D7F72443CED}"/>
              </a:ext>
            </a:extLst>
          </p:cNvPr>
          <p:cNvSpPr txBox="1">
            <a:spLocks/>
          </p:cNvSpPr>
          <p:nvPr/>
        </p:nvSpPr>
        <p:spPr>
          <a:xfrm>
            <a:off x="1740285" y="5215193"/>
            <a:ext cx="917503" cy="359997"/>
          </a:xfrm>
          <a:prstGeom prst="rect">
            <a:avLst/>
          </a:prstGeom>
          <a:ln>
            <a:solidFill>
              <a:schemeClr val="accent1"/>
            </a:solidFill>
          </a:ln>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1000" b="0"/>
              <a:t>Cannot access the tool</a:t>
            </a:r>
          </a:p>
        </p:txBody>
      </p:sp>
      <p:sp>
        <p:nvSpPr>
          <p:cNvPr id="22" name="Rectangle 21">
            <a:extLst>
              <a:ext uri="{FF2B5EF4-FFF2-40B4-BE49-F238E27FC236}">
                <a16:creationId xmlns:a16="http://schemas.microsoft.com/office/drawing/2014/main" id="{101EC658-789D-BB43-12CA-6CE5A8FCD272}"/>
              </a:ext>
            </a:extLst>
          </p:cNvPr>
          <p:cNvSpPr/>
          <p:nvPr/>
        </p:nvSpPr>
        <p:spPr>
          <a:xfrm>
            <a:off x="3894994" y="2546913"/>
            <a:ext cx="8292317" cy="1993755"/>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a:p>
            <a:pPr algn="ctr"/>
            <a:endParaRPr lang="en-CA"/>
          </a:p>
          <a:p>
            <a:pPr algn="ctr"/>
            <a:endParaRPr lang="en-CA"/>
          </a:p>
          <a:p>
            <a:pPr algn="ctr"/>
            <a:endParaRPr lang="en-CA"/>
          </a:p>
          <a:p>
            <a:pPr algn="ctr"/>
            <a:endParaRPr lang="en-CA"/>
          </a:p>
          <a:p>
            <a:pPr algn="ctr"/>
            <a:endParaRPr lang="en-CA" b="1">
              <a:solidFill>
                <a:schemeClr val="bg2">
                  <a:lumMod val="50000"/>
                </a:schemeClr>
              </a:solidFill>
            </a:endParaRPr>
          </a:p>
          <a:p>
            <a:pPr algn="ctr"/>
            <a:endParaRPr lang="en-CA" sz="1050" b="1">
              <a:solidFill>
                <a:schemeClr val="bg2">
                  <a:lumMod val="50000"/>
                </a:schemeClr>
              </a:solidFill>
            </a:endParaRPr>
          </a:p>
          <a:p>
            <a:pPr algn="ctr"/>
            <a:endParaRPr lang="en-CA" sz="105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a:p>
            <a:pPr algn="ctr"/>
            <a:endParaRPr lang="en-CA" sz="1000" b="1">
              <a:solidFill>
                <a:schemeClr val="bg2">
                  <a:lumMod val="50000"/>
                </a:schemeClr>
              </a:solidFill>
            </a:endParaRPr>
          </a:p>
        </p:txBody>
      </p:sp>
      <p:sp>
        <p:nvSpPr>
          <p:cNvPr id="23" name="Cylinder 22">
            <a:extLst>
              <a:ext uri="{FF2B5EF4-FFF2-40B4-BE49-F238E27FC236}">
                <a16:creationId xmlns:a16="http://schemas.microsoft.com/office/drawing/2014/main" id="{40EA0C3F-9E53-ABC4-6972-C40BFFD71044}"/>
              </a:ext>
            </a:extLst>
          </p:cNvPr>
          <p:cNvSpPr/>
          <p:nvPr/>
        </p:nvSpPr>
        <p:spPr>
          <a:xfrm>
            <a:off x="11114599" y="2774911"/>
            <a:ext cx="1004973" cy="1279403"/>
          </a:xfrm>
          <a:prstGeom prst="ca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b="1"/>
              <a:t>Vector Database</a:t>
            </a:r>
          </a:p>
        </p:txBody>
      </p:sp>
      <p:sp>
        <p:nvSpPr>
          <p:cNvPr id="24" name="Rectangle: Rounded Corners 23">
            <a:extLst>
              <a:ext uri="{FF2B5EF4-FFF2-40B4-BE49-F238E27FC236}">
                <a16:creationId xmlns:a16="http://schemas.microsoft.com/office/drawing/2014/main" id="{212F2435-FE53-A3F9-DB3B-9216E4D93897}"/>
              </a:ext>
            </a:extLst>
          </p:cNvPr>
          <p:cNvSpPr/>
          <p:nvPr/>
        </p:nvSpPr>
        <p:spPr>
          <a:xfrm>
            <a:off x="5188016" y="2866937"/>
            <a:ext cx="719741" cy="480875"/>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solidFill>
                  <a:schemeClr val="bg1"/>
                </a:solidFill>
              </a:rPr>
              <a:t>User Query</a:t>
            </a:r>
          </a:p>
        </p:txBody>
      </p:sp>
      <p:pic>
        <p:nvPicPr>
          <p:cNvPr id="25" name="Graphic 24" descr="Laptop with solid fill">
            <a:extLst>
              <a:ext uri="{FF2B5EF4-FFF2-40B4-BE49-F238E27FC236}">
                <a16:creationId xmlns:a16="http://schemas.microsoft.com/office/drawing/2014/main" id="{C4EB0F47-0D3D-2743-312C-132DC41BD6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36445" y="2519436"/>
            <a:ext cx="1647908" cy="1647908"/>
          </a:xfrm>
          <a:prstGeom prst="rect">
            <a:avLst/>
          </a:prstGeom>
        </p:spPr>
      </p:pic>
      <p:sp>
        <p:nvSpPr>
          <p:cNvPr id="26" name="Rectangle: Rounded Corners 25">
            <a:extLst>
              <a:ext uri="{FF2B5EF4-FFF2-40B4-BE49-F238E27FC236}">
                <a16:creationId xmlns:a16="http://schemas.microsoft.com/office/drawing/2014/main" id="{830651A0-18D4-C71F-B3E2-76110FBF04A7}"/>
              </a:ext>
            </a:extLst>
          </p:cNvPr>
          <p:cNvSpPr/>
          <p:nvPr/>
        </p:nvSpPr>
        <p:spPr>
          <a:xfrm>
            <a:off x="6566747" y="3865946"/>
            <a:ext cx="1187304" cy="301398"/>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Application</a:t>
            </a:r>
          </a:p>
        </p:txBody>
      </p:sp>
      <p:sp>
        <p:nvSpPr>
          <p:cNvPr id="27" name="Rectangle: Rounded Corners 26">
            <a:extLst>
              <a:ext uri="{FF2B5EF4-FFF2-40B4-BE49-F238E27FC236}">
                <a16:creationId xmlns:a16="http://schemas.microsoft.com/office/drawing/2014/main" id="{D01AB8B4-3FA9-4F6B-61D7-F4066E59B2C0}"/>
              </a:ext>
            </a:extLst>
          </p:cNvPr>
          <p:cNvSpPr/>
          <p:nvPr/>
        </p:nvSpPr>
        <p:spPr>
          <a:xfrm>
            <a:off x="5020408" y="3682197"/>
            <a:ext cx="1051763" cy="503824"/>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solidFill>
                  <a:schemeClr val="bg1"/>
                </a:solidFill>
              </a:rPr>
              <a:t>Generated Response</a:t>
            </a:r>
          </a:p>
        </p:txBody>
      </p:sp>
      <p:sp>
        <p:nvSpPr>
          <p:cNvPr id="28" name="Rectangle: Rounded Corners 27">
            <a:extLst>
              <a:ext uri="{FF2B5EF4-FFF2-40B4-BE49-F238E27FC236}">
                <a16:creationId xmlns:a16="http://schemas.microsoft.com/office/drawing/2014/main" id="{096C8374-C46F-086B-68A4-E16AC69F5FF3}"/>
              </a:ext>
            </a:extLst>
          </p:cNvPr>
          <p:cNvSpPr/>
          <p:nvPr/>
        </p:nvSpPr>
        <p:spPr>
          <a:xfrm>
            <a:off x="9685737" y="2882433"/>
            <a:ext cx="1005347"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solidFill>
                  <a:schemeClr val="bg1"/>
                </a:solidFill>
              </a:rPr>
              <a:t>Retrieval Query</a:t>
            </a:r>
          </a:p>
        </p:txBody>
      </p:sp>
      <p:sp>
        <p:nvSpPr>
          <p:cNvPr id="29" name="Rectangle: Rounded Corners 28">
            <a:extLst>
              <a:ext uri="{FF2B5EF4-FFF2-40B4-BE49-F238E27FC236}">
                <a16:creationId xmlns:a16="http://schemas.microsoft.com/office/drawing/2014/main" id="{399B04DE-E27E-EAEA-7CC6-A1FB9BA65387}"/>
              </a:ext>
            </a:extLst>
          </p:cNvPr>
          <p:cNvSpPr/>
          <p:nvPr/>
        </p:nvSpPr>
        <p:spPr>
          <a:xfrm>
            <a:off x="8702395" y="3603991"/>
            <a:ext cx="1647908" cy="570284"/>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solidFill>
                  <a:schemeClr val="bg1"/>
                </a:solidFill>
              </a:rPr>
              <a:t>Retrieved Chunks + Metadata</a:t>
            </a:r>
          </a:p>
        </p:txBody>
      </p:sp>
      <p:sp>
        <p:nvSpPr>
          <p:cNvPr id="31" name="Rectangle: Rounded Corners 30">
            <a:extLst>
              <a:ext uri="{FF2B5EF4-FFF2-40B4-BE49-F238E27FC236}">
                <a16:creationId xmlns:a16="http://schemas.microsoft.com/office/drawing/2014/main" id="{CB1F20E8-27F3-86EE-7195-5019ACCEE378}"/>
              </a:ext>
            </a:extLst>
          </p:cNvPr>
          <p:cNvSpPr/>
          <p:nvPr/>
        </p:nvSpPr>
        <p:spPr>
          <a:xfrm>
            <a:off x="8183566" y="2882433"/>
            <a:ext cx="1143169"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solidFill>
                  <a:schemeClr val="bg1"/>
                </a:solidFill>
              </a:rPr>
              <a:t>Embeddings</a:t>
            </a:r>
          </a:p>
        </p:txBody>
      </p:sp>
      <p:pic>
        <p:nvPicPr>
          <p:cNvPr id="64" name="Graphic 63" descr="User with solid fill">
            <a:extLst>
              <a:ext uri="{FF2B5EF4-FFF2-40B4-BE49-F238E27FC236}">
                <a16:creationId xmlns:a16="http://schemas.microsoft.com/office/drawing/2014/main" id="{95BE4A54-541C-D52C-6658-15700982F7B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2574" y="2917077"/>
            <a:ext cx="823419" cy="972089"/>
          </a:xfrm>
          <a:prstGeom prst="rect">
            <a:avLst/>
          </a:prstGeom>
        </p:spPr>
      </p:pic>
      <p:sp>
        <p:nvSpPr>
          <p:cNvPr id="65" name="Rectangle: Rounded Corners 64">
            <a:extLst>
              <a:ext uri="{FF2B5EF4-FFF2-40B4-BE49-F238E27FC236}">
                <a16:creationId xmlns:a16="http://schemas.microsoft.com/office/drawing/2014/main" id="{8398287A-0BE5-B432-01FB-A917410F9B86}"/>
              </a:ext>
            </a:extLst>
          </p:cNvPr>
          <p:cNvSpPr/>
          <p:nvPr/>
        </p:nvSpPr>
        <p:spPr>
          <a:xfrm>
            <a:off x="4012831" y="3720310"/>
            <a:ext cx="613389" cy="281247"/>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solidFill>
                  <a:schemeClr val="bg1"/>
                </a:solidFill>
              </a:rPr>
              <a:t>User</a:t>
            </a:r>
          </a:p>
        </p:txBody>
      </p:sp>
      <p:sp>
        <p:nvSpPr>
          <p:cNvPr id="66" name="Content Placeholder 2">
            <a:extLst>
              <a:ext uri="{FF2B5EF4-FFF2-40B4-BE49-F238E27FC236}">
                <a16:creationId xmlns:a16="http://schemas.microsoft.com/office/drawing/2014/main" id="{FB1D0010-9073-C507-F0C0-CAFC7C6D6493}"/>
              </a:ext>
            </a:extLst>
          </p:cNvPr>
          <p:cNvSpPr txBox="1">
            <a:spLocks/>
          </p:cNvSpPr>
          <p:nvPr/>
        </p:nvSpPr>
        <p:spPr>
          <a:xfrm>
            <a:off x="8155724" y="3283159"/>
            <a:ext cx="1192696" cy="24991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900" b="0"/>
              <a:t>of the User Query</a:t>
            </a:r>
          </a:p>
        </p:txBody>
      </p:sp>
      <p:cxnSp>
        <p:nvCxnSpPr>
          <p:cNvPr id="70" name="Straight Arrow Connector 69">
            <a:extLst>
              <a:ext uri="{FF2B5EF4-FFF2-40B4-BE49-F238E27FC236}">
                <a16:creationId xmlns:a16="http://schemas.microsoft.com/office/drawing/2014/main" id="{EB1D1B8A-9873-D24F-6A09-716F34BB1D7E}"/>
              </a:ext>
            </a:extLst>
          </p:cNvPr>
          <p:cNvCxnSpPr>
            <a:cxnSpLocks/>
            <a:endCxn id="24" idx="1"/>
          </p:cNvCxnSpPr>
          <p:nvPr/>
        </p:nvCxnSpPr>
        <p:spPr>
          <a:xfrm>
            <a:off x="4448908" y="3107375"/>
            <a:ext cx="739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9A8BFCE-3FC2-CF7B-628C-A62EE5F2AD0B}"/>
              </a:ext>
            </a:extLst>
          </p:cNvPr>
          <p:cNvCxnSpPr>
            <a:cxnSpLocks/>
          </p:cNvCxnSpPr>
          <p:nvPr/>
        </p:nvCxnSpPr>
        <p:spPr>
          <a:xfrm>
            <a:off x="5916549" y="3107374"/>
            <a:ext cx="6160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89E3F56-B690-58CF-83C8-F9E9CCFC10D4}"/>
              </a:ext>
            </a:extLst>
          </p:cNvPr>
          <p:cNvCxnSpPr>
            <a:cxnSpLocks/>
            <a:endCxn id="31" idx="1"/>
          </p:cNvCxnSpPr>
          <p:nvPr/>
        </p:nvCxnSpPr>
        <p:spPr>
          <a:xfrm>
            <a:off x="7754051" y="3090971"/>
            <a:ext cx="429515" cy="2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BA2490E-2F0A-7192-066A-03914AFCFE92}"/>
              </a:ext>
            </a:extLst>
          </p:cNvPr>
          <p:cNvCxnSpPr>
            <a:cxnSpLocks/>
            <a:stCxn id="31" idx="3"/>
            <a:endCxn id="28" idx="1"/>
          </p:cNvCxnSpPr>
          <p:nvPr/>
        </p:nvCxnSpPr>
        <p:spPr>
          <a:xfrm>
            <a:off x="9326735" y="3093143"/>
            <a:ext cx="3590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D793E1C2-F2CC-F1B6-CFE8-C6740402C6C8}"/>
              </a:ext>
            </a:extLst>
          </p:cNvPr>
          <p:cNvCxnSpPr>
            <a:cxnSpLocks/>
            <a:stCxn id="28" idx="3"/>
          </p:cNvCxnSpPr>
          <p:nvPr/>
        </p:nvCxnSpPr>
        <p:spPr>
          <a:xfrm>
            <a:off x="10691084" y="3093143"/>
            <a:ext cx="423515" cy="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8CF7C360-4EDC-F179-7649-68C1468CD43D}"/>
              </a:ext>
            </a:extLst>
          </p:cNvPr>
          <p:cNvCxnSpPr>
            <a:endCxn id="29" idx="3"/>
          </p:cNvCxnSpPr>
          <p:nvPr/>
        </p:nvCxnSpPr>
        <p:spPr>
          <a:xfrm flipH="1">
            <a:off x="10350303" y="3882995"/>
            <a:ext cx="7642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CC754F90-634F-B08C-B056-528A30F52C1C}"/>
              </a:ext>
            </a:extLst>
          </p:cNvPr>
          <p:cNvCxnSpPr>
            <a:cxnSpLocks/>
          </p:cNvCxnSpPr>
          <p:nvPr/>
        </p:nvCxnSpPr>
        <p:spPr>
          <a:xfrm flipH="1">
            <a:off x="7754051" y="3991017"/>
            <a:ext cx="9483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10A7E237-9A4D-F178-5C1D-93A29FD7159E}"/>
              </a:ext>
            </a:extLst>
          </p:cNvPr>
          <p:cNvCxnSpPr>
            <a:cxnSpLocks/>
            <a:stCxn id="26" idx="1"/>
          </p:cNvCxnSpPr>
          <p:nvPr/>
        </p:nvCxnSpPr>
        <p:spPr>
          <a:xfrm flipH="1" flipV="1">
            <a:off x="6072171" y="4008327"/>
            <a:ext cx="494576" cy="8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87606348-987A-DBCE-1470-91FBFB16A1AA}"/>
              </a:ext>
            </a:extLst>
          </p:cNvPr>
          <p:cNvCxnSpPr>
            <a:cxnSpLocks/>
            <a:stCxn id="27" idx="1"/>
          </p:cNvCxnSpPr>
          <p:nvPr/>
        </p:nvCxnSpPr>
        <p:spPr>
          <a:xfrm flipH="1">
            <a:off x="4637582" y="3934109"/>
            <a:ext cx="3828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1" name="Rectangle: Rounded Corners 100">
            <a:extLst>
              <a:ext uri="{FF2B5EF4-FFF2-40B4-BE49-F238E27FC236}">
                <a16:creationId xmlns:a16="http://schemas.microsoft.com/office/drawing/2014/main" id="{FE29086D-F71A-62AD-2E80-8EF9BCB49946}"/>
              </a:ext>
            </a:extLst>
          </p:cNvPr>
          <p:cNvSpPr/>
          <p:nvPr/>
        </p:nvSpPr>
        <p:spPr>
          <a:xfrm>
            <a:off x="189457" y="1088857"/>
            <a:ext cx="1192696"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dirty="0">
                <a:solidFill>
                  <a:schemeClr val="bg1"/>
                </a:solidFill>
              </a:rPr>
              <a:t>Raw Data</a:t>
            </a:r>
          </a:p>
        </p:txBody>
      </p:sp>
      <p:pic>
        <p:nvPicPr>
          <p:cNvPr id="102" name="Picture 2" descr="Pdf icon on transparent background. 17197488 PNG">
            <a:extLst>
              <a:ext uri="{FF2B5EF4-FFF2-40B4-BE49-F238E27FC236}">
                <a16:creationId xmlns:a16="http://schemas.microsoft.com/office/drawing/2014/main" id="{94A97DE0-1F35-5BFB-0AE5-56054FC5BA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662" y="1628839"/>
            <a:ext cx="446259" cy="331814"/>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4" descr="Microsoft Word Logo - PNG and Vector - Logo Download">
            <a:extLst>
              <a:ext uri="{FF2B5EF4-FFF2-40B4-BE49-F238E27FC236}">
                <a16:creationId xmlns:a16="http://schemas.microsoft.com/office/drawing/2014/main" id="{920AF5D2-6FF3-3B13-EE13-95C3C6A8EF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921" y="1665379"/>
            <a:ext cx="323425" cy="32342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6" descr="Microsoft Excel Logo - Télécharger PNG et vecteur">
            <a:extLst>
              <a:ext uri="{FF2B5EF4-FFF2-40B4-BE49-F238E27FC236}">
                <a16:creationId xmlns:a16="http://schemas.microsoft.com/office/drawing/2014/main" id="{F9373421-0F16-4265-1FB5-6556F803BE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686" y="1579977"/>
            <a:ext cx="429538" cy="429538"/>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8" descr="Microsoft PowerPoint Logo PNG vector in SVG, PDF, AI, CDR format">
            <a:extLst>
              <a:ext uri="{FF2B5EF4-FFF2-40B4-BE49-F238E27FC236}">
                <a16:creationId xmlns:a16="http://schemas.microsoft.com/office/drawing/2014/main" id="{F27F8F81-34E1-73AC-A4FE-087577EAED03}"/>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10000" b="90000" l="10000" r="90000">
                        <a14:foregroundMark x1="30600" y1="42923" x2="34065" y2="44154"/>
                      </a14:backgroundRemoval>
                    </a14:imgEffect>
                  </a14:imgLayer>
                </a14:imgProps>
              </a:ext>
              <a:ext uri="{28A0092B-C50C-407E-A947-70E740481C1C}">
                <a14:useLocalDpi xmlns:a14="http://schemas.microsoft.com/office/drawing/2010/main" val="0"/>
              </a:ext>
            </a:extLst>
          </a:blip>
          <a:srcRect/>
          <a:stretch>
            <a:fillRect/>
          </a:stretch>
        </p:blipFill>
        <p:spPr bwMode="auto">
          <a:xfrm>
            <a:off x="490837" y="2028482"/>
            <a:ext cx="479882" cy="360188"/>
          </a:xfrm>
          <a:prstGeom prst="rect">
            <a:avLst/>
          </a:prstGeom>
          <a:noFill/>
          <a:extLst>
            <a:ext uri="{909E8E84-426E-40DD-AFC4-6F175D3DCCD1}">
              <a14:hiddenFill xmlns:a14="http://schemas.microsoft.com/office/drawing/2010/main">
                <a:solidFill>
                  <a:srgbClr val="FFFFFF"/>
                </a:solidFill>
              </a14:hiddenFill>
            </a:ext>
          </a:extLst>
        </p:spPr>
      </p:pic>
      <p:sp>
        <p:nvSpPr>
          <p:cNvPr id="106" name="Rectangle: Rounded Corners 105">
            <a:extLst>
              <a:ext uri="{FF2B5EF4-FFF2-40B4-BE49-F238E27FC236}">
                <a16:creationId xmlns:a16="http://schemas.microsoft.com/office/drawing/2014/main" id="{520F74E2-A681-BF29-9F83-2B69FEA37E63}"/>
              </a:ext>
            </a:extLst>
          </p:cNvPr>
          <p:cNvSpPr/>
          <p:nvPr/>
        </p:nvSpPr>
        <p:spPr>
          <a:xfrm>
            <a:off x="3875591" y="1013920"/>
            <a:ext cx="1285603" cy="571292"/>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Preprocess Data</a:t>
            </a:r>
          </a:p>
        </p:txBody>
      </p:sp>
      <p:pic>
        <p:nvPicPr>
          <p:cNvPr id="107" name="Picture 6" descr="Txt, file, type, format, extension, document icon - Download on Iconfinder">
            <a:extLst>
              <a:ext uri="{FF2B5EF4-FFF2-40B4-BE49-F238E27FC236}">
                <a16:creationId xmlns:a16="http://schemas.microsoft.com/office/drawing/2014/main" id="{1941E3A7-D90B-7317-E497-251C3CFA0E4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07682" y="1662872"/>
            <a:ext cx="421419" cy="421419"/>
          </a:xfrm>
          <a:prstGeom prst="rect">
            <a:avLst/>
          </a:prstGeom>
          <a:noFill/>
          <a:extLst>
            <a:ext uri="{909E8E84-426E-40DD-AFC4-6F175D3DCCD1}">
              <a14:hiddenFill xmlns:a14="http://schemas.microsoft.com/office/drawing/2010/main">
                <a:solidFill>
                  <a:srgbClr val="FFFFFF"/>
                </a:solidFill>
              </a14:hiddenFill>
            </a:ext>
          </a:extLst>
        </p:spPr>
      </p:pic>
      <p:sp>
        <p:nvSpPr>
          <p:cNvPr id="108" name="Rectangle: Rounded Corners 107">
            <a:extLst>
              <a:ext uri="{FF2B5EF4-FFF2-40B4-BE49-F238E27FC236}">
                <a16:creationId xmlns:a16="http://schemas.microsoft.com/office/drawing/2014/main" id="{5E331347-1099-F2D6-9DA2-C4C3E1B4C206}"/>
              </a:ext>
            </a:extLst>
          </p:cNvPr>
          <p:cNvSpPr/>
          <p:nvPr/>
        </p:nvSpPr>
        <p:spPr>
          <a:xfrm>
            <a:off x="9539055" y="1096662"/>
            <a:ext cx="1382948"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Embeddings</a:t>
            </a:r>
          </a:p>
        </p:txBody>
      </p:sp>
      <p:sp>
        <p:nvSpPr>
          <p:cNvPr id="109" name="Rectangle: Rounded Corners 108">
            <a:extLst>
              <a:ext uri="{FF2B5EF4-FFF2-40B4-BE49-F238E27FC236}">
                <a16:creationId xmlns:a16="http://schemas.microsoft.com/office/drawing/2014/main" id="{C77620AA-08B4-A148-9EB5-72FDA3014CB9}"/>
              </a:ext>
            </a:extLst>
          </p:cNvPr>
          <p:cNvSpPr/>
          <p:nvPr/>
        </p:nvSpPr>
        <p:spPr>
          <a:xfrm>
            <a:off x="5847920" y="1022228"/>
            <a:ext cx="1509423" cy="570285"/>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Token based Chunking</a:t>
            </a:r>
          </a:p>
        </p:txBody>
      </p:sp>
      <p:cxnSp>
        <p:nvCxnSpPr>
          <p:cNvPr id="110" name="Straight Arrow Connector 109">
            <a:extLst>
              <a:ext uri="{FF2B5EF4-FFF2-40B4-BE49-F238E27FC236}">
                <a16:creationId xmlns:a16="http://schemas.microsoft.com/office/drawing/2014/main" id="{2A4BDF5A-2A75-1BD3-DD2C-B59EE42376D8}"/>
              </a:ext>
            </a:extLst>
          </p:cNvPr>
          <p:cNvCxnSpPr>
            <a:cxnSpLocks/>
            <a:stCxn id="109" idx="3"/>
            <a:endCxn id="108" idx="1"/>
          </p:cNvCxnSpPr>
          <p:nvPr/>
        </p:nvCxnSpPr>
        <p:spPr>
          <a:xfrm>
            <a:off x="7357343" y="1307371"/>
            <a:ext cx="21817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Rectangle: Rounded Corners 113">
            <a:extLst>
              <a:ext uri="{FF2B5EF4-FFF2-40B4-BE49-F238E27FC236}">
                <a16:creationId xmlns:a16="http://schemas.microsoft.com/office/drawing/2014/main" id="{277AF6A4-419B-D866-6AE1-12A7458D0759}"/>
              </a:ext>
            </a:extLst>
          </p:cNvPr>
          <p:cNvSpPr/>
          <p:nvPr/>
        </p:nvSpPr>
        <p:spPr>
          <a:xfrm>
            <a:off x="1997600" y="1009952"/>
            <a:ext cx="1192696" cy="579228"/>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dirty="0">
                <a:solidFill>
                  <a:schemeClr val="bg1"/>
                </a:solidFill>
              </a:rPr>
              <a:t>Data Ingestion</a:t>
            </a:r>
          </a:p>
        </p:txBody>
      </p:sp>
      <p:cxnSp>
        <p:nvCxnSpPr>
          <p:cNvPr id="116" name="Straight Arrow Connector 115">
            <a:extLst>
              <a:ext uri="{FF2B5EF4-FFF2-40B4-BE49-F238E27FC236}">
                <a16:creationId xmlns:a16="http://schemas.microsoft.com/office/drawing/2014/main" id="{DFC34F7D-EB51-FF46-F35E-432AB0E828B6}"/>
              </a:ext>
            </a:extLst>
          </p:cNvPr>
          <p:cNvCxnSpPr>
            <a:stCxn id="101" idx="3"/>
            <a:endCxn id="114" idx="1"/>
          </p:cNvCxnSpPr>
          <p:nvPr/>
        </p:nvCxnSpPr>
        <p:spPr>
          <a:xfrm flipV="1">
            <a:off x="1382153" y="1299566"/>
            <a:ext cx="6154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FD46B272-7080-6A92-65FC-3640D3973273}"/>
              </a:ext>
            </a:extLst>
          </p:cNvPr>
          <p:cNvCxnSpPr>
            <a:stCxn id="114" idx="3"/>
            <a:endCxn id="106" idx="1"/>
          </p:cNvCxnSpPr>
          <p:nvPr/>
        </p:nvCxnSpPr>
        <p:spPr>
          <a:xfrm>
            <a:off x="3190296" y="1299566"/>
            <a:ext cx="6852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C6A908B0-1D92-E9A7-A868-BBE631391A3E}"/>
              </a:ext>
            </a:extLst>
          </p:cNvPr>
          <p:cNvCxnSpPr>
            <a:stCxn id="106" idx="3"/>
            <a:endCxn id="109" idx="1"/>
          </p:cNvCxnSpPr>
          <p:nvPr/>
        </p:nvCxnSpPr>
        <p:spPr>
          <a:xfrm>
            <a:off x="5161194" y="1299566"/>
            <a:ext cx="686726" cy="78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Rectangle: Rounded Corners 118">
            <a:extLst>
              <a:ext uri="{FF2B5EF4-FFF2-40B4-BE49-F238E27FC236}">
                <a16:creationId xmlns:a16="http://schemas.microsoft.com/office/drawing/2014/main" id="{E73FC41E-B280-C2DF-CE39-6B45F475756A}"/>
              </a:ext>
            </a:extLst>
          </p:cNvPr>
          <p:cNvSpPr/>
          <p:nvPr/>
        </p:nvSpPr>
        <p:spPr>
          <a:xfrm>
            <a:off x="7980340" y="1643662"/>
            <a:ext cx="1187865"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Metadata</a:t>
            </a:r>
          </a:p>
        </p:txBody>
      </p:sp>
      <p:sp>
        <p:nvSpPr>
          <p:cNvPr id="120" name="Content Placeholder 2">
            <a:extLst>
              <a:ext uri="{FF2B5EF4-FFF2-40B4-BE49-F238E27FC236}">
                <a16:creationId xmlns:a16="http://schemas.microsoft.com/office/drawing/2014/main" id="{6C1872F3-3B91-8C88-8130-B049764940D0}"/>
              </a:ext>
            </a:extLst>
          </p:cNvPr>
          <p:cNvSpPr txBox="1">
            <a:spLocks/>
          </p:cNvSpPr>
          <p:nvPr/>
        </p:nvSpPr>
        <p:spPr>
          <a:xfrm>
            <a:off x="7980340" y="2108511"/>
            <a:ext cx="1192696" cy="24991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1000" b="0"/>
              <a:t>Pandas </a:t>
            </a:r>
            <a:r>
              <a:rPr lang="en-CA" sz="1000" b="0" err="1"/>
              <a:t>DataFrame</a:t>
            </a:r>
            <a:endParaRPr lang="en-CA" sz="1000" b="0"/>
          </a:p>
        </p:txBody>
      </p:sp>
      <p:cxnSp>
        <p:nvCxnSpPr>
          <p:cNvPr id="121" name="Connector: Elbow 120">
            <a:extLst>
              <a:ext uri="{FF2B5EF4-FFF2-40B4-BE49-F238E27FC236}">
                <a16:creationId xmlns:a16="http://schemas.microsoft.com/office/drawing/2014/main" id="{BC71D438-1AEF-557F-5D2E-96B43087133C}"/>
              </a:ext>
            </a:extLst>
          </p:cNvPr>
          <p:cNvCxnSpPr>
            <a:cxnSpLocks/>
            <a:stCxn id="109" idx="3"/>
            <a:endCxn id="119" idx="1"/>
          </p:cNvCxnSpPr>
          <p:nvPr/>
        </p:nvCxnSpPr>
        <p:spPr>
          <a:xfrm>
            <a:off x="7357343" y="1307371"/>
            <a:ext cx="622997" cy="54700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2" name="Picture 2" descr="Abstract Brain Logo #69 Gráfico por skyacegraphic0220 · Creative Fabrica">
            <a:extLst>
              <a:ext uri="{FF2B5EF4-FFF2-40B4-BE49-F238E27FC236}">
                <a16:creationId xmlns:a16="http://schemas.microsoft.com/office/drawing/2014/main" id="{6EDBDB12-ED70-71FC-2CA5-918E76CEE581}"/>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9071" t="14377" r="29352" b="14087"/>
          <a:stretch/>
        </p:blipFill>
        <p:spPr bwMode="auto">
          <a:xfrm>
            <a:off x="6861674" y="5519758"/>
            <a:ext cx="739087" cy="846180"/>
          </a:xfrm>
          <a:prstGeom prst="rect">
            <a:avLst/>
          </a:prstGeom>
          <a:noFill/>
          <a:extLst>
            <a:ext uri="{909E8E84-426E-40DD-AFC4-6F175D3DCCD1}">
              <a14:hiddenFill xmlns:a14="http://schemas.microsoft.com/office/drawing/2010/main">
                <a:solidFill>
                  <a:srgbClr val="FFFFFF"/>
                </a:solidFill>
              </a14:hiddenFill>
            </a:ext>
          </a:extLst>
        </p:spPr>
      </p:pic>
      <p:sp>
        <p:nvSpPr>
          <p:cNvPr id="123" name="Rectangle: Rounded Corners 122">
            <a:extLst>
              <a:ext uri="{FF2B5EF4-FFF2-40B4-BE49-F238E27FC236}">
                <a16:creationId xmlns:a16="http://schemas.microsoft.com/office/drawing/2014/main" id="{B63F8CC1-5164-DB83-D49F-C35272FA0E8C}"/>
              </a:ext>
            </a:extLst>
          </p:cNvPr>
          <p:cNvSpPr/>
          <p:nvPr/>
        </p:nvSpPr>
        <p:spPr>
          <a:xfrm>
            <a:off x="6861674" y="6384047"/>
            <a:ext cx="739087" cy="301398"/>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LLM</a:t>
            </a:r>
          </a:p>
        </p:txBody>
      </p:sp>
      <p:sp>
        <p:nvSpPr>
          <p:cNvPr id="124" name="Rectangle: Rounded Corners 123">
            <a:extLst>
              <a:ext uri="{FF2B5EF4-FFF2-40B4-BE49-F238E27FC236}">
                <a16:creationId xmlns:a16="http://schemas.microsoft.com/office/drawing/2014/main" id="{63BDE728-43D3-734A-00F8-690F30191CE0}"/>
              </a:ext>
            </a:extLst>
          </p:cNvPr>
          <p:cNvSpPr/>
          <p:nvPr/>
        </p:nvSpPr>
        <p:spPr>
          <a:xfrm>
            <a:off x="7330992" y="5002171"/>
            <a:ext cx="3059336"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User Query + Chunks + Metadata</a:t>
            </a:r>
          </a:p>
        </p:txBody>
      </p:sp>
      <p:sp>
        <p:nvSpPr>
          <p:cNvPr id="125" name="Rectangle: Rounded Corners 124">
            <a:extLst>
              <a:ext uri="{FF2B5EF4-FFF2-40B4-BE49-F238E27FC236}">
                <a16:creationId xmlns:a16="http://schemas.microsoft.com/office/drawing/2014/main" id="{E2EE9C6F-700B-4404-4CB0-259B1B9B64F3}"/>
              </a:ext>
            </a:extLst>
          </p:cNvPr>
          <p:cNvSpPr/>
          <p:nvPr/>
        </p:nvSpPr>
        <p:spPr>
          <a:xfrm>
            <a:off x="4870931" y="5002171"/>
            <a:ext cx="2145864" cy="421419"/>
          </a:xfrm>
          <a:prstGeom prst="roundRect">
            <a:avLst/>
          </a:prstGeom>
          <a:solidFill>
            <a:schemeClr val="accent2">
              <a:lumMod val="7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solidFill>
                  <a:schemeClr val="bg1"/>
                </a:solidFill>
              </a:rPr>
              <a:t>Generated Response</a:t>
            </a:r>
          </a:p>
        </p:txBody>
      </p:sp>
      <p:cxnSp>
        <p:nvCxnSpPr>
          <p:cNvPr id="126" name="Connector: Elbow 125">
            <a:extLst>
              <a:ext uri="{FF2B5EF4-FFF2-40B4-BE49-F238E27FC236}">
                <a16:creationId xmlns:a16="http://schemas.microsoft.com/office/drawing/2014/main" id="{1C6D2037-8F3A-8D1D-B123-71E52A611C67}"/>
              </a:ext>
            </a:extLst>
          </p:cNvPr>
          <p:cNvCxnSpPr>
            <a:cxnSpLocks/>
            <a:stCxn id="124" idx="2"/>
            <a:endCxn id="122" idx="3"/>
          </p:cNvCxnSpPr>
          <p:nvPr/>
        </p:nvCxnSpPr>
        <p:spPr>
          <a:xfrm rot="5400000">
            <a:off x="7971082" y="5053270"/>
            <a:ext cx="519258" cy="12598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Connector: Elbow 126">
            <a:extLst>
              <a:ext uri="{FF2B5EF4-FFF2-40B4-BE49-F238E27FC236}">
                <a16:creationId xmlns:a16="http://schemas.microsoft.com/office/drawing/2014/main" id="{285317F9-6DDF-29BD-04D5-66E301693546}"/>
              </a:ext>
            </a:extLst>
          </p:cNvPr>
          <p:cNvCxnSpPr>
            <a:stCxn id="122" idx="1"/>
            <a:endCxn id="125" idx="2"/>
          </p:cNvCxnSpPr>
          <p:nvPr/>
        </p:nvCxnSpPr>
        <p:spPr>
          <a:xfrm rot="10800000">
            <a:off x="5943864" y="5423590"/>
            <a:ext cx="917811" cy="51925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2" name="Picture 24" descr="Mistral AI. Mistral AI is a French artificial… | by Innovate Forge | Medium">
            <a:extLst>
              <a:ext uri="{FF2B5EF4-FFF2-40B4-BE49-F238E27FC236}">
                <a16:creationId xmlns:a16="http://schemas.microsoft.com/office/drawing/2014/main" id="{EF379AE9-B62D-E923-99DA-974FA5A9DAE3}"/>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24049" t="35606" r="20514" b="30049"/>
          <a:stretch/>
        </p:blipFill>
        <p:spPr bwMode="auto">
          <a:xfrm>
            <a:off x="7700296" y="6316175"/>
            <a:ext cx="1275185" cy="437141"/>
          </a:xfrm>
          <a:prstGeom prst="rect">
            <a:avLst/>
          </a:prstGeom>
          <a:noFill/>
          <a:extLst>
            <a:ext uri="{909E8E84-426E-40DD-AFC4-6F175D3DCCD1}">
              <a14:hiddenFill xmlns:a14="http://schemas.microsoft.com/office/drawing/2010/main">
                <a:solidFill>
                  <a:srgbClr val="FFFFFF"/>
                </a:solidFill>
              </a14:hiddenFill>
            </a:ext>
          </a:extLst>
        </p:spPr>
      </p:pic>
      <p:cxnSp>
        <p:nvCxnSpPr>
          <p:cNvPr id="142" name="Straight Arrow Connector 141">
            <a:extLst>
              <a:ext uri="{FF2B5EF4-FFF2-40B4-BE49-F238E27FC236}">
                <a16:creationId xmlns:a16="http://schemas.microsoft.com/office/drawing/2014/main" id="{CF643916-6638-DF00-F1AB-B2002E83AA24}"/>
              </a:ext>
            </a:extLst>
          </p:cNvPr>
          <p:cNvCxnSpPr>
            <a:cxnSpLocks/>
          </p:cNvCxnSpPr>
          <p:nvPr/>
        </p:nvCxnSpPr>
        <p:spPr>
          <a:xfrm flipH="1">
            <a:off x="7600761" y="4167344"/>
            <a:ext cx="3" cy="821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882FCC0B-9D9F-3CFF-3727-0CDFB1444507}"/>
              </a:ext>
            </a:extLst>
          </p:cNvPr>
          <p:cNvCxnSpPr>
            <a:cxnSpLocks/>
          </p:cNvCxnSpPr>
          <p:nvPr/>
        </p:nvCxnSpPr>
        <p:spPr>
          <a:xfrm flipV="1">
            <a:off x="6788849" y="4167344"/>
            <a:ext cx="0" cy="821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7574CAFA-EB9C-95CD-C494-04D1A6A60B4F}"/>
              </a:ext>
            </a:extLst>
          </p:cNvPr>
          <p:cNvCxnSpPr>
            <a:cxnSpLocks/>
            <a:stCxn id="108" idx="3"/>
            <a:endCxn id="23" idx="1"/>
          </p:cNvCxnSpPr>
          <p:nvPr/>
        </p:nvCxnSpPr>
        <p:spPr>
          <a:xfrm>
            <a:off x="10922003" y="1307372"/>
            <a:ext cx="695083" cy="14675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1" name="Connector: Elbow 150">
            <a:extLst>
              <a:ext uri="{FF2B5EF4-FFF2-40B4-BE49-F238E27FC236}">
                <a16:creationId xmlns:a16="http://schemas.microsoft.com/office/drawing/2014/main" id="{3637D060-63D8-02A6-D342-3478B13C05C8}"/>
              </a:ext>
            </a:extLst>
          </p:cNvPr>
          <p:cNvCxnSpPr>
            <a:stCxn id="119" idx="3"/>
            <a:endCxn id="29" idx="3"/>
          </p:cNvCxnSpPr>
          <p:nvPr/>
        </p:nvCxnSpPr>
        <p:spPr>
          <a:xfrm>
            <a:off x="9168205" y="1854372"/>
            <a:ext cx="1182098" cy="2034761"/>
          </a:xfrm>
          <a:prstGeom prst="bentConnector3">
            <a:avLst>
              <a:gd name="adj1" fmla="val 146858"/>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6" name="Graphic 155" descr="Badge 1 with solid fill">
            <a:extLst>
              <a:ext uri="{FF2B5EF4-FFF2-40B4-BE49-F238E27FC236}">
                <a16:creationId xmlns:a16="http://schemas.microsoft.com/office/drawing/2014/main" id="{3588E1DD-C0A9-9745-A885-6A0BE43AF01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80207" y="2686261"/>
            <a:ext cx="306000" cy="306000"/>
          </a:xfrm>
          <a:prstGeom prst="rect">
            <a:avLst/>
          </a:prstGeom>
        </p:spPr>
      </p:pic>
      <p:pic>
        <p:nvPicPr>
          <p:cNvPr id="157" name="Graphic 156" descr="Badge 3 with solid fill">
            <a:extLst>
              <a:ext uri="{FF2B5EF4-FFF2-40B4-BE49-F238E27FC236}">
                <a16:creationId xmlns:a16="http://schemas.microsoft.com/office/drawing/2014/main" id="{5F72A208-372B-48D4-D925-841BE70E1F3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559245" y="2571576"/>
            <a:ext cx="306000" cy="306000"/>
          </a:xfrm>
          <a:prstGeom prst="rect">
            <a:avLst/>
          </a:prstGeom>
        </p:spPr>
      </p:pic>
      <p:pic>
        <p:nvPicPr>
          <p:cNvPr id="158" name="Graphic 157" descr="Badge with solid fill">
            <a:extLst>
              <a:ext uri="{FF2B5EF4-FFF2-40B4-BE49-F238E27FC236}">
                <a16:creationId xmlns:a16="http://schemas.microsoft.com/office/drawing/2014/main" id="{4432DD26-88B1-9805-E170-F59E73D4281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397822" y="2553393"/>
            <a:ext cx="306000" cy="306000"/>
          </a:xfrm>
          <a:prstGeom prst="rect">
            <a:avLst/>
          </a:prstGeom>
        </p:spPr>
      </p:pic>
      <p:pic>
        <p:nvPicPr>
          <p:cNvPr id="159" name="Graphic 158" descr="Badge 5 with solid fill">
            <a:extLst>
              <a:ext uri="{FF2B5EF4-FFF2-40B4-BE49-F238E27FC236}">
                <a16:creationId xmlns:a16="http://schemas.microsoft.com/office/drawing/2014/main" id="{C9B0B065-40F6-3194-DA73-16F3741C890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398514" y="4207750"/>
            <a:ext cx="306000" cy="306000"/>
          </a:xfrm>
          <a:prstGeom prst="rect">
            <a:avLst/>
          </a:prstGeom>
        </p:spPr>
      </p:pic>
      <p:pic>
        <p:nvPicPr>
          <p:cNvPr id="160" name="Graphic 159" descr="Badge 4 with solid fill">
            <a:extLst>
              <a:ext uri="{FF2B5EF4-FFF2-40B4-BE49-F238E27FC236}">
                <a16:creationId xmlns:a16="http://schemas.microsoft.com/office/drawing/2014/main" id="{164A99E7-2E76-C54B-75FC-32A0CD2096FE}"/>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031150" y="2548974"/>
            <a:ext cx="306000" cy="306000"/>
          </a:xfrm>
          <a:prstGeom prst="rect">
            <a:avLst/>
          </a:prstGeom>
        </p:spPr>
      </p:pic>
      <p:pic>
        <p:nvPicPr>
          <p:cNvPr id="161" name="Graphic 160" descr="Badge 6 with solid fill">
            <a:extLst>
              <a:ext uri="{FF2B5EF4-FFF2-40B4-BE49-F238E27FC236}">
                <a16:creationId xmlns:a16="http://schemas.microsoft.com/office/drawing/2014/main" id="{68BD03B7-C2D2-2881-34C1-439EE08931A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702395" y="4683076"/>
            <a:ext cx="306000" cy="306000"/>
          </a:xfrm>
          <a:prstGeom prst="rect">
            <a:avLst/>
          </a:prstGeom>
        </p:spPr>
      </p:pic>
      <p:pic>
        <p:nvPicPr>
          <p:cNvPr id="162" name="Graphic 161" descr="Badge 7 with solid fill">
            <a:extLst>
              <a:ext uri="{FF2B5EF4-FFF2-40B4-BE49-F238E27FC236}">
                <a16:creationId xmlns:a16="http://schemas.microsoft.com/office/drawing/2014/main" id="{BFEE7E5F-C162-78A1-7F0C-8DB7AC5F60E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703822" y="4676601"/>
            <a:ext cx="306000" cy="306000"/>
          </a:xfrm>
          <a:prstGeom prst="rect">
            <a:avLst/>
          </a:prstGeom>
        </p:spPr>
      </p:pic>
      <p:pic>
        <p:nvPicPr>
          <p:cNvPr id="164" name="Graphic 163" descr="Badge 8 with solid fill">
            <a:extLst>
              <a:ext uri="{FF2B5EF4-FFF2-40B4-BE49-F238E27FC236}">
                <a16:creationId xmlns:a16="http://schemas.microsoft.com/office/drawing/2014/main" id="{384344E2-8D3E-CF68-A649-CA73BFF16296}"/>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375714" y="4201344"/>
            <a:ext cx="306000" cy="306000"/>
          </a:xfrm>
          <a:prstGeom prst="rect">
            <a:avLst/>
          </a:prstGeom>
        </p:spPr>
      </p:pic>
      <p:cxnSp>
        <p:nvCxnSpPr>
          <p:cNvPr id="168" name="Straight Arrow Connector 167">
            <a:extLst>
              <a:ext uri="{FF2B5EF4-FFF2-40B4-BE49-F238E27FC236}">
                <a16:creationId xmlns:a16="http://schemas.microsoft.com/office/drawing/2014/main" id="{29173D47-4966-7EF6-4BAE-A33281C540AA}"/>
              </a:ext>
            </a:extLst>
          </p:cNvPr>
          <p:cNvCxnSpPr>
            <a:stCxn id="9" idx="2"/>
            <a:endCxn id="21" idx="0"/>
          </p:cNvCxnSpPr>
          <p:nvPr/>
        </p:nvCxnSpPr>
        <p:spPr>
          <a:xfrm>
            <a:off x="2195738" y="4261946"/>
            <a:ext cx="3299" cy="953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9" name="Picture 2" descr="FastAPI">
            <a:extLst>
              <a:ext uri="{FF2B5EF4-FFF2-40B4-BE49-F238E27FC236}">
                <a16:creationId xmlns:a16="http://schemas.microsoft.com/office/drawing/2014/main" id="{B9298B9B-9A2B-CC6C-0E5C-E5C31DC3F6E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96834" y="3094002"/>
            <a:ext cx="919153" cy="331779"/>
          </a:xfrm>
          <a:prstGeom prst="rect">
            <a:avLst/>
          </a:prstGeom>
          <a:noFill/>
          <a:extLst>
            <a:ext uri="{909E8E84-426E-40DD-AFC4-6F175D3DCCD1}">
              <a14:hiddenFill xmlns:a14="http://schemas.microsoft.com/office/drawing/2010/main">
                <a:solidFill>
                  <a:srgbClr val="FFFFFF"/>
                </a:solidFill>
              </a14:hiddenFill>
            </a:ext>
          </a:extLst>
        </p:spPr>
      </p:pic>
      <p:sp>
        <p:nvSpPr>
          <p:cNvPr id="172" name="Content Placeholder 2">
            <a:extLst>
              <a:ext uri="{FF2B5EF4-FFF2-40B4-BE49-F238E27FC236}">
                <a16:creationId xmlns:a16="http://schemas.microsoft.com/office/drawing/2014/main" id="{D9B3822C-8E7E-A787-30EF-DEAFD1C2ABED}"/>
              </a:ext>
            </a:extLst>
          </p:cNvPr>
          <p:cNvSpPr txBox="1">
            <a:spLocks/>
          </p:cNvSpPr>
          <p:nvPr/>
        </p:nvSpPr>
        <p:spPr>
          <a:xfrm>
            <a:off x="159654" y="5827511"/>
            <a:ext cx="4353958" cy="353771"/>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CA" sz="700" b="0"/>
              <a:t>* The Tool grants access based on user credentials. Users can only access the tool if they are authorized. Since the data is no tech data, user-based document access may not be required currently.</a:t>
            </a:r>
          </a:p>
        </p:txBody>
      </p:sp>
    </p:spTree>
    <p:extLst>
      <p:ext uri="{BB962C8B-B14F-4D97-AF65-F5344CB8AC3E}">
        <p14:creationId xmlns:p14="http://schemas.microsoft.com/office/powerpoint/2010/main" val="690576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22A52-8EDD-B00B-3A1C-BF6533ABCB3D}"/>
              </a:ext>
            </a:extLst>
          </p:cNvPr>
          <p:cNvSpPr>
            <a:spLocks noGrp="1"/>
          </p:cNvSpPr>
          <p:nvPr>
            <p:ph type="title"/>
          </p:nvPr>
        </p:nvSpPr>
        <p:spPr/>
        <p:txBody>
          <a:bodyPr anchor="ctr"/>
          <a:lstStyle/>
          <a:p>
            <a:r>
              <a:rPr lang="en-CA"/>
              <a:t>Additional Strategies - Retrieval</a:t>
            </a:r>
          </a:p>
        </p:txBody>
      </p:sp>
      <p:sp>
        <p:nvSpPr>
          <p:cNvPr id="3" name="Content Placeholder 2">
            <a:extLst>
              <a:ext uri="{FF2B5EF4-FFF2-40B4-BE49-F238E27FC236}">
                <a16:creationId xmlns:a16="http://schemas.microsoft.com/office/drawing/2014/main" id="{F2C11501-4BB2-25B1-B69B-E783746ACF32}"/>
              </a:ext>
            </a:extLst>
          </p:cNvPr>
          <p:cNvSpPr>
            <a:spLocks noGrp="1"/>
          </p:cNvSpPr>
          <p:nvPr>
            <p:ph idx="1"/>
          </p:nvPr>
        </p:nvSpPr>
        <p:spPr>
          <a:xfrm>
            <a:off x="4266403" y="2232578"/>
            <a:ext cx="1604310" cy="578870"/>
          </a:xfrm>
        </p:spPr>
        <p:txBody>
          <a:bodyPr anchor="ctr"/>
          <a:lstStyle/>
          <a:p>
            <a:pPr algn="ctr">
              <a:lnSpc>
                <a:spcPct val="100000"/>
              </a:lnSpc>
              <a:spcBef>
                <a:spcPts val="0"/>
              </a:spcBef>
              <a:spcAft>
                <a:spcPts val="0"/>
              </a:spcAft>
            </a:pPr>
            <a:r>
              <a:rPr lang="en-CA" sz="1400" b="0"/>
              <a:t>flan-t5-small</a:t>
            </a:r>
          </a:p>
          <a:p>
            <a:pPr algn="ctr">
              <a:lnSpc>
                <a:spcPct val="100000"/>
              </a:lnSpc>
              <a:spcBef>
                <a:spcPts val="0"/>
              </a:spcBef>
              <a:spcAft>
                <a:spcPts val="0"/>
              </a:spcAft>
            </a:pPr>
            <a:r>
              <a:rPr lang="en-CA" sz="1200" b="0"/>
              <a:t>80M Parameters</a:t>
            </a:r>
          </a:p>
        </p:txBody>
      </p:sp>
      <p:sp>
        <p:nvSpPr>
          <p:cNvPr id="4" name="Slide Number Placeholder 3">
            <a:extLst>
              <a:ext uri="{FF2B5EF4-FFF2-40B4-BE49-F238E27FC236}">
                <a16:creationId xmlns:a16="http://schemas.microsoft.com/office/drawing/2014/main" id="{5B220196-D968-77FD-1546-BC8A5305CF15}"/>
              </a:ext>
            </a:extLst>
          </p:cNvPr>
          <p:cNvSpPr>
            <a:spLocks noGrp="1"/>
          </p:cNvSpPr>
          <p:nvPr>
            <p:ph type="sldNum" sz="quarter" idx="4"/>
          </p:nvPr>
        </p:nvSpPr>
        <p:spPr/>
        <p:txBody>
          <a:bodyPr/>
          <a:lstStyle/>
          <a:p>
            <a:fld id="{A7EBF19F-9143-0D43-8AAF-A18B95D0386D}" type="slidenum">
              <a:rPr lang="en-US" smtClean="0"/>
              <a:pPr/>
              <a:t>12</a:t>
            </a:fld>
            <a:endParaRPr lang="en-US"/>
          </a:p>
        </p:txBody>
      </p:sp>
      <p:sp>
        <p:nvSpPr>
          <p:cNvPr id="5" name="Footer Placeholder 4">
            <a:extLst>
              <a:ext uri="{FF2B5EF4-FFF2-40B4-BE49-F238E27FC236}">
                <a16:creationId xmlns:a16="http://schemas.microsoft.com/office/drawing/2014/main" id="{DCA295AC-3794-4601-D7CB-A4A47E056DC0}"/>
              </a:ext>
            </a:extLst>
          </p:cNvPr>
          <p:cNvSpPr>
            <a:spLocks noGrp="1"/>
          </p:cNvSpPr>
          <p:nvPr>
            <p:ph type="ftr" sz="quarter" idx="3"/>
          </p:nvPr>
        </p:nvSpPr>
        <p:spPr/>
        <p:txBody>
          <a:bodyPr/>
          <a:lstStyle/>
          <a:p>
            <a:r>
              <a:rPr lang="en-US"/>
              <a:t>EXPORT MARKING: INTERN'S PRESENTATION</a:t>
            </a:r>
          </a:p>
        </p:txBody>
      </p:sp>
      <p:sp>
        <p:nvSpPr>
          <p:cNvPr id="6" name="Date Placeholder 5">
            <a:extLst>
              <a:ext uri="{FF2B5EF4-FFF2-40B4-BE49-F238E27FC236}">
                <a16:creationId xmlns:a16="http://schemas.microsoft.com/office/drawing/2014/main" id="{520BC095-2FE6-6D70-BB2E-91B22CB57666}"/>
              </a:ext>
            </a:extLst>
          </p:cNvPr>
          <p:cNvSpPr>
            <a:spLocks noGrp="1"/>
          </p:cNvSpPr>
          <p:nvPr>
            <p:ph type="dt" sz="half" idx="2"/>
          </p:nvPr>
        </p:nvSpPr>
        <p:spPr/>
        <p:txBody>
          <a:bodyPr/>
          <a:lstStyle/>
          <a:p>
            <a:r>
              <a:rPr lang="en-US"/>
              <a:t>PRATT &amp; WHITNEY CANADA PROPRIETARY     |    © </a:t>
            </a:r>
            <a:fld id="{7674C25C-9FE0-47D4-8031-5B4D704AC308}" type="datetimeyyyy">
              <a:rPr lang="en-US" smtClean="0"/>
              <a:t>2026</a:t>
            </a:fld>
            <a:r>
              <a:rPr lang="en-US"/>
              <a:t> PRATT &amp; WHITNEY</a:t>
            </a:r>
          </a:p>
          <a:p>
            <a:endParaRPr lang="en-US"/>
          </a:p>
        </p:txBody>
      </p:sp>
      <p:sp>
        <p:nvSpPr>
          <p:cNvPr id="7" name="Rectangle 6">
            <a:extLst>
              <a:ext uri="{FF2B5EF4-FFF2-40B4-BE49-F238E27FC236}">
                <a16:creationId xmlns:a16="http://schemas.microsoft.com/office/drawing/2014/main" id="{105E64B3-112F-30C4-0D01-7AC35CE73D51}"/>
              </a:ext>
            </a:extLst>
          </p:cNvPr>
          <p:cNvSpPr/>
          <p:nvPr/>
        </p:nvSpPr>
        <p:spPr>
          <a:xfrm>
            <a:off x="694943" y="1513143"/>
            <a:ext cx="1849474" cy="347967"/>
          </a:xfrm>
          <a:prstGeom prst="rect">
            <a:avLst/>
          </a:prstGeom>
          <a:solidFill>
            <a:schemeClr val="accent2">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t>USER QUERY</a:t>
            </a:r>
          </a:p>
        </p:txBody>
      </p:sp>
      <p:sp>
        <p:nvSpPr>
          <p:cNvPr id="8" name="Rectangle 7">
            <a:extLst>
              <a:ext uri="{FF2B5EF4-FFF2-40B4-BE49-F238E27FC236}">
                <a16:creationId xmlns:a16="http://schemas.microsoft.com/office/drawing/2014/main" id="{F3082D7B-8A0F-D329-F088-C05372F20887}"/>
              </a:ext>
            </a:extLst>
          </p:cNvPr>
          <p:cNvSpPr/>
          <p:nvPr/>
        </p:nvSpPr>
        <p:spPr>
          <a:xfrm>
            <a:off x="2146053" y="2348030"/>
            <a:ext cx="2194031" cy="347967"/>
          </a:xfrm>
          <a:prstGeom prst="rect">
            <a:avLst/>
          </a:prstGeom>
          <a:solidFill>
            <a:schemeClr val="accent2">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t>QUERY EXPANSION</a:t>
            </a:r>
          </a:p>
        </p:txBody>
      </p:sp>
      <p:sp>
        <p:nvSpPr>
          <p:cNvPr id="10" name="Rectangle 9">
            <a:extLst>
              <a:ext uri="{FF2B5EF4-FFF2-40B4-BE49-F238E27FC236}">
                <a16:creationId xmlns:a16="http://schemas.microsoft.com/office/drawing/2014/main" id="{61F6DBF1-62C9-A20F-5534-2E106F63086D}"/>
              </a:ext>
            </a:extLst>
          </p:cNvPr>
          <p:cNvSpPr/>
          <p:nvPr/>
        </p:nvSpPr>
        <p:spPr>
          <a:xfrm>
            <a:off x="5439219" y="3900738"/>
            <a:ext cx="2624729" cy="347967"/>
          </a:xfrm>
          <a:prstGeom prst="rect">
            <a:avLst/>
          </a:prstGeom>
          <a:solidFill>
            <a:schemeClr val="accent2">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t>BM25 KEYWORD SEARCH</a:t>
            </a:r>
          </a:p>
        </p:txBody>
      </p:sp>
      <p:cxnSp>
        <p:nvCxnSpPr>
          <p:cNvPr id="12" name="Connector: Elbow 11">
            <a:extLst>
              <a:ext uri="{FF2B5EF4-FFF2-40B4-BE49-F238E27FC236}">
                <a16:creationId xmlns:a16="http://schemas.microsoft.com/office/drawing/2014/main" id="{FD80AD40-A681-D58D-2920-1C63FE2C20FF}"/>
              </a:ext>
            </a:extLst>
          </p:cNvPr>
          <p:cNvCxnSpPr>
            <a:stCxn id="7" idx="2"/>
            <a:endCxn id="8" idx="1"/>
          </p:cNvCxnSpPr>
          <p:nvPr/>
        </p:nvCxnSpPr>
        <p:spPr>
          <a:xfrm rot="16200000" flipH="1">
            <a:off x="1552414" y="1928375"/>
            <a:ext cx="660904" cy="5263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9BA690A-857D-B7DA-E958-BC0F348A774B}"/>
              </a:ext>
            </a:extLst>
          </p:cNvPr>
          <p:cNvSpPr/>
          <p:nvPr/>
        </p:nvSpPr>
        <p:spPr>
          <a:xfrm>
            <a:off x="3785612" y="3124384"/>
            <a:ext cx="2194031" cy="347967"/>
          </a:xfrm>
          <a:prstGeom prst="rect">
            <a:avLst/>
          </a:prstGeom>
          <a:solidFill>
            <a:schemeClr val="accent2">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a:t>FOR EACH QUERY</a:t>
            </a:r>
          </a:p>
        </p:txBody>
      </p:sp>
      <p:cxnSp>
        <p:nvCxnSpPr>
          <p:cNvPr id="15" name="Connector: Elbow 14">
            <a:extLst>
              <a:ext uri="{FF2B5EF4-FFF2-40B4-BE49-F238E27FC236}">
                <a16:creationId xmlns:a16="http://schemas.microsoft.com/office/drawing/2014/main" id="{1EDA567E-B08B-6C6C-754A-BBED862B5716}"/>
              </a:ext>
            </a:extLst>
          </p:cNvPr>
          <p:cNvCxnSpPr>
            <a:stCxn id="8" idx="2"/>
            <a:endCxn id="13" idx="1"/>
          </p:cNvCxnSpPr>
          <p:nvPr/>
        </p:nvCxnSpPr>
        <p:spPr>
          <a:xfrm rot="16200000" flipH="1">
            <a:off x="3213155" y="2725910"/>
            <a:ext cx="602371" cy="54254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D221974B-5F02-EB82-2B26-7FA57BE541FC}"/>
              </a:ext>
            </a:extLst>
          </p:cNvPr>
          <p:cNvCxnSpPr>
            <a:stCxn id="13" idx="2"/>
            <a:endCxn id="10" idx="1"/>
          </p:cNvCxnSpPr>
          <p:nvPr/>
        </p:nvCxnSpPr>
        <p:spPr>
          <a:xfrm rot="16200000" flipH="1">
            <a:off x="4859738" y="3495240"/>
            <a:ext cx="602371" cy="55659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68EFDEB-650C-4B1D-579B-F1C97E38C623}"/>
              </a:ext>
            </a:extLst>
          </p:cNvPr>
          <p:cNvSpPr/>
          <p:nvPr/>
        </p:nvSpPr>
        <p:spPr>
          <a:xfrm>
            <a:off x="5439220" y="4633423"/>
            <a:ext cx="2205164" cy="347967"/>
          </a:xfrm>
          <a:prstGeom prst="rect">
            <a:avLst/>
          </a:prstGeom>
          <a:solidFill>
            <a:schemeClr val="accent2">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dirty="0"/>
              <a:t>SEMANTIC SEARCH</a:t>
            </a:r>
          </a:p>
        </p:txBody>
      </p:sp>
      <p:sp>
        <p:nvSpPr>
          <p:cNvPr id="19" name="Rectangle 18">
            <a:extLst>
              <a:ext uri="{FF2B5EF4-FFF2-40B4-BE49-F238E27FC236}">
                <a16:creationId xmlns:a16="http://schemas.microsoft.com/office/drawing/2014/main" id="{4818F089-C2E6-EBAA-F6F6-0CA2CB073943}"/>
              </a:ext>
            </a:extLst>
          </p:cNvPr>
          <p:cNvSpPr/>
          <p:nvPr/>
        </p:nvSpPr>
        <p:spPr>
          <a:xfrm>
            <a:off x="5439219" y="5367331"/>
            <a:ext cx="3698155" cy="347967"/>
          </a:xfrm>
          <a:prstGeom prst="rect">
            <a:avLst/>
          </a:prstGeom>
          <a:solidFill>
            <a:schemeClr val="accent2">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dirty="0"/>
              <a:t>COMBINE + DEDUPLICATE + RERANK</a:t>
            </a:r>
          </a:p>
        </p:txBody>
      </p:sp>
      <p:sp>
        <p:nvSpPr>
          <p:cNvPr id="20" name="Content Placeholder 2">
            <a:extLst>
              <a:ext uri="{FF2B5EF4-FFF2-40B4-BE49-F238E27FC236}">
                <a16:creationId xmlns:a16="http://schemas.microsoft.com/office/drawing/2014/main" id="{C1498CA9-31E0-6736-CCE4-64F9EF0251EF}"/>
              </a:ext>
            </a:extLst>
          </p:cNvPr>
          <p:cNvSpPr txBox="1">
            <a:spLocks/>
          </p:cNvSpPr>
          <p:nvPr/>
        </p:nvSpPr>
        <p:spPr>
          <a:xfrm>
            <a:off x="7643600" y="4518583"/>
            <a:ext cx="1683824" cy="578870"/>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spcAft>
                <a:spcPts val="0"/>
              </a:spcAft>
            </a:pPr>
            <a:r>
              <a:rPr lang="en-CA" sz="1400" b="0"/>
              <a:t>FAISS Database</a:t>
            </a:r>
          </a:p>
          <a:p>
            <a:pPr algn="ctr">
              <a:lnSpc>
                <a:spcPct val="100000"/>
              </a:lnSpc>
              <a:spcBef>
                <a:spcPts val="0"/>
              </a:spcBef>
              <a:spcAft>
                <a:spcPts val="0"/>
              </a:spcAft>
            </a:pPr>
            <a:r>
              <a:rPr lang="en-CA" sz="1400" b="0"/>
              <a:t>all-MiniLM-L6-v2</a:t>
            </a:r>
            <a:endParaRPr lang="en-CA" sz="1200" b="0"/>
          </a:p>
        </p:txBody>
      </p:sp>
      <p:sp>
        <p:nvSpPr>
          <p:cNvPr id="21" name="Content Placeholder 2">
            <a:extLst>
              <a:ext uri="{FF2B5EF4-FFF2-40B4-BE49-F238E27FC236}">
                <a16:creationId xmlns:a16="http://schemas.microsoft.com/office/drawing/2014/main" id="{1B8EE2EB-FBE8-373D-26DD-9BB31114E70B}"/>
              </a:ext>
            </a:extLst>
          </p:cNvPr>
          <p:cNvSpPr txBox="1">
            <a:spLocks/>
          </p:cNvSpPr>
          <p:nvPr/>
        </p:nvSpPr>
        <p:spPr>
          <a:xfrm>
            <a:off x="9200731" y="5251879"/>
            <a:ext cx="1977478" cy="578870"/>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spcAft>
                <a:spcPts val="0"/>
              </a:spcAft>
            </a:pPr>
            <a:r>
              <a:rPr lang="en-CA" sz="1400" b="0"/>
              <a:t>ms-marco-MiniLM-L6-en</a:t>
            </a:r>
            <a:endParaRPr lang="en-CA" sz="1200" b="0"/>
          </a:p>
        </p:txBody>
      </p:sp>
      <p:cxnSp>
        <p:nvCxnSpPr>
          <p:cNvPr id="27" name="Connector: Elbow 26">
            <a:extLst>
              <a:ext uri="{FF2B5EF4-FFF2-40B4-BE49-F238E27FC236}">
                <a16:creationId xmlns:a16="http://schemas.microsoft.com/office/drawing/2014/main" id="{BB7DDFFC-7EFA-BEEB-B24A-9E358F3472F9}"/>
              </a:ext>
            </a:extLst>
          </p:cNvPr>
          <p:cNvCxnSpPr>
            <a:stCxn id="13" idx="2"/>
            <a:endCxn id="18" idx="1"/>
          </p:cNvCxnSpPr>
          <p:nvPr/>
        </p:nvCxnSpPr>
        <p:spPr>
          <a:xfrm rot="16200000" flipH="1">
            <a:off x="4493396" y="3861583"/>
            <a:ext cx="1335056" cy="55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C0040F5C-1044-E840-CA20-36EA1A2B39C6}"/>
              </a:ext>
            </a:extLst>
          </p:cNvPr>
          <p:cNvCxnSpPr>
            <a:stCxn id="13" idx="2"/>
            <a:endCxn id="19" idx="1"/>
          </p:cNvCxnSpPr>
          <p:nvPr/>
        </p:nvCxnSpPr>
        <p:spPr>
          <a:xfrm rot="16200000" flipH="1">
            <a:off x="4126441" y="4228537"/>
            <a:ext cx="2068964" cy="55659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0341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F61C2-7BFF-D017-2027-E75A470DACF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B2077D-28BB-EBD8-A586-081255B8158C}"/>
              </a:ext>
            </a:extLst>
          </p:cNvPr>
          <p:cNvSpPr>
            <a:spLocks noGrp="1"/>
          </p:cNvSpPr>
          <p:nvPr>
            <p:ph type="sldNum" sz="quarter" idx="4"/>
          </p:nvPr>
        </p:nvSpPr>
        <p:spPr/>
        <p:txBody>
          <a:bodyPr/>
          <a:lstStyle/>
          <a:p>
            <a:fld id="{A7EBF19F-9143-0D43-8AAF-A18B95D0386D}" type="slidenum">
              <a:rPr lang="en-US" smtClean="0"/>
              <a:pPr/>
              <a:t>13</a:t>
            </a:fld>
            <a:endParaRPr lang="en-US"/>
          </a:p>
        </p:txBody>
      </p:sp>
      <p:sp>
        <p:nvSpPr>
          <p:cNvPr id="5" name="Footer Placeholder 4">
            <a:extLst>
              <a:ext uri="{FF2B5EF4-FFF2-40B4-BE49-F238E27FC236}">
                <a16:creationId xmlns:a16="http://schemas.microsoft.com/office/drawing/2014/main" id="{9A6A41CD-2622-23D6-E17D-2C2246CA60D4}"/>
              </a:ext>
            </a:extLst>
          </p:cNvPr>
          <p:cNvSpPr>
            <a:spLocks noGrp="1"/>
          </p:cNvSpPr>
          <p:nvPr>
            <p:ph type="ftr" sz="quarter" idx="3"/>
          </p:nvPr>
        </p:nvSpPr>
        <p:spPr/>
        <p:txBody>
          <a:bodyPr/>
          <a:lstStyle/>
          <a:p>
            <a:r>
              <a:rPr lang="en-US"/>
              <a:t>EXPORT MARKING: INTERN'S PRESENTATION</a:t>
            </a:r>
          </a:p>
        </p:txBody>
      </p:sp>
      <p:sp>
        <p:nvSpPr>
          <p:cNvPr id="6" name="Date Placeholder 5">
            <a:extLst>
              <a:ext uri="{FF2B5EF4-FFF2-40B4-BE49-F238E27FC236}">
                <a16:creationId xmlns:a16="http://schemas.microsoft.com/office/drawing/2014/main" id="{5A3F2925-0994-33BF-5922-F86DC73683CB}"/>
              </a:ext>
            </a:extLst>
          </p:cNvPr>
          <p:cNvSpPr>
            <a:spLocks noGrp="1"/>
          </p:cNvSpPr>
          <p:nvPr>
            <p:ph type="dt" sz="half" idx="2"/>
          </p:nvPr>
        </p:nvSpPr>
        <p:spPr/>
        <p:txBody>
          <a:bodyPr/>
          <a:lstStyle/>
          <a:p>
            <a:r>
              <a:rPr lang="en-US"/>
              <a:t>PRATT &amp; WHITNEY CANADA PROPRIETARY     |    © </a:t>
            </a:r>
            <a:fld id="{7674C25C-9FE0-47D4-8031-5B4D704AC308}" type="datetimeyyyy">
              <a:rPr lang="en-US" smtClean="0"/>
              <a:t>2026</a:t>
            </a:fld>
            <a:r>
              <a:rPr lang="en-US"/>
              <a:t> PRATT &amp; WHITNEY</a:t>
            </a:r>
          </a:p>
          <a:p>
            <a:endParaRPr lang="en-US"/>
          </a:p>
        </p:txBody>
      </p:sp>
      <p:sp>
        <p:nvSpPr>
          <p:cNvPr id="16" name="Title 1">
            <a:extLst>
              <a:ext uri="{FF2B5EF4-FFF2-40B4-BE49-F238E27FC236}">
                <a16:creationId xmlns:a16="http://schemas.microsoft.com/office/drawing/2014/main" id="{E7E2CEC1-AAFF-EB06-A4EF-E9741DF5DEA3}"/>
              </a:ext>
            </a:extLst>
          </p:cNvPr>
          <p:cNvSpPr>
            <a:spLocks noGrp="1"/>
          </p:cNvSpPr>
          <p:nvPr>
            <p:ph type="title"/>
          </p:nvPr>
        </p:nvSpPr>
        <p:spPr>
          <a:xfrm>
            <a:off x="695325" y="431934"/>
            <a:ext cx="10832211" cy="499902"/>
          </a:xfrm>
        </p:spPr>
        <p:txBody>
          <a:bodyPr anchor="ctr"/>
          <a:lstStyle/>
          <a:p>
            <a:r>
              <a:rPr lang="en-CA" sz="2600"/>
              <a:t>Pipeline for the OPO </a:t>
            </a:r>
            <a:r>
              <a:rPr lang="en-CA" sz="2600" err="1"/>
              <a:t>GenAI</a:t>
            </a:r>
            <a:r>
              <a:rPr lang="en-CA" sz="2600"/>
              <a:t> Tool</a:t>
            </a:r>
            <a:endParaRPr lang="fr-CA" sz="2600"/>
          </a:p>
        </p:txBody>
      </p:sp>
      <p:sp>
        <p:nvSpPr>
          <p:cNvPr id="25" name="Rectangle 24">
            <a:extLst>
              <a:ext uri="{FF2B5EF4-FFF2-40B4-BE49-F238E27FC236}">
                <a16:creationId xmlns:a16="http://schemas.microsoft.com/office/drawing/2014/main" id="{838BA309-4781-11D4-D90D-27609977E8B9}"/>
              </a:ext>
            </a:extLst>
          </p:cNvPr>
          <p:cNvSpPr/>
          <p:nvPr/>
        </p:nvSpPr>
        <p:spPr>
          <a:xfrm>
            <a:off x="216510" y="1864328"/>
            <a:ext cx="1307336" cy="34796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t>Cookbooks</a:t>
            </a:r>
          </a:p>
        </p:txBody>
      </p:sp>
      <p:pic>
        <p:nvPicPr>
          <p:cNvPr id="1026" name="Picture 2" descr="Image result for sharepoint logo">
            <a:extLst>
              <a:ext uri="{FF2B5EF4-FFF2-40B4-BE49-F238E27FC236}">
                <a16:creationId xmlns:a16="http://schemas.microsoft.com/office/drawing/2014/main" id="{073CBEEE-314D-9F91-38D8-81A4E7F653D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294" r="19660"/>
          <a:stretch/>
        </p:blipFill>
        <p:spPr bwMode="auto">
          <a:xfrm>
            <a:off x="2141905" y="3221545"/>
            <a:ext cx="817973" cy="86649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ms tams logo">
            <a:extLst>
              <a:ext uri="{FF2B5EF4-FFF2-40B4-BE49-F238E27FC236}">
                <a16:creationId xmlns:a16="http://schemas.microsoft.com/office/drawing/2014/main" id="{497A0CF3-61A2-52E0-FA58-637D8C0506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9755" y="5492440"/>
            <a:ext cx="740229" cy="74436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Diagram 7">
            <a:extLst>
              <a:ext uri="{FF2B5EF4-FFF2-40B4-BE49-F238E27FC236}">
                <a16:creationId xmlns:a16="http://schemas.microsoft.com/office/drawing/2014/main" id="{9DAD2BE8-11AA-3BE5-09B6-61C888E9ACF8}"/>
              </a:ext>
            </a:extLst>
          </p:cNvPr>
          <p:cNvGraphicFramePr/>
          <p:nvPr>
            <p:extLst>
              <p:ext uri="{D42A27DB-BD31-4B8C-83A1-F6EECF244321}">
                <p14:modId xmlns:p14="http://schemas.microsoft.com/office/powerpoint/2010/main" val="1981430317"/>
              </p:ext>
            </p:extLst>
          </p:nvPr>
        </p:nvGraphicFramePr>
        <p:xfrm>
          <a:off x="43543" y="700499"/>
          <a:ext cx="12104914" cy="12620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Rectangle 8">
            <a:extLst>
              <a:ext uri="{FF2B5EF4-FFF2-40B4-BE49-F238E27FC236}">
                <a16:creationId xmlns:a16="http://schemas.microsoft.com/office/drawing/2014/main" id="{23059DE7-0C85-163B-EADB-DE2A44F274A7}"/>
              </a:ext>
            </a:extLst>
          </p:cNvPr>
          <p:cNvSpPr/>
          <p:nvPr/>
        </p:nvSpPr>
        <p:spPr>
          <a:xfrm>
            <a:off x="216510" y="2316323"/>
            <a:ext cx="1307336" cy="34796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t>Procedures</a:t>
            </a:r>
          </a:p>
        </p:txBody>
      </p:sp>
      <p:sp>
        <p:nvSpPr>
          <p:cNvPr id="12" name="Rectangle 11">
            <a:extLst>
              <a:ext uri="{FF2B5EF4-FFF2-40B4-BE49-F238E27FC236}">
                <a16:creationId xmlns:a16="http://schemas.microsoft.com/office/drawing/2014/main" id="{C58C1AFC-AC32-81D2-47B0-4A3CC4581416}"/>
              </a:ext>
            </a:extLst>
          </p:cNvPr>
          <p:cNvSpPr/>
          <p:nvPr/>
        </p:nvSpPr>
        <p:spPr>
          <a:xfrm>
            <a:off x="216510" y="2764534"/>
            <a:ext cx="1307336" cy="34796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000" b="1"/>
              <a:t>Work Instructions</a:t>
            </a:r>
          </a:p>
        </p:txBody>
      </p:sp>
      <p:sp>
        <p:nvSpPr>
          <p:cNvPr id="13" name="Rectangle 12">
            <a:extLst>
              <a:ext uri="{FF2B5EF4-FFF2-40B4-BE49-F238E27FC236}">
                <a16:creationId xmlns:a16="http://schemas.microsoft.com/office/drawing/2014/main" id="{7E9EE46D-3E21-A18A-24BB-D11ADD65D4D7}"/>
              </a:ext>
            </a:extLst>
          </p:cNvPr>
          <p:cNvSpPr/>
          <p:nvPr/>
        </p:nvSpPr>
        <p:spPr>
          <a:xfrm>
            <a:off x="216510" y="3216530"/>
            <a:ext cx="1307336" cy="43835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100" b="1"/>
              <a:t>Org Level Processes</a:t>
            </a:r>
          </a:p>
        </p:txBody>
      </p:sp>
      <p:sp>
        <p:nvSpPr>
          <p:cNvPr id="20" name="Rectangle 19">
            <a:extLst>
              <a:ext uri="{FF2B5EF4-FFF2-40B4-BE49-F238E27FC236}">
                <a16:creationId xmlns:a16="http://schemas.microsoft.com/office/drawing/2014/main" id="{2F3AF51E-5698-C589-6BA6-5F26600FA804}"/>
              </a:ext>
            </a:extLst>
          </p:cNvPr>
          <p:cNvSpPr/>
          <p:nvPr/>
        </p:nvSpPr>
        <p:spPr>
          <a:xfrm>
            <a:off x="3615771" y="1859928"/>
            <a:ext cx="1307336" cy="34796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t>Data Cleaning</a:t>
            </a:r>
          </a:p>
        </p:txBody>
      </p:sp>
      <p:sp>
        <p:nvSpPr>
          <p:cNvPr id="23" name="Rectangle 22">
            <a:extLst>
              <a:ext uri="{FF2B5EF4-FFF2-40B4-BE49-F238E27FC236}">
                <a16:creationId xmlns:a16="http://schemas.microsoft.com/office/drawing/2014/main" id="{7918D408-8E53-468C-7146-02D4F9D16AA6}"/>
              </a:ext>
            </a:extLst>
          </p:cNvPr>
          <p:cNvSpPr/>
          <p:nvPr/>
        </p:nvSpPr>
        <p:spPr>
          <a:xfrm>
            <a:off x="3615771" y="2926281"/>
            <a:ext cx="1307336" cy="34796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t>Chunking</a:t>
            </a:r>
          </a:p>
        </p:txBody>
      </p:sp>
      <p:sp>
        <p:nvSpPr>
          <p:cNvPr id="31" name="Rectangle 30">
            <a:extLst>
              <a:ext uri="{FF2B5EF4-FFF2-40B4-BE49-F238E27FC236}">
                <a16:creationId xmlns:a16="http://schemas.microsoft.com/office/drawing/2014/main" id="{2BF5E9E0-059A-991B-4906-1C643E063155}"/>
              </a:ext>
            </a:extLst>
          </p:cNvPr>
          <p:cNvSpPr/>
          <p:nvPr/>
        </p:nvSpPr>
        <p:spPr>
          <a:xfrm>
            <a:off x="3613545" y="4040905"/>
            <a:ext cx="1307336" cy="34796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000" b="1"/>
              <a:t>Metadata Tagging</a:t>
            </a:r>
          </a:p>
        </p:txBody>
      </p:sp>
      <p:pic>
        <p:nvPicPr>
          <p:cNvPr id="1048" name="Picture 24" descr="Mistral AI. Mistral AI is a French artificial… | by Innovate Forge | Medium">
            <a:extLst>
              <a:ext uri="{FF2B5EF4-FFF2-40B4-BE49-F238E27FC236}">
                <a16:creationId xmlns:a16="http://schemas.microsoft.com/office/drawing/2014/main" id="{FBFC91FC-7E99-0D93-4475-565CB0A857F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4049" t="35606" r="20514" b="30049"/>
          <a:stretch/>
        </p:blipFill>
        <p:spPr bwMode="auto">
          <a:xfrm>
            <a:off x="8788068" y="1823963"/>
            <a:ext cx="1275185" cy="437141"/>
          </a:xfrm>
          <a:prstGeom prst="rect">
            <a:avLst/>
          </a:prstGeom>
          <a:noFill/>
          <a:extLst>
            <a:ext uri="{909E8E84-426E-40DD-AFC4-6F175D3DCCD1}">
              <a14:hiddenFill xmlns:a14="http://schemas.microsoft.com/office/drawing/2010/main">
                <a:solidFill>
                  <a:srgbClr val="FFFFFF"/>
                </a:solidFill>
              </a14:hiddenFill>
            </a:ext>
          </a:extLst>
        </p:spPr>
      </p:pic>
      <p:sp>
        <p:nvSpPr>
          <p:cNvPr id="1037" name="Rectangle 1036">
            <a:extLst>
              <a:ext uri="{FF2B5EF4-FFF2-40B4-BE49-F238E27FC236}">
                <a16:creationId xmlns:a16="http://schemas.microsoft.com/office/drawing/2014/main" id="{58B583FA-32A1-2624-DC85-478B0B8AB245}"/>
              </a:ext>
            </a:extLst>
          </p:cNvPr>
          <p:cNvSpPr/>
          <p:nvPr/>
        </p:nvSpPr>
        <p:spPr>
          <a:xfrm>
            <a:off x="10387933" y="1859928"/>
            <a:ext cx="1307336" cy="54970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100" b="1"/>
              <a:t>Multiple User Input</a:t>
            </a:r>
          </a:p>
        </p:txBody>
      </p:sp>
      <p:sp>
        <p:nvSpPr>
          <p:cNvPr id="1039" name="Rectangle 1038">
            <a:extLst>
              <a:ext uri="{FF2B5EF4-FFF2-40B4-BE49-F238E27FC236}">
                <a16:creationId xmlns:a16="http://schemas.microsoft.com/office/drawing/2014/main" id="{858FB88A-78B8-F190-E651-733D797186F0}"/>
              </a:ext>
            </a:extLst>
          </p:cNvPr>
          <p:cNvSpPr/>
          <p:nvPr/>
        </p:nvSpPr>
        <p:spPr>
          <a:xfrm>
            <a:off x="10387933" y="2774540"/>
            <a:ext cx="1307336" cy="34796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200" b="1"/>
              <a:t>Interface</a:t>
            </a:r>
          </a:p>
        </p:txBody>
      </p:sp>
      <p:sp>
        <p:nvSpPr>
          <p:cNvPr id="1041" name="Rectangle 1040">
            <a:extLst>
              <a:ext uri="{FF2B5EF4-FFF2-40B4-BE49-F238E27FC236}">
                <a16:creationId xmlns:a16="http://schemas.microsoft.com/office/drawing/2014/main" id="{A8EBB427-CEA0-C50C-4960-0A5FD19B1B81}"/>
              </a:ext>
            </a:extLst>
          </p:cNvPr>
          <p:cNvSpPr/>
          <p:nvPr/>
        </p:nvSpPr>
        <p:spPr>
          <a:xfrm>
            <a:off x="10387933" y="3487418"/>
            <a:ext cx="1307336" cy="34796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000" b="1"/>
              <a:t>Query Embedding</a:t>
            </a:r>
          </a:p>
        </p:txBody>
      </p:sp>
      <p:sp>
        <p:nvSpPr>
          <p:cNvPr id="1043" name="Rectangle 1042">
            <a:extLst>
              <a:ext uri="{FF2B5EF4-FFF2-40B4-BE49-F238E27FC236}">
                <a16:creationId xmlns:a16="http://schemas.microsoft.com/office/drawing/2014/main" id="{3B6AA6B2-DF92-0702-57C1-C4AEA78B9664}"/>
              </a:ext>
            </a:extLst>
          </p:cNvPr>
          <p:cNvSpPr/>
          <p:nvPr/>
        </p:nvSpPr>
        <p:spPr>
          <a:xfrm>
            <a:off x="10387933" y="4036954"/>
            <a:ext cx="1307336" cy="34796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050" b="1"/>
              <a:t>Similarity Search</a:t>
            </a:r>
          </a:p>
        </p:txBody>
      </p:sp>
      <p:sp>
        <p:nvSpPr>
          <p:cNvPr id="1045" name="Rectangle 1044">
            <a:extLst>
              <a:ext uri="{FF2B5EF4-FFF2-40B4-BE49-F238E27FC236}">
                <a16:creationId xmlns:a16="http://schemas.microsoft.com/office/drawing/2014/main" id="{AEE38E82-11F9-232D-09B0-B053B541F4D1}"/>
              </a:ext>
            </a:extLst>
          </p:cNvPr>
          <p:cNvSpPr/>
          <p:nvPr/>
        </p:nvSpPr>
        <p:spPr>
          <a:xfrm>
            <a:off x="10387933" y="4586490"/>
            <a:ext cx="1307336" cy="47516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000" b="1"/>
              <a:t>LLM generates Response</a:t>
            </a:r>
          </a:p>
        </p:txBody>
      </p:sp>
      <p:cxnSp>
        <p:nvCxnSpPr>
          <p:cNvPr id="1050" name="Straight Arrow Connector 1049">
            <a:extLst>
              <a:ext uri="{FF2B5EF4-FFF2-40B4-BE49-F238E27FC236}">
                <a16:creationId xmlns:a16="http://schemas.microsoft.com/office/drawing/2014/main" id="{B054DA27-7806-4390-BF2E-98D6D82FE38D}"/>
              </a:ext>
            </a:extLst>
          </p:cNvPr>
          <p:cNvCxnSpPr>
            <a:stCxn id="1037" idx="2"/>
            <a:endCxn id="1039" idx="0"/>
          </p:cNvCxnSpPr>
          <p:nvPr/>
        </p:nvCxnSpPr>
        <p:spPr>
          <a:xfrm>
            <a:off x="11041601" y="2409629"/>
            <a:ext cx="0" cy="364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2" name="Straight Arrow Connector 1051">
            <a:extLst>
              <a:ext uri="{FF2B5EF4-FFF2-40B4-BE49-F238E27FC236}">
                <a16:creationId xmlns:a16="http://schemas.microsoft.com/office/drawing/2014/main" id="{6D814988-96F0-47C8-00FE-19C63A8FE7E8}"/>
              </a:ext>
            </a:extLst>
          </p:cNvPr>
          <p:cNvCxnSpPr>
            <a:stCxn id="1039" idx="2"/>
            <a:endCxn id="1041" idx="0"/>
          </p:cNvCxnSpPr>
          <p:nvPr/>
        </p:nvCxnSpPr>
        <p:spPr>
          <a:xfrm>
            <a:off x="11041601" y="3122507"/>
            <a:ext cx="0" cy="364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4" name="Straight Arrow Connector 1053">
            <a:extLst>
              <a:ext uri="{FF2B5EF4-FFF2-40B4-BE49-F238E27FC236}">
                <a16:creationId xmlns:a16="http://schemas.microsoft.com/office/drawing/2014/main" id="{F87EAF7C-64E5-6D87-2807-AACF444E8D88}"/>
              </a:ext>
            </a:extLst>
          </p:cNvPr>
          <p:cNvCxnSpPr>
            <a:stCxn id="1041" idx="2"/>
            <a:endCxn id="1043" idx="0"/>
          </p:cNvCxnSpPr>
          <p:nvPr/>
        </p:nvCxnSpPr>
        <p:spPr>
          <a:xfrm>
            <a:off x="11041601" y="3835385"/>
            <a:ext cx="0" cy="2015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6" name="Straight Arrow Connector 1055">
            <a:extLst>
              <a:ext uri="{FF2B5EF4-FFF2-40B4-BE49-F238E27FC236}">
                <a16:creationId xmlns:a16="http://schemas.microsoft.com/office/drawing/2014/main" id="{399090FB-1E29-018F-33C3-AADF7AFFE832}"/>
              </a:ext>
            </a:extLst>
          </p:cNvPr>
          <p:cNvCxnSpPr>
            <a:stCxn id="1043" idx="2"/>
            <a:endCxn id="1045" idx="0"/>
          </p:cNvCxnSpPr>
          <p:nvPr/>
        </p:nvCxnSpPr>
        <p:spPr>
          <a:xfrm>
            <a:off x="11041601" y="4384921"/>
            <a:ext cx="0" cy="2015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8" name="Connector: Elbow 1057">
            <a:extLst>
              <a:ext uri="{FF2B5EF4-FFF2-40B4-BE49-F238E27FC236}">
                <a16:creationId xmlns:a16="http://schemas.microsoft.com/office/drawing/2014/main" id="{0A80A9B0-7C37-5A6F-4B3B-B66DBBDA3EBC}"/>
              </a:ext>
            </a:extLst>
          </p:cNvPr>
          <p:cNvCxnSpPr>
            <a:stCxn id="1045" idx="3"/>
            <a:endCxn id="1039" idx="3"/>
          </p:cNvCxnSpPr>
          <p:nvPr/>
        </p:nvCxnSpPr>
        <p:spPr>
          <a:xfrm flipV="1">
            <a:off x="11695269" y="2948524"/>
            <a:ext cx="12700" cy="1875549"/>
          </a:xfrm>
          <a:prstGeom prst="bentConnector3">
            <a:avLst>
              <a:gd name="adj1" fmla="val 2348567"/>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66" name="Picture 30" descr="Microsoft Excel — Wikipédia">
            <a:extLst>
              <a:ext uri="{FF2B5EF4-FFF2-40B4-BE49-F238E27FC236}">
                <a16:creationId xmlns:a16="http://schemas.microsoft.com/office/drawing/2014/main" id="{D14523EE-AD91-3F5A-7B14-AC172AD9732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44965" y="5192377"/>
            <a:ext cx="374856" cy="347968"/>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32" descr="Sap Logo Transparent">
            <a:extLst>
              <a:ext uri="{FF2B5EF4-FFF2-40B4-BE49-F238E27FC236}">
                <a16:creationId xmlns:a16="http://schemas.microsoft.com/office/drawing/2014/main" id="{E7D5DF1C-0D67-7EB3-DF0F-9BA2D91EB871}"/>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5651" b="25868"/>
          <a:stretch/>
        </p:blipFill>
        <p:spPr bwMode="auto">
          <a:xfrm>
            <a:off x="2607394" y="5175218"/>
            <a:ext cx="753127" cy="365127"/>
          </a:xfrm>
          <a:prstGeom prst="rect">
            <a:avLst/>
          </a:prstGeom>
          <a:noFill/>
          <a:extLst>
            <a:ext uri="{909E8E84-426E-40DD-AFC4-6F175D3DCCD1}">
              <a14:hiddenFill xmlns:a14="http://schemas.microsoft.com/office/drawing/2010/main">
                <a:solidFill>
                  <a:srgbClr val="FFFFFF"/>
                </a:solidFill>
              </a14:hiddenFill>
            </a:ext>
          </a:extLst>
        </p:spPr>
      </p:pic>
      <p:cxnSp>
        <p:nvCxnSpPr>
          <p:cNvPr id="1070" name="Straight Arrow Connector 1069">
            <a:extLst>
              <a:ext uri="{FF2B5EF4-FFF2-40B4-BE49-F238E27FC236}">
                <a16:creationId xmlns:a16="http://schemas.microsoft.com/office/drawing/2014/main" id="{44C29608-2EFC-C352-E1D4-E1ABD21A2651}"/>
              </a:ext>
            </a:extLst>
          </p:cNvPr>
          <p:cNvCxnSpPr>
            <a:cxnSpLocks/>
          </p:cNvCxnSpPr>
          <p:nvPr/>
        </p:nvCxnSpPr>
        <p:spPr>
          <a:xfrm flipH="1">
            <a:off x="2255980" y="4868035"/>
            <a:ext cx="253890" cy="245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5" name="Straight Arrow Connector 1074">
            <a:extLst>
              <a:ext uri="{FF2B5EF4-FFF2-40B4-BE49-F238E27FC236}">
                <a16:creationId xmlns:a16="http://schemas.microsoft.com/office/drawing/2014/main" id="{A9276D09-8ADD-B387-7297-0FAD1F54057C}"/>
              </a:ext>
            </a:extLst>
          </p:cNvPr>
          <p:cNvCxnSpPr/>
          <p:nvPr/>
        </p:nvCxnSpPr>
        <p:spPr>
          <a:xfrm>
            <a:off x="2607394" y="4868035"/>
            <a:ext cx="205475" cy="245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77" name="Picture 34" descr="Databricks Logo, symbol, meaning, history, PNG, brand">
            <a:extLst>
              <a:ext uri="{FF2B5EF4-FFF2-40B4-BE49-F238E27FC236}">
                <a16:creationId xmlns:a16="http://schemas.microsoft.com/office/drawing/2014/main" id="{4191B788-F9DB-FC18-6C91-FDF0CE71671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44965" y="4088775"/>
            <a:ext cx="1247461" cy="7010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874B768-CC53-DEAD-A5FE-64BDA910EAB8}"/>
              </a:ext>
            </a:extLst>
          </p:cNvPr>
          <p:cNvSpPr txBox="1"/>
          <p:nvPr/>
        </p:nvSpPr>
        <p:spPr>
          <a:xfrm>
            <a:off x="1687452" y="1918252"/>
            <a:ext cx="1842172" cy="600164"/>
          </a:xfrm>
          <a:prstGeom prst="rect">
            <a:avLst/>
          </a:prstGeom>
          <a:noFill/>
        </p:spPr>
        <p:txBody>
          <a:bodyPr wrap="none" rtlCol="0">
            <a:spAutoFit/>
          </a:bodyPr>
          <a:lstStyle/>
          <a:p>
            <a:pPr algn="ctr"/>
            <a:r>
              <a:rPr lang="en-CA" sz="1100" b="1"/>
              <a:t>Currently:</a:t>
            </a:r>
          </a:p>
          <a:p>
            <a:pPr algn="ctr"/>
            <a:r>
              <a:rPr lang="en-CA" sz="1100"/>
              <a:t>Local Device,</a:t>
            </a:r>
          </a:p>
          <a:p>
            <a:pPr algn="ctr"/>
            <a:r>
              <a:rPr lang="en-CA" sz="1100"/>
              <a:t>Manually downloaded files</a:t>
            </a:r>
          </a:p>
        </p:txBody>
      </p:sp>
      <p:sp>
        <p:nvSpPr>
          <p:cNvPr id="3" name="TextBox 2">
            <a:extLst>
              <a:ext uri="{FF2B5EF4-FFF2-40B4-BE49-F238E27FC236}">
                <a16:creationId xmlns:a16="http://schemas.microsoft.com/office/drawing/2014/main" id="{2D99E459-B5B9-62E5-7A8D-77BE74C863A2}"/>
              </a:ext>
            </a:extLst>
          </p:cNvPr>
          <p:cNvSpPr txBox="1"/>
          <p:nvPr/>
        </p:nvSpPr>
        <p:spPr>
          <a:xfrm>
            <a:off x="2184497" y="2961042"/>
            <a:ext cx="833883" cy="261610"/>
          </a:xfrm>
          <a:prstGeom prst="rect">
            <a:avLst/>
          </a:prstGeom>
          <a:noFill/>
        </p:spPr>
        <p:txBody>
          <a:bodyPr wrap="none" rtlCol="0">
            <a:spAutoFit/>
          </a:bodyPr>
          <a:lstStyle/>
          <a:p>
            <a:pPr algn="ctr"/>
            <a:r>
              <a:rPr lang="en-CA" sz="1100" b="1"/>
              <a:t>In Future:</a:t>
            </a:r>
          </a:p>
        </p:txBody>
      </p:sp>
      <p:sp>
        <p:nvSpPr>
          <p:cNvPr id="18" name="TextBox 17">
            <a:extLst>
              <a:ext uri="{FF2B5EF4-FFF2-40B4-BE49-F238E27FC236}">
                <a16:creationId xmlns:a16="http://schemas.microsoft.com/office/drawing/2014/main" id="{5C034EA6-5B8A-6617-397E-382F4C1EE0AF}"/>
              </a:ext>
            </a:extLst>
          </p:cNvPr>
          <p:cNvSpPr txBox="1"/>
          <p:nvPr/>
        </p:nvSpPr>
        <p:spPr>
          <a:xfrm>
            <a:off x="5183689" y="1825968"/>
            <a:ext cx="1583544" cy="273152"/>
          </a:xfrm>
          <a:prstGeom prst="rect">
            <a:avLst/>
          </a:prstGeom>
          <a:noFill/>
        </p:spPr>
        <p:txBody>
          <a:bodyPr wrap="square">
            <a:spAutoFit/>
          </a:bodyPr>
          <a:lstStyle/>
          <a:p>
            <a:pPr algn="ctr">
              <a:lnSpc>
                <a:spcPts val="1425"/>
              </a:lnSpc>
            </a:pPr>
            <a:r>
              <a:rPr lang="en-CA" sz="1200" b="0">
                <a:solidFill>
                  <a:srgbClr val="CE9178"/>
                </a:solidFill>
                <a:effectLst/>
                <a:latin typeface="Consolas" panose="020B0609020204030204" pitchFamily="49" charset="0"/>
              </a:rPr>
              <a:t>all-MiniLM-L6-v2</a:t>
            </a:r>
            <a:endParaRPr lang="en-CA" sz="1200" b="0">
              <a:solidFill>
                <a:srgbClr val="FFFFFF"/>
              </a:solidFill>
              <a:effectLst/>
              <a:latin typeface="Consolas" panose="020B0609020204030204" pitchFamily="49" charset="0"/>
            </a:endParaRPr>
          </a:p>
        </p:txBody>
      </p:sp>
      <p:sp>
        <p:nvSpPr>
          <p:cNvPr id="19" name="TextBox 18">
            <a:extLst>
              <a:ext uri="{FF2B5EF4-FFF2-40B4-BE49-F238E27FC236}">
                <a16:creationId xmlns:a16="http://schemas.microsoft.com/office/drawing/2014/main" id="{BE2C38FC-DFE9-0F32-67E0-DB28891EE5FC}"/>
              </a:ext>
            </a:extLst>
          </p:cNvPr>
          <p:cNvSpPr txBox="1"/>
          <p:nvPr/>
        </p:nvSpPr>
        <p:spPr>
          <a:xfrm>
            <a:off x="3444370" y="2207895"/>
            <a:ext cx="1650137" cy="600164"/>
          </a:xfrm>
          <a:prstGeom prst="rect">
            <a:avLst/>
          </a:prstGeom>
          <a:noFill/>
        </p:spPr>
        <p:txBody>
          <a:bodyPr wrap="square" rtlCol="0">
            <a:spAutoFit/>
          </a:bodyPr>
          <a:lstStyle/>
          <a:p>
            <a:pPr algn="ctr"/>
            <a:r>
              <a:rPr lang="en-CA" sz="1100"/>
              <a:t>File format verification &amp; conversion to .txt</a:t>
            </a:r>
          </a:p>
          <a:p>
            <a:pPr algn="ctr"/>
            <a:r>
              <a:rPr lang="en-CA" sz="1100"/>
              <a:t>~ 15 MB</a:t>
            </a:r>
          </a:p>
        </p:txBody>
      </p:sp>
      <p:sp>
        <p:nvSpPr>
          <p:cNvPr id="21" name="TextBox 20">
            <a:extLst>
              <a:ext uri="{FF2B5EF4-FFF2-40B4-BE49-F238E27FC236}">
                <a16:creationId xmlns:a16="http://schemas.microsoft.com/office/drawing/2014/main" id="{8E34FF26-7C71-2065-35E7-B0A2AFCB3E9F}"/>
              </a:ext>
            </a:extLst>
          </p:cNvPr>
          <p:cNvSpPr txBox="1"/>
          <p:nvPr/>
        </p:nvSpPr>
        <p:spPr>
          <a:xfrm>
            <a:off x="3426911" y="3285193"/>
            <a:ext cx="1685054" cy="600164"/>
          </a:xfrm>
          <a:prstGeom prst="rect">
            <a:avLst/>
          </a:prstGeom>
          <a:noFill/>
        </p:spPr>
        <p:txBody>
          <a:bodyPr wrap="square" rtlCol="0">
            <a:spAutoFit/>
          </a:bodyPr>
          <a:lstStyle/>
          <a:p>
            <a:pPr algn="ctr"/>
            <a:r>
              <a:rPr lang="en-CA" sz="1100"/>
              <a:t>NLTK to tokenize,</a:t>
            </a:r>
          </a:p>
          <a:p>
            <a:pPr algn="ctr"/>
            <a:r>
              <a:rPr lang="en-CA" sz="1100"/>
              <a:t>chunk size: 512, overlap: 64</a:t>
            </a:r>
          </a:p>
        </p:txBody>
      </p:sp>
      <p:sp>
        <p:nvSpPr>
          <p:cNvPr id="22" name="TextBox 21">
            <a:extLst>
              <a:ext uri="{FF2B5EF4-FFF2-40B4-BE49-F238E27FC236}">
                <a16:creationId xmlns:a16="http://schemas.microsoft.com/office/drawing/2014/main" id="{D26ADD1C-6764-13DD-25AD-3405E1053CCC}"/>
              </a:ext>
            </a:extLst>
          </p:cNvPr>
          <p:cNvSpPr txBox="1"/>
          <p:nvPr/>
        </p:nvSpPr>
        <p:spPr>
          <a:xfrm>
            <a:off x="4953108" y="2043230"/>
            <a:ext cx="2044706" cy="369332"/>
          </a:xfrm>
          <a:prstGeom prst="rect">
            <a:avLst/>
          </a:prstGeom>
          <a:noFill/>
        </p:spPr>
        <p:txBody>
          <a:bodyPr wrap="square" rtlCol="0">
            <a:spAutoFit/>
          </a:bodyPr>
          <a:lstStyle/>
          <a:p>
            <a:pPr algn="ctr"/>
            <a:r>
              <a:rPr lang="sv-SE" sz="900"/>
              <a:t>Embedding Size: 384 dimensions</a:t>
            </a:r>
          </a:p>
          <a:p>
            <a:pPr algn="ctr"/>
            <a:r>
              <a:rPr lang="sv-SE" sz="900"/>
              <a:t>Max Tokens per Input: ~ 512 tokens</a:t>
            </a:r>
            <a:endParaRPr lang="en-CA" sz="900"/>
          </a:p>
        </p:txBody>
      </p:sp>
      <p:sp>
        <p:nvSpPr>
          <p:cNvPr id="29" name="TextBox 28">
            <a:extLst>
              <a:ext uri="{FF2B5EF4-FFF2-40B4-BE49-F238E27FC236}">
                <a16:creationId xmlns:a16="http://schemas.microsoft.com/office/drawing/2014/main" id="{B13FDDE3-27A1-9F3A-BC49-C6ADDA7EF2DE}"/>
              </a:ext>
            </a:extLst>
          </p:cNvPr>
          <p:cNvSpPr txBox="1"/>
          <p:nvPr/>
        </p:nvSpPr>
        <p:spPr>
          <a:xfrm>
            <a:off x="6904231" y="1823963"/>
            <a:ext cx="1723671" cy="630942"/>
          </a:xfrm>
          <a:prstGeom prst="rect">
            <a:avLst/>
          </a:prstGeom>
          <a:noFill/>
        </p:spPr>
        <p:txBody>
          <a:bodyPr wrap="square" anchor="ctr">
            <a:spAutoFit/>
          </a:bodyPr>
          <a:lstStyle/>
          <a:p>
            <a:pPr algn="ctr">
              <a:lnSpc>
                <a:spcPts val="1425"/>
              </a:lnSpc>
            </a:pPr>
            <a:r>
              <a:rPr lang="en-CA" sz="1200" b="1" dirty="0">
                <a:solidFill>
                  <a:srgbClr val="4EC9B0"/>
                </a:solidFill>
                <a:effectLst/>
                <a:latin typeface="Consolas" panose="020B0609020204030204" pitchFamily="49" charset="0"/>
              </a:rPr>
              <a:t>FAISS</a:t>
            </a:r>
          </a:p>
          <a:p>
            <a:pPr algn="ctr">
              <a:lnSpc>
                <a:spcPts val="1425"/>
              </a:lnSpc>
            </a:pPr>
            <a:r>
              <a:rPr lang="en-CA" sz="1000" dirty="0">
                <a:solidFill>
                  <a:srgbClr val="4EC9B0"/>
                </a:solidFill>
                <a:latin typeface="Consolas" panose="020B0609020204030204" pitchFamily="49" charset="0"/>
              </a:rPr>
              <a:t>(Facebook AI Similarity Search)</a:t>
            </a:r>
            <a:endParaRPr lang="en-CA" sz="1000" b="0" dirty="0">
              <a:solidFill>
                <a:srgbClr val="FFFFFF"/>
              </a:solidFill>
              <a:effectLst/>
              <a:latin typeface="Consolas" panose="020B0609020204030204" pitchFamily="49" charset="0"/>
            </a:endParaRPr>
          </a:p>
        </p:txBody>
      </p:sp>
      <p:sp>
        <p:nvSpPr>
          <p:cNvPr id="30" name="TextBox 29">
            <a:extLst>
              <a:ext uri="{FF2B5EF4-FFF2-40B4-BE49-F238E27FC236}">
                <a16:creationId xmlns:a16="http://schemas.microsoft.com/office/drawing/2014/main" id="{152128E7-B1F7-C077-FE0D-C2947F244A4D}"/>
              </a:ext>
            </a:extLst>
          </p:cNvPr>
          <p:cNvSpPr txBox="1"/>
          <p:nvPr/>
        </p:nvSpPr>
        <p:spPr>
          <a:xfrm>
            <a:off x="6940997" y="2468341"/>
            <a:ext cx="1650137" cy="369332"/>
          </a:xfrm>
          <a:prstGeom prst="rect">
            <a:avLst/>
          </a:prstGeom>
          <a:noFill/>
        </p:spPr>
        <p:txBody>
          <a:bodyPr wrap="square" rtlCol="0">
            <a:spAutoFit/>
          </a:bodyPr>
          <a:lstStyle/>
          <a:p>
            <a:pPr algn="ctr"/>
            <a:r>
              <a:rPr lang="en-CA" sz="900"/>
              <a:t>Index Type: </a:t>
            </a:r>
            <a:r>
              <a:rPr lang="en-CA" sz="900" err="1"/>
              <a:t>IndexHNSWFlat</a:t>
            </a:r>
            <a:endParaRPr lang="en-CA" sz="900"/>
          </a:p>
          <a:p>
            <a:pPr algn="ctr"/>
            <a:r>
              <a:rPr lang="en-CA" sz="900"/>
              <a:t>~ 8 MB</a:t>
            </a:r>
          </a:p>
        </p:txBody>
      </p:sp>
      <p:sp>
        <p:nvSpPr>
          <p:cNvPr id="1024" name="TextBox 1023">
            <a:extLst>
              <a:ext uri="{FF2B5EF4-FFF2-40B4-BE49-F238E27FC236}">
                <a16:creationId xmlns:a16="http://schemas.microsoft.com/office/drawing/2014/main" id="{728BC941-2A07-23FC-A43E-C9D574923447}"/>
              </a:ext>
            </a:extLst>
          </p:cNvPr>
          <p:cNvSpPr txBox="1"/>
          <p:nvPr/>
        </p:nvSpPr>
        <p:spPr>
          <a:xfrm>
            <a:off x="43543" y="3706759"/>
            <a:ext cx="1650137" cy="261610"/>
          </a:xfrm>
          <a:prstGeom prst="rect">
            <a:avLst/>
          </a:prstGeom>
          <a:noFill/>
        </p:spPr>
        <p:txBody>
          <a:bodyPr wrap="square" rtlCol="0">
            <a:spAutoFit/>
          </a:bodyPr>
          <a:lstStyle/>
          <a:p>
            <a:pPr algn="ctr"/>
            <a:r>
              <a:rPr lang="en-CA" sz="1100"/>
              <a:t>Data Size: ~ 250 MB</a:t>
            </a:r>
          </a:p>
        </p:txBody>
      </p:sp>
      <p:sp>
        <p:nvSpPr>
          <p:cNvPr id="1027" name="TextBox 1026">
            <a:extLst>
              <a:ext uri="{FF2B5EF4-FFF2-40B4-BE49-F238E27FC236}">
                <a16:creationId xmlns:a16="http://schemas.microsoft.com/office/drawing/2014/main" id="{25D1F9A1-7243-37FD-1117-25EA8909BE8E}"/>
              </a:ext>
            </a:extLst>
          </p:cNvPr>
          <p:cNvSpPr txBox="1"/>
          <p:nvPr/>
        </p:nvSpPr>
        <p:spPr>
          <a:xfrm>
            <a:off x="3511839" y="4406848"/>
            <a:ext cx="1510748" cy="253916"/>
          </a:xfrm>
          <a:prstGeom prst="rect">
            <a:avLst/>
          </a:prstGeom>
          <a:noFill/>
        </p:spPr>
        <p:txBody>
          <a:bodyPr wrap="square">
            <a:spAutoFit/>
          </a:bodyPr>
          <a:lstStyle/>
          <a:p>
            <a:pPr algn="ctr"/>
            <a:r>
              <a:rPr lang="en-CA" sz="1050"/>
              <a:t>~ 15 MB</a:t>
            </a:r>
          </a:p>
        </p:txBody>
      </p:sp>
      <p:sp>
        <p:nvSpPr>
          <p:cNvPr id="1029" name="TextBox 1028">
            <a:extLst>
              <a:ext uri="{FF2B5EF4-FFF2-40B4-BE49-F238E27FC236}">
                <a16:creationId xmlns:a16="http://schemas.microsoft.com/office/drawing/2014/main" id="{1F9D48A1-302C-5E67-AD3F-CCEDF0282A97}"/>
              </a:ext>
            </a:extLst>
          </p:cNvPr>
          <p:cNvSpPr txBox="1"/>
          <p:nvPr/>
        </p:nvSpPr>
        <p:spPr>
          <a:xfrm>
            <a:off x="8512558" y="2316323"/>
            <a:ext cx="1838607" cy="507831"/>
          </a:xfrm>
          <a:prstGeom prst="rect">
            <a:avLst/>
          </a:prstGeom>
          <a:noFill/>
        </p:spPr>
        <p:txBody>
          <a:bodyPr wrap="square" rtlCol="0">
            <a:spAutoFit/>
          </a:bodyPr>
          <a:lstStyle/>
          <a:p>
            <a:pPr algn="ctr"/>
            <a:r>
              <a:rPr lang="en-CA" sz="900" dirty="0"/>
              <a:t>Mistral-7B-Instruct-v0.2</a:t>
            </a:r>
          </a:p>
          <a:p>
            <a:pPr algn="ctr"/>
            <a:r>
              <a:rPr lang="en-CA" sz="900" dirty="0"/>
              <a:t>7 Billion parameters</a:t>
            </a:r>
          </a:p>
          <a:p>
            <a:pPr algn="ctr"/>
            <a:r>
              <a:rPr lang="en-CA" sz="900" dirty="0"/>
              <a:t>Context Window: 32,768 tokens</a:t>
            </a:r>
          </a:p>
        </p:txBody>
      </p:sp>
      <p:sp>
        <p:nvSpPr>
          <p:cNvPr id="1031" name="Content Placeholder 2">
            <a:extLst>
              <a:ext uri="{FF2B5EF4-FFF2-40B4-BE49-F238E27FC236}">
                <a16:creationId xmlns:a16="http://schemas.microsoft.com/office/drawing/2014/main" id="{7C56CA3B-C137-1D96-5F80-6E1EFCBF6254}"/>
              </a:ext>
            </a:extLst>
          </p:cNvPr>
          <p:cNvSpPr>
            <a:spLocks noGrp="1"/>
          </p:cNvSpPr>
          <p:nvPr>
            <p:ph idx="1"/>
          </p:nvPr>
        </p:nvSpPr>
        <p:spPr>
          <a:xfrm>
            <a:off x="6963910" y="2938518"/>
            <a:ext cx="1604310" cy="438356"/>
          </a:xfrm>
        </p:spPr>
        <p:txBody>
          <a:bodyPr anchor="ctr"/>
          <a:lstStyle/>
          <a:p>
            <a:pPr algn="ctr">
              <a:lnSpc>
                <a:spcPct val="100000"/>
              </a:lnSpc>
              <a:spcBef>
                <a:spcPts val="0"/>
              </a:spcBef>
              <a:spcAft>
                <a:spcPts val="0"/>
              </a:spcAft>
            </a:pPr>
            <a:r>
              <a:rPr lang="en-CA" sz="1100" dirty="0">
                <a:latin typeface="Consolas" panose="020B0609020204030204" pitchFamily="49" charset="0"/>
              </a:rPr>
              <a:t>flan-t5-small</a:t>
            </a:r>
          </a:p>
          <a:p>
            <a:pPr algn="ctr">
              <a:lnSpc>
                <a:spcPct val="100000"/>
              </a:lnSpc>
              <a:spcBef>
                <a:spcPts val="0"/>
              </a:spcBef>
              <a:spcAft>
                <a:spcPts val="0"/>
              </a:spcAft>
            </a:pPr>
            <a:r>
              <a:rPr lang="en-CA" sz="1100" b="0" dirty="0"/>
              <a:t>80M Parameters</a:t>
            </a:r>
          </a:p>
        </p:txBody>
      </p:sp>
      <p:sp>
        <p:nvSpPr>
          <p:cNvPr id="1032" name="Content Placeholder 2">
            <a:extLst>
              <a:ext uri="{FF2B5EF4-FFF2-40B4-BE49-F238E27FC236}">
                <a16:creationId xmlns:a16="http://schemas.microsoft.com/office/drawing/2014/main" id="{4D9CD557-2872-74BF-B1EB-59AF4AF89B43}"/>
              </a:ext>
            </a:extLst>
          </p:cNvPr>
          <p:cNvSpPr txBox="1">
            <a:spLocks/>
          </p:cNvSpPr>
          <p:nvPr/>
        </p:nvSpPr>
        <p:spPr>
          <a:xfrm>
            <a:off x="6777326" y="3492167"/>
            <a:ext cx="1977478" cy="274908"/>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spcAft>
                <a:spcPts val="400"/>
              </a:spcAft>
              <a:buFontTx/>
              <a:buNone/>
              <a:defRPr sz="2800" b="1" kern="1200">
                <a:solidFill>
                  <a:schemeClr val="tx1"/>
                </a:solidFill>
                <a:latin typeface="+mn-lt"/>
                <a:ea typeface="+mn-ea"/>
                <a:cs typeface="+mn-cs"/>
              </a:defRPr>
            </a:lvl1pPr>
            <a:lvl2pPr marL="2857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2pPr>
            <a:lvl3pPr marL="6350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3pPr>
            <a:lvl4pPr marL="971550" indent="-285750"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4pPr>
            <a:lvl5pPr marL="1320800" indent="-287338" algn="l" defTabSz="914400" rtl="0" eaLnBrk="1" latinLnBrk="0" hangingPunct="1">
              <a:lnSpc>
                <a:spcPct val="90000"/>
              </a:lnSpc>
              <a:spcBef>
                <a:spcPts val="500"/>
              </a:spcBef>
              <a:spcAft>
                <a:spcPts val="400"/>
              </a:spcAft>
              <a:buClr>
                <a:schemeClr val="tx2"/>
              </a:buClr>
              <a:buSzPct val="60000"/>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spcAft>
                <a:spcPts val="0"/>
              </a:spcAft>
            </a:pPr>
            <a:r>
              <a:rPr lang="en-CA" sz="1100">
                <a:latin typeface="Consolas" panose="020B0609020204030204" pitchFamily="49" charset="0"/>
              </a:rPr>
              <a:t>ms-marco-MiniLM-L6-en</a:t>
            </a:r>
            <a:endParaRPr lang="en-CA" sz="1050">
              <a:latin typeface="Consolas" panose="020B0609020204030204" pitchFamily="49" charset="0"/>
            </a:endParaRPr>
          </a:p>
        </p:txBody>
      </p:sp>
      <p:pic>
        <p:nvPicPr>
          <p:cNvPr id="7" name="Picture 2">
            <a:extLst>
              <a:ext uri="{FF2B5EF4-FFF2-40B4-BE49-F238E27FC236}">
                <a16:creationId xmlns:a16="http://schemas.microsoft.com/office/drawing/2014/main" id="{6EE31265-CDBE-0251-4EE4-E4A3C0525AE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520407" y="5186940"/>
            <a:ext cx="1042387" cy="1923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ml Css Javascript Logo">
            <a:extLst>
              <a:ext uri="{FF2B5EF4-FFF2-40B4-BE49-F238E27FC236}">
                <a16:creationId xmlns:a16="http://schemas.microsoft.com/office/drawing/2014/main" id="{DC8C6078-B21A-9E45-7709-332573571B13}"/>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24914" t="9443" r="25718" b="14268"/>
          <a:stretch/>
        </p:blipFill>
        <p:spPr bwMode="auto">
          <a:xfrm>
            <a:off x="10520407" y="5463936"/>
            <a:ext cx="1166191" cy="929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831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FB1874-91D9-3627-FDF6-245F17C336F0}"/>
              </a:ext>
            </a:extLst>
          </p:cNvPr>
          <p:cNvSpPr>
            <a:spLocks noGrp="1"/>
          </p:cNvSpPr>
          <p:nvPr>
            <p:ph type="body" sz="quarter" idx="13"/>
          </p:nvPr>
        </p:nvSpPr>
        <p:spPr>
          <a:xfrm>
            <a:off x="685800" y="1275805"/>
            <a:ext cx="10829543" cy="2107096"/>
          </a:xfrm>
        </p:spPr>
        <p:txBody>
          <a:bodyPr/>
          <a:lstStyle/>
          <a:p>
            <a:pPr>
              <a:spcAft>
                <a:spcPts val="1200"/>
              </a:spcAft>
            </a:pPr>
            <a:r>
              <a:rPr lang="en-CA" sz="1800" dirty="0"/>
              <a:t>The user will be informed with a disclaimer at the bottom of the tool page at all times about not uploading any sensitive/restricted information.​</a:t>
            </a:r>
          </a:p>
          <a:p>
            <a:pPr>
              <a:spcAft>
                <a:spcPts val="1200"/>
              </a:spcAft>
            </a:pPr>
            <a:r>
              <a:rPr lang="en-CA" sz="1800" dirty="0"/>
              <a:t>The tool only saves responses rated by the user (user is prompted to confirm if they want to submit the ratings &amp; informed that it may be used for training purposes), and not all responses generated.​</a:t>
            </a:r>
          </a:p>
          <a:p>
            <a:pPr>
              <a:spcAft>
                <a:spcPts val="1200"/>
              </a:spcAft>
            </a:pPr>
            <a:r>
              <a:rPr lang="en-CA" sz="1800" dirty="0"/>
              <a:t>The LLMs inherently do not generate any response for any restricted questions that violate sensitive content violations. ​</a:t>
            </a:r>
          </a:p>
        </p:txBody>
      </p:sp>
      <p:sp>
        <p:nvSpPr>
          <p:cNvPr id="3" name="Title 2">
            <a:extLst>
              <a:ext uri="{FF2B5EF4-FFF2-40B4-BE49-F238E27FC236}">
                <a16:creationId xmlns:a16="http://schemas.microsoft.com/office/drawing/2014/main" id="{D014C8C0-5F19-DEB3-99FE-012B07255D97}"/>
              </a:ext>
            </a:extLst>
          </p:cNvPr>
          <p:cNvSpPr>
            <a:spLocks noGrp="1"/>
          </p:cNvSpPr>
          <p:nvPr>
            <p:ph type="title"/>
          </p:nvPr>
        </p:nvSpPr>
        <p:spPr/>
        <p:txBody>
          <a:bodyPr/>
          <a:lstStyle/>
          <a:p>
            <a:r>
              <a:rPr lang="en-CA" dirty="0"/>
              <a:t>Data input regulation and governance ​</a:t>
            </a:r>
          </a:p>
        </p:txBody>
      </p:sp>
      <p:sp>
        <p:nvSpPr>
          <p:cNvPr id="5" name="Slide Number Placeholder 4">
            <a:extLst>
              <a:ext uri="{FF2B5EF4-FFF2-40B4-BE49-F238E27FC236}">
                <a16:creationId xmlns:a16="http://schemas.microsoft.com/office/drawing/2014/main" id="{F462EFE7-5337-4F38-5021-8F4E9E985A49}"/>
              </a:ext>
            </a:extLst>
          </p:cNvPr>
          <p:cNvSpPr>
            <a:spLocks noGrp="1"/>
          </p:cNvSpPr>
          <p:nvPr>
            <p:ph type="sldNum" sz="quarter" idx="4"/>
          </p:nvPr>
        </p:nvSpPr>
        <p:spPr/>
        <p:txBody>
          <a:bodyPr/>
          <a:lstStyle/>
          <a:p>
            <a:fld id="{07165E6F-54ED-4977-A15E-D44BE7238A65}" type="slidenum">
              <a:rPr lang="en-US" smtClean="0"/>
              <a:pPr/>
              <a:t>14</a:t>
            </a:fld>
            <a:endParaRPr lang="en-US"/>
          </a:p>
        </p:txBody>
      </p:sp>
      <p:sp>
        <p:nvSpPr>
          <p:cNvPr id="6" name="Footer Placeholder 5">
            <a:extLst>
              <a:ext uri="{FF2B5EF4-FFF2-40B4-BE49-F238E27FC236}">
                <a16:creationId xmlns:a16="http://schemas.microsoft.com/office/drawing/2014/main" id="{E071EB33-5061-DC28-F16A-B3B4F1AA59D6}"/>
              </a:ext>
            </a:extLst>
          </p:cNvPr>
          <p:cNvSpPr>
            <a:spLocks noGrp="1"/>
          </p:cNvSpPr>
          <p:nvPr>
            <p:ph type="ftr" sz="quarter" idx="3"/>
          </p:nvPr>
        </p:nvSpPr>
        <p:spPr/>
        <p:txBody>
          <a:bodyPr/>
          <a:lstStyle/>
          <a:p>
            <a:r>
              <a:rPr lang="en-US"/>
              <a:t>EXPORT MARKING: (Insert Export Marking) [TO CHANGE GO TO INSERT &gt; HEADER &amp; FOOTER] </a:t>
            </a:r>
          </a:p>
        </p:txBody>
      </p:sp>
      <p:sp>
        <p:nvSpPr>
          <p:cNvPr id="9" name="TextBox 7">
            <a:extLst>
              <a:ext uri="{FF2B5EF4-FFF2-40B4-BE49-F238E27FC236}">
                <a16:creationId xmlns:a16="http://schemas.microsoft.com/office/drawing/2014/main" id="{4B01F887-58CB-3BB8-014E-24B53F6CFEFC}"/>
              </a:ext>
            </a:extLst>
          </p:cNvPr>
          <p:cNvSpPr txBox="1"/>
          <p:nvPr/>
        </p:nvSpPr>
        <p:spPr>
          <a:xfrm>
            <a:off x="1373431" y="3662212"/>
            <a:ext cx="9445138" cy="224676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000" b="0" i="0">
                <a:solidFill>
                  <a:srgbClr val="242424"/>
                </a:solidFill>
                <a:effectLst/>
                <a:latin typeface="Cascadia Mono" panose="020B0609020000020004" pitchFamily="49" charset="0"/>
              </a:rPr>
              <a:t>## Understanding Your Request</a:t>
            </a:r>
            <a:br>
              <a:rPr lang="en-CA" sz="1000"/>
            </a:br>
            <a:br>
              <a:rPr lang="en-CA" sz="1000"/>
            </a:br>
            <a:r>
              <a:rPr lang="en-CA" sz="1000" b="0" i="0">
                <a:solidFill>
                  <a:srgbClr val="242424"/>
                </a:solidFill>
                <a:effectLst/>
                <a:latin typeface="Cascadia Mono" panose="020B0609020000020004" pitchFamily="49" charset="0"/>
              </a:rPr>
              <a:t>- It appears you're expressing strong emotional desires towards me.</a:t>
            </a:r>
            <a:br>
              <a:rPr lang="en-CA" sz="1000"/>
            </a:br>
            <a:r>
              <a:rPr lang="en-CA" sz="1000" b="0" i="0">
                <a:solidFill>
                  <a:srgbClr val="242424"/>
                </a:solidFill>
                <a:effectLst/>
                <a:latin typeface="Cascadia Mono" panose="020B0609020000020004" pitchFamily="49" charset="0"/>
              </a:rPr>
              <a:t>- I'm here to help answer questions and provide guidance related to Operations Program Management at Pratt &amp; Whitney Canada.</a:t>
            </a:r>
            <a:br>
              <a:rPr lang="en-CA" sz="1000"/>
            </a:br>
            <a:br>
              <a:rPr lang="en-CA" sz="1000"/>
            </a:br>
            <a:r>
              <a:rPr lang="en-CA" sz="1000" b="0" i="0">
                <a:solidFill>
                  <a:srgbClr val="242424"/>
                </a:solidFill>
                <a:effectLst/>
                <a:latin typeface="Cascadia Mono" panose="020B0609020000020004" pitchFamily="49" charset="0"/>
              </a:rPr>
              <a:t>## Response</a:t>
            </a:r>
            <a:br>
              <a:rPr lang="en-CA" sz="1000"/>
            </a:br>
            <a:br>
              <a:rPr lang="en-CA" sz="1000"/>
            </a:br>
            <a:r>
              <a:rPr lang="en-CA" sz="1000" b="0" i="0">
                <a:solidFill>
                  <a:srgbClr val="242424"/>
                </a:solidFill>
                <a:effectLst/>
                <a:latin typeface="Cascadia Mono" panose="020B0609020000020004" pitchFamily="49" charset="0"/>
              </a:rPr>
              <a:t>- Your request does not align with my purpose or capabilities.</a:t>
            </a:r>
            <a:br>
              <a:rPr lang="en-CA" sz="1000"/>
            </a:br>
            <a:r>
              <a:rPr lang="en-CA" sz="1000" b="0" i="0">
                <a:solidFill>
                  <a:srgbClr val="242424"/>
                </a:solidFill>
                <a:effectLst/>
                <a:latin typeface="Cascadia Mono" panose="020B0609020000020004" pitchFamily="49" charset="0"/>
              </a:rPr>
              <a:t>- I cannot fulfill the request you've made.</a:t>
            </a:r>
            <a:br>
              <a:rPr lang="en-CA" sz="1000"/>
            </a:br>
            <a:r>
              <a:rPr lang="en-CA" sz="1000" b="0" i="0">
                <a:solidFill>
                  <a:srgbClr val="242424"/>
                </a:solidFill>
                <a:effectLst/>
                <a:latin typeface="Cascadia Mono" panose="020B0609020000020004" pitchFamily="49" charset="0"/>
              </a:rPr>
              <a:t>- I'm here to help with any Operations Program Management inquiries or issues you might have.</a:t>
            </a:r>
            <a:br>
              <a:rPr lang="en-CA" sz="1000"/>
            </a:br>
            <a:br>
              <a:rPr lang="en-CA" sz="1000"/>
            </a:br>
            <a:r>
              <a:rPr lang="en-CA" sz="1000" b="0" i="0">
                <a:solidFill>
                  <a:srgbClr val="242424"/>
                </a:solidFill>
                <a:effectLst/>
                <a:latin typeface="Cascadia Mono" panose="020B0609020000020004" pitchFamily="49" charset="0"/>
              </a:rPr>
              <a:t>## Conclusion</a:t>
            </a:r>
            <a:br>
              <a:rPr lang="en-CA" sz="1000"/>
            </a:br>
            <a:br>
              <a:rPr lang="en-CA" sz="1000"/>
            </a:br>
            <a:r>
              <a:rPr lang="en-CA" sz="1000" b="0" i="0">
                <a:solidFill>
                  <a:srgbClr val="242424"/>
                </a:solidFill>
                <a:effectLst/>
                <a:latin typeface="Cascadia Mono" panose="020B0609020000020004" pitchFamily="49" charset="0"/>
              </a:rPr>
              <a:t>Is there anything else you'd like help with?</a:t>
            </a:r>
            <a:endParaRPr lang="en-CA" sz="1000"/>
          </a:p>
        </p:txBody>
      </p:sp>
    </p:spTree>
    <p:extLst>
      <p:ext uri="{BB962C8B-B14F-4D97-AF65-F5344CB8AC3E}">
        <p14:creationId xmlns:p14="http://schemas.microsoft.com/office/powerpoint/2010/main" val="2224580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7643D-DAA8-43E3-ED47-2A1A0672C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52FEE-6C8A-8274-C4CC-41D7E8EF33A3}"/>
              </a:ext>
            </a:extLst>
          </p:cNvPr>
          <p:cNvSpPr>
            <a:spLocks noGrp="1"/>
          </p:cNvSpPr>
          <p:nvPr>
            <p:ph type="title"/>
          </p:nvPr>
        </p:nvSpPr>
        <p:spPr/>
        <p:txBody>
          <a:bodyPr anchor="ctr"/>
          <a:lstStyle/>
          <a:p>
            <a:r>
              <a:rPr lang="en-CA"/>
              <a:t>Models Used</a:t>
            </a:r>
          </a:p>
        </p:txBody>
      </p:sp>
      <p:sp>
        <p:nvSpPr>
          <p:cNvPr id="4" name="Slide Number Placeholder 3">
            <a:extLst>
              <a:ext uri="{FF2B5EF4-FFF2-40B4-BE49-F238E27FC236}">
                <a16:creationId xmlns:a16="http://schemas.microsoft.com/office/drawing/2014/main" id="{CB2FD9F6-D21C-4801-7121-7D4E11EAAEA3}"/>
              </a:ext>
            </a:extLst>
          </p:cNvPr>
          <p:cNvSpPr>
            <a:spLocks noGrp="1"/>
          </p:cNvSpPr>
          <p:nvPr>
            <p:ph type="sldNum" sz="quarter" idx="4"/>
          </p:nvPr>
        </p:nvSpPr>
        <p:spPr/>
        <p:txBody>
          <a:bodyPr/>
          <a:lstStyle/>
          <a:p>
            <a:fld id="{A7EBF19F-9143-0D43-8AAF-A18B95D0386D}" type="slidenum">
              <a:rPr lang="en-US" smtClean="0"/>
              <a:pPr/>
              <a:t>15</a:t>
            </a:fld>
            <a:endParaRPr lang="en-US"/>
          </a:p>
        </p:txBody>
      </p:sp>
      <p:sp>
        <p:nvSpPr>
          <p:cNvPr id="5" name="Footer Placeholder 4">
            <a:extLst>
              <a:ext uri="{FF2B5EF4-FFF2-40B4-BE49-F238E27FC236}">
                <a16:creationId xmlns:a16="http://schemas.microsoft.com/office/drawing/2014/main" id="{2486A27A-5351-3224-98BB-97CF98E59DDA}"/>
              </a:ext>
            </a:extLst>
          </p:cNvPr>
          <p:cNvSpPr>
            <a:spLocks noGrp="1"/>
          </p:cNvSpPr>
          <p:nvPr>
            <p:ph type="ftr" sz="quarter" idx="3"/>
          </p:nvPr>
        </p:nvSpPr>
        <p:spPr/>
        <p:txBody>
          <a:bodyPr/>
          <a:lstStyle/>
          <a:p>
            <a:r>
              <a:rPr lang="en-US"/>
              <a:t>EXPORT MARKING: INTERN'S PRESENTATION</a:t>
            </a:r>
          </a:p>
        </p:txBody>
      </p:sp>
      <p:sp>
        <p:nvSpPr>
          <p:cNvPr id="6" name="Date Placeholder 5">
            <a:extLst>
              <a:ext uri="{FF2B5EF4-FFF2-40B4-BE49-F238E27FC236}">
                <a16:creationId xmlns:a16="http://schemas.microsoft.com/office/drawing/2014/main" id="{439657F5-A1A1-16F1-9212-6ADEB2B7A94C}"/>
              </a:ext>
            </a:extLst>
          </p:cNvPr>
          <p:cNvSpPr>
            <a:spLocks noGrp="1"/>
          </p:cNvSpPr>
          <p:nvPr>
            <p:ph type="dt" sz="half" idx="2"/>
          </p:nvPr>
        </p:nvSpPr>
        <p:spPr/>
        <p:txBody>
          <a:bodyPr/>
          <a:lstStyle/>
          <a:p>
            <a:r>
              <a:rPr lang="en-US"/>
              <a:t>PRATT &amp; WHITNEY CANADA PROPRIETARY     |    © </a:t>
            </a:r>
            <a:fld id="{7674C25C-9FE0-47D4-8031-5B4D704AC308}" type="datetimeyyyy">
              <a:rPr lang="en-US" smtClean="0"/>
              <a:t>2026</a:t>
            </a:fld>
            <a:r>
              <a:rPr lang="en-US"/>
              <a:t> PRATT &amp; WHITNEY</a:t>
            </a:r>
          </a:p>
          <a:p>
            <a:endParaRPr lang="en-US"/>
          </a:p>
        </p:txBody>
      </p:sp>
      <p:graphicFrame>
        <p:nvGraphicFramePr>
          <p:cNvPr id="7" name="Table 6">
            <a:extLst>
              <a:ext uri="{FF2B5EF4-FFF2-40B4-BE49-F238E27FC236}">
                <a16:creationId xmlns:a16="http://schemas.microsoft.com/office/drawing/2014/main" id="{923B1383-98B4-206D-C19B-CF6102CFBAA2}"/>
              </a:ext>
            </a:extLst>
          </p:cNvPr>
          <p:cNvGraphicFramePr>
            <a:graphicFrameLocks noGrp="1"/>
          </p:cNvGraphicFramePr>
          <p:nvPr>
            <p:extLst>
              <p:ext uri="{D42A27DB-BD31-4B8C-83A1-F6EECF244321}">
                <p14:modId xmlns:p14="http://schemas.microsoft.com/office/powerpoint/2010/main" val="2957240936"/>
              </p:ext>
            </p:extLst>
          </p:nvPr>
        </p:nvGraphicFramePr>
        <p:xfrm>
          <a:off x="890796" y="1519088"/>
          <a:ext cx="8984724" cy="2651760"/>
        </p:xfrm>
        <a:graphic>
          <a:graphicData uri="http://schemas.openxmlformats.org/drawingml/2006/table">
            <a:tbl>
              <a:tblPr firstRow="1" bandRow="1">
                <a:tableStyleId>{F5AB1C69-6EDB-4FF4-983F-18BD219EF322}</a:tableStyleId>
              </a:tblPr>
              <a:tblGrid>
                <a:gridCol w="2285641">
                  <a:extLst>
                    <a:ext uri="{9D8B030D-6E8A-4147-A177-3AD203B41FA5}">
                      <a16:colId xmlns:a16="http://schemas.microsoft.com/office/drawing/2014/main" val="4010391971"/>
                    </a:ext>
                  </a:extLst>
                </a:gridCol>
                <a:gridCol w="6699083">
                  <a:extLst>
                    <a:ext uri="{9D8B030D-6E8A-4147-A177-3AD203B41FA5}">
                      <a16:colId xmlns:a16="http://schemas.microsoft.com/office/drawing/2014/main" val="4249649255"/>
                    </a:ext>
                  </a:extLst>
                </a:gridCol>
              </a:tblGrid>
              <a:tr h="253117">
                <a:tc>
                  <a:txBody>
                    <a:bodyPr/>
                    <a:lstStyle/>
                    <a:p>
                      <a:r>
                        <a:rPr lang="en-CA" sz="1600"/>
                        <a:t>Model</a:t>
                      </a:r>
                    </a:p>
                  </a:txBody>
                  <a:tcPr/>
                </a:tc>
                <a:tc>
                  <a:txBody>
                    <a:bodyPr/>
                    <a:lstStyle/>
                    <a:p>
                      <a:r>
                        <a:rPr lang="en-CA" sz="1600"/>
                        <a:t>Purpose</a:t>
                      </a:r>
                      <a:endParaRPr lang="en-CA" sz="1400"/>
                    </a:p>
                  </a:txBody>
                  <a:tcPr/>
                </a:tc>
                <a:extLst>
                  <a:ext uri="{0D108BD9-81ED-4DB2-BD59-A6C34878D82A}">
                    <a16:rowId xmlns:a16="http://schemas.microsoft.com/office/drawing/2014/main" val="451241893"/>
                  </a:ext>
                </a:extLst>
              </a:tr>
              <a:tr h="253117">
                <a:tc>
                  <a:txBody>
                    <a:bodyPr/>
                    <a:lstStyle/>
                    <a:p>
                      <a:r>
                        <a:rPr lang="en-CA" sz="1600"/>
                        <a:t>Mistral-7B-Instruct-v0.2</a:t>
                      </a:r>
                    </a:p>
                  </a:txBody>
                  <a:tcPr/>
                </a:tc>
                <a:tc>
                  <a:txBody>
                    <a:bodyPr/>
                    <a:lstStyle/>
                    <a:p>
                      <a:r>
                        <a:rPr lang="en-CA" sz="1600"/>
                        <a:t>The main Large Language Model (LLM) used for generating high-quality, structured, and professional responses based on retrieved context.</a:t>
                      </a:r>
                    </a:p>
                  </a:txBody>
                  <a:tcPr/>
                </a:tc>
                <a:extLst>
                  <a:ext uri="{0D108BD9-81ED-4DB2-BD59-A6C34878D82A}">
                    <a16:rowId xmlns:a16="http://schemas.microsoft.com/office/drawing/2014/main" val="3334341422"/>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600" b="0" kern="1200">
                          <a:solidFill>
                            <a:schemeClr val="dk1"/>
                          </a:solidFill>
                          <a:effectLst/>
                        </a:rPr>
                        <a:t>all-MiniLM-L6-v2</a:t>
                      </a:r>
                      <a:endParaRPr lang="en-CA" sz="1600" b="0" kern="1200">
                        <a:solidFill>
                          <a:schemeClr val="dk1"/>
                        </a:solidFill>
                        <a:effectLst/>
                        <a:latin typeface="+mn-lt"/>
                        <a:ea typeface="+mn-ea"/>
                        <a:cs typeface="+mn-cs"/>
                      </a:endParaRPr>
                    </a:p>
                  </a:txBody>
                  <a:tcPr/>
                </a:tc>
                <a:tc>
                  <a:txBody>
                    <a:bodyPr/>
                    <a:lstStyle/>
                    <a:p>
                      <a:r>
                        <a:rPr lang="en-CA" sz="1600"/>
                        <a:t>Lightweight sentence embedding model used for vectorizing document chunks and user queries during retrieval.</a:t>
                      </a:r>
                    </a:p>
                  </a:txBody>
                  <a:tcPr/>
                </a:tc>
                <a:extLst>
                  <a:ext uri="{0D108BD9-81ED-4DB2-BD59-A6C34878D82A}">
                    <a16:rowId xmlns:a16="http://schemas.microsoft.com/office/drawing/2014/main" val="3197186456"/>
                  </a:ext>
                </a:extLst>
              </a:tr>
              <a:tr h="253117">
                <a:tc>
                  <a:txBody>
                    <a:bodyPr/>
                    <a:lstStyle/>
                    <a:p>
                      <a:r>
                        <a:rPr lang="en-CA" sz="1600"/>
                        <a:t>ms-marco-MiniLM-L6-en</a:t>
                      </a:r>
                    </a:p>
                  </a:txBody>
                  <a:tcPr/>
                </a:tc>
                <a:tc>
                  <a:txBody>
                    <a:bodyPr/>
                    <a:lstStyle/>
                    <a:p>
                      <a:r>
                        <a:rPr lang="en-CA" sz="1600"/>
                        <a:t>Dense retriever model fine-tuned for semantic search and ranking of chunks based on relevance.</a:t>
                      </a:r>
                    </a:p>
                  </a:txBody>
                  <a:tcPr/>
                </a:tc>
                <a:extLst>
                  <a:ext uri="{0D108BD9-81ED-4DB2-BD59-A6C34878D82A}">
                    <a16:rowId xmlns:a16="http://schemas.microsoft.com/office/drawing/2014/main" val="730655265"/>
                  </a:ext>
                </a:extLst>
              </a:tr>
              <a:tr h="253117">
                <a:tc>
                  <a:txBody>
                    <a:bodyPr/>
                    <a:lstStyle/>
                    <a:p>
                      <a:r>
                        <a:rPr lang="en-CA" sz="1600"/>
                        <a:t>flan-t5-small</a:t>
                      </a:r>
                    </a:p>
                  </a:txBody>
                  <a:tcPr/>
                </a:tc>
                <a:tc>
                  <a:txBody>
                    <a:bodyPr/>
                    <a:lstStyle/>
                    <a:p>
                      <a:r>
                        <a:rPr lang="en-CA" sz="1600" dirty="0"/>
                        <a:t>Compact instruction-tuned model used for user query expansion</a:t>
                      </a:r>
                    </a:p>
                  </a:txBody>
                  <a:tcPr/>
                </a:tc>
                <a:extLst>
                  <a:ext uri="{0D108BD9-81ED-4DB2-BD59-A6C34878D82A}">
                    <a16:rowId xmlns:a16="http://schemas.microsoft.com/office/drawing/2014/main" val="2926486014"/>
                  </a:ext>
                </a:extLst>
              </a:tr>
            </a:tbl>
          </a:graphicData>
        </a:graphic>
      </p:graphicFrame>
    </p:spTree>
    <p:extLst>
      <p:ext uri="{BB962C8B-B14F-4D97-AF65-F5344CB8AC3E}">
        <p14:creationId xmlns:p14="http://schemas.microsoft.com/office/powerpoint/2010/main" val="3986682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8FDC1-BBC1-DBF0-A480-83C3E32594FF}"/>
              </a:ext>
            </a:extLst>
          </p:cNvPr>
          <p:cNvSpPr>
            <a:spLocks noGrp="1"/>
          </p:cNvSpPr>
          <p:nvPr>
            <p:ph type="title"/>
          </p:nvPr>
        </p:nvSpPr>
        <p:spPr/>
        <p:txBody>
          <a:bodyPr anchor="ctr"/>
          <a:lstStyle/>
          <a:p>
            <a:r>
              <a:rPr lang="en-CA"/>
              <a:t>Libraries Used</a:t>
            </a:r>
          </a:p>
        </p:txBody>
      </p:sp>
      <p:sp>
        <p:nvSpPr>
          <p:cNvPr id="4" name="Slide Number Placeholder 3">
            <a:extLst>
              <a:ext uri="{FF2B5EF4-FFF2-40B4-BE49-F238E27FC236}">
                <a16:creationId xmlns:a16="http://schemas.microsoft.com/office/drawing/2014/main" id="{05CF0CC4-0ECC-B083-F842-28E671204274}"/>
              </a:ext>
            </a:extLst>
          </p:cNvPr>
          <p:cNvSpPr>
            <a:spLocks noGrp="1"/>
          </p:cNvSpPr>
          <p:nvPr>
            <p:ph type="sldNum" sz="quarter" idx="4"/>
          </p:nvPr>
        </p:nvSpPr>
        <p:spPr/>
        <p:txBody>
          <a:bodyPr/>
          <a:lstStyle/>
          <a:p>
            <a:fld id="{A7EBF19F-9143-0D43-8AAF-A18B95D0386D}" type="slidenum">
              <a:rPr lang="en-US" smtClean="0"/>
              <a:pPr/>
              <a:t>16</a:t>
            </a:fld>
            <a:endParaRPr lang="en-US"/>
          </a:p>
        </p:txBody>
      </p:sp>
      <p:sp>
        <p:nvSpPr>
          <p:cNvPr id="5" name="Footer Placeholder 4">
            <a:extLst>
              <a:ext uri="{FF2B5EF4-FFF2-40B4-BE49-F238E27FC236}">
                <a16:creationId xmlns:a16="http://schemas.microsoft.com/office/drawing/2014/main" id="{E27F175C-186E-35B2-94C7-0397C8BFF49A}"/>
              </a:ext>
            </a:extLst>
          </p:cNvPr>
          <p:cNvSpPr>
            <a:spLocks noGrp="1"/>
          </p:cNvSpPr>
          <p:nvPr>
            <p:ph type="ftr" sz="quarter" idx="3"/>
          </p:nvPr>
        </p:nvSpPr>
        <p:spPr/>
        <p:txBody>
          <a:bodyPr/>
          <a:lstStyle/>
          <a:p>
            <a:r>
              <a:rPr lang="en-US"/>
              <a:t>EXPORT MARKING: INTERN'S PRESENTATION</a:t>
            </a:r>
          </a:p>
        </p:txBody>
      </p:sp>
      <p:sp>
        <p:nvSpPr>
          <p:cNvPr id="6" name="Date Placeholder 5">
            <a:extLst>
              <a:ext uri="{FF2B5EF4-FFF2-40B4-BE49-F238E27FC236}">
                <a16:creationId xmlns:a16="http://schemas.microsoft.com/office/drawing/2014/main" id="{2143E3AB-F45D-F7ED-9BDB-1B84110FCFD3}"/>
              </a:ext>
            </a:extLst>
          </p:cNvPr>
          <p:cNvSpPr>
            <a:spLocks noGrp="1"/>
          </p:cNvSpPr>
          <p:nvPr>
            <p:ph type="dt" sz="half" idx="2"/>
          </p:nvPr>
        </p:nvSpPr>
        <p:spPr/>
        <p:txBody>
          <a:bodyPr/>
          <a:lstStyle/>
          <a:p>
            <a:r>
              <a:rPr lang="en-US"/>
              <a:t>PRATT &amp; WHITNEY CANADA PROPRIETARY     |    © </a:t>
            </a:r>
            <a:fld id="{7674C25C-9FE0-47D4-8031-5B4D704AC308}" type="datetimeyyyy">
              <a:rPr lang="en-US" smtClean="0"/>
              <a:t>2026</a:t>
            </a:fld>
            <a:r>
              <a:rPr lang="en-US"/>
              <a:t> PRATT &amp; WHITNEY</a:t>
            </a:r>
          </a:p>
          <a:p>
            <a:endParaRPr lang="en-US"/>
          </a:p>
        </p:txBody>
      </p:sp>
      <p:graphicFrame>
        <p:nvGraphicFramePr>
          <p:cNvPr id="7" name="Table 6">
            <a:extLst>
              <a:ext uri="{FF2B5EF4-FFF2-40B4-BE49-F238E27FC236}">
                <a16:creationId xmlns:a16="http://schemas.microsoft.com/office/drawing/2014/main" id="{142FF2BE-D9D9-AF98-08CB-88C563C217E9}"/>
              </a:ext>
            </a:extLst>
          </p:cNvPr>
          <p:cNvGraphicFramePr>
            <a:graphicFrameLocks noGrp="1"/>
          </p:cNvGraphicFramePr>
          <p:nvPr>
            <p:extLst>
              <p:ext uri="{D42A27DB-BD31-4B8C-83A1-F6EECF244321}">
                <p14:modId xmlns:p14="http://schemas.microsoft.com/office/powerpoint/2010/main" val="210051714"/>
              </p:ext>
            </p:extLst>
          </p:nvPr>
        </p:nvGraphicFramePr>
        <p:xfrm>
          <a:off x="1407233" y="1108269"/>
          <a:ext cx="9377535" cy="5196840"/>
        </p:xfrm>
        <a:graphic>
          <a:graphicData uri="http://schemas.openxmlformats.org/drawingml/2006/table">
            <a:tbl>
              <a:tblPr firstRow="1" bandRow="1">
                <a:tableStyleId>{F5AB1C69-6EDB-4FF4-983F-18BD219EF322}</a:tableStyleId>
              </a:tblPr>
              <a:tblGrid>
                <a:gridCol w="1639305">
                  <a:extLst>
                    <a:ext uri="{9D8B030D-6E8A-4147-A177-3AD203B41FA5}">
                      <a16:colId xmlns:a16="http://schemas.microsoft.com/office/drawing/2014/main" val="4010391971"/>
                    </a:ext>
                  </a:extLst>
                </a:gridCol>
                <a:gridCol w="2299252">
                  <a:extLst>
                    <a:ext uri="{9D8B030D-6E8A-4147-A177-3AD203B41FA5}">
                      <a16:colId xmlns:a16="http://schemas.microsoft.com/office/drawing/2014/main" val="719428523"/>
                    </a:ext>
                  </a:extLst>
                </a:gridCol>
                <a:gridCol w="5438978">
                  <a:extLst>
                    <a:ext uri="{9D8B030D-6E8A-4147-A177-3AD203B41FA5}">
                      <a16:colId xmlns:a16="http://schemas.microsoft.com/office/drawing/2014/main" val="4249649255"/>
                    </a:ext>
                  </a:extLst>
                </a:gridCol>
              </a:tblGrid>
              <a:tr h="253117">
                <a:tc>
                  <a:txBody>
                    <a:bodyPr/>
                    <a:lstStyle/>
                    <a:p>
                      <a:r>
                        <a:rPr lang="en-CA" sz="1200" dirty="0"/>
                        <a:t>Library</a:t>
                      </a:r>
                    </a:p>
                  </a:txBody>
                  <a:tcPr/>
                </a:tc>
                <a:tc>
                  <a:txBody>
                    <a:bodyPr/>
                    <a:lstStyle/>
                    <a:p>
                      <a:r>
                        <a:rPr lang="en-CA" sz="1200"/>
                        <a:t>Version</a:t>
                      </a:r>
                      <a:endParaRPr lang="en-CA" sz="1100"/>
                    </a:p>
                  </a:txBody>
                  <a:tcPr/>
                </a:tc>
                <a:tc>
                  <a:txBody>
                    <a:bodyPr/>
                    <a:lstStyle/>
                    <a:p>
                      <a:r>
                        <a:rPr lang="en-CA" sz="1200"/>
                        <a:t>Purpose</a:t>
                      </a:r>
                      <a:endParaRPr lang="en-CA" sz="1100"/>
                    </a:p>
                  </a:txBody>
                  <a:tcPr/>
                </a:tc>
                <a:extLst>
                  <a:ext uri="{0D108BD9-81ED-4DB2-BD59-A6C34878D82A}">
                    <a16:rowId xmlns:a16="http://schemas.microsoft.com/office/drawing/2014/main" val="451241893"/>
                  </a:ext>
                </a:extLst>
              </a:tr>
              <a:tr h="253117">
                <a:tc>
                  <a:txBody>
                    <a:bodyPr/>
                    <a:lstStyle/>
                    <a:p>
                      <a:r>
                        <a:rPr lang="en-CA" sz="1100" err="1"/>
                        <a:t>os</a:t>
                      </a:r>
                      <a:endParaRPr lang="en-CA" sz="1100"/>
                    </a:p>
                  </a:txBody>
                  <a:tcPr/>
                </a:tc>
                <a:tc>
                  <a:txBody>
                    <a:bodyPr/>
                    <a:lstStyle/>
                    <a:p>
                      <a:r>
                        <a:rPr lang="en-CA" sz="1100"/>
                        <a:t>Python (v3.12.3) Standard Library</a:t>
                      </a:r>
                    </a:p>
                  </a:txBody>
                  <a:tcPr/>
                </a:tc>
                <a:tc>
                  <a:txBody>
                    <a:bodyPr/>
                    <a:lstStyle/>
                    <a:p>
                      <a:r>
                        <a:rPr lang="en-CA" sz="1100"/>
                        <a:t>File and directory operations (path handling, environment vars, file walking)</a:t>
                      </a:r>
                    </a:p>
                  </a:txBody>
                  <a:tcPr/>
                </a:tc>
                <a:extLst>
                  <a:ext uri="{0D108BD9-81ED-4DB2-BD59-A6C34878D82A}">
                    <a16:rowId xmlns:a16="http://schemas.microsoft.com/office/drawing/2014/main" val="3334341422"/>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a:solidFill>
                            <a:schemeClr val="dk1"/>
                          </a:solidFill>
                          <a:effectLst/>
                        </a:rPr>
                        <a:t>pandas</a:t>
                      </a:r>
                      <a:endParaRPr lang="en-CA" sz="1100" b="0" kern="1200">
                        <a:solidFill>
                          <a:schemeClr val="dk1"/>
                        </a:solidFill>
                        <a:effectLst/>
                        <a:latin typeface="+mn-lt"/>
                        <a:ea typeface="+mn-ea"/>
                        <a:cs typeface="+mn-cs"/>
                      </a:endParaRPr>
                    </a:p>
                  </a:txBody>
                  <a:tcPr/>
                </a:tc>
                <a:tc>
                  <a:txBody>
                    <a:bodyPr/>
                    <a:lstStyle/>
                    <a:p>
                      <a:r>
                        <a:rPr lang="en-CA" sz="1100"/>
                        <a:t>2.2.3</a:t>
                      </a:r>
                    </a:p>
                  </a:txBody>
                  <a:tcPr/>
                </a:tc>
                <a:tc>
                  <a:txBody>
                    <a:bodyPr/>
                    <a:lstStyle/>
                    <a:p>
                      <a:r>
                        <a:rPr lang="en-CA" sz="1100"/>
                        <a:t>Handling tabular data for metadata, CSV reading/writing, and source mapping</a:t>
                      </a:r>
                    </a:p>
                  </a:txBody>
                  <a:tcPr/>
                </a:tc>
                <a:extLst>
                  <a:ext uri="{0D108BD9-81ED-4DB2-BD59-A6C34878D82A}">
                    <a16:rowId xmlns:a16="http://schemas.microsoft.com/office/drawing/2014/main" val="3197186456"/>
                  </a:ext>
                </a:extLst>
              </a:tr>
              <a:tr h="253117">
                <a:tc>
                  <a:txBody>
                    <a:bodyPr/>
                    <a:lstStyle/>
                    <a:p>
                      <a:r>
                        <a:rPr lang="en-CA" sz="1100" err="1"/>
                        <a:t>numpy</a:t>
                      </a:r>
                      <a:endParaRPr lang="en-CA" sz="1100"/>
                    </a:p>
                  </a:txBody>
                  <a:tcPr/>
                </a:tc>
                <a:tc>
                  <a:txBody>
                    <a:bodyPr/>
                    <a:lstStyle/>
                    <a:p>
                      <a:r>
                        <a:rPr lang="en-CA" sz="1100"/>
                        <a:t>1.26.4</a:t>
                      </a:r>
                    </a:p>
                  </a:txBody>
                  <a:tcPr/>
                </a:tc>
                <a:tc>
                  <a:txBody>
                    <a:bodyPr/>
                    <a:lstStyle/>
                    <a:p>
                      <a:r>
                        <a:rPr lang="en-CA" sz="1100"/>
                        <a:t>Numerical operations for embeddings and similarity</a:t>
                      </a:r>
                    </a:p>
                  </a:txBody>
                  <a:tcPr/>
                </a:tc>
                <a:extLst>
                  <a:ext uri="{0D108BD9-81ED-4DB2-BD59-A6C34878D82A}">
                    <a16:rowId xmlns:a16="http://schemas.microsoft.com/office/drawing/2014/main" val="730655265"/>
                  </a:ext>
                </a:extLst>
              </a:tr>
              <a:tr h="253117">
                <a:tc>
                  <a:txBody>
                    <a:bodyPr/>
                    <a:lstStyle/>
                    <a:p>
                      <a:r>
                        <a:rPr lang="en-CA" sz="1100"/>
                        <a:t>logging</a:t>
                      </a:r>
                    </a:p>
                  </a:txBody>
                  <a:tcPr/>
                </a:tc>
                <a:tc>
                  <a:txBody>
                    <a:bodyPr/>
                    <a:lstStyle/>
                    <a:p>
                      <a:r>
                        <a:rPr lang="en-CA" sz="1100"/>
                        <a:t>Python (v3.12.3) Standard Library</a:t>
                      </a:r>
                    </a:p>
                  </a:txBody>
                  <a:tcPr/>
                </a:tc>
                <a:tc>
                  <a:txBody>
                    <a:bodyPr/>
                    <a:lstStyle/>
                    <a:p>
                      <a:r>
                        <a:rPr lang="en-CA" sz="1100"/>
                        <a:t>Structured logging and error tracking in the backend</a:t>
                      </a:r>
                    </a:p>
                  </a:txBody>
                  <a:tcPr/>
                </a:tc>
                <a:extLst>
                  <a:ext uri="{0D108BD9-81ED-4DB2-BD59-A6C34878D82A}">
                    <a16:rowId xmlns:a16="http://schemas.microsoft.com/office/drawing/2014/main" val="2926486014"/>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err="1">
                          <a:solidFill>
                            <a:schemeClr val="dk1"/>
                          </a:solidFill>
                          <a:effectLst/>
                        </a:rPr>
                        <a:t>pdfminer</a:t>
                      </a:r>
                      <a:endParaRPr lang="en-CA" sz="1100" b="0" kern="1200">
                        <a:solidFill>
                          <a:schemeClr val="dk1"/>
                        </a:solidFill>
                        <a:effectLst/>
                        <a:latin typeface="+mn-lt"/>
                        <a:ea typeface="+mn-ea"/>
                        <a:cs typeface="+mn-cs"/>
                      </a:endParaRPr>
                    </a:p>
                  </a:txBody>
                  <a:tcPr/>
                </a:tc>
                <a:tc>
                  <a:txBody>
                    <a:bodyPr/>
                    <a:lstStyle/>
                    <a:p>
                      <a:r>
                        <a:rPr lang="en-CA" sz="1100"/>
                        <a:t>20191110</a:t>
                      </a:r>
                    </a:p>
                  </a:txBody>
                  <a:tcPr/>
                </a:tc>
                <a:tc>
                  <a:txBody>
                    <a:bodyPr/>
                    <a:lstStyle/>
                    <a:p>
                      <a:r>
                        <a:rPr lang="en-CA" sz="1100"/>
                        <a:t>Extracting raw text from PDF documents</a:t>
                      </a:r>
                    </a:p>
                  </a:txBody>
                  <a:tcPr/>
                </a:tc>
                <a:extLst>
                  <a:ext uri="{0D108BD9-81ED-4DB2-BD59-A6C34878D82A}">
                    <a16:rowId xmlns:a16="http://schemas.microsoft.com/office/drawing/2014/main" val="2377603213"/>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a:solidFill>
                            <a:schemeClr val="dk1"/>
                          </a:solidFill>
                          <a:effectLst/>
                        </a:rPr>
                        <a:t>docx</a:t>
                      </a:r>
                      <a:endParaRPr lang="en-CA" sz="1100" b="0" kern="1200">
                        <a:solidFill>
                          <a:schemeClr val="dk1"/>
                        </a:solidFill>
                        <a:effectLst/>
                        <a:latin typeface="+mn-lt"/>
                        <a:ea typeface="+mn-ea"/>
                        <a:cs typeface="+mn-cs"/>
                      </a:endParaRPr>
                    </a:p>
                  </a:txBody>
                  <a:tcPr/>
                </a:tc>
                <a:tc>
                  <a:txBody>
                    <a:bodyPr/>
                    <a:lstStyle/>
                    <a:p>
                      <a:r>
                        <a:rPr lang="en-CA" sz="1100"/>
                        <a:t>1.1.2</a:t>
                      </a:r>
                    </a:p>
                  </a:txBody>
                  <a:tcPr/>
                </a:tc>
                <a:tc>
                  <a:txBody>
                    <a:bodyPr/>
                    <a:lstStyle/>
                    <a:p>
                      <a:r>
                        <a:rPr lang="en-CA" sz="1100"/>
                        <a:t>Reading and extracting text from Word (.docx) files</a:t>
                      </a:r>
                    </a:p>
                  </a:txBody>
                  <a:tcPr/>
                </a:tc>
                <a:extLst>
                  <a:ext uri="{0D108BD9-81ED-4DB2-BD59-A6C34878D82A}">
                    <a16:rowId xmlns:a16="http://schemas.microsoft.com/office/drawing/2014/main" val="152992835"/>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a:solidFill>
                            <a:schemeClr val="dk1"/>
                          </a:solidFill>
                          <a:effectLst/>
                        </a:rPr>
                        <a:t>pptx</a:t>
                      </a:r>
                      <a:endParaRPr lang="en-CA" sz="1100" b="0" kern="1200">
                        <a:solidFill>
                          <a:schemeClr val="dk1"/>
                        </a:solidFill>
                        <a:effectLst/>
                        <a:latin typeface="+mn-lt"/>
                        <a:ea typeface="+mn-ea"/>
                        <a:cs typeface="+mn-cs"/>
                      </a:endParaRPr>
                    </a:p>
                  </a:txBody>
                  <a:tcPr/>
                </a:tc>
                <a:tc>
                  <a:txBody>
                    <a:bodyPr/>
                    <a:lstStyle/>
                    <a:p>
                      <a:r>
                        <a:rPr lang="en-CA" sz="1100"/>
                        <a:t>0.6.23</a:t>
                      </a:r>
                    </a:p>
                  </a:txBody>
                  <a:tcPr/>
                </a:tc>
                <a:tc>
                  <a:txBody>
                    <a:bodyPr/>
                    <a:lstStyle/>
                    <a:p>
                      <a:r>
                        <a:rPr lang="en-CA" sz="1100"/>
                        <a:t>Extracting slide content from PowerPoint files and converting to text</a:t>
                      </a:r>
                    </a:p>
                  </a:txBody>
                  <a:tcPr/>
                </a:tc>
                <a:extLst>
                  <a:ext uri="{0D108BD9-81ED-4DB2-BD59-A6C34878D82A}">
                    <a16:rowId xmlns:a16="http://schemas.microsoft.com/office/drawing/2014/main" val="730603634"/>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err="1">
                          <a:solidFill>
                            <a:schemeClr val="dk1"/>
                          </a:solidFill>
                          <a:effectLst/>
                        </a:rPr>
                        <a:t>openpyxl</a:t>
                      </a:r>
                      <a:endParaRPr lang="en-CA" sz="1100" b="0" kern="1200">
                        <a:solidFill>
                          <a:schemeClr val="dk1"/>
                        </a:solidFill>
                        <a:effectLst/>
                        <a:latin typeface="+mn-lt"/>
                        <a:ea typeface="+mn-ea"/>
                        <a:cs typeface="+mn-cs"/>
                      </a:endParaRPr>
                    </a:p>
                  </a:txBody>
                  <a:tcPr/>
                </a:tc>
                <a:tc>
                  <a:txBody>
                    <a:bodyPr/>
                    <a:lstStyle/>
                    <a:p>
                      <a:r>
                        <a:rPr lang="en-CA" sz="1100"/>
                        <a:t>3.1.5</a:t>
                      </a:r>
                    </a:p>
                  </a:txBody>
                  <a:tcPr/>
                </a:tc>
                <a:tc>
                  <a:txBody>
                    <a:bodyPr/>
                    <a:lstStyle/>
                    <a:p>
                      <a:r>
                        <a:rPr lang="en-CA" sz="1100"/>
                        <a:t>Reading and parsing Excel files and converting to text</a:t>
                      </a:r>
                    </a:p>
                  </a:txBody>
                  <a:tcPr/>
                </a:tc>
                <a:extLst>
                  <a:ext uri="{0D108BD9-81ED-4DB2-BD59-A6C34878D82A}">
                    <a16:rowId xmlns:a16="http://schemas.microsoft.com/office/drawing/2014/main" val="3193774334"/>
                  </a:ext>
                </a:extLst>
              </a:tr>
              <a:tr h="253117">
                <a:tc>
                  <a:txBody>
                    <a:bodyPr/>
                    <a:lstStyle/>
                    <a:p>
                      <a:r>
                        <a:rPr lang="en-CA" sz="1100"/>
                        <a:t>torch</a:t>
                      </a:r>
                    </a:p>
                  </a:txBody>
                  <a:tcPr/>
                </a:tc>
                <a:tc>
                  <a:txBody>
                    <a:bodyPr/>
                    <a:lstStyle/>
                    <a:p>
                      <a:r>
                        <a:rPr lang="en-CA" sz="1100"/>
                        <a:t>2.2.2+cu121</a:t>
                      </a:r>
                    </a:p>
                  </a:txBody>
                  <a:tcPr/>
                </a:tc>
                <a:tc>
                  <a:txBody>
                    <a:bodyPr/>
                    <a:lstStyle/>
                    <a:p>
                      <a:r>
                        <a:rPr lang="en-CA" sz="1100"/>
                        <a:t>Used to load and run LLM models</a:t>
                      </a:r>
                    </a:p>
                  </a:txBody>
                  <a:tcPr/>
                </a:tc>
                <a:extLst>
                  <a:ext uri="{0D108BD9-81ED-4DB2-BD59-A6C34878D82A}">
                    <a16:rowId xmlns:a16="http://schemas.microsoft.com/office/drawing/2014/main" val="3710681368"/>
                  </a:ext>
                </a:extLst>
              </a:tr>
              <a:tr h="253117">
                <a:tc>
                  <a:txBody>
                    <a:bodyPr/>
                    <a:lstStyle/>
                    <a:p>
                      <a:r>
                        <a:rPr lang="en-CA" sz="1100" err="1"/>
                        <a:t>nltk</a:t>
                      </a:r>
                      <a:endParaRPr lang="en-CA" sz="1100"/>
                    </a:p>
                  </a:txBody>
                  <a:tcPr/>
                </a:tc>
                <a:tc>
                  <a:txBody>
                    <a:bodyPr/>
                    <a:lstStyle/>
                    <a:p>
                      <a:r>
                        <a:rPr lang="en-CA" sz="1100"/>
                        <a:t>3.9.1</a:t>
                      </a:r>
                    </a:p>
                  </a:txBody>
                  <a:tcPr/>
                </a:tc>
                <a:tc>
                  <a:txBody>
                    <a:bodyPr/>
                    <a:lstStyle/>
                    <a:p>
                      <a:r>
                        <a:rPr lang="en-CA" sz="1100"/>
                        <a:t>Tokenization and chunking during document preprocessing</a:t>
                      </a:r>
                    </a:p>
                  </a:txBody>
                  <a:tcPr/>
                </a:tc>
                <a:extLst>
                  <a:ext uri="{0D108BD9-81ED-4DB2-BD59-A6C34878D82A}">
                    <a16:rowId xmlns:a16="http://schemas.microsoft.com/office/drawing/2014/main" val="889876998"/>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err="1">
                          <a:solidFill>
                            <a:schemeClr val="dk1"/>
                          </a:solidFill>
                          <a:effectLst/>
                        </a:rPr>
                        <a:t>sentence_transformers</a:t>
                      </a:r>
                      <a:endParaRPr lang="en-CA" sz="1100" b="0" kern="1200">
                        <a:solidFill>
                          <a:schemeClr val="dk1"/>
                        </a:solidFill>
                        <a:effectLst/>
                        <a:latin typeface="+mn-lt"/>
                        <a:ea typeface="+mn-ea"/>
                        <a:cs typeface="+mn-cs"/>
                      </a:endParaRPr>
                    </a:p>
                  </a:txBody>
                  <a:tcPr/>
                </a:tc>
                <a:tc>
                  <a:txBody>
                    <a:bodyPr/>
                    <a:lstStyle/>
                    <a:p>
                      <a:r>
                        <a:rPr lang="en-CA" sz="1100"/>
                        <a:t>3.4.0</a:t>
                      </a:r>
                    </a:p>
                  </a:txBody>
                  <a:tcPr/>
                </a:tc>
                <a:tc>
                  <a:txBody>
                    <a:bodyPr/>
                    <a:lstStyle/>
                    <a:p>
                      <a:r>
                        <a:rPr lang="en-CA" sz="1100"/>
                        <a:t>Generating sentence/document embeddings</a:t>
                      </a:r>
                    </a:p>
                  </a:txBody>
                  <a:tcPr/>
                </a:tc>
                <a:extLst>
                  <a:ext uri="{0D108BD9-81ED-4DB2-BD59-A6C34878D82A}">
                    <a16:rowId xmlns:a16="http://schemas.microsoft.com/office/drawing/2014/main" val="4001470899"/>
                  </a:ext>
                </a:extLst>
              </a:tr>
              <a:tr h="253117">
                <a:tc>
                  <a:txBody>
                    <a:bodyPr/>
                    <a:lstStyle/>
                    <a:p>
                      <a:r>
                        <a:rPr lang="en-CA" sz="1100" err="1"/>
                        <a:t>faiss</a:t>
                      </a:r>
                      <a:endParaRPr lang="en-CA" sz="1100"/>
                    </a:p>
                  </a:txBody>
                  <a:tcPr/>
                </a:tc>
                <a:tc>
                  <a:txBody>
                    <a:bodyPr/>
                    <a:lstStyle/>
                    <a:p>
                      <a:r>
                        <a:rPr lang="en-CA" sz="1100"/>
                        <a:t>1.9.0.post1</a:t>
                      </a:r>
                    </a:p>
                  </a:txBody>
                  <a:tcPr/>
                </a:tc>
                <a:tc>
                  <a:txBody>
                    <a:bodyPr/>
                    <a:lstStyle/>
                    <a:p>
                      <a:r>
                        <a:rPr lang="en-CA" sz="1100"/>
                        <a:t>High-performance vector similarity search engine (for embedding retrieval)</a:t>
                      </a:r>
                    </a:p>
                  </a:txBody>
                  <a:tcPr/>
                </a:tc>
                <a:extLst>
                  <a:ext uri="{0D108BD9-81ED-4DB2-BD59-A6C34878D82A}">
                    <a16:rowId xmlns:a16="http://schemas.microsoft.com/office/drawing/2014/main" val="1487963649"/>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a:solidFill>
                            <a:schemeClr val="dk1"/>
                          </a:solidFill>
                          <a:effectLst/>
                        </a:rPr>
                        <a:t>transformers</a:t>
                      </a:r>
                      <a:endParaRPr lang="en-CA" sz="1100" b="0" kern="1200">
                        <a:solidFill>
                          <a:schemeClr val="dk1"/>
                        </a:solidFill>
                        <a:effectLst/>
                        <a:latin typeface="+mn-lt"/>
                        <a:ea typeface="+mn-ea"/>
                        <a:cs typeface="+mn-cs"/>
                      </a:endParaRPr>
                    </a:p>
                  </a:txBody>
                  <a:tcPr/>
                </a:tc>
                <a:tc>
                  <a:txBody>
                    <a:bodyPr/>
                    <a:lstStyle/>
                    <a:p>
                      <a:r>
                        <a:rPr lang="en-CA" sz="1100"/>
                        <a:t>4.48.1</a:t>
                      </a:r>
                    </a:p>
                  </a:txBody>
                  <a:tcPr/>
                </a:tc>
                <a:tc>
                  <a:txBody>
                    <a:bodyPr/>
                    <a:lstStyle/>
                    <a:p>
                      <a:r>
                        <a:rPr lang="en-CA" sz="1100"/>
                        <a:t>Loading and running the LLM and tokenizer</a:t>
                      </a:r>
                    </a:p>
                  </a:txBody>
                  <a:tcPr/>
                </a:tc>
                <a:extLst>
                  <a:ext uri="{0D108BD9-81ED-4DB2-BD59-A6C34878D82A}">
                    <a16:rowId xmlns:a16="http://schemas.microsoft.com/office/drawing/2014/main" val="237797323"/>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a:solidFill>
                            <a:schemeClr val="dk1"/>
                          </a:solidFill>
                          <a:effectLst/>
                        </a:rPr>
                        <a:t>bm25s</a:t>
                      </a:r>
                      <a:endParaRPr lang="en-CA" sz="1100" b="0" kern="1200">
                        <a:solidFill>
                          <a:schemeClr val="dk1"/>
                        </a:solidFill>
                        <a:effectLst/>
                        <a:latin typeface="+mn-lt"/>
                        <a:ea typeface="+mn-ea"/>
                        <a:cs typeface="+mn-cs"/>
                      </a:endParaRPr>
                    </a:p>
                  </a:txBody>
                  <a:tcPr/>
                </a:tc>
                <a:tc>
                  <a:txBody>
                    <a:bodyPr/>
                    <a:lstStyle/>
                    <a:p>
                      <a:r>
                        <a:rPr lang="en-CA" sz="1100"/>
                        <a:t>0.2.10</a:t>
                      </a:r>
                    </a:p>
                  </a:txBody>
                  <a:tcPr/>
                </a:tc>
                <a:tc>
                  <a:txBody>
                    <a:bodyPr/>
                    <a:lstStyle/>
                    <a:p>
                      <a:r>
                        <a:rPr lang="en-CA" sz="1100"/>
                        <a:t>Keyword-based semantic retrieval to improve document chunk ranking</a:t>
                      </a:r>
                    </a:p>
                  </a:txBody>
                  <a:tcPr/>
                </a:tc>
                <a:extLst>
                  <a:ext uri="{0D108BD9-81ED-4DB2-BD59-A6C34878D82A}">
                    <a16:rowId xmlns:a16="http://schemas.microsoft.com/office/drawing/2014/main" val="743624779"/>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err="1">
                          <a:solidFill>
                            <a:schemeClr val="dk1"/>
                          </a:solidFill>
                          <a:effectLst/>
                        </a:rPr>
                        <a:t>ast</a:t>
                      </a:r>
                      <a:endParaRPr lang="en-CA" sz="1100" b="0" kern="1200">
                        <a:solidFill>
                          <a:schemeClr val="dk1"/>
                        </a:solidFill>
                        <a:effectLst/>
                        <a:latin typeface="+mn-lt"/>
                        <a:ea typeface="+mn-ea"/>
                        <a:cs typeface="+mn-cs"/>
                      </a:endParaRPr>
                    </a:p>
                  </a:txBody>
                  <a:tcPr/>
                </a:tc>
                <a:tc>
                  <a:txBody>
                    <a:bodyPr/>
                    <a:lstStyle/>
                    <a:p>
                      <a:r>
                        <a:rPr lang="en-CA" sz="1100"/>
                        <a:t>Python (v3.12.3) Standard Library</a:t>
                      </a:r>
                    </a:p>
                  </a:txBody>
                  <a:tcPr/>
                </a:tc>
                <a:tc>
                  <a:txBody>
                    <a:bodyPr/>
                    <a:lstStyle/>
                    <a:p>
                      <a:r>
                        <a:rPr lang="en-CA" sz="1100"/>
                        <a:t>Parsing and analyzing Python code logic</a:t>
                      </a:r>
                    </a:p>
                  </a:txBody>
                  <a:tcPr/>
                </a:tc>
                <a:extLst>
                  <a:ext uri="{0D108BD9-81ED-4DB2-BD59-A6C34878D82A}">
                    <a16:rowId xmlns:a16="http://schemas.microsoft.com/office/drawing/2014/main" val="3908303732"/>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err="1">
                          <a:solidFill>
                            <a:schemeClr val="dk1"/>
                          </a:solidFill>
                          <a:effectLst/>
                        </a:rPr>
                        <a:t>fastapi</a:t>
                      </a:r>
                      <a:endParaRPr lang="en-CA" sz="1100" b="0" kern="1200">
                        <a:solidFill>
                          <a:schemeClr val="dk1"/>
                        </a:solidFill>
                        <a:effectLst/>
                        <a:latin typeface="+mn-lt"/>
                        <a:ea typeface="+mn-ea"/>
                        <a:cs typeface="+mn-cs"/>
                      </a:endParaRPr>
                    </a:p>
                  </a:txBody>
                  <a:tcPr/>
                </a:tc>
                <a:tc>
                  <a:txBody>
                    <a:bodyPr/>
                    <a:lstStyle/>
                    <a:p>
                      <a:r>
                        <a:rPr lang="en-CA" sz="1100"/>
                        <a:t>0.115.7</a:t>
                      </a:r>
                    </a:p>
                  </a:txBody>
                  <a:tcPr/>
                </a:tc>
                <a:tc>
                  <a:txBody>
                    <a:bodyPr/>
                    <a:lstStyle/>
                    <a:p>
                      <a:r>
                        <a:rPr lang="en-CA" sz="1100"/>
                        <a:t>Web API framework used to create the backend server</a:t>
                      </a:r>
                    </a:p>
                  </a:txBody>
                  <a:tcPr/>
                </a:tc>
                <a:extLst>
                  <a:ext uri="{0D108BD9-81ED-4DB2-BD59-A6C34878D82A}">
                    <a16:rowId xmlns:a16="http://schemas.microsoft.com/office/drawing/2014/main" val="204707958"/>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err="1">
                          <a:solidFill>
                            <a:schemeClr val="dk1"/>
                          </a:solidFill>
                          <a:effectLst/>
                        </a:rPr>
                        <a:t>pydantic</a:t>
                      </a:r>
                      <a:endParaRPr lang="en-CA" sz="1100" b="0" kern="1200">
                        <a:solidFill>
                          <a:schemeClr val="dk1"/>
                        </a:solidFill>
                        <a:effectLst/>
                        <a:latin typeface="+mn-lt"/>
                        <a:ea typeface="+mn-ea"/>
                        <a:cs typeface="+mn-cs"/>
                      </a:endParaRPr>
                    </a:p>
                  </a:txBody>
                  <a:tcPr/>
                </a:tc>
                <a:tc>
                  <a:txBody>
                    <a:bodyPr/>
                    <a:lstStyle/>
                    <a:p>
                      <a:r>
                        <a:rPr lang="en-CA" sz="1100"/>
                        <a:t>2.10.5</a:t>
                      </a:r>
                    </a:p>
                  </a:txBody>
                  <a:tcPr/>
                </a:tc>
                <a:tc>
                  <a:txBody>
                    <a:bodyPr/>
                    <a:lstStyle/>
                    <a:p>
                      <a:r>
                        <a:rPr lang="en-CA" sz="1100"/>
                        <a:t>Data validation for API request/response models</a:t>
                      </a:r>
                    </a:p>
                  </a:txBody>
                  <a:tcPr/>
                </a:tc>
                <a:extLst>
                  <a:ext uri="{0D108BD9-81ED-4DB2-BD59-A6C34878D82A}">
                    <a16:rowId xmlns:a16="http://schemas.microsoft.com/office/drawing/2014/main" val="792334127"/>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err="1">
                          <a:solidFill>
                            <a:schemeClr val="dk1"/>
                          </a:solidFill>
                          <a:effectLst/>
                        </a:rPr>
                        <a:t>uuid</a:t>
                      </a:r>
                      <a:endParaRPr lang="en-CA" sz="1100" b="0" kern="1200">
                        <a:solidFill>
                          <a:schemeClr val="dk1"/>
                        </a:solidFill>
                        <a:effectLst/>
                        <a:latin typeface="+mn-lt"/>
                        <a:ea typeface="+mn-ea"/>
                        <a:cs typeface="+mn-cs"/>
                      </a:endParaRPr>
                    </a:p>
                  </a:txBody>
                  <a:tcPr/>
                </a:tc>
                <a:tc>
                  <a:txBody>
                    <a:bodyPr/>
                    <a:lstStyle/>
                    <a:p>
                      <a:r>
                        <a:rPr lang="en-CA" sz="1100"/>
                        <a:t>Python (v3.12.3) Standard Library</a:t>
                      </a:r>
                    </a:p>
                  </a:txBody>
                  <a:tcPr/>
                </a:tc>
                <a:tc>
                  <a:txBody>
                    <a:bodyPr/>
                    <a:lstStyle/>
                    <a:p>
                      <a:r>
                        <a:rPr lang="en-CA" sz="1100"/>
                        <a:t>Generating unique identifiers for metadata tracking</a:t>
                      </a:r>
                    </a:p>
                  </a:txBody>
                  <a:tcPr/>
                </a:tc>
                <a:extLst>
                  <a:ext uri="{0D108BD9-81ED-4DB2-BD59-A6C34878D82A}">
                    <a16:rowId xmlns:a16="http://schemas.microsoft.com/office/drawing/2014/main" val="2757314725"/>
                  </a:ext>
                </a:extLst>
              </a:tr>
              <a:tr h="253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0" kern="1200" err="1">
                          <a:solidFill>
                            <a:schemeClr val="dk1"/>
                          </a:solidFill>
                          <a:effectLst/>
                        </a:rPr>
                        <a:t>json</a:t>
                      </a:r>
                      <a:endParaRPr lang="en-CA" sz="1100" b="0" kern="1200">
                        <a:solidFill>
                          <a:schemeClr val="dk1"/>
                        </a:solidFill>
                        <a:effectLst/>
                        <a:latin typeface="+mn-lt"/>
                        <a:ea typeface="+mn-ea"/>
                        <a:cs typeface="+mn-cs"/>
                      </a:endParaRPr>
                    </a:p>
                  </a:txBody>
                  <a:tcPr/>
                </a:tc>
                <a:tc>
                  <a:txBody>
                    <a:bodyPr/>
                    <a:lstStyle/>
                    <a:p>
                      <a:r>
                        <a:rPr lang="en-CA" sz="1100"/>
                        <a:t>Python (v3.12.3) Standard Library</a:t>
                      </a:r>
                    </a:p>
                  </a:txBody>
                  <a:tcPr/>
                </a:tc>
                <a:tc>
                  <a:txBody>
                    <a:bodyPr/>
                    <a:lstStyle/>
                    <a:p>
                      <a:r>
                        <a:rPr lang="en-CA" sz="1100" dirty="0"/>
                        <a:t>Reading/writing JSON for metadata, source mapping, and configuration</a:t>
                      </a:r>
                    </a:p>
                  </a:txBody>
                  <a:tcPr/>
                </a:tc>
                <a:extLst>
                  <a:ext uri="{0D108BD9-81ED-4DB2-BD59-A6C34878D82A}">
                    <a16:rowId xmlns:a16="http://schemas.microsoft.com/office/drawing/2014/main" val="2709878177"/>
                  </a:ext>
                </a:extLst>
              </a:tr>
            </a:tbl>
          </a:graphicData>
        </a:graphic>
      </p:graphicFrame>
    </p:spTree>
    <p:extLst>
      <p:ext uri="{BB962C8B-B14F-4D97-AF65-F5344CB8AC3E}">
        <p14:creationId xmlns:p14="http://schemas.microsoft.com/office/powerpoint/2010/main" val="2479233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64463-0178-1655-3ADA-9B7D075832E6}"/>
              </a:ext>
            </a:extLst>
          </p:cNvPr>
          <p:cNvSpPr>
            <a:spLocks noGrp="1"/>
          </p:cNvSpPr>
          <p:nvPr>
            <p:ph type="title"/>
          </p:nvPr>
        </p:nvSpPr>
        <p:spPr/>
        <p:txBody>
          <a:bodyPr anchor="ctr"/>
          <a:lstStyle/>
          <a:p>
            <a:r>
              <a:rPr lang="en-CA" dirty="0"/>
              <a:t>Deployment Sprints (on Cloud)</a:t>
            </a:r>
          </a:p>
        </p:txBody>
      </p:sp>
      <p:sp>
        <p:nvSpPr>
          <p:cNvPr id="3" name="Content Placeholder 2">
            <a:extLst>
              <a:ext uri="{FF2B5EF4-FFF2-40B4-BE49-F238E27FC236}">
                <a16:creationId xmlns:a16="http://schemas.microsoft.com/office/drawing/2014/main" id="{87F47A52-D574-2AF7-C5BC-24B1C4A064CA}"/>
              </a:ext>
            </a:extLst>
          </p:cNvPr>
          <p:cNvSpPr>
            <a:spLocks noGrp="1"/>
          </p:cNvSpPr>
          <p:nvPr>
            <p:ph idx="1"/>
          </p:nvPr>
        </p:nvSpPr>
        <p:spPr>
          <a:xfrm>
            <a:off x="704248" y="1689337"/>
            <a:ext cx="10823288" cy="3479325"/>
          </a:xfrm>
        </p:spPr>
        <p:txBody>
          <a:bodyPr/>
          <a:lstStyle/>
          <a:p>
            <a:r>
              <a:rPr lang="en-CA" b="1" dirty="0"/>
              <a:t>Phase 1: </a:t>
            </a:r>
            <a:r>
              <a:rPr lang="en-CA" sz="2400" b="0" dirty="0">
                <a:solidFill>
                  <a:schemeClr val="tx1"/>
                </a:solidFill>
              </a:rPr>
              <a:t>Continuous Improvement Team, SMEs (20 – 25 users)</a:t>
            </a:r>
          </a:p>
          <a:p>
            <a:endParaRPr lang="en-CA" dirty="0"/>
          </a:p>
          <a:p>
            <a:r>
              <a:rPr lang="en-CA" b="1" dirty="0"/>
              <a:t>Phase 2: </a:t>
            </a:r>
            <a:r>
              <a:rPr lang="en-CA" sz="2400" b="0" dirty="0">
                <a:solidFill>
                  <a:schemeClr val="tx1"/>
                </a:solidFill>
              </a:rPr>
              <a:t>Entire OPO department (~150 users)</a:t>
            </a:r>
            <a:endParaRPr lang="en-CA" b="0" dirty="0">
              <a:solidFill>
                <a:schemeClr val="tx1"/>
              </a:solidFill>
            </a:endParaRPr>
          </a:p>
          <a:p>
            <a:endParaRPr lang="en-CA" dirty="0"/>
          </a:p>
          <a:p>
            <a:r>
              <a:rPr lang="en-CA" b="1" dirty="0"/>
              <a:t>Phase 3: </a:t>
            </a:r>
            <a:r>
              <a:rPr lang="en-CA" sz="2400" b="0" dirty="0">
                <a:solidFill>
                  <a:schemeClr val="tx1"/>
                </a:solidFill>
              </a:rPr>
              <a:t>Entire OPO department, Stakeholders &amp; Collaborators</a:t>
            </a:r>
            <a:endParaRPr lang="en-CA" b="0" dirty="0">
              <a:solidFill>
                <a:schemeClr val="tx1"/>
              </a:solidFill>
            </a:endParaRPr>
          </a:p>
        </p:txBody>
      </p:sp>
      <p:sp>
        <p:nvSpPr>
          <p:cNvPr id="4" name="Slide Number Placeholder 3">
            <a:extLst>
              <a:ext uri="{FF2B5EF4-FFF2-40B4-BE49-F238E27FC236}">
                <a16:creationId xmlns:a16="http://schemas.microsoft.com/office/drawing/2014/main" id="{6B885975-3B9E-9C82-C89C-F3786C11E613}"/>
              </a:ext>
            </a:extLst>
          </p:cNvPr>
          <p:cNvSpPr>
            <a:spLocks noGrp="1"/>
          </p:cNvSpPr>
          <p:nvPr>
            <p:ph type="sldNum" sz="quarter" idx="4"/>
          </p:nvPr>
        </p:nvSpPr>
        <p:spPr/>
        <p:txBody>
          <a:bodyPr/>
          <a:lstStyle/>
          <a:p>
            <a:fld id="{A7EBF19F-9143-0D43-8AAF-A18B95D0386D}" type="slidenum">
              <a:rPr lang="en-US" smtClean="0"/>
              <a:pPr/>
              <a:t>17</a:t>
            </a:fld>
            <a:endParaRPr lang="en-US"/>
          </a:p>
        </p:txBody>
      </p:sp>
      <p:sp>
        <p:nvSpPr>
          <p:cNvPr id="5" name="Footer Placeholder 4">
            <a:extLst>
              <a:ext uri="{FF2B5EF4-FFF2-40B4-BE49-F238E27FC236}">
                <a16:creationId xmlns:a16="http://schemas.microsoft.com/office/drawing/2014/main" id="{000B0B62-67DE-B090-3887-825D82B2FEEB}"/>
              </a:ext>
            </a:extLst>
          </p:cNvPr>
          <p:cNvSpPr>
            <a:spLocks noGrp="1"/>
          </p:cNvSpPr>
          <p:nvPr>
            <p:ph type="ftr" sz="quarter" idx="3"/>
          </p:nvPr>
        </p:nvSpPr>
        <p:spPr/>
        <p:txBody>
          <a:bodyPr/>
          <a:lstStyle/>
          <a:p>
            <a:r>
              <a:rPr lang="en-US"/>
              <a:t>EXPORT MARKING: INTERN'S PRESENTATION</a:t>
            </a:r>
          </a:p>
        </p:txBody>
      </p:sp>
      <p:sp>
        <p:nvSpPr>
          <p:cNvPr id="6" name="Date Placeholder 5">
            <a:extLst>
              <a:ext uri="{FF2B5EF4-FFF2-40B4-BE49-F238E27FC236}">
                <a16:creationId xmlns:a16="http://schemas.microsoft.com/office/drawing/2014/main" id="{85C128F2-32AD-9F3E-C585-BF56676ED9C8}"/>
              </a:ext>
            </a:extLst>
          </p:cNvPr>
          <p:cNvSpPr>
            <a:spLocks noGrp="1"/>
          </p:cNvSpPr>
          <p:nvPr>
            <p:ph type="dt" sz="half" idx="2"/>
          </p:nvPr>
        </p:nvSpPr>
        <p:spPr/>
        <p:txBody>
          <a:bodyPr/>
          <a:lstStyle/>
          <a:p>
            <a:r>
              <a:rPr lang="en-US"/>
              <a:t>PRATT &amp; WHITNEY CANADA PROPRIETARY     |    © </a:t>
            </a:r>
            <a:fld id="{D39D01E3-F912-455F-B977-6C9F28EF86C6}" type="datetimeyyyy">
              <a:rPr lang="en-US" smtClean="0"/>
              <a:t>2026</a:t>
            </a:fld>
            <a:r>
              <a:rPr lang="en-US"/>
              <a:t> PRATT &amp; WHITNEY</a:t>
            </a:r>
          </a:p>
          <a:p>
            <a:endParaRPr lang="en-US"/>
          </a:p>
        </p:txBody>
      </p:sp>
    </p:spTree>
    <p:extLst>
      <p:ext uri="{BB962C8B-B14F-4D97-AF65-F5344CB8AC3E}">
        <p14:creationId xmlns:p14="http://schemas.microsoft.com/office/powerpoint/2010/main" val="690580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2944F-5A5B-DB3B-98AC-0E12B9A850D0}"/>
              </a:ext>
            </a:extLst>
          </p:cNvPr>
          <p:cNvSpPr>
            <a:spLocks noGrp="1"/>
          </p:cNvSpPr>
          <p:nvPr>
            <p:ph type="title"/>
          </p:nvPr>
        </p:nvSpPr>
        <p:spPr/>
        <p:txBody>
          <a:bodyPr anchor="ctr"/>
          <a:lstStyle/>
          <a:p>
            <a:r>
              <a:rPr lang="en-CA"/>
              <a:t>Service Level Agreement</a:t>
            </a:r>
          </a:p>
        </p:txBody>
      </p:sp>
      <p:sp>
        <p:nvSpPr>
          <p:cNvPr id="4" name="Slide Number Placeholder 3">
            <a:extLst>
              <a:ext uri="{FF2B5EF4-FFF2-40B4-BE49-F238E27FC236}">
                <a16:creationId xmlns:a16="http://schemas.microsoft.com/office/drawing/2014/main" id="{137C704F-65DA-C9AF-5A85-FF1AAC88D8A4}"/>
              </a:ext>
            </a:extLst>
          </p:cNvPr>
          <p:cNvSpPr>
            <a:spLocks noGrp="1"/>
          </p:cNvSpPr>
          <p:nvPr>
            <p:ph type="sldNum" sz="quarter" idx="4"/>
          </p:nvPr>
        </p:nvSpPr>
        <p:spPr/>
        <p:txBody>
          <a:bodyPr/>
          <a:lstStyle/>
          <a:p>
            <a:fld id="{A7EBF19F-9143-0D43-8AAF-A18B95D0386D}" type="slidenum">
              <a:rPr lang="en-US" smtClean="0"/>
              <a:pPr/>
              <a:t>18</a:t>
            </a:fld>
            <a:endParaRPr lang="en-US"/>
          </a:p>
        </p:txBody>
      </p:sp>
      <p:sp>
        <p:nvSpPr>
          <p:cNvPr id="5" name="Footer Placeholder 4">
            <a:extLst>
              <a:ext uri="{FF2B5EF4-FFF2-40B4-BE49-F238E27FC236}">
                <a16:creationId xmlns:a16="http://schemas.microsoft.com/office/drawing/2014/main" id="{91DF2261-240B-369B-5DD9-A0172970F570}"/>
              </a:ext>
            </a:extLst>
          </p:cNvPr>
          <p:cNvSpPr>
            <a:spLocks noGrp="1"/>
          </p:cNvSpPr>
          <p:nvPr>
            <p:ph type="ftr" sz="quarter" idx="3"/>
          </p:nvPr>
        </p:nvSpPr>
        <p:spPr/>
        <p:txBody>
          <a:bodyPr/>
          <a:lstStyle/>
          <a:p>
            <a:r>
              <a:rPr lang="en-US"/>
              <a:t>EXPORT MARKING: INTERN'S PRESENTATION</a:t>
            </a:r>
          </a:p>
        </p:txBody>
      </p:sp>
      <p:sp>
        <p:nvSpPr>
          <p:cNvPr id="6" name="Date Placeholder 5">
            <a:extLst>
              <a:ext uri="{FF2B5EF4-FFF2-40B4-BE49-F238E27FC236}">
                <a16:creationId xmlns:a16="http://schemas.microsoft.com/office/drawing/2014/main" id="{280BE5DC-8A1D-2783-CD8E-BBD743EAF9DE}"/>
              </a:ext>
            </a:extLst>
          </p:cNvPr>
          <p:cNvSpPr>
            <a:spLocks noGrp="1"/>
          </p:cNvSpPr>
          <p:nvPr>
            <p:ph type="dt" sz="half" idx="2"/>
          </p:nvPr>
        </p:nvSpPr>
        <p:spPr/>
        <p:txBody>
          <a:bodyPr/>
          <a:lstStyle/>
          <a:p>
            <a:r>
              <a:rPr lang="en-US"/>
              <a:t>PRATT &amp; WHITNEY CANADA PROPRIETARY     |    © </a:t>
            </a:r>
            <a:fld id="{D39D01E3-F912-455F-B977-6C9F28EF86C6}" type="datetimeyyyy">
              <a:rPr lang="en-US" smtClean="0"/>
              <a:t>2026</a:t>
            </a:fld>
            <a:r>
              <a:rPr lang="en-US"/>
              <a:t> PRATT &amp; WHITNEY</a:t>
            </a:r>
          </a:p>
          <a:p>
            <a:endParaRPr lang="en-US"/>
          </a:p>
        </p:txBody>
      </p:sp>
      <p:graphicFrame>
        <p:nvGraphicFramePr>
          <p:cNvPr id="7" name="Table 6">
            <a:extLst>
              <a:ext uri="{FF2B5EF4-FFF2-40B4-BE49-F238E27FC236}">
                <a16:creationId xmlns:a16="http://schemas.microsoft.com/office/drawing/2014/main" id="{151BB7A5-FCB6-18D4-DC77-9BD5E7C9279B}"/>
              </a:ext>
            </a:extLst>
          </p:cNvPr>
          <p:cNvGraphicFramePr>
            <a:graphicFrameLocks noGrp="1"/>
          </p:cNvGraphicFramePr>
          <p:nvPr>
            <p:extLst>
              <p:ext uri="{D42A27DB-BD31-4B8C-83A1-F6EECF244321}">
                <p14:modId xmlns:p14="http://schemas.microsoft.com/office/powerpoint/2010/main" val="4161595034"/>
              </p:ext>
            </p:extLst>
          </p:nvPr>
        </p:nvGraphicFramePr>
        <p:xfrm>
          <a:off x="783627" y="1514833"/>
          <a:ext cx="10624746" cy="3632200"/>
        </p:xfrm>
        <a:graphic>
          <a:graphicData uri="http://schemas.openxmlformats.org/drawingml/2006/table">
            <a:tbl>
              <a:tblPr firstRow="1" bandRow="1">
                <a:tableStyleId>{F5AB1C69-6EDB-4FF4-983F-18BD219EF322}</a:tableStyleId>
              </a:tblPr>
              <a:tblGrid>
                <a:gridCol w="1431433">
                  <a:extLst>
                    <a:ext uri="{9D8B030D-6E8A-4147-A177-3AD203B41FA5}">
                      <a16:colId xmlns:a16="http://schemas.microsoft.com/office/drawing/2014/main" val="1143970791"/>
                    </a:ext>
                  </a:extLst>
                </a:gridCol>
                <a:gridCol w="3496661">
                  <a:extLst>
                    <a:ext uri="{9D8B030D-6E8A-4147-A177-3AD203B41FA5}">
                      <a16:colId xmlns:a16="http://schemas.microsoft.com/office/drawing/2014/main" val="1687191859"/>
                    </a:ext>
                  </a:extLst>
                </a:gridCol>
                <a:gridCol w="3146529">
                  <a:extLst>
                    <a:ext uri="{9D8B030D-6E8A-4147-A177-3AD203B41FA5}">
                      <a16:colId xmlns:a16="http://schemas.microsoft.com/office/drawing/2014/main" val="1364723626"/>
                    </a:ext>
                  </a:extLst>
                </a:gridCol>
                <a:gridCol w="2550123">
                  <a:extLst>
                    <a:ext uri="{9D8B030D-6E8A-4147-A177-3AD203B41FA5}">
                      <a16:colId xmlns:a16="http://schemas.microsoft.com/office/drawing/2014/main" val="247300634"/>
                    </a:ext>
                  </a:extLst>
                </a:gridCol>
              </a:tblGrid>
              <a:tr h="370840">
                <a:tc>
                  <a:txBody>
                    <a:bodyPr/>
                    <a:lstStyle/>
                    <a:p>
                      <a:pPr algn="ctr"/>
                      <a:r>
                        <a:rPr lang="en-CA" sz="1400" dirty="0"/>
                        <a:t>Request Type</a:t>
                      </a:r>
                    </a:p>
                  </a:txBody>
                  <a:tcPr anchor="ctr"/>
                </a:tc>
                <a:tc>
                  <a:txBody>
                    <a:bodyPr/>
                    <a:lstStyle/>
                    <a:p>
                      <a:pPr algn="ctr"/>
                      <a:r>
                        <a:rPr lang="en-CA" sz="1400"/>
                        <a:t>Description</a:t>
                      </a:r>
                    </a:p>
                  </a:txBody>
                  <a:tcPr anchor="ctr"/>
                </a:tc>
                <a:tc>
                  <a:txBody>
                    <a:bodyPr/>
                    <a:lstStyle/>
                    <a:p>
                      <a:pPr algn="ctr"/>
                      <a:r>
                        <a:rPr lang="en-CA" sz="1400"/>
                        <a:t>Estimated Response Time (Business Days)</a:t>
                      </a:r>
                    </a:p>
                  </a:txBody>
                  <a:tcPr anchor="ctr"/>
                </a:tc>
                <a:tc>
                  <a:txBody>
                    <a:bodyPr/>
                    <a:lstStyle/>
                    <a:p>
                      <a:pPr algn="ctr"/>
                      <a:r>
                        <a:rPr lang="en-CA" sz="1400"/>
                        <a:t>Contact</a:t>
                      </a:r>
                    </a:p>
                  </a:txBody>
                  <a:tcPr anchor="ctr"/>
                </a:tc>
                <a:extLst>
                  <a:ext uri="{0D108BD9-81ED-4DB2-BD59-A6C34878D82A}">
                    <a16:rowId xmlns:a16="http://schemas.microsoft.com/office/drawing/2014/main" val="831316422"/>
                  </a:ext>
                </a:extLst>
              </a:tr>
              <a:tr h="370840">
                <a:tc>
                  <a:txBody>
                    <a:bodyPr/>
                    <a:lstStyle/>
                    <a:p>
                      <a:r>
                        <a:rPr lang="en-CA" sz="1200"/>
                        <a:t>Inquiry</a:t>
                      </a:r>
                    </a:p>
                  </a:txBody>
                  <a:tcPr/>
                </a:tc>
                <a:tc>
                  <a:txBody>
                    <a:bodyPr/>
                    <a:lstStyle/>
                    <a:p>
                      <a:r>
                        <a:rPr lang="en-CA" sz="1200"/>
                        <a:t>General questions about the tool</a:t>
                      </a:r>
                    </a:p>
                  </a:txBody>
                  <a:tcPr/>
                </a:tc>
                <a:tc>
                  <a:txBody>
                    <a:bodyPr/>
                    <a:lstStyle/>
                    <a:p>
                      <a:r>
                        <a:rPr lang="en-CA" sz="1200"/>
                        <a:t>1 – 2 days</a:t>
                      </a:r>
                    </a:p>
                  </a:txBody>
                  <a:tcPr/>
                </a:tc>
                <a:tc>
                  <a:txBody>
                    <a:bodyPr/>
                    <a:lstStyle/>
                    <a:p>
                      <a:r>
                        <a:rPr lang="en-CA" sz="1200"/>
                        <a:t>Vinit Bhamare, Gurleen Pannu</a:t>
                      </a:r>
                    </a:p>
                  </a:txBody>
                  <a:tcPr/>
                </a:tc>
                <a:extLst>
                  <a:ext uri="{0D108BD9-81ED-4DB2-BD59-A6C34878D82A}">
                    <a16:rowId xmlns:a16="http://schemas.microsoft.com/office/drawing/2014/main" val="1527207931"/>
                  </a:ext>
                </a:extLst>
              </a:tr>
              <a:tr h="370840">
                <a:tc>
                  <a:txBody>
                    <a:bodyPr/>
                    <a:lstStyle/>
                    <a:p>
                      <a:r>
                        <a:rPr lang="en-CA" sz="1200"/>
                        <a:t>Access Request</a:t>
                      </a:r>
                    </a:p>
                  </a:txBody>
                  <a:tcPr/>
                </a:tc>
                <a:tc>
                  <a:txBody>
                    <a:bodyPr/>
                    <a:lstStyle/>
                    <a:p>
                      <a:r>
                        <a:rPr lang="en-CA" sz="1200"/>
                        <a:t>Granting new users access to the tool</a:t>
                      </a:r>
                    </a:p>
                  </a:txBody>
                  <a:tcPr/>
                </a:tc>
                <a:tc>
                  <a:txBody>
                    <a:bodyPr/>
                    <a:lstStyle/>
                    <a:p>
                      <a:r>
                        <a:rPr lang="en-CA" sz="1200"/>
                        <a:t>Up to 3 days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a:t>Vinit Bhamare, Gurleen Pannu</a:t>
                      </a:r>
                    </a:p>
                    <a:p>
                      <a:endParaRPr lang="en-CA" sz="1200"/>
                    </a:p>
                  </a:txBody>
                  <a:tcPr/>
                </a:tc>
                <a:extLst>
                  <a:ext uri="{0D108BD9-81ED-4DB2-BD59-A6C34878D82A}">
                    <a16:rowId xmlns:a16="http://schemas.microsoft.com/office/drawing/2014/main" val="3544748668"/>
                  </a:ext>
                </a:extLst>
              </a:tr>
              <a:tr h="370840">
                <a:tc>
                  <a:txBody>
                    <a:bodyPr/>
                    <a:lstStyle/>
                    <a:p>
                      <a:r>
                        <a:rPr lang="en-CA" sz="1200"/>
                        <a:t>Data Addition Request</a:t>
                      </a:r>
                    </a:p>
                  </a:txBody>
                  <a:tcPr/>
                </a:tc>
                <a:tc>
                  <a:txBody>
                    <a:bodyPr/>
                    <a:lstStyle/>
                    <a:p>
                      <a:r>
                        <a:rPr lang="en-CA" sz="1200"/>
                        <a:t>Request to upload new documents to the tool</a:t>
                      </a:r>
                    </a:p>
                  </a:txBody>
                  <a:tcPr/>
                </a:tc>
                <a:tc>
                  <a:txBody>
                    <a:bodyPr/>
                    <a:lstStyle/>
                    <a:p>
                      <a:r>
                        <a:rPr lang="en-CA" sz="1200"/>
                        <a:t>Up to 5 days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a:t>Vinit Bhamare, Gurleen Pannu</a:t>
                      </a:r>
                    </a:p>
                    <a:p>
                      <a:endParaRPr lang="en-CA" sz="1200"/>
                    </a:p>
                  </a:txBody>
                  <a:tcPr/>
                </a:tc>
                <a:extLst>
                  <a:ext uri="{0D108BD9-81ED-4DB2-BD59-A6C34878D82A}">
                    <a16:rowId xmlns:a16="http://schemas.microsoft.com/office/drawing/2014/main" val="4026802746"/>
                  </a:ext>
                </a:extLst>
              </a:tr>
              <a:tr h="370840">
                <a:tc>
                  <a:txBody>
                    <a:bodyPr/>
                    <a:lstStyle/>
                    <a:p>
                      <a:r>
                        <a:rPr lang="en-CA" sz="1200"/>
                        <a:t>Feature Request</a:t>
                      </a:r>
                    </a:p>
                  </a:txBody>
                  <a:tcPr/>
                </a:tc>
                <a:tc>
                  <a:txBody>
                    <a:bodyPr/>
                    <a:lstStyle/>
                    <a:p>
                      <a:r>
                        <a:rPr lang="en-CA" sz="1200"/>
                        <a:t>Requesting enhancements (e.g., UI changes, new assistant type)</a:t>
                      </a:r>
                    </a:p>
                  </a:txBody>
                  <a:tcPr/>
                </a:tc>
                <a:tc>
                  <a:txBody>
                    <a:bodyPr/>
                    <a:lstStyle/>
                    <a:p>
                      <a:r>
                        <a:rPr lang="en-CA" sz="1200"/>
                        <a:t>Acknowledged in 2 days, prioritized per roadmap</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a:t>Vinit Bhamare, Gurleen Pannu</a:t>
                      </a:r>
                    </a:p>
                  </a:txBody>
                  <a:tcPr/>
                </a:tc>
                <a:extLst>
                  <a:ext uri="{0D108BD9-81ED-4DB2-BD59-A6C34878D82A}">
                    <a16:rowId xmlns:a16="http://schemas.microsoft.com/office/drawing/2014/main" val="2584479538"/>
                  </a:ext>
                </a:extLst>
              </a:tr>
              <a:tr h="370840">
                <a:tc>
                  <a:txBody>
                    <a:bodyPr/>
                    <a:lstStyle/>
                    <a:p>
                      <a:r>
                        <a:rPr lang="en-CA" sz="1200"/>
                        <a:t>Bug Report</a:t>
                      </a:r>
                    </a:p>
                  </a:txBody>
                  <a:tcPr/>
                </a:tc>
                <a:tc>
                  <a:txBody>
                    <a:bodyPr/>
                    <a:lstStyle/>
                    <a:p>
                      <a:r>
                        <a:rPr lang="en-CA" sz="1200"/>
                        <a:t>Reporting functional or performance-related issues</a:t>
                      </a:r>
                    </a:p>
                  </a:txBody>
                  <a:tcPr/>
                </a:tc>
                <a:tc>
                  <a:txBody>
                    <a:bodyPr/>
                    <a:lstStyle/>
                    <a:p>
                      <a:r>
                        <a:rPr lang="en-CA" sz="1200"/>
                        <a:t>Acknowledged in 1 day, resolved in 3–7 days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a:t>Vinit Bhamare, Gurleen Pannu</a:t>
                      </a:r>
                    </a:p>
                  </a:txBody>
                  <a:tcPr/>
                </a:tc>
                <a:extLst>
                  <a:ext uri="{0D108BD9-81ED-4DB2-BD59-A6C34878D82A}">
                    <a16:rowId xmlns:a16="http://schemas.microsoft.com/office/drawing/2014/main" val="3218726923"/>
                  </a:ext>
                </a:extLst>
              </a:tr>
              <a:tr h="370840">
                <a:tc>
                  <a:txBody>
                    <a:bodyPr/>
                    <a:lstStyle/>
                    <a:p>
                      <a:r>
                        <a:rPr lang="en-CA" sz="1200"/>
                        <a:t>Accuracy Review</a:t>
                      </a:r>
                    </a:p>
                  </a:txBody>
                  <a:tcPr/>
                </a:tc>
                <a:tc>
                  <a:txBody>
                    <a:bodyPr/>
                    <a:lstStyle/>
                    <a:p>
                      <a:r>
                        <a:rPr lang="en-CA" sz="1200"/>
                        <a:t>Request to validate or flag an incorrect or irrelevant response</a:t>
                      </a:r>
                    </a:p>
                  </a:txBody>
                  <a:tcPr/>
                </a:tc>
                <a:tc>
                  <a:txBody>
                    <a:bodyPr/>
                    <a:lstStyle/>
                    <a:p>
                      <a:r>
                        <a:rPr lang="en-CA" sz="1200"/>
                        <a:t>Reviewed in 2–4 business days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a:t>Vinit Bhamare, Gurleen Pannu</a:t>
                      </a:r>
                    </a:p>
                  </a:txBody>
                  <a:tcPr/>
                </a:tc>
                <a:extLst>
                  <a:ext uri="{0D108BD9-81ED-4DB2-BD59-A6C34878D82A}">
                    <a16:rowId xmlns:a16="http://schemas.microsoft.com/office/drawing/2014/main" val="1379111635"/>
                  </a:ext>
                </a:extLst>
              </a:tr>
              <a:tr h="370840">
                <a:tc>
                  <a:txBody>
                    <a:bodyPr/>
                    <a:lstStyle/>
                    <a:p>
                      <a:r>
                        <a:rPr lang="en-CA" sz="1200"/>
                        <a:t>Training &amp; Support</a:t>
                      </a:r>
                    </a:p>
                  </a:txBody>
                  <a:tcPr/>
                </a:tc>
                <a:tc>
                  <a:txBody>
                    <a:bodyPr/>
                    <a:lstStyle/>
                    <a:p>
                      <a:r>
                        <a:rPr lang="en-CA" sz="1200"/>
                        <a:t>Help sessions, onboarding guidance for new users</a:t>
                      </a:r>
                    </a:p>
                  </a:txBody>
                  <a:tcPr/>
                </a:tc>
                <a:tc>
                  <a:txBody>
                    <a:bodyPr/>
                    <a:lstStyle/>
                    <a:p>
                      <a:r>
                        <a:rPr lang="en-CA" sz="1200"/>
                        <a:t>Scheduled within 5 business days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t>Vinit </a:t>
                      </a:r>
                      <a:r>
                        <a:rPr lang="en-CA" sz="1200" dirty="0" err="1"/>
                        <a:t>Bhamare</a:t>
                      </a:r>
                      <a:r>
                        <a:rPr lang="en-CA" sz="1200" dirty="0"/>
                        <a:t>, Gurleen Pannu</a:t>
                      </a:r>
                    </a:p>
                  </a:txBody>
                  <a:tcPr/>
                </a:tc>
                <a:extLst>
                  <a:ext uri="{0D108BD9-81ED-4DB2-BD59-A6C34878D82A}">
                    <a16:rowId xmlns:a16="http://schemas.microsoft.com/office/drawing/2014/main" val="3967169647"/>
                  </a:ext>
                </a:extLst>
              </a:tr>
            </a:tbl>
          </a:graphicData>
        </a:graphic>
      </p:graphicFrame>
    </p:spTree>
    <p:extLst>
      <p:ext uri="{BB962C8B-B14F-4D97-AF65-F5344CB8AC3E}">
        <p14:creationId xmlns:p14="http://schemas.microsoft.com/office/powerpoint/2010/main" val="3186631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F0655-EDF6-9527-5C6B-C85C9D9D28D9}"/>
              </a:ext>
            </a:extLst>
          </p:cNvPr>
          <p:cNvSpPr>
            <a:spLocks noGrp="1"/>
          </p:cNvSpPr>
          <p:nvPr>
            <p:ph type="title"/>
          </p:nvPr>
        </p:nvSpPr>
        <p:spPr/>
        <p:txBody>
          <a:bodyPr anchor="ctr"/>
          <a:lstStyle/>
          <a:p>
            <a:r>
              <a:rPr lang="en-CA"/>
              <a:t>Evaluation Rubric </a:t>
            </a:r>
            <a:r>
              <a:rPr lang="en-CA" sz="2400"/>
              <a:t>(TBD via human feedback)</a:t>
            </a:r>
            <a:endParaRPr lang="en-CA"/>
          </a:p>
        </p:txBody>
      </p:sp>
      <p:sp>
        <p:nvSpPr>
          <p:cNvPr id="4" name="Slide Number Placeholder 3">
            <a:extLst>
              <a:ext uri="{FF2B5EF4-FFF2-40B4-BE49-F238E27FC236}">
                <a16:creationId xmlns:a16="http://schemas.microsoft.com/office/drawing/2014/main" id="{670B8EBD-8B2D-9C9B-A55E-E1AA41F4598B}"/>
              </a:ext>
            </a:extLst>
          </p:cNvPr>
          <p:cNvSpPr>
            <a:spLocks noGrp="1"/>
          </p:cNvSpPr>
          <p:nvPr>
            <p:ph type="sldNum" sz="quarter" idx="4"/>
          </p:nvPr>
        </p:nvSpPr>
        <p:spPr/>
        <p:txBody>
          <a:bodyPr/>
          <a:lstStyle/>
          <a:p>
            <a:fld id="{A7EBF19F-9143-0D43-8AAF-A18B95D0386D}" type="slidenum">
              <a:rPr lang="en-US" smtClean="0"/>
              <a:pPr/>
              <a:t>19</a:t>
            </a:fld>
            <a:endParaRPr lang="en-US"/>
          </a:p>
        </p:txBody>
      </p:sp>
      <p:sp>
        <p:nvSpPr>
          <p:cNvPr id="5" name="Footer Placeholder 4">
            <a:extLst>
              <a:ext uri="{FF2B5EF4-FFF2-40B4-BE49-F238E27FC236}">
                <a16:creationId xmlns:a16="http://schemas.microsoft.com/office/drawing/2014/main" id="{EBD9BDF6-6183-8788-B69B-68F1CEC563AB}"/>
              </a:ext>
            </a:extLst>
          </p:cNvPr>
          <p:cNvSpPr>
            <a:spLocks noGrp="1"/>
          </p:cNvSpPr>
          <p:nvPr>
            <p:ph type="ftr" sz="quarter" idx="3"/>
          </p:nvPr>
        </p:nvSpPr>
        <p:spPr/>
        <p:txBody>
          <a:bodyPr/>
          <a:lstStyle/>
          <a:p>
            <a:r>
              <a:rPr lang="en-US"/>
              <a:t>EXPORT MARKING: INTERN'S PRESENTATION</a:t>
            </a:r>
          </a:p>
        </p:txBody>
      </p:sp>
      <p:sp>
        <p:nvSpPr>
          <p:cNvPr id="6" name="Date Placeholder 5">
            <a:extLst>
              <a:ext uri="{FF2B5EF4-FFF2-40B4-BE49-F238E27FC236}">
                <a16:creationId xmlns:a16="http://schemas.microsoft.com/office/drawing/2014/main" id="{B0E38C48-A119-5038-F510-582084EF5A6F}"/>
              </a:ext>
            </a:extLst>
          </p:cNvPr>
          <p:cNvSpPr>
            <a:spLocks noGrp="1"/>
          </p:cNvSpPr>
          <p:nvPr>
            <p:ph type="dt" sz="half" idx="2"/>
          </p:nvPr>
        </p:nvSpPr>
        <p:spPr/>
        <p:txBody>
          <a:bodyPr/>
          <a:lstStyle/>
          <a:p>
            <a:r>
              <a:rPr lang="en-US"/>
              <a:t>PRATT &amp; WHITNEY CANADA PROPRIETARY     |    © </a:t>
            </a:r>
            <a:fld id="{D39D01E3-F912-455F-B977-6C9F28EF86C6}" type="datetimeyyyy">
              <a:rPr lang="en-US" smtClean="0"/>
              <a:t>2026</a:t>
            </a:fld>
            <a:r>
              <a:rPr lang="en-US"/>
              <a:t> PRATT &amp; WHITNEY</a:t>
            </a:r>
          </a:p>
          <a:p>
            <a:endParaRPr lang="en-US"/>
          </a:p>
        </p:txBody>
      </p:sp>
      <p:pic>
        <p:nvPicPr>
          <p:cNvPr id="7" name="Picture 6">
            <a:extLst>
              <a:ext uri="{FF2B5EF4-FFF2-40B4-BE49-F238E27FC236}">
                <a16:creationId xmlns:a16="http://schemas.microsoft.com/office/drawing/2014/main" id="{D91A9A81-7F16-47DD-FBAD-94214713A988}"/>
              </a:ext>
            </a:extLst>
          </p:cNvPr>
          <p:cNvPicPr>
            <a:picLocks noChangeAspect="1"/>
          </p:cNvPicPr>
          <p:nvPr/>
        </p:nvPicPr>
        <p:blipFill>
          <a:blip r:embed="rId2"/>
          <a:stretch>
            <a:fillRect/>
          </a:stretch>
        </p:blipFill>
        <p:spPr>
          <a:xfrm>
            <a:off x="379047" y="1422099"/>
            <a:ext cx="11433905" cy="4072252"/>
          </a:xfrm>
          <a:prstGeom prst="rect">
            <a:avLst/>
          </a:prstGeom>
        </p:spPr>
      </p:pic>
    </p:spTree>
    <p:extLst>
      <p:ext uri="{BB962C8B-B14F-4D97-AF65-F5344CB8AC3E}">
        <p14:creationId xmlns:p14="http://schemas.microsoft.com/office/powerpoint/2010/main" val="852995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DB4B4-6E99-9BE8-7A06-EFDEF9DBD8ED}"/>
              </a:ext>
            </a:extLst>
          </p:cNvPr>
          <p:cNvSpPr>
            <a:spLocks noGrp="1"/>
          </p:cNvSpPr>
          <p:nvPr>
            <p:ph type="title"/>
          </p:nvPr>
        </p:nvSpPr>
        <p:spPr/>
        <p:txBody>
          <a:bodyPr/>
          <a:lstStyle/>
          <a:p>
            <a:r>
              <a:rPr lang="en-CA" sz="2800"/>
              <a:t>EVALUATION RUBRIC &amp; RESULTS</a:t>
            </a:r>
          </a:p>
        </p:txBody>
      </p:sp>
      <p:sp>
        <p:nvSpPr>
          <p:cNvPr id="3" name="Slide Number Placeholder 2">
            <a:extLst>
              <a:ext uri="{FF2B5EF4-FFF2-40B4-BE49-F238E27FC236}">
                <a16:creationId xmlns:a16="http://schemas.microsoft.com/office/drawing/2014/main" id="{0315A57D-D349-6D47-4D64-3605844E9BD8}"/>
              </a:ext>
            </a:extLst>
          </p:cNvPr>
          <p:cNvSpPr>
            <a:spLocks noGrp="1"/>
          </p:cNvSpPr>
          <p:nvPr>
            <p:ph type="sldNum" sz="quarter" idx="4"/>
          </p:nvPr>
        </p:nvSpPr>
        <p:spPr/>
        <p:txBody>
          <a:bodyPr/>
          <a:lstStyle/>
          <a:p>
            <a:fld id="{07165E6F-54ED-4977-A15E-D44BE7238A65}" type="slidenum">
              <a:rPr lang="en-US" smtClean="0"/>
              <a:pPr/>
              <a:t>20</a:t>
            </a:fld>
            <a:endParaRPr lang="en-US"/>
          </a:p>
        </p:txBody>
      </p:sp>
      <p:sp>
        <p:nvSpPr>
          <p:cNvPr id="4" name="Footer Placeholder 3">
            <a:extLst>
              <a:ext uri="{FF2B5EF4-FFF2-40B4-BE49-F238E27FC236}">
                <a16:creationId xmlns:a16="http://schemas.microsoft.com/office/drawing/2014/main" id="{6ECE6B26-9B98-7F45-66BA-AC125757AB13}"/>
              </a:ext>
            </a:extLst>
          </p:cNvPr>
          <p:cNvSpPr>
            <a:spLocks noGrp="1"/>
          </p:cNvSpPr>
          <p:nvPr>
            <p:ph type="ftr" sz="quarter" idx="3"/>
          </p:nvPr>
        </p:nvSpPr>
        <p:spPr/>
        <p:txBody>
          <a:bodyPr/>
          <a:lstStyle/>
          <a:p>
            <a:r>
              <a:rPr lang="en-US"/>
              <a:t>EXPORT MARKING: (Insert Export Marking) [TO CHANGE GO TO INSERT &gt; HEADER &amp; FOOTER] </a:t>
            </a:r>
          </a:p>
        </p:txBody>
      </p:sp>
      <p:sp>
        <p:nvSpPr>
          <p:cNvPr id="9" name="TextBox 8">
            <a:extLst>
              <a:ext uri="{FF2B5EF4-FFF2-40B4-BE49-F238E27FC236}">
                <a16:creationId xmlns:a16="http://schemas.microsoft.com/office/drawing/2014/main" id="{C00B52FE-0D8C-4B57-2950-8FC52D78DEFB}"/>
              </a:ext>
            </a:extLst>
          </p:cNvPr>
          <p:cNvSpPr txBox="1"/>
          <p:nvPr/>
        </p:nvSpPr>
        <p:spPr>
          <a:xfrm>
            <a:off x="694944" y="1181399"/>
            <a:ext cx="6823701" cy="307777"/>
          </a:xfrm>
          <a:prstGeom prst="rect">
            <a:avLst/>
          </a:prstGeom>
          <a:noFill/>
        </p:spPr>
        <p:txBody>
          <a:bodyPr wrap="square" rtlCol="0">
            <a:spAutoFit/>
          </a:bodyPr>
          <a:lstStyle/>
          <a:p>
            <a:r>
              <a:rPr lang="en-CA" sz="1400" b="1" i="1" dirty="0"/>
              <a:t>31 evaluators across 11 teams in OPO. Ongoing Testing.</a:t>
            </a:r>
            <a:endParaRPr lang="en-CA" sz="1400" i="1" dirty="0"/>
          </a:p>
        </p:txBody>
      </p:sp>
      <p:graphicFrame>
        <p:nvGraphicFramePr>
          <p:cNvPr id="10" name="Table 9">
            <a:extLst>
              <a:ext uri="{FF2B5EF4-FFF2-40B4-BE49-F238E27FC236}">
                <a16:creationId xmlns:a16="http://schemas.microsoft.com/office/drawing/2014/main" id="{C6EABC53-4B4A-CD8D-E0C2-07AFA524E29A}"/>
              </a:ext>
            </a:extLst>
          </p:cNvPr>
          <p:cNvGraphicFramePr>
            <a:graphicFrameLocks noGrp="1"/>
          </p:cNvGraphicFramePr>
          <p:nvPr>
            <p:extLst>
              <p:ext uri="{D42A27DB-BD31-4B8C-83A1-F6EECF244321}">
                <p14:modId xmlns:p14="http://schemas.microsoft.com/office/powerpoint/2010/main" val="2732441282"/>
              </p:ext>
            </p:extLst>
          </p:nvPr>
        </p:nvGraphicFramePr>
        <p:xfrm>
          <a:off x="3396000" y="1862433"/>
          <a:ext cx="5400000" cy="3133134"/>
        </p:xfrm>
        <a:graphic>
          <a:graphicData uri="http://schemas.openxmlformats.org/drawingml/2006/table">
            <a:tbl>
              <a:tblPr firstRow="1" bandRow="1">
                <a:tableStyleId>{073A0DAA-6AF3-43AB-8588-CEC1D06C72B9}</a:tableStyleId>
              </a:tblPr>
              <a:tblGrid>
                <a:gridCol w="2700000">
                  <a:extLst>
                    <a:ext uri="{9D8B030D-6E8A-4147-A177-3AD203B41FA5}">
                      <a16:colId xmlns:a16="http://schemas.microsoft.com/office/drawing/2014/main" val="2493834801"/>
                    </a:ext>
                  </a:extLst>
                </a:gridCol>
                <a:gridCol w="2700000">
                  <a:extLst>
                    <a:ext uri="{9D8B030D-6E8A-4147-A177-3AD203B41FA5}">
                      <a16:colId xmlns:a16="http://schemas.microsoft.com/office/drawing/2014/main" val="3501749371"/>
                    </a:ext>
                  </a:extLst>
                </a:gridCol>
              </a:tblGrid>
              <a:tr h="613134">
                <a:tc>
                  <a:txBody>
                    <a:bodyPr/>
                    <a:lstStyle/>
                    <a:p>
                      <a:pPr algn="ctr"/>
                      <a:r>
                        <a:rPr lang="en-CA" sz="1800"/>
                        <a:t>Scoring Parameters</a:t>
                      </a:r>
                    </a:p>
                  </a:txBody>
                  <a:tcPr anchor="ctr"/>
                </a:tc>
                <a:tc>
                  <a:txBody>
                    <a:bodyPr/>
                    <a:lstStyle/>
                    <a:p>
                      <a:pPr algn="ctr"/>
                      <a:r>
                        <a:rPr lang="en-CA" sz="1800" dirty="0"/>
                        <a:t>OPO’s OSKAR</a:t>
                      </a:r>
                    </a:p>
                  </a:txBody>
                  <a:tcPr anchor="ctr"/>
                </a:tc>
                <a:extLst>
                  <a:ext uri="{0D108BD9-81ED-4DB2-BD59-A6C34878D82A}">
                    <a16:rowId xmlns:a16="http://schemas.microsoft.com/office/drawing/2014/main" val="1063820033"/>
                  </a:ext>
                </a:extLst>
              </a:tr>
              <a:tr h="630000">
                <a:tc>
                  <a:txBody>
                    <a:bodyPr/>
                    <a:lstStyle/>
                    <a:p>
                      <a:pPr algn="ctr"/>
                      <a:r>
                        <a:rPr lang="en-CA" sz="1600" b="0"/>
                        <a:t>ACCURACY</a:t>
                      </a:r>
                    </a:p>
                  </a:txBody>
                  <a:tcPr anchor="ctr"/>
                </a:tc>
                <a:tc>
                  <a:txBody>
                    <a:bodyPr/>
                    <a:lstStyle/>
                    <a:p>
                      <a:pPr algn="ctr"/>
                      <a:r>
                        <a:rPr lang="en-CA" sz="1600" dirty="0"/>
                        <a:t>3.89 / 5</a:t>
                      </a:r>
                    </a:p>
                  </a:txBody>
                  <a:tcPr anchor="ctr"/>
                </a:tc>
                <a:extLst>
                  <a:ext uri="{0D108BD9-81ED-4DB2-BD59-A6C34878D82A}">
                    <a16:rowId xmlns:a16="http://schemas.microsoft.com/office/drawing/2014/main" val="3196991479"/>
                  </a:ext>
                </a:extLst>
              </a:tr>
              <a:tr h="630000">
                <a:tc>
                  <a:txBody>
                    <a:bodyPr/>
                    <a:lstStyle/>
                    <a:p>
                      <a:pPr algn="ctr"/>
                      <a:r>
                        <a:rPr lang="en-CA" sz="1600" b="0"/>
                        <a:t>RELEVANCE</a:t>
                      </a:r>
                    </a:p>
                  </a:txBody>
                  <a:tcPr anchor="ctr"/>
                </a:tc>
                <a:tc>
                  <a:txBody>
                    <a:bodyPr/>
                    <a:lstStyle/>
                    <a:p>
                      <a:pPr algn="ctr"/>
                      <a:r>
                        <a:rPr lang="en-CA" sz="1600" dirty="0"/>
                        <a:t>4.1 / 5</a:t>
                      </a:r>
                    </a:p>
                  </a:txBody>
                  <a:tcPr anchor="ctr"/>
                </a:tc>
                <a:extLst>
                  <a:ext uri="{0D108BD9-81ED-4DB2-BD59-A6C34878D82A}">
                    <a16:rowId xmlns:a16="http://schemas.microsoft.com/office/drawing/2014/main" val="464154981"/>
                  </a:ext>
                </a:extLst>
              </a:tr>
              <a:tr h="630000">
                <a:tc>
                  <a:txBody>
                    <a:bodyPr/>
                    <a:lstStyle/>
                    <a:p>
                      <a:pPr algn="ctr"/>
                      <a:r>
                        <a:rPr lang="en-CA" sz="1600" b="0"/>
                        <a:t>COMPLETENESS</a:t>
                      </a:r>
                    </a:p>
                  </a:txBody>
                  <a:tcPr anchor="ctr"/>
                </a:tc>
                <a:tc>
                  <a:txBody>
                    <a:bodyPr/>
                    <a:lstStyle/>
                    <a:p>
                      <a:pPr algn="ctr"/>
                      <a:r>
                        <a:rPr lang="en-CA" sz="1600" dirty="0"/>
                        <a:t>3.82 / 5</a:t>
                      </a:r>
                    </a:p>
                  </a:txBody>
                  <a:tcPr anchor="ctr"/>
                </a:tc>
                <a:extLst>
                  <a:ext uri="{0D108BD9-81ED-4DB2-BD59-A6C34878D82A}">
                    <a16:rowId xmlns:a16="http://schemas.microsoft.com/office/drawing/2014/main" val="3644349074"/>
                  </a:ext>
                </a:extLst>
              </a:tr>
              <a:tr h="630000">
                <a:tc>
                  <a:txBody>
                    <a:bodyPr/>
                    <a:lstStyle/>
                    <a:p>
                      <a:pPr algn="ctr"/>
                      <a:r>
                        <a:rPr lang="en-CA" sz="1600" b="0"/>
                        <a:t>CONCISENESS</a:t>
                      </a:r>
                    </a:p>
                  </a:txBody>
                  <a:tcPr anchor="ctr"/>
                </a:tc>
                <a:tc>
                  <a:txBody>
                    <a:bodyPr/>
                    <a:lstStyle/>
                    <a:p>
                      <a:pPr algn="ctr"/>
                      <a:r>
                        <a:rPr lang="en-CA" sz="1600" dirty="0"/>
                        <a:t>4.14 / 5</a:t>
                      </a:r>
                    </a:p>
                  </a:txBody>
                  <a:tcPr anchor="ctr"/>
                </a:tc>
                <a:extLst>
                  <a:ext uri="{0D108BD9-81ED-4DB2-BD59-A6C34878D82A}">
                    <a16:rowId xmlns:a16="http://schemas.microsoft.com/office/drawing/2014/main" val="554988994"/>
                  </a:ext>
                </a:extLst>
              </a:tr>
            </a:tbl>
          </a:graphicData>
        </a:graphic>
      </p:graphicFrame>
      <p:sp>
        <p:nvSpPr>
          <p:cNvPr id="11" name="Text Placeholder 11">
            <a:extLst>
              <a:ext uri="{FF2B5EF4-FFF2-40B4-BE49-F238E27FC236}">
                <a16:creationId xmlns:a16="http://schemas.microsoft.com/office/drawing/2014/main" id="{1889C738-B505-830C-B9DD-9CA34F14491E}"/>
              </a:ext>
            </a:extLst>
          </p:cNvPr>
          <p:cNvSpPr txBox="1">
            <a:spLocks/>
          </p:cNvSpPr>
          <p:nvPr/>
        </p:nvSpPr>
        <p:spPr>
          <a:xfrm>
            <a:off x="694944" y="5735955"/>
            <a:ext cx="10820399" cy="355146"/>
          </a:xfrm>
          <a:prstGeom prst="rect">
            <a:avLst/>
          </a:prstGeom>
          <a:solidFill>
            <a:schemeClr val="accent2">
              <a:lumMod val="40000"/>
              <a:lumOff val="60000"/>
            </a:schemeClr>
          </a:solidFill>
        </p:spPr>
        <p:txBody>
          <a:bodyPr anchor="ctr"/>
          <a:lstStyle>
            <a:lvl1pPr marL="219456"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4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sz="1600" b="1" i="1" dirty="0"/>
              <a:t>Currently being tested on the dedicated workstation for OSKAR. 7-10 testers per week.</a:t>
            </a:r>
            <a:endParaRPr lang="en-US" sz="1600" b="1" i="1" dirty="0"/>
          </a:p>
        </p:txBody>
      </p:sp>
    </p:spTree>
    <p:extLst>
      <p:ext uri="{BB962C8B-B14F-4D97-AF65-F5344CB8AC3E}">
        <p14:creationId xmlns:p14="http://schemas.microsoft.com/office/powerpoint/2010/main" val="3684098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2975A-6FE7-01DC-8547-0F3D502F268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935EE72-CD7F-2BD4-4B5E-88E916321954}"/>
              </a:ext>
            </a:extLst>
          </p:cNvPr>
          <p:cNvSpPr>
            <a:spLocks noGrp="1"/>
          </p:cNvSpPr>
          <p:nvPr>
            <p:ph type="title"/>
          </p:nvPr>
        </p:nvSpPr>
        <p:spPr/>
        <p:txBody>
          <a:bodyPr/>
          <a:lstStyle/>
          <a:p>
            <a:r>
              <a:rPr lang="en-US" sz="2800"/>
              <a:t>KEY FEATURES</a:t>
            </a:r>
          </a:p>
        </p:txBody>
      </p:sp>
      <p:sp>
        <p:nvSpPr>
          <p:cNvPr id="6" name="Footer Placeholder 5">
            <a:extLst>
              <a:ext uri="{FF2B5EF4-FFF2-40B4-BE49-F238E27FC236}">
                <a16:creationId xmlns:a16="http://schemas.microsoft.com/office/drawing/2014/main" id="{7AB883F0-5C2B-D2C2-9633-823BBCE8D66B}"/>
              </a:ext>
            </a:extLst>
          </p:cNvPr>
          <p:cNvSpPr>
            <a:spLocks noGrp="1"/>
          </p:cNvSpPr>
          <p:nvPr>
            <p:ph type="ftr" sz="quarter" idx="3"/>
          </p:nvPr>
        </p:nvSpPr>
        <p:spPr>
          <a:xfrm>
            <a:off x="0" y="6416377"/>
            <a:ext cx="12192000" cy="107722"/>
          </a:xfrm>
        </p:spPr>
        <p:txBody>
          <a:bodyPr/>
          <a:lstStyle/>
          <a:p>
            <a:r>
              <a:rPr lang="en-US"/>
              <a:t>EXPORT MARKING: (Insert Export Marking) [TO CHANGE GO TO INSERT &gt; HEADER &amp; FOOTER] </a:t>
            </a:r>
          </a:p>
        </p:txBody>
      </p:sp>
      <p:sp>
        <p:nvSpPr>
          <p:cNvPr id="11" name="Slide Number Placeholder 10">
            <a:extLst>
              <a:ext uri="{FF2B5EF4-FFF2-40B4-BE49-F238E27FC236}">
                <a16:creationId xmlns:a16="http://schemas.microsoft.com/office/drawing/2014/main" id="{E988B6D3-79C9-DF2C-5758-27ABA0F1B150}"/>
              </a:ext>
            </a:extLst>
          </p:cNvPr>
          <p:cNvSpPr>
            <a:spLocks noGrp="1"/>
          </p:cNvSpPr>
          <p:nvPr>
            <p:ph type="sldNum" sz="quarter" idx="4"/>
          </p:nvPr>
        </p:nvSpPr>
        <p:spPr/>
        <p:txBody>
          <a:bodyPr/>
          <a:lstStyle/>
          <a:p>
            <a:fld id="{07165E6F-54ED-4977-A15E-D44BE7238A65}" type="slidenum">
              <a:rPr lang="en-US" smtClean="0"/>
              <a:pPr/>
              <a:t>21</a:t>
            </a:fld>
            <a:endParaRPr lang="en-US"/>
          </a:p>
        </p:txBody>
      </p:sp>
      <p:sp>
        <p:nvSpPr>
          <p:cNvPr id="24" name="Rectangle 23">
            <a:extLst>
              <a:ext uri="{FF2B5EF4-FFF2-40B4-BE49-F238E27FC236}">
                <a16:creationId xmlns:a16="http://schemas.microsoft.com/office/drawing/2014/main" id="{E29A9193-034E-0765-B1D6-B6E2904262B8}"/>
              </a:ext>
            </a:extLst>
          </p:cNvPr>
          <p:cNvSpPr/>
          <p:nvPr/>
        </p:nvSpPr>
        <p:spPr>
          <a:xfrm>
            <a:off x="293597" y="1288329"/>
            <a:ext cx="5950850" cy="10115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TextBox 31">
            <a:extLst>
              <a:ext uri="{FF2B5EF4-FFF2-40B4-BE49-F238E27FC236}">
                <a16:creationId xmlns:a16="http://schemas.microsoft.com/office/drawing/2014/main" id="{9A57E8A2-3ECD-BB9E-1CEC-E36DF0F3A117}"/>
              </a:ext>
            </a:extLst>
          </p:cNvPr>
          <p:cNvSpPr txBox="1"/>
          <p:nvPr/>
        </p:nvSpPr>
        <p:spPr>
          <a:xfrm>
            <a:off x="1667423" y="1404896"/>
            <a:ext cx="3508460" cy="338554"/>
          </a:xfrm>
          <a:prstGeom prst="rect">
            <a:avLst/>
          </a:prstGeom>
          <a:noFill/>
        </p:spPr>
        <p:txBody>
          <a:bodyPr wrap="none" rtlCol="0">
            <a:spAutoFit/>
          </a:bodyPr>
          <a:lstStyle/>
          <a:p>
            <a:pPr algn="ctr"/>
            <a:r>
              <a:rPr lang="en-CA" sz="1600" b="1"/>
              <a:t>OPO KNOWLEDGE INTEGRATION</a:t>
            </a:r>
          </a:p>
        </p:txBody>
      </p:sp>
      <p:sp>
        <p:nvSpPr>
          <p:cNvPr id="33" name="TextBox 32">
            <a:extLst>
              <a:ext uri="{FF2B5EF4-FFF2-40B4-BE49-F238E27FC236}">
                <a16:creationId xmlns:a16="http://schemas.microsoft.com/office/drawing/2014/main" id="{906F9716-7972-8387-F60B-820F1BECB2BC}"/>
              </a:ext>
            </a:extLst>
          </p:cNvPr>
          <p:cNvSpPr txBox="1"/>
          <p:nvPr/>
        </p:nvSpPr>
        <p:spPr>
          <a:xfrm>
            <a:off x="293597" y="1759634"/>
            <a:ext cx="5950850" cy="461665"/>
          </a:xfrm>
          <a:prstGeom prst="rect">
            <a:avLst/>
          </a:prstGeom>
          <a:noFill/>
        </p:spPr>
        <p:txBody>
          <a:bodyPr wrap="square" rtlCol="0">
            <a:spAutoFit/>
          </a:bodyPr>
          <a:lstStyle/>
          <a:p>
            <a:pPr algn="ctr"/>
            <a:r>
              <a:rPr lang="en-CA" sz="1200"/>
              <a:t>Quick access to latest OPO centric information - Procedures (OPMPs &amp; IMPs), Work Instructions &amp; Cookbooks. MMPs, QMSP, AS9100D &amp; ISO 19011</a:t>
            </a:r>
          </a:p>
        </p:txBody>
      </p:sp>
      <p:pic>
        <p:nvPicPr>
          <p:cNvPr id="22" name="Graphic 21" descr="Database with solid fill">
            <a:extLst>
              <a:ext uri="{FF2B5EF4-FFF2-40B4-BE49-F238E27FC236}">
                <a16:creationId xmlns:a16="http://schemas.microsoft.com/office/drawing/2014/main" id="{7C7212F3-9902-7FCB-3C85-0AC2E91008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5669" y="1394173"/>
            <a:ext cx="360000" cy="360000"/>
          </a:xfrm>
          <a:prstGeom prst="rect">
            <a:avLst/>
          </a:prstGeom>
        </p:spPr>
      </p:pic>
      <p:sp>
        <p:nvSpPr>
          <p:cNvPr id="43" name="Rectangle 42">
            <a:extLst>
              <a:ext uri="{FF2B5EF4-FFF2-40B4-BE49-F238E27FC236}">
                <a16:creationId xmlns:a16="http://schemas.microsoft.com/office/drawing/2014/main" id="{94E7A35E-6AB0-41E4-73FC-271A68A983A7}"/>
              </a:ext>
            </a:extLst>
          </p:cNvPr>
          <p:cNvSpPr/>
          <p:nvPr/>
        </p:nvSpPr>
        <p:spPr>
          <a:xfrm>
            <a:off x="6441830" y="1282210"/>
            <a:ext cx="5456573" cy="10115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TextBox 43">
            <a:extLst>
              <a:ext uri="{FF2B5EF4-FFF2-40B4-BE49-F238E27FC236}">
                <a16:creationId xmlns:a16="http://schemas.microsoft.com/office/drawing/2014/main" id="{B1966317-55E3-E851-CA7E-3026398408E5}"/>
              </a:ext>
            </a:extLst>
          </p:cNvPr>
          <p:cNvSpPr txBox="1"/>
          <p:nvPr/>
        </p:nvSpPr>
        <p:spPr>
          <a:xfrm>
            <a:off x="6739683" y="1404896"/>
            <a:ext cx="5158721" cy="338554"/>
          </a:xfrm>
          <a:prstGeom prst="rect">
            <a:avLst/>
          </a:prstGeom>
          <a:noFill/>
        </p:spPr>
        <p:txBody>
          <a:bodyPr wrap="none" rtlCol="0">
            <a:spAutoFit/>
          </a:bodyPr>
          <a:lstStyle/>
          <a:p>
            <a:pPr algn="ctr"/>
            <a:r>
              <a:rPr lang="en-CA" sz="1600" b="1"/>
              <a:t>ENHANCED INFORMATION SEARCH &amp; RETRIEVAL</a:t>
            </a:r>
          </a:p>
        </p:txBody>
      </p:sp>
      <p:sp>
        <p:nvSpPr>
          <p:cNvPr id="46" name="TextBox 45">
            <a:extLst>
              <a:ext uri="{FF2B5EF4-FFF2-40B4-BE49-F238E27FC236}">
                <a16:creationId xmlns:a16="http://schemas.microsoft.com/office/drawing/2014/main" id="{164CEFDC-2DDF-BAD6-1F5C-65F326424B0F}"/>
              </a:ext>
            </a:extLst>
          </p:cNvPr>
          <p:cNvSpPr txBox="1"/>
          <p:nvPr/>
        </p:nvSpPr>
        <p:spPr>
          <a:xfrm>
            <a:off x="6441831" y="1759634"/>
            <a:ext cx="5456573" cy="461665"/>
          </a:xfrm>
          <a:prstGeom prst="rect">
            <a:avLst/>
          </a:prstGeom>
          <a:noFill/>
        </p:spPr>
        <p:txBody>
          <a:bodyPr wrap="square" rtlCol="0">
            <a:spAutoFit/>
          </a:bodyPr>
          <a:lstStyle/>
          <a:p>
            <a:pPr algn="ctr"/>
            <a:r>
              <a:rPr lang="en-CA" sz="1200"/>
              <a:t>Search through ingested OPO information and get answers to your queries in seconds with links to source used.</a:t>
            </a:r>
          </a:p>
        </p:txBody>
      </p:sp>
      <p:pic>
        <p:nvPicPr>
          <p:cNvPr id="48" name="Graphic 47" descr="Folder Search with solid fill">
            <a:extLst>
              <a:ext uri="{FF2B5EF4-FFF2-40B4-BE49-F238E27FC236}">
                <a16:creationId xmlns:a16="http://schemas.microsoft.com/office/drawing/2014/main" id="{637C3B5A-3687-C1FE-92B4-DB94E65BE0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70078" y="1391542"/>
            <a:ext cx="360000" cy="360000"/>
          </a:xfrm>
          <a:prstGeom prst="rect">
            <a:avLst/>
          </a:prstGeom>
        </p:spPr>
      </p:pic>
      <p:sp>
        <p:nvSpPr>
          <p:cNvPr id="9" name="Rectangle 8">
            <a:extLst>
              <a:ext uri="{FF2B5EF4-FFF2-40B4-BE49-F238E27FC236}">
                <a16:creationId xmlns:a16="http://schemas.microsoft.com/office/drawing/2014/main" id="{905CD2FE-9AD1-C794-C3EC-AC1B2A0BE14A}"/>
              </a:ext>
            </a:extLst>
          </p:cNvPr>
          <p:cNvSpPr/>
          <p:nvPr/>
        </p:nvSpPr>
        <p:spPr>
          <a:xfrm>
            <a:off x="287363" y="2508999"/>
            <a:ext cx="5950851" cy="10115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6B404341-0506-9FFC-9542-94C2C5ADCD34}"/>
              </a:ext>
            </a:extLst>
          </p:cNvPr>
          <p:cNvSpPr txBox="1"/>
          <p:nvPr/>
        </p:nvSpPr>
        <p:spPr>
          <a:xfrm>
            <a:off x="287363" y="2980303"/>
            <a:ext cx="5950851" cy="461665"/>
          </a:xfrm>
          <a:prstGeom prst="rect">
            <a:avLst/>
          </a:prstGeom>
          <a:noFill/>
        </p:spPr>
        <p:txBody>
          <a:bodyPr wrap="square" rtlCol="0">
            <a:spAutoFit/>
          </a:bodyPr>
          <a:lstStyle/>
          <a:p>
            <a:pPr algn="ctr"/>
            <a:r>
              <a:rPr lang="en-CA" sz="1200"/>
              <a:t>Generate content for emails, presentations and procedures by grounding in OPO knowledge base</a:t>
            </a:r>
          </a:p>
        </p:txBody>
      </p:sp>
      <p:sp>
        <p:nvSpPr>
          <p:cNvPr id="14" name="TextBox 13">
            <a:extLst>
              <a:ext uri="{FF2B5EF4-FFF2-40B4-BE49-F238E27FC236}">
                <a16:creationId xmlns:a16="http://schemas.microsoft.com/office/drawing/2014/main" id="{6A11674B-F469-E0F9-67C8-3D35F34F183D}"/>
              </a:ext>
            </a:extLst>
          </p:cNvPr>
          <p:cNvSpPr txBox="1"/>
          <p:nvPr/>
        </p:nvSpPr>
        <p:spPr>
          <a:xfrm>
            <a:off x="2300056" y="2601781"/>
            <a:ext cx="2325830" cy="338554"/>
          </a:xfrm>
          <a:prstGeom prst="rect">
            <a:avLst/>
          </a:prstGeom>
          <a:noFill/>
        </p:spPr>
        <p:txBody>
          <a:bodyPr wrap="square" lIns="91440" tIns="45720" rIns="91440" bIns="45720" rtlCol="0" anchor="t">
            <a:spAutoFit/>
          </a:bodyPr>
          <a:lstStyle/>
          <a:p>
            <a:pPr algn="ctr"/>
            <a:r>
              <a:rPr lang="en-CA" sz="1600" b="1"/>
              <a:t>WRITING ASSISTANT</a:t>
            </a:r>
          </a:p>
        </p:txBody>
      </p:sp>
      <p:pic>
        <p:nvPicPr>
          <p:cNvPr id="15" name="Graphic 14" descr="Typewriter with solid fill">
            <a:extLst>
              <a:ext uri="{FF2B5EF4-FFF2-40B4-BE49-F238E27FC236}">
                <a16:creationId xmlns:a16="http://schemas.microsoft.com/office/drawing/2014/main" id="{86F7755D-421D-9DF6-A887-2984F7F7AB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83358" y="2600319"/>
            <a:ext cx="360000" cy="360000"/>
          </a:xfrm>
          <a:prstGeom prst="rect">
            <a:avLst/>
          </a:prstGeom>
        </p:spPr>
      </p:pic>
      <p:sp>
        <p:nvSpPr>
          <p:cNvPr id="23" name="Rectangle 22">
            <a:extLst>
              <a:ext uri="{FF2B5EF4-FFF2-40B4-BE49-F238E27FC236}">
                <a16:creationId xmlns:a16="http://schemas.microsoft.com/office/drawing/2014/main" id="{A5668FCA-2C63-43F5-615F-06491F18727B}"/>
              </a:ext>
            </a:extLst>
          </p:cNvPr>
          <p:cNvSpPr/>
          <p:nvPr/>
        </p:nvSpPr>
        <p:spPr>
          <a:xfrm>
            <a:off x="6441831" y="2508999"/>
            <a:ext cx="5456573" cy="10115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TextBox 24">
            <a:extLst>
              <a:ext uri="{FF2B5EF4-FFF2-40B4-BE49-F238E27FC236}">
                <a16:creationId xmlns:a16="http://schemas.microsoft.com/office/drawing/2014/main" id="{4D2B3A93-40D8-F370-E346-DE6E2B90B44A}"/>
              </a:ext>
            </a:extLst>
          </p:cNvPr>
          <p:cNvSpPr txBox="1"/>
          <p:nvPr/>
        </p:nvSpPr>
        <p:spPr>
          <a:xfrm>
            <a:off x="6441831" y="2980303"/>
            <a:ext cx="5456573" cy="461665"/>
          </a:xfrm>
          <a:prstGeom prst="rect">
            <a:avLst/>
          </a:prstGeom>
          <a:noFill/>
        </p:spPr>
        <p:txBody>
          <a:bodyPr wrap="square" rtlCol="0">
            <a:spAutoFit/>
          </a:bodyPr>
          <a:lstStyle/>
          <a:p>
            <a:pPr algn="ctr"/>
            <a:r>
              <a:rPr lang="en-CA" sz="1200"/>
              <a:t>Summarize lengthy documents, trainings, meeting transcripts, and get key points discussed and further action items</a:t>
            </a:r>
          </a:p>
        </p:txBody>
      </p:sp>
      <p:sp>
        <p:nvSpPr>
          <p:cNvPr id="26" name="TextBox 25">
            <a:extLst>
              <a:ext uri="{FF2B5EF4-FFF2-40B4-BE49-F238E27FC236}">
                <a16:creationId xmlns:a16="http://schemas.microsoft.com/office/drawing/2014/main" id="{38BC279F-9011-9FBD-BA71-1AE30481AEAC}"/>
              </a:ext>
            </a:extLst>
          </p:cNvPr>
          <p:cNvSpPr txBox="1"/>
          <p:nvPr/>
        </p:nvSpPr>
        <p:spPr>
          <a:xfrm>
            <a:off x="8462762" y="2613768"/>
            <a:ext cx="1727446" cy="338554"/>
          </a:xfrm>
          <a:prstGeom prst="rect">
            <a:avLst/>
          </a:prstGeom>
          <a:noFill/>
        </p:spPr>
        <p:txBody>
          <a:bodyPr wrap="square" lIns="91440" tIns="45720" rIns="91440" bIns="45720" rtlCol="0" anchor="t">
            <a:spAutoFit/>
          </a:bodyPr>
          <a:lstStyle/>
          <a:p>
            <a:pPr algn="ctr"/>
            <a:r>
              <a:rPr lang="en-CA" sz="1600" b="1"/>
              <a:t>SUMMARIZER</a:t>
            </a:r>
          </a:p>
        </p:txBody>
      </p:sp>
      <p:pic>
        <p:nvPicPr>
          <p:cNvPr id="29" name="Graphic 28" descr="List with solid fill">
            <a:extLst>
              <a:ext uri="{FF2B5EF4-FFF2-40B4-BE49-F238E27FC236}">
                <a16:creationId xmlns:a16="http://schemas.microsoft.com/office/drawing/2014/main" id="{EF980744-982A-1A73-C212-B454B2120D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59145" y="2600319"/>
            <a:ext cx="365452" cy="365452"/>
          </a:xfrm>
          <a:prstGeom prst="rect">
            <a:avLst/>
          </a:prstGeom>
        </p:spPr>
      </p:pic>
      <p:sp>
        <p:nvSpPr>
          <p:cNvPr id="30" name="Rectangle 29">
            <a:extLst>
              <a:ext uri="{FF2B5EF4-FFF2-40B4-BE49-F238E27FC236}">
                <a16:creationId xmlns:a16="http://schemas.microsoft.com/office/drawing/2014/main" id="{91F9E12F-D838-FD78-D428-C16A1E7E1E65}"/>
              </a:ext>
            </a:extLst>
          </p:cNvPr>
          <p:cNvSpPr/>
          <p:nvPr/>
        </p:nvSpPr>
        <p:spPr>
          <a:xfrm>
            <a:off x="287363" y="3729667"/>
            <a:ext cx="5950851" cy="10115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TextBox 30">
            <a:extLst>
              <a:ext uri="{FF2B5EF4-FFF2-40B4-BE49-F238E27FC236}">
                <a16:creationId xmlns:a16="http://schemas.microsoft.com/office/drawing/2014/main" id="{623642D4-621F-D7C2-3685-181F0596F60D}"/>
              </a:ext>
            </a:extLst>
          </p:cNvPr>
          <p:cNvSpPr txBox="1"/>
          <p:nvPr/>
        </p:nvSpPr>
        <p:spPr>
          <a:xfrm>
            <a:off x="287363" y="4200973"/>
            <a:ext cx="5950851" cy="461665"/>
          </a:xfrm>
          <a:prstGeom prst="rect">
            <a:avLst/>
          </a:prstGeom>
          <a:noFill/>
        </p:spPr>
        <p:txBody>
          <a:bodyPr wrap="square" rtlCol="0">
            <a:spAutoFit/>
          </a:bodyPr>
          <a:lstStyle/>
          <a:p>
            <a:pPr algn="ctr"/>
            <a:r>
              <a:rPr lang="en-CA" sz="1200"/>
              <a:t>Compare &amp; analyse documents, identify errors in documents, check for compliance issues, analyse gaps &amp; suggest improvements.</a:t>
            </a:r>
          </a:p>
        </p:txBody>
      </p:sp>
      <p:sp>
        <p:nvSpPr>
          <p:cNvPr id="35" name="TextBox 34">
            <a:extLst>
              <a:ext uri="{FF2B5EF4-FFF2-40B4-BE49-F238E27FC236}">
                <a16:creationId xmlns:a16="http://schemas.microsoft.com/office/drawing/2014/main" id="{CB639FC9-8CC3-8EA3-225E-30ADCBDB798E}"/>
              </a:ext>
            </a:extLst>
          </p:cNvPr>
          <p:cNvSpPr txBox="1"/>
          <p:nvPr/>
        </p:nvSpPr>
        <p:spPr>
          <a:xfrm>
            <a:off x="2271344" y="3830440"/>
            <a:ext cx="2511393" cy="338554"/>
          </a:xfrm>
          <a:prstGeom prst="rect">
            <a:avLst/>
          </a:prstGeom>
          <a:noFill/>
        </p:spPr>
        <p:txBody>
          <a:bodyPr wrap="none" rtlCol="0">
            <a:spAutoFit/>
          </a:bodyPr>
          <a:lstStyle/>
          <a:p>
            <a:pPr algn="ctr"/>
            <a:r>
              <a:rPr lang="en-CA" sz="1600" b="1"/>
              <a:t>DOCUMENT ANALYZER</a:t>
            </a:r>
          </a:p>
        </p:txBody>
      </p:sp>
      <p:pic>
        <p:nvPicPr>
          <p:cNvPr id="36" name="Graphic 35" descr="Document with solid fill">
            <a:extLst>
              <a:ext uri="{FF2B5EF4-FFF2-40B4-BE49-F238E27FC236}">
                <a16:creationId xmlns:a16="http://schemas.microsoft.com/office/drawing/2014/main" id="{55A1BC7C-0671-5163-7E65-21DCFFBB014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91773" y="3819717"/>
            <a:ext cx="360000" cy="360000"/>
          </a:xfrm>
          <a:prstGeom prst="rect">
            <a:avLst/>
          </a:prstGeom>
        </p:spPr>
      </p:pic>
      <p:sp>
        <p:nvSpPr>
          <p:cNvPr id="38" name="Rectangle 37">
            <a:extLst>
              <a:ext uri="{FF2B5EF4-FFF2-40B4-BE49-F238E27FC236}">
                <a16:creationId xmlns:a16="http://schemas.microsoft.com/office/drawing/2014/main" id="{48626929-BB66-5A0C-7614-66C71A858E18}"/>
              </a:ext>
            </a:extLst>
          </p:cNvPr>
          <p:cNvSpPr/>
          <p:nvPr/>
        </p:nvSpPr>
        <p:spPr>
          <a:xfrm>
            <a:off x="6441830" y="3729667"/>
            <a:ext cx="5456573" cy="10115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TextBox 38">
            <a:extLst>
              <a:ext uri="{FF2B5EF4-FFF2-40B4-BE49-F238E27FC236}">
                <a16:creationId xmlns:a16="http://schemas.microsoft.com/office/drawing/2014/main" id="{B4A961C8-F87C-A896-6B77-B052FA095778}"/>
              </a:ext>
            </a:extLst>
          </p:cNvPr>
          <p:cNvSpPr txBox="1"/>
          <p:nvPr/>
        </p:nvSpPr>
        <p:spPr>
          <a:xfrm>
            <a:off x="7723501" y="3846234"/>
            <a:ext cx="3339377" cy="338554"/>
          </a:xfrm>
          <a:prstGeom prst="rect">
            <a:avLst/>
          </a:prstGeom>
          <a:noFill/>
        </p:spPr>
        <p:txBody>
          <a:bodyPr wrap="none" rtlCol="0">
            <a:spAutoFit/>
          </a:bodyPr>
          <a:lstStyle/>
          <a:p>
            <a:pPr algn="ctr"/>
            <a:r>
              <a:rPr lang="en-CA" sz="1600" b="1"/>
              <a:t>NEW EMPLOYEE ONBOARDING</a:t>
            </a:r>
          </a:p>
        </p:txBody>
      </p:sp>
      <p:sp>
        <p:nvSpPr>
          <p:cNvPr id="40" name="TextBox 39">
            <a:extLst>
              <a:ext uri="{FF2B5EF4-FFF2-40B4-BE49-F238E27FC236}">
                <a16:creationId xmlns:a16="http://schemas.microsoft.com/office/drawing/2014/main" id="{4C8BC700-35D5-99F0-5B53-D820086EF2D5}"/>
              </a:ext>
            </a:extLst>
          </p:cNvPr>
          <p:cNvSpPr txBox="1"/>
          <p:nvPr/>
        </p:nvSpPr>
        <p:spPr>
          <a:xfrm>
            <a:off x="6441830" y="4200972"/>
            <a:ext cx="5456573" cy="461665"/>
          </a:xfrm>
          <a:prstGeom prst="rect">
            <a:avLst/>
          </a:prstGeom>
          <a:noFill/>
        </p:spPr>
        <p:txBody>
          <a:bodyPr wrap="square" rtlCol="0">
            <a:spAutoFit/>
          </a:bodyPr>
          <a:lstStyle/>
          <a:p>
            <a:pPr algn="ctr"/>
            <a:r>
              <a:rPr lang="en-CA" sz="1200"/>
              <a:t>Streamlined onboarding with access to all departmental information. Mentors focus more on high-value activities than repetitive information sharing</a:t>
            </a:r>
          </a:p>
        </p:txBody>
      </p:sp>
      <p:pic>
        <p:nvPicPr>
          <p:cNvPr id="41" name="Graphic 40" descr="Employee badge with solid fill">
            <a:extLst>
              <a:ext uri="{FF2B5EF4-FFF2-40B4-BE49-F238E27FC236}">
                <a16:creationId xmlns:a16="http://schemas.microsoft.com/office/drawing/2014/main" id="{7B89376E-3170-AD09-00F0-B585ED8031D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66881" y="3830440"/>
            <a:ext cx="360000" cy="360000"/>
          </a:xfrm>
          <a:prstGeom prst="rect">
            <a:avLst/>
          </a:prstGeom>
        </p:spPr>
      </p:pic>
      <p:sp>
        <p:nvSpPr>
          <p:cNvPr id="45" name="Rectangle 44">
            <a:extLst>
              <a:ext uri="{FF2B5EF4-FFF2-40B4-BE49-F238E27FC236}">
                <a16:creationId xmlns:a16="http://schemas.microsoft.com/office/drawing/2014/main" id="{896B6198-D74E-9D42-6AED-1C5818E0FD68}"/>
              </a:ext>
            </a:extLst>
          </p:cNvPr>
          <p:cNvSpPr/>
          <p:nvPr/>
        </p:nvSpPr>
        <p:spPr>
          <a:xfrm>
            <a:off x="3615442" y="4950334"/>
            <a:ext cx="5456573" cy="10115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TextBox 46">
            <a:extLst>
              <a:ext uri="{FF2B5EF4-FFF2-40B4-BE49-F238E27FC236}">
                <a16:creationId xmlns:a16="http://schemas.microsoft.com/office/drawing/2014/main" id="{B185CDD7-F001-D95C-7A2A-9E397654DD79}"/>
              </a:ext>
            </a:extLst>
          </p:cNvPr>
          <p:cNvSpPr txBox="1"/>
          <p:nvPr/>
        </p:nvSpPr>
        <p:spPr>
          <a:xfrm>
            <a:off x="5007318" y="5066901"/>
            <a:ext cx="2970685" cy="338554"/>
          </a:xfrm>
          <a:prstGeom prst="rect">
            <a:avLst/>
          </a:prstGeom>
          <a:noFill/>
        </p:spPr>
        <p:txBody>
          <a:bodyPr wrap="none" rtlCol="0">
            <a:spAutoFit/>
          </a:bodyPr>
          <a:lstStyle/>
          <a:p>
            <a:pPr algn="ctr"/>
            <a:r>
              <a:rPr lang="en-CA" sz="1600" b="1"/>
              <a:t>INCREASED PRODUCTIVITY</a:t>
            </a:r>
          </a:p>
        </p:txBody>
      </p:sp>
      <p:sp>
        <p:nvSpPr>
          <p:cNvPr id="49" name="TextBox 48">
            <a:extLst>
              <a:ext uri="{FF2B5EF4-FFF2-40B4-BE49-F238E27FC236}">
                <a16:creationId xmlns:a16="http://schemas.microsoft.com/office/drawing/2014/main" id="{C0C1A341-8563-CAD0-A315-B99D0D7FE0A3}"/>
              </a:ext>
            </a:extLst>
          </p:cNvPr>
          <p:cNvSpPr txBox="1"/>
          <p:nvPr/>
        </p:nvSpPr>
        <p:spPr>
          <a:xfrm>
            <a:off x="3615442" y="5421639"/>
            <a:ext cx="5456573" cy="461665"/>
          </a:xfrm>
          <a:prstGeom prst="rect">
            <a:avLst/>
          </a:prstGeom>
          <a:noFill/>
        </p:spPr>
        <p:txBody>
          <a:bodyPr wrap="square" rtlCol="0">
            <a:spAutoFit/>
          </a:bodyPr>
          <a:lstStyle/>
          <a:p>
            <a:pPr algn="ctr"/>
            <a:r>
              <a:rPr lang="en-CA" sz="1200"/>
              <a:t>Reduction in time-to-information. Reduced errors and reworks. Allows more time for strategic thinking, innovation, and high-impact deliverables</a:t>
            </a:r>
          </a:p>
        </p:txBody>
      </p:sp>
      <p:pic>
        <p:nvPicPr>
          <p:cNvPr id="51" name="Graphic 50" descr="Business Growth with solid fill">
            <a:extLst>
              <a:ext uri="{FF2B5EF4-FFF2-40B4-BE49-F238E27FC236}">
                <a16:creationId xmlns:a16="http://schemas.microsoft.com/office/drawing/2014/main" id="{58559BCE-0F71-16CD-5B17-CDF243A5A15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677179" y="5061639"/>
            <a:ext cx="360000" cy="360000"/>
          </a:xfrm>
          <a:prstGeom prst="rect">
            <a:avLst/>
          </a:prstGeom>
        </p:spPr>
      </p:pic>
    </p:spTree>
    <p:extLst>
      <p:ext uri="{BB962C8B-B14F-4D97-AF65-F5344CB8AC3E}">
        <p14:creationId xmlns:p14="http://schemas.microsoft.com/office/powerpoint/2010/main" val="1774194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2C388-39F9-526F-EB44-D0437453690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B69D54-58C9-603B-AE07-BD5FB87A3B5D}"/>
              </a:ext>
            </a:extLst>
          </p:cNvPr>
          <p:cNvSpPr>
            <a:spLocks noGrp="1"/>
          </p:cNvSpPr>
          <p:nvPr>
            <p:ph type="title"/>
          </p:nvPr>
        </p:nvSpPr>
        <p:spPr>
          <a:xfrm>
            <a:off x="694944" y="466347"/>
            <a:ext cx="10811256" cy="436259"/>
          </a:xfrm>
        </p:spPr>
        <p:txBody>
          <a:bodyPr/>
          <a:lstStyle/>
          <a:p>
            <a:r>
              <a:rPr lang="en-CA" sz="2800"/>
              <a:t>CASE STUDY - </a:t>
            </a:r>
            <a:r>
              <a:rPr lang="en-CA" sz="2600"/>
              <a:t>NPI Job Ticket Process Training with Ashmeed Ali</a:t>
            </a:r>
            <a:endParaRPr lang="en-US" sz="2600"/>
          </a:p>
        </p:txBody>
      </p:sp>
      <p:sp>
        <p:nvSpPr>
          <p:cNvPr id="6" name="Footer Placeholder 5">
            <a:extLst>
              <a:ext uri="{FF2B5EF4-FFF2-40B4-BE49-F238E27FC236}">
                <a16:creationId xmlns:a16="http://schemas.microsoft.com/office/drawing/2014/main" id="{5775DE50-E4BC-17C7-A146-9FF34F71B555}"/>
              </a:ext>
            </a:extLst>
          </p:cNvPr>
          <p:cNvSpPr>
            <a:spLocks noGrp="1"/>
          </p:cNvSpPr>
          <p:nvPr>
            <p:ph type="ftr" sz="quarter" idx="3"/>
          </p:nvPr>
        </p:nvSpPr>
        <p:spPr>
          <a:xfrm>
            <a:off x="0" y="6416377"/>
            <a:ext cx="12192000" cy="107722"/>
          </a:xfrm>
        </p:spPr>
        <p:txBody>
          <a:bodyPr/>
          <a:lstStyle/>
          <a:p>
            <a:r>
              <a:rPr lang="en-US"/>
              <a:t>EXPORT MARKING: (Insert Export Marking) [TO CHANGE GO TO INSERT &gt; HEADER &amp; FOOTER] </a:t>
            </a:r>
          </a:p>
        </p:txBody>
      </p:sp>
      <p:sp>
        <p:nvSpPr>
          <p:cNvPr id="11" name="Slide Number Placeholder 10">
            <a:extLst>
              <a:ext uri="{FF2B5EF4-FFF2-40B4-BE49-F238E27FC236}">
                <a16:creationId xmlns:a16="http://schemas.microsoft.com/office/drawing/2014/main" id="{5F087FDD-10B4-502D-6A06-284CB03117D6}"/>
              </a:ext>
            </a:extLst>
          </p:cNvPr>
          <p:cNvSpPr>
            <a:spLocks noGrp="1"/>
          </p:cNvSpPr>
          <p:nvPr>
            <p:ph type="sldNum" sz="quarter" idx="4"/>
          </p:nvPr>
        </p:nvSpPr>
        <p:spPr/>
        <p:txBody>
          <a:bodyPr/>
          <a:lstStyle/>
          <a:p>
            <a:fld id="{07165E6F-54ED-4977-A15E-D44BE7238A65}" type="slidenum">
              <a:rPr lang="en-US" smtClean="0"/>
              <a:pPr/>
              <a:t>22</a:t>
            </a:fld>
            <a:endParaRPr lang="en-US"/>
          </a:p>
        </p:txBody>
      </p:sp>
      <p:sp>
        <p:nvSpPr>
          <p:cNvPr id="3" name="TextBox 2">
            <a:extLst>
              <a:ext uri="{FF2B5EF4-FFF2-40B4-BE49-F238E27FC236}">
                <a16:creationId xmlns:a16="http://schemas.microsoft.com/office/drawing/2014/main" id="{13F7DFDE-011D-CB2F-7CDB-DDFD1FFADA15}"/>
              </a:ext>
            </a:extLst>
          </p:cNvPr>
          <p:cNvSpPr txBox="1"/>
          <p:nvPr/>
        </p:nvSpPr>
        <p:spPr>
          <a:xfrm>
            <a:off x="235805" y="1102821"/>
            <a:ext cx="6483178" cy="4293483"/>
          </a:xfrm>
          <a:prstGeom prst="rect">
            <a:avLst/>
          </a:prstGeom>
          <a:noFill/>
          <a:ln>
            <a:solidFill>
              <a:schemeClr val="tx1"/>
            </a:solidFill>
          </a:ln>
        </p:spPr>
        <p:txBody>
          <a:bodyPr wrap="square">
            <a:spAutoFit/>
          </a:bodyPr>
          <a:lstStyle/>
          <a:p>
            <a:pPr algn="just">
              <a:buNone/>
            </a:pPr>
            <a:r>
              <a:rPr lang="en-CA" sz="1050" b="1"/>
              <a:t>Meeting Summary: Job Ticket Process Awareness Session</a:t>
            </a:r>
          </a:p>
          <a:p>
            <a:pPr algn="just">
              <a:buNone/>
            </a:pPr>
            <a:endParaRPr lang="en-CA" sz="1050"/>
          </a:p>
          <a:p>
            <a:pPr algn="just">
              <a:buNone/>
            </a:pPr>
            <a:r>
              <a:rPr lang="en-CA" sz="1050"/>
              <a:t>This was a recorded awareness session led by Nagesha from the DPM team to discuss the job ticket process implemented for supplier management. The session covered the evolution of the job ticket system from 2023 to present, demonstrated the current process and forms, and revealed significant concerns from program engineers about the system's applicability to post-certification development work.</a:t>
            </a:r>
          </a:p>
          <a:p>
            <a:pPr algn="just">
              <a:buNone/>
            </a:pPr>
            <a:endParaRPr lang="en-CA" sz="1050" b="1"/>
          </a:p>
          <a:p>
            <a:pPr algn="just">
              <a:buNone/>
            </a:pPr>
            <a:r>
              <a:rPr lang="en-CA" sz="1050" b="1"/>
              <a:t>Specific Pain Points Identified</a:t>
            </a:r>
          </a:p>
          <a:p>
            <a:pPr marL="171450" indent="-171450" algn="just">
              <a:buFont typeface="Arial" panose="020B0604020202020204" pitchFamily="34" charset="0"/>
              <a:buChar char="•"/>
            </a:pPr>
            <a:r>
              <a:rPr lang="en-CA" sz="1050" b="1"/>
              <a:t>Part Number Dilemma</a:t>
            </a:r>
            <a:r>
              <a:rPr lang="en-CA" sz="1050"/>
              <a:t>: Multiple teams working on same parts, unclear which version will release first</a:t>
            </a:r>
          </a:p>
          <a:p>
            <a:pPr marL="171450" indent="-171450" algn="just">
              <a:buFont typeface="Arial" panose="020B0604020202020204" pitchFamily="34" charset="0"/>
              <a:buChar char="•"/>
            </a:pPr>
            <a:r>
              <a:rPr lang="en-CA" sz="1050" b="1"/>
              <a:t>Volume Forecasting</a:t>
            </a:r>
            <a:r>
              <a:rPr lang="en-CA" sz="1050"/>
              <a:t>: Unrealistic expectations for 3-year volume predictions during development</a:t>
            </a:r>
          </a:p>
          <a:p>
            <a:pPr marL="171450" indent="-171450" algn="just">
              <a:buFont typeface="Arial" panose="020B0604020202020204" pitchFamily="34" charset="0"/>
              <a:buChar char="•"/>
            </a:pPr>
            <a:r>
              <a:rPr lang="en-CA" sz="1050" b="1"/>
              <a:t>Supplier Selection</a:t>
            </a:r>
            <a:r>
              <a:rPr lang="en-CA" sz="1050"/>
              <a:t>: System assumes need for competitive bidding even when continuing with proven suppliers</a:t>
            </a:r>
          </a:p>
          <a:p>
            <a:pPr marL="171450" indent="-171450" algn="just">
              <a:buFont typeface="Arial" panose="020B0604020202020204" pitchFamily="34" charset="0"/>
              <a:buChar char="•"/>
            </a:pPr>
            <a:r>
              <a:rPr lang="en-CA" sz="1050" b="1"/>
              <a:t>Timeline Impact</a:t>
            </a:r>
            <a:r>
              <a:rPr lang="en-CA" sz="1050"/>
              <a:t>: Months-long delays for simple design improvements needed for field issues</a:t>
            </a:r>
          </a:p>
          <a:p>
            <a:pPr algn="just"/>
            <a:endParaRPr lang="en-CA" sz="1050"/>
          </a:p>
          <a:p>
            <a:pPr algn="just">
              <a:buNone/>
            </a:pPr>
            <a:r>
              <a:rPr lang="en-CA" sz="1050" b="1"/>
              <a:t>Action Items</a:t>
            </a:r>
          </a:p>
          <a:p>
            <a:pPr algn="just">
              <a:buNone/>
            </a:pPr>
            <a:r>
              <a:rPr lang="en-CA" sz="1050" b="1"/>
              <a:t>1. OPM Team Internal Actions</a:t>
            </a:r>
          </a:p>
          <a:p>
            <a:pPr marL="171450" indent="-171450" algn="just">
              <a:buFont typeface="Arial" panose="020B0604020202020204" pitchFamily="34" charset="0"/>
              <a:buChar char="•"/>
            </a:pPr>
            <a:r>
              <a:rPr lang="en-CA" sz="1050" b="1"/>
              <a:t>Action</a:t>
            </a:r>
            <a:r>
              <a:rPr lang="en-CA" sz="1050"/>
              <a:t>: Add remark about part family classification responsibility transfer</a:t>
            </a:r>
          </a:p>
          <a:p>
            <a:pPr marL="171450" indent="-171450" algn="just">
              <a:buFont typeface="Arial" panose="020B0604020202020204" pitchFamily="34" charset="0"/>
              <a:buChar char="•"/>
            </a:pPr>
            <a:r>
              <a:rPr lang="en-CA" sz="1050" b="1"/>
              <a:t>Expected Outcome</a:t>
            </a:r>
            <a:r>
              <a:rPr lang="en-CA" sz="1050"/>
              <a:t>: Transfer Row 24 (part family selection) from Program Engineering to OPM team</a:t>
            </a:r>
          </a:p>
          <a:p>
            <a:pPr marL="171450" indent="-171450" algn="just">
              <a:buFont typeface="Arial" panose="020B0604020202020204" pitchFamily="34" charset="0"/>
              <a:buChar char="•"/>
            </a:pPr>
            <a:r>
              <a:rPr lang="en-CA" sz="1050" b="1"/>
              <a:t>How To</a:t>
            </a:r>
            <a:r>
              <a:rPr lang="en-CA" sz="1050"/>
              <a:t>: Nagesha to document this feedback and route to appropriate OPM decision makers</a:t>
            </a:r>
          </a:p>
          <a:p>
            <a:pPr algn="just"/>
            <a:endParaRPr lang="en-CA" sz="1050"/>
          </a:p>
          <a:p>
            <a:pPr algn="just">
              <a:buNone/>
            </a:pPr>
            <a:r>
              <a:rPr lang="en-CA" sz="1050" b="1"/>
              <a:t>2. Process Review Meeting Setup</a:t>
            </a:r>
          </a:p>
          <a:p>
            <a:pPr marL="171450" indent="-171450" algn="just">
              <a:buFont typeface="Arial" panose="020B0604020202020204" pitchFamily="34" charset="0"/>
              <a:buChar char="•"/>
            </a:pPr>
            <a:r>
              <a:rPr lang="en-CA" sz="1050" b="1"/>
              <a:t>Action</a:t>
            </a:r>
            <a:r>
              <a:rPr lang="en-CA" sz="1050"/>
              <a:t>: Schedule meeting with Dominic Di Iorio and key stakeholders</a:t>
            </a:r>
          </a:p>
          <a:p>
            <a:pPr marL="171450" indent="-171450" algn="just">
              <a:buFont typeface="Arial" panose="020B0604020202020204" pitchFamily="34" charset="0"/>
              <a:buChar char="•"/>
            </a:pPr>
            <a:r>
              <a:rPr lang="en-CA" sz="1050" b="1"/>
              <a:t>Participants</a:t>
            </a:r>
            <a:r>
              <a:rPr lang="en-CA" sz="1050"/>
              <a:t>: Mike, Tom Shanky, Tom McDonough, Mike Hepp, Julie, Leslie, Grace, Ashmeed, Mia (representing different program perspectives)</a:t>
            </a:r>
          </a:p>
          <a:p>
            <a:pPr marL="171450" indent="-171450" algn="just">
              <a:buFont typeface="Arial" panose="020B0604020202020204" pitchFamily="34" charset="0"/>
              <a:buChar char="•"/>
            </a:pPr>
            <a:r>
              <a:rPr lang="en-CA" sz="1050" b="1"/>
              <a:t>Expected Outcome</a:t>
            </a:r>
            <a:r>
              <a:rPr lang="en-CA" sz="1050"/>
              <a:t>: Comprehensive review of process applicability across different program phases</a:t>
            </a:r>
          </a:p>
          <a:p>
            <a:pPr marL="171450" indent="-171450" algn="just">
              <a:buFont typeface="Arial" panose="020B0604020202020204" pitchFamily="34" charset="0"/>
              <a:buChar char="•"/>
            </a:pPr>
            <a:r>
              <a:rPr lang="en-CA" sz="1050" b="1"/>
              <a:t>How To</a:t>
            </a:r>
            <a:r>
              <a:rPr lang="en-CA" sz="1050"/>
              <a:t>: Ashmeed to send calendar invite to identified participants and coordinate with Dominic Di Iorio</a:t>
            </a:r>
          </a:p>
        </p:txBody>
      </p:sp>
      <p:sp>
        <p:nvSpPr>
          <p:cNvPr id="12" name="Rectangle: Rounded Corners 11">
            <a:extLst>
              <a:ext uri="{FF2B5EF4-FFF2-40B4-BE49-F238E27FC236}">
                <a16:creationId xmlns:a16="http://schemas.microsoft.com/office/drawing/2014/main" id="{A2ACE04F-4854-B7AE-D234-CADE3E40A2E0}"/>
              </a:ext>
            </a:extLst>
          </p:cNvPr>
          <p:cNvSpPr/>
          <p:nvPr/>
        </p:nvSpPr>
        <p:spPr>
          <a:xfrm>
            <a:off x="2680497" y="5534150"/>
            <a:ext cx="1593794" cy="18963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FFFFFF"/>
                </a:solidFill>
                <a:effectLst/>
                <a:uLnTx/>
                <a:uFillTx/>
                <a:latin typeface="Arial" panose="020B0604020202020204"/>
                <a:ea typeface="+mn-ea"/>
                <a:cs typeface="+mn-cs"/>
              </a:rPr>
              <a:t>OSKAR</a:t>
            </a:r>
          </a:p>
        </p:txBody>
      </p:sp>
      <p:pic>
        <p:nvPicPr>
          <p:cNvPr id="4" name="Picture 3">
            <a:extLst>
              <a:ext uri="{FF2B5EF4-FFF2-40B4-BE49-F238E27FC236}">
                <a16:creationId xmlns:a16="http://schemas.microsoft.com/office/drawing/2014/main" id="{27BD0E16-7079-B5FE-F990-BEF4BC5B22ED}"/>
              </a:ext>
            </a:extLst>
          </p:cNvPr>
          <p:cNvPicPr>
            <a:picLocks noChangeAspect="1"/>
          </p:cNvPicPr>
          <p:nvPr/>
        </p:nvPicPr>
        <p:blipFill>
          <a:blip r:embed="rId3"/>
          <a:stretch>
            <a:fillRect/>
          </a:stretch>
        </p:blipFill>
        <p:spPr>
          <a:xfrm>
            <a:off x="6951476" y="2514547"/>
            <a:ext cx="4941106" cy="2550581"/>
          </a:xfrm>
          <a:prstGeom prst="rect">
            <a:avLst/>
          </a:prstGeom>
        </p:spPr>
      </p:pic>
      <p:sp>
        <p:nvSpPr>
          <p:cNvPr id="7" name="Rectangle 6">
            <a:extLst>
              <a:ext uri="{FF2B5EF4-FFF2-40B4-BE49-F238E27FC236}">
                <a16:creationId xmlns:a16="http://schemas.microsoft.com/office/drawing/2014/main" id="{5D8CB514-8229-E5FA-93D4-4FAD3C0E5ECF}"/>
              </a:ext>
            </a:extLst>
          </p:cNvPr>
          <p:cNvSpPr/>
          <p:nvPr/>
        </p:nvSpPr>
        <p:spPr>
          <a:xfrm>
            <a:off x="7847335" y="1367318"/>
            <a:ext cx="3265508" cy="840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6166927E-594C-535C-985C-97C96D0C056C}"/>
              </a:ext>
            </a:extLst>
          </p:cNvPr>
          <p:cNvSpPr txBox="1"/>
          <p:nvPr/>
        </p:nvSpPr>
        <p:spPr>
          <a:xfrm>
            <a:off x="7847335" y="1464365"/>
            <a:ext cx="3265508" cy="646331"/>
          </a:xfrm>
          <a:prstGeom prst="rect">
            <a:avLst/>
          </a:prstGeom>
          <a:noFill/>
        </p:spPr>
        <p:txBody>
          <a:bodyPr wrap="square" rtlCol="0">
            <a:spAutoFit/>
          </a:bodyPr>
          <a:lstStyle/>
          <a:p>
            <a:r>
              <a:rPr lang="en-CA" sz="1200" b="1"/>
              <a:t>Date – </a:t>
            </a:r>
            <a:r>
              <a:rPr lang="en-CA" sz="1200"/>
              <a:t>16</a:t>
            </a:r>
            <a:r>
              <a:rPr lang="en-CA" sz="1200" baseline="30000"/>
              <a:t>th</a:t>
            </a:r>
            <a:r>
              <a:rPr lang="en-CA" sz="1200"/>
              <a:t> September 2025</a:t>
            </a:r>
          </a:p>
          <a:p>
            <a:r>
              <a:rPr lang="en-CA" sz="1200" b="1"/>
              <a:t>Delivered by – </a:t>
            </a:r>
            <a:r>
              <a:rPr lang="en-CA" sz="1200"/>
              <a:t>Ashmeed Ali &amp; Nagesha</a:t>
            </a:r>
          </a:p>
          <a:p>
            <a:r>
              <a:rPr lang="en-CA" sz="1200" b="1"/>
              <a:t>Attendees –</a:t>
            </a:r>
            <a:r>
              <a:rPr lang="en-CA" sz="1200"/>
              <a:t> Project Engineers (30+)</a:t>
            </a:r>
          </a:p>
        </p:txBody>
      </p:sp>
      <p:sp>
        <p:nvSpPr>
          <p:cNvPr id="2" name="Text Placeholder 11">
            <a:extLst>
              <a:ext uri="{FF2B5EF4-FFF2-40B4-BE49-F238E27FC236}">
                <a16:creationId xmlns:a16="http://schemas.microsoft.com/office/drawing/2014/main" id="{C64B5BAE-4A63-3A6A-EF3F-24CAC46DD775}"/>
              </a:ext>
            </a:extLst>
          </p:cNvPr>
          <p:cNvSpPr txBox="1">
            <a:spLocks/>
          </p:cNvSpPr>
          <p:nvPr/>
        </p:nvSpPr>
        <p:spPr>
          <a:xfrm>
            <a:off x="685800" y="5849870"/>
            <a:ext cx="10820399" cy="355146"/>
          </a:xfrm>
          <a:prstGeom prst="rect">
            <a:avLst/>
          </a:prstGeom>
          <a:solidFill>
            <a:schemeClr val="accent2">
              <a:lumMod val="40000"/>
              <a:lumOff val="60000"/>
            </a:schemeClr>
          </a:solidFill>
        </p:spPr>
        <p:txBody>
          <a:bodyPr anchor="ctr"/>
          <a:lstStyle>
            <a:lvl1pPr marL="219456"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4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sz="1600" b="1" i="1"/>
              <a:t>Spend more time solving, less time clarifying. Turn long trainings into key points and action items.</a:t>
            </a:r>
            <a:endParaRPr lang="en-US" sz="1600" b="1" i="1"/>
          </a:p>
        </p:txBody>
      </p:sp>
    </p:spTree>
    <p:extLst>
      <p:ext uri="{BB962C8B-B14F-4D97-AF65-F5344CB8AC3E}">
        <p14:creationId xmlns:p14="http://schemas.microsoft.com/office/powerpoint/2010/main" val="3897085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D06A8-9C53-D965-83A6-B5C4A9F4A12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460F754-48AE-BD50-D2FF-8D1BE41B2066}"/>
              </a:ext>
            </a:extLst>
          </p:cNvPr>
          <p:cNvSpPr>
            <a:spLocks noGrp="1"/>
          </p:cNvSpPr>
          <p:nvPr>
            <p:ph type="title"/>
          </p:nvPr>
        </p:nvSpPr>
        <p:spPr/>
        <p:txBody>
          <a:bodyPr/>
          <a:lstStyle/>
          <a:p>
            <a:r>
              <a:rPr lang="en-US" sz="2800"/>
              <a:t>OSKAR’s DEPLOYMENT TIMELINE</a:t>
            </a:r>
          </a:p>
        </p:txBody>
      </p:sp>
      <p:sp>
        <p:nvSpPr>
          <p:cNvPr id="11" name="Slide Number Placeholder 10">
            <a:extLst>
              <a:ext uri="{FF2B5EF4-FFF2-40B4-BE49-F238E27FC236}">
                <a16:creationId xmlns:a16="http://schemas.microsoft.com/office/drawing/2014/main" id="{9C78EA63-707D-F3E4-3F6E-108395551847}"/>
              </a:ext>
            </a:extLst>
          </p:cNvPr>
          <p:cNvSpPr>
            <a:spLocks noGrp="1"/>
          </p:cNvSpPr>
          <p:nvPr>
            <p:ph type="sldNum" sz="quarter" idx="4"/>
          </p:nvPr>
        </p:nvSpPr>
        <p:spPr/>
        <p:txBody>
          <a:bodyPr/>
          <a:lstStyle/>
          <a:p>
            <a:fld id="{07165E6F-54ED-4977-A15E-D44BE7238A65}" type="slidenum">
              <a:rPr lang="en-US" smtClean="0"/>
              <a:pPr/>
              <a:t>23</a:t>
            </a:fld>
            <a:endParaRPr lang="en-US"/>
          </a:p>
        </p:txBody>
      </p:sp>
      <p:cxnSp>
        <p:nvCxnSpPr>
          <p:cNvPr id="4" name="Straight Arrow Connector 3">
            <a:extLst>
              <a:ext uri="{FF2B5EF4-FFF2-40B4-BE49-F238E27FC236}">
                <a16:creationId xmlns:a16="http://schemas.microsoft.com/office/drawing/2014/main" id="{97EE1913-F116-60C6-43AB-78DD3F6105D4}"/>
              </a:ext>
            </a:extLst>
          </p:cNvPr>
          <p:cNvCxnSpPr>
            <a:cxnSpLocks/>
            <a:stCxn id="2" idx="2"/>
          </p:cNvCxnSpPr>
          <p:nvPr/>
        </p:nvCxnSpPr>
        <p:spPr>
          <a:xfrm>
            <a:off x="1178382" y="3809550"/>
            <a:ext cx="10647501" cy="10744"/>
          </a:xfrm>
          <a:prstGeom prst="straightConnector1">
            <a:avLst/>
          </a:prstGeom>
          <a:ln w="28575">
            <a:tailEnd type="triangle"/>
          </a:ln>
        </p:spPr>
        <p:style>
          <a:lnRef idx="2">
            <a:schemeClr val="accent3"/>
          </a:lnRef>
          <a:fillRef idx="0">
            <a:schemeClr val="accent3"/>
          </a:fillRef>
          <a:effectRef idx="1">
            <a:schemeClr val="accent3"/>
          </a:effectRef>
          <a:fontRef idx="minor">
            <a:schemeClr val="tx1"/>
          </a:fontRef>
        </p:style>
      </p:cxnSp>
      <p:cxnSp>
        <p:nvCxnSpPr>
          <p:cNvPr id="7" name="Straight Connector 6">
            <a:extLst>
              <a:ext uri="{FF2B5EF4-FFF2-40B4-BE49-F238E27FC236}">
                <a16:creationId xmlns:a16="http://schemas.microsoft.com/office/drawing/2014/main" id="{DA26FDD3-7AA9-711B-C2CC-EF64CA01F04B}"/>
              </a:ext>
            </a:extLst>
          </p:cNvPr>
          <p:cNvCxnSpPr>
            <a:cxnSpLocks/>
            <a:stCxn id="34" idx="2"/>
            <a:endCxn id="5" idx="0"/>
          </p:cNvCxnSpPr>
          <p:nvPr/>
        </p:nvCxnSpPr>
        <p:spPr>
          <a:xfrm>
            <a:off x="2807039" y="3358044"/>
            <a:ext cx="0" cy="188441"/>
          </a:xfrm>
          <a:prstGeom prst="line">
            <a:avLst/>
          </a:prstGeom>
          <a:ln w="19050"/>
        </p:spPr>
        <p:style>
          <a:lnRef idx="2">
            <a:schemeClr val="accent3"/>
          </a:lnRef>
          <a:fillRef idx="0">
            <a:schemeClr val="accent3"/>
          </a:fillRef>
          <a:effectRef idx="1">
            <a:schemeClr val="accent3"/>
          </a:effectRef>
          <a:fontRef idx="minor">
            <a:schemeClr val="tx1"/>
          </a:fontRef>
        </p:style>
      </p:cxnSp>
      <p:sp>
        <p:nvSpPr>
          <p:cNvPr id="34" name="TextBox 36">
            <a:extLst>
              <a:ext uri="{FF2B5EF4-FFF2-40B4-BE49-F238E27FC236}">
                <a16:creationId xmlns:a16="http://schemas.microsoft.com/office/drawing/2014/main" id="{2698C026-1EC8-B752-3226-12953700BEF4}"/>
              </a:ext>
            </a:extLst>
          </p:cNvPr>
          <p:cNvSpPr txBox="1"/>
          <p:nvPr/>
        </p:nvSpPr>
        <p:spPr>
          <a:xfrm>
            <a:off x="2022830" y="3071387"/>
            <a:ext cx="1568418" cy="286657"/>
          </a:xfrm>
          <a:prstGeom prst="rect">
            <a:avLst/>
          </a:prstGeom>
          <a:noFill/>
          <a:ln>
            <a:solidFill>
              <a:schemeClr val="accent1">
                <a:lumMod val="90000"/>
              </a:schemeClr>
            </a:solidFill>
          </a:ln>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CA" sz="1200" b="1">
                <a:solidFill>
                  <a:prstClr val="black"/>
                </a:solidFill>
                <a:latin typeface="Arial"/>
              </a:rPr>
              <a:t>PoC Development</a:t>
            </a:r>
            <a:endParaRPr lang="en-US" b="1">
              <a:solidFill>
                <a:prstClr val="black"/>
              </a:solidFill>
              <a:ea typeface="+mn-ea"/>
              <a:cs typeface="+mn-cs"/>
            </a:endParaRPr>
          </a:p>
        </p:txBody>
      </p:sp>
      <p:cxnSp>
        <p:nvCxnSpPr>
          <p:cNvPr id="57" name="Straight Connector 56">
            <a:extLst>
              <a:ext uri="{FF2B5EF4-FFF2-40B4-BE49-F238E27FC236}">
                <a16:creationId xmlns:a16="http://schemas.microsoft.com/office/drawing/2014/main" id="{ED9F8F9E-6DCE-47E8-8AA5-B02D9A26E646}"/>
              </a:ext>
            </a:extLst>
          </p:cNvPr>
          <p:cNvCxnSpPr>
            <a:cxnSpLocks/>
          </p:cNvCxnSpPr>
          <p:nvPr/>
        </p:nvCxnSpPr>
        <p:spPr>
          <a:xfrm>
            <a:off x="4373604" y="3799571"/>
            <a:ext cx="0" cy="216734"/>
          </a:xfrm>
          <a:prstGeom prst="line">
            <a:avLst/>
          </a:prstGeom>
          <a:ln w="19050"/>
        </p:spPr>
        <p:style>
          <a:lnRef idx="2">
            <a:schemeClr val="accent3"/>
          </a:lnRef>
          <a:fillRef idx="0">
            <a:schemeClr val="accent3"/>
          </a:fillRef>
          <a:effectRef idx="1">
            <a:schemeClr val="accent3"/>
          </a:effectRef>
          <a:fontRef idx="minor">
            <a:schemeClr val="tx1"/>
          </a:fontRef>
        </p:style>
      </p:cxnSp>
      <p:sp>
        <p:nvSpPr>
          <p:cNvPr id="60" name="TextBox 36">
            <a:extLst>
              <a:ext uri="{FF2B5EF4-FFF2-40B4-BE49-F238E27FC236}">
                <a16:creationId xmlns:a16="http://schemas.microsoft.com/office/drawing/2014/main" id="{D8F5B520-C11B-1193-FF78-23490155C8D0}"/>
              </a:ext>
            </a:extLst>
          </p:cNvPr>
          <p:cNvSpPr txBox="1"/>
          <p:nvPr/>
        </p:nvSpPr>
        <p:spPr>
          <a:xfrm>
            <a:off x="3254593" y="4016305"/>
            <a:ext cx="2238022" cy="276999"/>
          </a:xfrm>
          <a:prstGeom prst="rect">
            <a:avLst/>
          </a:prstGeom>
          <a:noFill/>
          <a:ln>
            <a:solidFill>
              <a:schemeClr val="accent1">
                <a:lumMod val="90000"/>
              </a:schemeClr>
            </a:solidFill>
          </a:ln>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CA" sz="1200" b="1">
                <a:solidFill>
                  <a:prstClr val="black"/>
                </a:solidFill>
                <a:latin typeface="Arial"/>
                <a:ea typeface="+mn-ea"/>
                <a:cs typeface="+mn-cs"/>
              </a:rPr>
              <a:t>Starting Transiti</a:t>
            </a:r>
            <a:r>
              <a:rPr lang="en-CA" sz="1200" b="1">
                <a:solidFill>
                  <a:prstClr val="black"/>
                </a:solidFill>
                <a:latin typeface="Arial"/>
              </a:rPr>
              <a:t>on to Cloud</a:t>
            </a:r>
            <a:endParaRPr lang="en-US" b="1">
              <a:solidFill>
                <a:prstClr val="black"/>
              </a:solidFill>
              <a:ea typeface="+mn-ea"/>
              <a:cs typeface="+mn-cs"/>
            </a:endParaRPr>
          </a:p>
        </p:txBody>
      </p:sp>
      <p:sp>
        <p:nvSpPr>
          <p:cNvPr id="65" name="TextBox 26">
            <a:extLst>
              <a:ext uri="{FF2B5EF4-FFF2-40B4-BE49-F238E27FC236}">
                <a16:creationId xmlns:a16="http://schemas.microsoft.com/office/drawing/2014/main" id="{B0F96E11-4E5C-6900-3647-394ECD5D2334}"/>
              </a:ext>
            </a:extLst>
          </p:cNvPr>
          <p:cNvSpPr txBox="1"/>
          <p:nvPr/>
        </p:nvSpPr>
        <p:spPr>
          <a:xfrm>
            <a:off x="209602" y="4018362"/>
            <a:ext cx="1937559" cy="276999"/>
          </a:xfrm>
          <a:prstGeom prst="rect">
            <a:avLst/>
          </a:prstGeom>
          <a:noFill/>
          <a:ln>
            <a:solidFill>
              <a:schemeClr val="accent1">
                <a:lumMod val="90000"/>
              </a:schemeClr>
            </a:solidFill>
          </a:ln>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CA" sz="1200" b="1">
                <a:solidFill>
                  <a:prstClr val="black"/>
                </a:solidFill>
                <a:latin typeface="Arial"/>
              </a:rPr>
              <a:t>User Cases &amp; Validation</a:t>
            </a:r>
            <a:endParaRPr lang="en-US" b="1">
              <a:ea typeface="+mn-ea"/>
              <a:cs typeface="+mn-cs"/>
            </a:endParaRPr>
          </a:p>
        </p:txBody>
      </p:sp>
      <p:grpSp>
        <p:nvGrpSpPr>
          <p:cNvPr id="78" name="Group 77">
            <a:extLst>
              <a:ext uri="{FF2B5EF4-FFF2-40B4-BE49-F238E27FC236}">
                <a16:creationId xmlns:a16="http://schemas.microsoft.com/office/drawing/2014/main" id="{D0ABA326-AEA1-D326-6E51-A137EA576A7E}"/>
              </a:ext>
            </a:extLst>
          </p:cNvPr>
          <p:cNvGrpSpPr/>
          <p:nvPr/>
        </p:nvGrpSpPr>
        <p:grpSpPr>
          <a:xfrm>
            <a:off x="145341" y="4388603"/>
            <a:ext cx="2041254" cy="907628"/>
            <a:chOff x="387273" y="4664828"/>
            <a:chExt cx="2041254" cy="907628"/>
          </a:xfrm>
        </p:grpSpPr>
        <p:sp>
          <p:nvSpPr>
            <p:cNvPr id="68" name="Oval 67">
              <a:extLst>
                <a:ext uri="{FF2B5EF4-FFF2-40B4-BE49-F238E27FC236}">
                  <a16:creationId xmlns:a16="http://schemas.microsoft.com/office/drawing/2014/main" id="{81C7CF56-F111-BFCA-99D7-CA1EAD019167}"/>
                </a:ext>
              </a:extLst>
            </p:cNvPr>
            <p:cNvSpPr/>
            <p:nvPr/>
          </p:nvSpPr>
          <p:spPr>
            <a:xfrm>
              <a:off x="387273" y="4705633"/>
              <a:ext cx="180000" cy="180000"/>
            </a:xfrm>
            <a:prstGeom prst="ellipse">
              <a:avLst/>
            </a:prstGeom>
            <a:solidFill>
              <a:srgbClr val="92D05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69" name="TextBox 68">
              <a:extLst>
                <a:ext uri="{FF2B5EF4-FFF2-40B4-BE49-F238E27FC236}">
                  <a16:creationId xmlns:a16="http://schemas.microsoft.com/office/drawing/2014/main" id="{3333F25B-EC3C-7202-03CE-FBE90925CF47}"/>
                </a:ext>
              </a:extLst>
            </p:cNvPr>
            <p:cNvSpPr txBox="1"/>
            <p:nvPr/>
          </p:nvSpPr>
          <p:spPr>
            <a:xfrm>
              <a:off x="568190" y="4664828"/>
              <a:ext cx="1860337" cy="261610"/>
            </a:xfrm>
            <a:prstGeom prst="rect">
              <a:avLst/>
            </a:prstGeom>
            <a:noFill/>
          </p:spPr>
          <p:txBody>
            <a:bodyPr wrap="square" rtlCol="0">
              <a:spAutoFit/>
            </a:bodyPr>
            <a:lstStyle/>
            <a:p>
              <a:r>
                <a:rPr lang="en-CA" sz="1100" i="1"/>
                <a:t>Core idea validation</a:t>
              </a:r>
            </a:p>
          </p:txBody>
        </p:sp>
        <p:sp>
          <p:nvSpPr>
            <p:cNvPr id="71" name="Oval 70">
              <a:extLst>
                <a:ext uri="{FF2B5EF4-FFF2-40B4-BE49-F238E27FC236}">
                  <a16:creationId xmlns:a16="http://schemas.microsoft.com/office/drawing/2014/main" id="{9BE3A9CD-0AE1-A0F6-6358-DAC855934060}"/>
                </a:ext>
              </a:extLst>
            </p:cNvPr>
            <p:cNvSpPr/>
            <p:nvPr/>
          </p:nvSpPr>
          <p:spPr>
            <a:xfrm>
              <a:off x="387273" y="5030815"/>
              <a:ext cx="180000" cy="180000"/>
            </a:xfrm>
            <a:prstGeom prst="ellipse">
              <a:avLst/>
            </a:prstGeom>
            <a:solidFill>
              <a:srgbClr val="92D05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72" name="TextBox 71">
              <a:extLst>
                <a:ext uri="{FF2B5EF4-FFF2-40B4-BE49-F238E27FC236}">
                  <a16:creationId xmlns:a16="http://schemas.microsoft.com/office/drawing/2014/main" id="{9490FB92-A765-E4F3-9F05-40ADDD82DD47}"/>
                </a:ext>
              </a:extLst>
            </p:cNvPr>
            <p:cNvSpPr txBox="1"/>
            <p:nvPr/>
          </p:nvSpPr>
          <p:spPr>
            <a:xfrm>
              <a:off x="568190" y="4990010"/>
              <a:ext cx="1860337" cy="261610"/>
            </a:xfrm>
            <a:prstGeom prst="rect">
              <a:avLst/>
            </a:prstGeom>
            <a:noFill/>
          </p:spPr>
          <p:txBody>
            <a:bodyPr wrap="square" rtlCol="0">
              <a:spAutoFit/>
            </a:bodyPr>
            <a:lstStyle/>
            <a:p>
              <a:r>
                <a:rPr lang="en-CA" sz="1100" i="1"/>
                <a:t>Business case validation</a:t>
              </a:r>
            </a:p>
          </p:txBody>
        </p:sp>
        <p:sp>
          <p:nvSpPr>
            <p:cNvPr id="73" name="Oval 72">
              <a:extLst>
                <a:ext uri="{FF2B5EF4-FFF2-40B4-BE49-F238E27FC236}">
                  <a16:creationId xmlns:a16="http://schemas.microsoft.com/office/drawing/2014/main" id="{6E14758C-49CA-CE41-9831-D5A0F8FA5083}"/>
                </a:ext>
              </a:extLst>
            </p:cNvPr>
            <p:cNvSpPr/>
            <p:nvPr/>
          </p:nvSpPr>
          <p:spPr>
            <a:xfrm>
              <a:off x="387273" y="5351651"/>
              <a:ext cx="180000" cy="180000"/>
            </a:xfrm>
            <a:prstGeom prst="ellipse">
              <a:avLst/>
            </a:prstGeom>
            <a:solidFill>
              <a:srgbClr val="FFFF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74" name="TextBox 73">
              <a:extLst>
                <a:ext uri="{FF2B5EF4-FFF2-40B4-BE49-F238E27FC236}">
                  <a16:creationId xmlns:a16="http://schemas.microsoft.com/office/drawing/2014/main" id="{39907548-BF0E-1400-8AD8-BCD6CA03C297}"/>
                </a:ext>
              </a:extLst>
            </p:cNvPr>
            <p:cNvSpPr txBox="1"/>
            <p:nvPr/>
          </p:nvSpPr>
          <p:spPr>
            <a:xfrm>
              <a:off x="568190" y="5310846"/>
              <a:ext cx="1860337" cy="261610"/>
            </a:xfrm>
            <a:prstGeom prst="rect">
              <a:avLst/>
            </a:prstGeom>
            <a:noFill/>
          </p:spPr>
          <p:txBody>
            <a:bodyPr wrap="square" rtlCol="0">
              <a:spAutoFit/>
            </a:bodyPr>
            <a:lstStyle/>
            <a:p>
              <a:r>
                <a:rPr lang="en-CA" sz="1100" i="1"/>
                <a:t>User Cases establishment</a:t>
              </a:r>
            </a:p>
          </p:txBody>
        </p:sp>
      </p:grpSp>
      <p:sp>
        <p:nvSpPr>
          <p:cNvPr id="83" name="Oval 82">
            <a:extLst>
              <a:ext uri="{FF2B5EF4-FFF2-40B4-BE49-F238E27FC236}">
                <a16:creationId xmlns:a16="http://schemas.microsoft.com/office/drawing/2014/main" id="{E0FAF172-B8B7-D47B-2F13-9557410D4DCF}"/>
              </a:ext>
            </a:extLst>
          </p:cNvPr>
          <p:cNvSpPr/>
          <p:nvPr/>
        </p:nvSpPr>
        <p:spPr>
          <a:xfrm>
            <a:off x="1662895" y="1831291"/>
            <a:ext cx="180000" cy="180000"/>
          </a:xfrm>
          <a:prstGeom prst="ellipse">
            <a:avLst/>
          </a:prstGeom>
          <a:solidFill>
            <a:srgbClr val="92D05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84" name="TextBox 83">
            <a:extLst>
              <a:ext uri="{FF2B5EF4-FFF2-40B4-BE49-F238E27FC236}">
                <a16:creationId xmlns:a16="http://schemas.microsoft.com/office/drawing/2014/main" id="{F135AD58-EA1B-56B6-5F24-4541472207BE}"/>
              </a:ext>
            </a:extLst>
          </p:cNvPr>
          <p:cNvSpPr txBox="1"/>
          <p:nvPr/>
        </p:nvSpPr>
        <p:spPr>
          <a:xfrm>
            <a:off x="1843811" y="1790486"/>
            <a:ext cx="2218541" cy="261610"/>
          </a:xfrm>
          <a:prstGeom prst="rect">
            <a:avLst/>
          </a:prstGeom>
          <a:noFill/>
        </p:spPr>
        <p:txBody>
          <a:bodyPr wrap="square" rtlCol="0">
            <a:spAutoFit/>
          </a:bodyPr>
          <a:lstStyle/>
          <a:p>
            <a:r>
              <a:rPr lang="en-CA" sz="1100" i="1"/>
              <a:t>Technical feasibility assessment</a:t>
            </a:r>
          </a:p>
        </p:txBody>
      </p:sp>
      <p:sp>
        <p:nvSpPr>
          <p:cNvPr id="85" name="Oval 84">
            <a:extLst>
              <a:ext uri="{FF2B5EF4-FFF2-40B4-BE49-F238E27FC236}">
                <a16:creationId xmlns:a16="http://schemas.microsoft.com/office/drawing/2014/main" id="{31D5DFDC-C683-914A-BF52-E5272B64F527}"/>
              </a:ext>
            </a:extLst>
          </p:cNvPr>
          <p:cNvSpPr/>
          <p:nvPr/>
        </p:nvSpPr>
        <p:spPr>
          <a:xfrm>
            <a:off x="1662895" y="2139974"/>
            <a:ext cx="180000" cy="180000"/>
          </a:xfrm>
          <a:prstGeom prst="ellipse">
            <a:avLst/>
          </a:prstGeom>
          <a:solidFill>
            <a:srgbClr val="92D05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86" name="TextBox 85">
            <a:extLst>
              <a:ext uri="{FF2B5EF4-FFF2-40B4-BE49-F238E27FC236}">
                <a16:creationId xmlns:a16="http://schemas.microsoft.com/office/drawing/2014/main" id="{711A5344-24C4-C0E7-F30D-F1A1B0B08F23}"/>
              </a:ext>
            </a:extLst>
          </p:cNvPr>
          <p:cNvSpPr txBox="1"/>
          <p:nvPr/>
        </p:nvSpPr>
        <p:spPr>
          <a:xfrm>
            <a:off x="1843812" y="2099169"/>
            <a:ext cx="2218540" cy="261610"/>
          </a:xfrm>
          <a:prstGeom prst="rect">
            <a:avLst/>
          </a:prstGeom>
          <a:noFill/>
        </p:spPr>
        <p:txBody>
          <a:bodyPr wrap="square" rtlCol="0">
            <a:spAutoFit/>
          </a:bodyPr>
          <a:lstStyle/>
          <a:p>
            <a:r>
              <a:rPr lang="en-CA" sz="1100" i="1"/>
              <a:t>Local development environment</a:t>
            </a:r>
          </a:p>
        </p:txBody>
      </p:sp>
      <p:sp>
        <p:nvSpPr>
          <p:cNvPr id="87" name="Oval 86">
            <a:extLst>
              <a:ext uri="{FF2B5EF4-FFF2-40B4-BE49-F238E27FC236}">
                <a16:creationId xmlns:a16="http://schemas.microsoft.com/office/drawing/2014/main" id="{5FDAC315-E95F-44A7-BA6C-9FE1655A9314}"/>
              </a:ext>
            </a:extLst>
          </p:cNvPr>
          <p:cNvSpPr/>
          <p:nvPr/>
        </p:nvSpPr>
        <p:spPr>
          <a:xfrm>
            <a:off x="1662895" y="2448657"/>
            <a:ext cx="180000" cy="180000"/>
          </a:xfrm>
          <a:prstGeom prst="ellipse">
            <a:avLst/>
          </a:prstGeom>
          <a:solidFill>
            <a:srgbClr val="92D05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88" name="TextBox 87">
            <a:extLst>
              <a:ext uri="{FF2B5EF4-FFF2-40B4-BE49-F238E27FC236}">
                <a16:creationId xmlns:a16="http://schemas.microsoft.com/office/drawing/2014/main" id="{BE6FFCBF-1BC7-0100-0567-8ED7F0C03415}"/>
              </a:ext>
            </a:extLst>
          </p:cNvPr>
          <p:cNvSpPr txBox="1"/>
          <p:nvPr/>
        </p:nvSpPr>
        <p:spPr>
          <a:xfrm>
            <a:off x="1843812" y="2407852"/>
            <a:ext cx="2218540" cy="261610"/>
          </a:xfrm>
          <a:prstGeom prst="rect">
            <a:avLst/>
          </a:prstGeom>
          <a:noFill/>
        </p:spPr>
        <p:txBody>
          <a:bodyPr wrap="square" rtlCol="0">
            <a:spAutoFit/>
          </a:bodyPr>
          <a:lstStyle/>
          <a:p>
            <a:r>
              <a:rPr lang="en-CA" sz="1100" i="1"/>
              <a:t>Model &amp; setup evaluation</a:t>
            </a:r>
          </a:p>
        </p:txBody>
      </p:sp>
      <p:sp>
        <p:nvSpPr>
          <p:cNvPr id="89" name="Oval 88">
            <a:extLst>
              <a:ext uri="{FF2B5EF4-FFF2-40B4-BE49-F238E27FC236}">
                <a16:creationId xmlns:a16="http://schemas.microsoft.com/office/drawing/2014/main" id="{3EEC49D3-BBFB-AAD6-C04C-802C61ACC096}"/>
              </a:ext>
            </a:extLst>
          </p:cNvPr>
          <p:cNvSpPr/>
          <p:nvPr/>
        </p:nvSpPr>
        <p:spPr>
          <a:xfrm>
            <a:off x="1662895" y="2757340"/>
            <a:ext cx="180000" cy="180000"/>
          </a:xfrm>
          <a:prstGeom prst="ellipse">
            <a:avLst/>
          </a:prstGeom>
          <a:solidFill>
            <a:srgbClr val="FFFF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90" name="TextBox 89">
            <a:extLst>
              <a:ext uri="{FF2B5EF4-FFF2-40B4-BE49-F238E27FC236}">
                <a16:creationId xmlns:a16="http://schemas.microsoft.com/office/drawing/2014/main" id="{CE3E946A-E361-05A6-73F5-9352AC3DDFB1}"/>
              </a:ext>
            </a:extLst>
          </p:cNvPr>
          <p:cNvSpPr txBox="1"/>
          <p:nvPr/>
        </p:nvSpPr>
        <p:spPr>
          <a:xfrm>
            <a:off x="1843812" y="2716535"/>
            <a:ext cx="2218540" cy="261610"/>
          </a:xfrm>
          <a:prstGeom prst="rect">
            <a:avLst/>
          </a:prstGeom>
          <a:noFill/>
        </p:spPr>
        <p:txBody>
          <a:bodyPr wrap="square" rtlCol="0">
            <a:spAutoFit/>
          </a:bodyPr>
          <a:lstStyle/>
          <a:p>
            <a:r>
              <a:rPr lang="en-CA" sz="1100" i="1"/>
              <a:t>Initial functional demonstration</a:t>
            </a:r>
          </a:p>
        </p:txBody>
      </p:sp>
      <p:grpSp>
        <p:nvGrpSpPr>
          <p:cNvPr id="76" name="Group 75">
            <a:extLst>
              <a:ext uri="{FF2B5EF4-FFF2-40B4-BE49-F238E27FC236}">
                <a16:creationId xmlns:a16="http://schemas.microsoft.com/office/drawing/2014/main" id="{17631F18-08B9-FCD2-3F1D-46A02561942F}"/>
              </a:ext>
            </a:extLst>
          </p:cNvPr>
          <p:cNvGrpSpPr/>
          <p:nvPr/>
        </p:nvGrpSpPr>
        <p:grpSpPr>
          <a:xfrm>
            <a:off x="3173875" y="4388603"/>
            <a:ext cx="2399458" cy="907628"/>
            <a:chOff x="4014341" y="4665984"/>
            <a:chExt cx="2399458" cy="907628"/>
          </a:xfrm>
        </p:grpSpPr>
        <p:sp>
          <p:nvSpPr>
            <p:cNvPr id="96" name="Oval 95">
              <a:extLst>
                <a:ext uri="{FF2B5EF4-FFF2-40B4-BE49-F238E27FC236}">
                  <a16:creationId xmlns:a16="http://schemas.microsoft.com/office/drawing/2014/main" id="{611B3C14-FD96-4697-9EC0-F1E3A42716CD}"/>
                </a:ext>
              </a:extLst>
            </p:cNvPr>
            <p:cNvSpPr/>
            <p:nvPr/>
          </p:nvSpPr>
          <p:spPr>
            <a:xfrm>
              <a:off x="4014341" y="4706789"/>
              <a:ext cx="180000" cy="180000"/>
            </a:xfrm>
            <a:prstGeom prst="ellipse">
              <a:avLst/>
            </a:prstGeom>
            <a:solidFill>
              <a:srgbClr val="FFFF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97" name="TextBox 96">
              <a:extLst>
                <a:ext uri="{FF2B5EF4-FFF2-40B4-BE49-F238E27FC236}">
                  <a16:creationId xmlns:a16="http://schemas.microsoft.com/office/drawing/2014/main" id="{9BBA38F8-DD36-B6BB-14AD-0250EF95D469}"/>
                </a:ext>
              </a:extLst>
            </p:cNvPr>
            <p:cNvSpPr txBox="1"/>
            <p:nvPr/>
          </p:nvSpPr>
          <p:spPr>
            <a:xfrm>
              <a:off x="4195258" y="4665984"/>
              <a:ext cx="2218541" cy="261610"/>
            </a:xfrm>
            <a:prstGeom prst="rect">
              <a:avLst/>
            </a:prstGeom>
            <a:noFill/>
          </p:spPr>
          <p:txBody>
            <a:bodyPr wrap="square" rtlCol="0">
              <a:spAutoFit/>
            </a:bodyPr>
            <a:lstStyle/>
            <a:p>
              <a:r>
                <a:rPr lang="en-CA" sz="1100" i="1"/>
                <a:t>Cloud infrastructure deployment</a:t>
              </a:r>
            </a:p>
          </p:txBody>
        </p:sp>
        <p:sp>
          <p:nvSpPr>
            <p:cNvPr id="98" name="Oval 97">
              <a:extLst>
                <a:ext uri="{FF2B5EF4-FFF2-40B4-BE49-F238E27FC236}">
                  <a16:creationId xmlns:a16="http://schemas.microsoft.com/office/drawing/2014/main" id="{60B9D3DD-924B-6DD6-D6CE-73B5585A6924}"/>
                </a:ext>
              </a:extLst>
            </p:cNvPr>
            <p:cNvSpPr/>
            <p:nvPr/>
          </p:nvSpPr>
          <p:spPr>
            <a:xfrm>
              <a:off x="4014341" y="5031971"/>
              <a:ext cx="180000" cy="180000"/>
            </a:xfrm>
            <a:prstGeom prst="ellipse">
              <a:avLst/>
            </a:prstGeom>
            <a:solidFill>
              <a:srgbClr val="FFFF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99" name="TextBox 98">
              <a:extLst>
                <a:ext uri="{FF2B5EF4-FFF2-40B4-BE49-F238E27FC236}">
                  <a16:creationId xmlns:a16="http://schemas.microsoft.com/office/drawing/2014/main" id="{790200B4-0D58-3EFF-AC27-05DD7F607438}"/>
                </a:ext>
              </a:extLst>
            </p:cNvPr>
            <p:cNvSpPr txBox="1"/>
            <p:nvPr/>
          </p:nvSpPr>
          <p:spPr>
            <a:xfrm>
              <a:off x="4195258" y="4991166"/>
              <a:ext cx="1860337" cy="261610"/>
            </a:xfrm>
            <a:prstGeom prst="rect">
              <a:avLst/>
            </a:prstGeom>
            <a:noFill/>
          </p:spPr>
          <p:txBody>
            <a:bodyPr wrap="square" rtlCol="0">
              <a:spAutoFit/>
            </a:bodyPr>
            <a:lstStyle/>
            <a:p>
              <a:r>
                <a:rPr lang="en-CA" sz="1100" i="1"/>
                <a:t>CLARA &amp; ARB Request</a:t>
              </a:r>
            </a:p>
          </p:txBody>
        </p:sp>
        <p:sp>
          <p:nvSpPr>
            <p:cNvPr id="100" name="Oval 99">
              <a:extLst>
                <a:ext uri="{FF2B5EF4-FFF2-40B4-BE49-F238E27FC236}">
                  <a16:creationId xmlns:a16="http://schemas.microsoft.com/office/drawing/2014/main" id="{67ECBB71-7D65-66D8-D86A-9AFD26D457E5}"/>
                </a:ext>
              </a:extLst>
            </p:cNvPr>
            <p:cNvSpPr/>
            <p:nvPr/>
          </p:nvSpPr>
          <p:spPr>
            <a:xfrm>
              <a:off x="4014341" y="5352807"/>
              <a:ext cx="180000" cy="180000"/>
            </a:xfrm>
            <a:prstGeom prst="ellipse">
              <a:avLst/>
            </a:prstGeom>
            <a:solidFill>
              <a:srgbClr val="FFFF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01" name="TextBox 100">
              <a:extLst>
                <a:ext uri="{FF2B5EF4-FFF2-40B4-BE49-F238E27FC236}">
                  <a16:creationId xmlns:a16="http://schemas.microsoft.com/office/drawing/2014/main" id="{49BA6198-3478-42E1-CA06-2B93F307208C}"/>
                </a:ext>
              </a:extLst>
            </p:cNvPr>
            <p:cNvSpPr txBox="1"/>
            <p:nvPr/>
          </p:nvSpPr>
          <p:spPr>
            <a:xfrm>
              <a:off x="4195258" y="5312002"/>
              <a:ext cx="1860337" cy="261610"/>
            </a:xfrm>
            <a:prstGeom prst="rect">
              <a:avLst/>
            </a:prstGeom>
            <a:noFill/>
          </p:spPr>
          <p:txBody>
            <a:bodyPr wrap="square" rtlCol="0">
              <a:spAutoFit/>
            </a:bodyPr>
            <a:lstStyle/>
            <a:p>
              <a:r>
                <a:rPr lang="en-CA" sz="1100" i="1"/>
                <a:t>Databricks Lab setup</a:t>
              </a:r>
            </a:p>
          </p:txBody>
        </p:sp>
      </p:grpSp>
      <p:cxnSp>
        <p:nvCxnSpPr>
          <p:cNvPr id="103" name="Straight Connector 102">
            <a:extLst>
              <a:ext uri="{FF2B5EF4-FFF2-40B4-BE49-F238E27FC236}">
                <a16:creationId xmlns:a16="http://schemas.microsoft.com/office/drawing/2014/main" id="{A6534C7B-E892-D6DC-3308-71E74B8D751D}"/>
              </a:ext>
            </a:extLst>
          </p:cNvPr>
          <p:cNvCxnSpPr>
            <a:cxnSpLocks/>
            <a:stCxn id="22" idx="2"/>
            <a:endCxn id="106" idx="0"/>
          </p:cNvCxnSpPr>
          <p:nvPr/>
        </p:nvCxnSpPr>
        <p:spPr>
          <a:xfrm>
            <a:off x="7693010" y="3809550"/>
            <a:ext cx="0" cy="203462"/>
          </a:xfrm>
          <a:prstGeom prst="line">
            <a:avLst/>
          </a:prstGeom>
          <a:ln w="19050"/>
        </p:spPr>
        <p:style>
          <a:lnRef idx="2">
            <a:schemeClr val="accent3"/>
          </a:lnRef>
          <a:fillRef idx="0">
            <a:schemeClr val="accent3"/>
          </a:fillRef>
          <a:effectRef idx="1">
            <a:schemeClr val="accent3"/>
          </a:effectRef>
          <a:fontRef idx="minor">
            <a:schemeClr val="tx1"/>
          </a:fontRef>
        </p:style>
      </p:cxnSp>
      <p:sp>
        <p:nvSpPr>
          <p:cNvPr id="106" name="TextBox 36">
            <a:extLst>
              <a:ext uri="{FF2B5EF4-FFF2-40B4-BE49-F238E27FC236}">
                <a16:creationId xmlns:a16="http://schemas.microsoft.com/office/drawing/2014/main" id="{0F0BD97E-9C71-2579-87F0-1E811CC8EE2F}"/>
              </a:ext>
            </a:extLst>
          </p:cNvPr>
          <p:cNvSpPr txBox="1"/>
          <p:nvPr/>
        </p:nvSpPr>
        <p:spPr>
          <a:xfrm>
            <a:off x="6941751" y="4013012"/>
            <a:ext cx="1502517" cy="276999"/>
          </a:xfrm>
          <a:prstGeom prst="rect">
            <a:avLst/>
          </a:prstGeom>
          <a:noFill/>
          <a:ln>
            <a:solidFill>
              <a:schemeClr val="accent1">
                <a:lumMod val="90000"/>
              </a:schemeClr>
            </a:solidFill>
          </a:ln>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CA" sz="1200" b="1">
                <a:solidFill>
                  <a:prstClr val="black"/>
                </a:solidFill>
                <a:latin typeface="Arial"/>
                <a:ea typeface="+mn-ea"/>
                <a:cs typeface="+mn-cs"/>
              </a:rPr>
              <a:t>MVP Deployment</a:t>
            </a:r>
            <a:endParaRPr lang="en-US" b="1">
              <a:solidFill>
                <a:prstClr val="black"/>
              </a:solidFill>
              <a:ea typeface="+mn-ea"/>
              <a:cs typeface="+mn-cs"/>
            </a:endParaRPr>
          </a:p>
        </p:txBody>
      </p:sp>
      <p:sp>
        <p:nvSpPr>
          <p:cNvPr id="110" name="Oval 109">
            <a:extLst>
              <a:ext uri="{FF2B5EF4-FFF2-40B4-BE49-F238E27FC236}">
                <a16:creationId xmlns:a16="http://schemas.microsoft.com/office/drawing/2014/main" id="{1481CB21-67A8-E24A-AA6C-4B12274DEA42}"/>
              </a:ext>
            </a:extLst>
          </p:cNvPr>
          <p:cNvSpPr/>
          <p:nvPr/>
        </p:nvSpPr>
        <p:spPr>
          <a:xfrm>
            <a:off x="6536994" y="4430513"/>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11" name="TextBox 110">
            <a:extLst>
              <a:ext uri="{FF2B5EF4-FFF2-40B4-BE49-F238E27FC236}">
                <a16:creationId xmlns:a16="http://schemas.microsoft.com/office/drawing/2014/main" id="{721B949F-4951-7EB4-4DDA-36C690495F28}"/>
              </a:ext>
            </a:extLst>
          </p:cNvPr>
          <p:cNvSpPr txBox="1"/>
          <p:nvPr/>
        </p:nvSpPr>
        <p:spPr>
          <a:xfrm>
            <a:off x="6717911" y="4389708"/>
            <a:ext cx="2218541" cy="261610"/>
          </a:xfrm>
          <a:prstGeom prst="rect">
            <a:avLst/>
          </a:prstGeom>
          <a:noFill/>
        </p:spPr>
        <p:txBody>
          <a:bodyPr wrap="square" rtlCol="0">
            <a:spAutoFit/>
          </a:bodyPr>
          <a:lstStyle/>
          <a:p>
            <a:r>
              <a:rPr lang="en-CA" sz="1100" i="1"/>
              <a:t>Alpha testing with ~20 SMEs​</a:t>
            </a:r>
          </a:p>
        </p:txBody>
      </p:sp>
      <p:sp>
        <p:nvSpPr>
          <p:cNvPr id="112" name="Oval 111">
            <a:extLst>
              <a:ext uri="{FF2B5EF4-FFF2-40B4-BE49-F238E27FC236}">
                <a16:creationId xmlns:a16="http://schemas.microsoft.com/office/drawing/2014/main" id="{D3D40C4F-149A-C7F1-C2DF-75B876A8B697}"/>
              </a:ext>
            </a:extLst>
          </p:cNvPr>
          <p:cNvSpPr/>
          <p:nvPr/>
        </p:nvSpPr>
        <p:spPr>
          <a:xfrm>
            <a:off x="6536994" y="4755695"/>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13" name="TextBox 112">
            <a:extLst>
              <a:ext uri="{FF2B5EF4-FFF2-40B4-BE49-F238E27FC236}">
                <a16:creationId xmlns:a16="http://schemas.microsoft.com/office/drawing/2014/main" id="{3A6FAACE-0A41-537F-86D0-83952B5EE359}"/>
              </a:ext>
            </a:extLst>
          </p:cNvPr>
          <p:cNvSpPr txBox="1"/>
          <p:nvPr/>
        </p:nvSpPr>
        <p:spPr>
          <a:xfrm>
            <a:off x="6717911" y="4714890"/>
            <a:ext cx="2213920" cy="261610"/>
          </a:xfrm>
          <a:prstGeom prst="rect">
            <a:avLst/>
          </a:prstGeom>
          <a:noFill/>
        </p:spPr>
        <p:txBody>
          <a:bodyPr wrap="square" rtlCol="0">
            <a:spAutoFit/>
          </a:bodyPr>
          <a:lstStyle/>
          <a:p>
            <a:r>
              <a:rPr lang="en-CA" sz="1100" i="1"/>
              <a:t>Hosting &amp; API cost evaluation​</a:t>
            </a:r>
          </a:p>
        </p:txBody>
      </p:sp>
      <p:sp>
        <p:nvSpPr>
          <p:cNvPr id="114" name="Oval 113">
            <a:extLst>
              <a:ext uri="{FF2B5EF4-FFF2-40B4-BE49-F238E27FC236}">
                <a16:creationId xmlns:a16="http://schemas.microsoft.com/office/drawing/2014/main" id="{AC94F2C2-A4DB-4788-4010-9D30B2B424C7}"/>
              </a:ext>
            </a:extLst>
          </p:cNvPr>
          <p:cNvSpPr/>
          <p:nvPr/>
        </p:nvSpPr>
        <p:spPr>
          <a:xfrm>
            <a:off x="6536994" y="5076531"/>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15" name="TextBox 114">
            <a:extLst>
              <a:ext uri="{FF2B5EF4-FFF2-40B4-BE49-F238E27FC236}">
                <a16:creationId xmlns:a16="http://schemas.microsoft.com/office/drawing/2014/main" id="{F61E4FDC-9656-726C-466D-902884E6A435}"/>
              </a:ext>
            </a:extLst>
          </p:cNvPr>
          <p:cNvSpPr txBox="1"/>
          <p:nvPr/>
        </p:nvSpPr>
        <p:spPr>
          <a:xfrm>
            <a:off x="6717911" y="5035726"/>
            <a:ext cx="2213920" cy="261610"/>
          </a:xfrm>
          <a:prstGeom prst="rect">
            <a:avLst/>
          </a:prstGeom>
          <a:noFill/>
        </p:spPr>
        <p:txBody>
          <a:bodyPr wrap="square" rtlCol="0">
            <a:spAutoFit/>
          </a:bodyPr>
          <a:lstStyle/>
          <a:p>
            <a:r>
              <a:rPr lang="en-CA" sz="1100" i="1"/>
              <a:t>Expansion of knowledgebase​</a:t>
            </a:r>
          </a:p>
        </p:txBody>
      </p:sp>
      <p:cxnSp>
        <p:nvCxnSpPr>
          <p:cNvPr id="116" name="Straight Connector 115">
            <a:extLst>
              <a:ext uri="{FF2B5EF4-FFF2-40B4-BE49-F238E27FC236}">
                <a16:creationId xmlns:a16="http://schemas.microsoft.com/office/drawing/2014/main" id="{B9A2EDBD-0BDC-2D0C-57BE-14D6EE6454DF}"/>
              </a:ext>
            </a:extLst>
          </p:cNvPr>
          <p:cNvCxnSpPr>
            <a:cxnSpLocks/>
            <a:stCxn id="119" idx="2"/>
            <a:endCxn id="17" idx="0"/>
          </p:cNvCxnSpPr>
          <p:nvPr/>
        </p:nvCxnSpPr>
        <p:spPr>
          <a:xfrm>
            <a:off x="6064353" y="3352344"/>
            <a:ext cx="0" cy="194141"/>
          </a:xfrm>
          <a:prstGeom prst="line">
            <a:avLst/>
          </a:prstGeom>
          <a:ln w="19050"/>
        </p:spPr>
        <p:style>
          <a:lnRef idx="2">
            <a:schemeClr val="accent3"/>
          </a:lnRef>
          <a:fillRef idx="0">
            <a:schemeClr val="accent3"/>
          </a:fillRef>
          <a:effectRef idx="1">
            <a:schemeClr val="accent3"/>
          </a:effectRef>
          <a:fontRef idx="minor">
            <a:schemeClr val="tx1"/>
          </a:fontRef>
        </p:style>
      </p:cxnSp>
      <p:sp>
        <p:nvSpPr>
          <p:cNvPr id="119" name="TextBox 36">
            <a:extLst>
              <a:ext uri="{FF2B5EF4-FFF2-40B4-BE49-F238E27FC236}">
                <a16:creationId xmlns:a16="http://schemas.microsoft.com/office/drawing/2014/main" id="{F3C399ED-1EF6-6B85-AE1B-7A32753229E3}"/>
              </a:ext>
            </a:extLst>
          </p:cNvPr>
          <p:cNvSpPr txBox="1"/>
          <p:nvPr/>
        </p:nvSpPr>
        <p:spPr>
          <a:xfrm>
            <a:off x="5230954" y="3075345"/>
            <a:ext cx="1666797" cy="276999"/>
          </a:xfrm>
          <a:prstGeom prst="rect">
            <a:avLst/>
          </a:prstGeom>
          <a:noFill/>
          <a:ln>
            <a:solidFill>
              <a:schemeClr val="accent1">
                <a:lumMod val="90000"/>
              </a:schemeClr>
            </a:solidFill>
          </a:ln>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CA" sz="1200" b="1">
                <a:solidFill>
                  <a:prstClr val="black"/>
                </a:solidFill>
                <a:latin typeface="Arial"/>
                <a:ea typeface="+mn-ea"/>
                <a:cs typeface="+mn-cs"/>
              </a:rPr>
              <a:t>OPO AI Workstation</a:t>
            </a:r>
            <a:endParaRPr lang="en-US" b="1">
              <a:solidFill>
                <a:prstClr val="black"/>
              </a:solidFill>
              <a:ea typeface="+mn-ea"/>
              <a:cs typeface="+mn-cs"/>
            </a:endParaRPr>
          </a:p>
        </p:txBody>
      </p:sp>
      <p:sp>
        <p:nvSpPr>
          <p:cNvPr id="122" name="Oval 121">
            <a:extLst>
              <a:ext uri="{FF2B5EF4-FFF2-40B4-BE49-F238E27FC236}">
                <a16:creationId xmlns:a16="http://schemas.microsoft.com/office/drawing/2014/main" id="{767CFE60-AC79-918D-1DD7-5017E82FB7F9}"/>
              </a:ext>
            </a:extLst>
          </p:cNvPr>
          <p:cNvSpPr/>
          <p:nvPr/>
        </p:nvSpPr>
        <p:spPr>
          <a:xfrm>
            <a:off x="4869959" y="2083724"/>
            <a:ext cx="180000" cy="180000"/>
          </a:xfrm>
          <a:prstGeom prst="ellipse">
            <a:avLst/>
          </a:prstGeom>
          <a:solidFill>
            <a:srgbClr val="FFFF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23" name="TextBox 122">
            <a:extLst>
              <a:ext uri="{FF2B5EF4-FFF2-40B4-BE49-F238E27FC236}">
                <a16:creationId xmlns:a16="http://schemas.microsoft.com/office/drawing/2014/main" id="{7678A146-ADD2-C34E-677C-30F9B134D400}"/>
              </a:ext>
            </a:extLst>
          </p:cNvPr>
          <p:cNvSpPr txBox="1"/>
          <p:nvPr/>
        </p:nvSpPr>
        <p:spPr>
          <a:xfrm>
            <a:off x="5050876" y="2042919"/>
            <a:ext cx="2218541" cy="261610"/>
          </a:xfrm>
          <a:prstGeom prst="rect">
            <a:avLst/>
          </a:prstGeom>
          <a:noFill/>
        </p:spPr>
        <p:txBody>
          <a:bodyPr wrap="square" rtlCol="0">
            <a:spAutoFit/>
          </a:bodyPr>
          <a:lstStyle/>
          <a:p>
            <a:r>
              <a:rPr lang="en-CA" sz="1100" i="1"/>
              <a:t>Setup the OPO AI Workstation</a:t>
            </a:r>
          </a:p>
        </p:txBody>
      </p:sp>
      <p:sp>
        <p:nvSpPr>
          <p:cNvPr id="124" name="Oval 123">
            <a:extLst>
              <a:ext uri="{FF2B5EF4-FFF2-40B4-BE49-F238E27FC236}">
                <a16:creationId xmlns:a16="http://schemas.microsoft.com/office/drawing/2014/main" id="{190598A1-29FD-E734-5FA1-9E0DE867F8CF}"/>
              </a:ext>
            </a:extLst>
          </p:cNvPr>
          <p:cNvSpPr/>
          <p:nvPr/>
        </p:nvSpPr>
        <p:spPr>
          <a:xfrm>
            <a:off x="4869959" y="2408906"/>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25" name="TextBox 124">
            <a:extLst>
              <a:ext uri="{FF2B5EF4-FFF2-40B4-BE49-F238E27FC236}">
                <a16:creationId xmlns:a16="http://schemas.microsoft.com/office/drawing/2014/main" id="{E4F50E83-8F89-DC1C-ABBC-1D836508D1E0}"/>
              </a:ext>
            </a:extLst>
          </p:cNvPr>
          <p:cNvSpPr txBox="1"/>
          <p:nvPr/>
        </p:nvSpPr>
        <p:spPr>
          <a:xfrm>
            <a:off x="5050876" y="2368101"/>
            <a:ext cx="2213920" cy="261610"/>
          </a:xfrm>
          <a:prstGeom prst="rect">
            <a:avLst/>
          </a:prstGeom>
          <a:noFill/>
        </p:spPr>
        <p:txBody>
          <a:bodyPr wrap="square" rtlCol="0">
            <a:spAutoFit/>
          </a:bodyPr>
          <a:lstStyle/>
          <a:p>
            <a:r>
              <a:rPr lang="en-CA" sz="1100" i="1"/>
              <a:t>Test bed for OSKAR</a:t>
            </a:r>
          </a:p>
        </p:txBody>
      </p:sp>
      <p:sp>
        <p:nvSpPr>
          <p:cNvPr id="126" name="Oval 125">
            <a:extLst>
              <a:ext uri="{FF2B5EF4-FFF2-40B4-BE49-F238E27FC236}">
                <a16:creationId xmlns:a16="http://schemas.microsoft.com/office/drawing/2014/main" id="{420CF2B6-B481-1F1B-8F4B-2A4FEA1744B7}"/>
              </a:ext>
            </a:extLst>
          </p:cNvPr>
          <p:cNvSpPr/>
          <p:nvPr/>
        </p:nvSpPr>
        <p:spPr>
          <a:xfrm>
            <a:off x="4869959" y="2729742"/>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27" name="TextBox 126">
            <a:extLst>
              <a:ext uri="{FF2B5EF4-FFF2-40B4-BE49-F238E27FC236}">
                <a16:creationId xmlns:a16="http://schemas.microsoft.com/office/drawing/2014/main" id="{C14394D6-FFAB-97B5-D9D8-AB3576FE8865}"/>
              </a:ext>
            </a:extLst>
          </p:cNvPr>
          <p:cNvSpPr txBox="1"/>
          <p:nvPr/>
        </p:nvSpPr>
        <p:spPr>
          <a:xfrm>
            <a:off x="5050876" y="2688937"/>
            <a:ext cx="2213920" cy="261610"/>
          </a:xfrm>
          <a:prstGeom prst="rect">
            <a:avLst/>
          </a:prstGeom>
          <a:noFill/>
        </p:spPr>
        <p:txBody>
          <a:bodyPr wrap="square" rtlCol="0">
            <a:spAutoFit/>
          </a:bodyPr>
          <a:lstStyle/>
          <a:p>
            <a:r>
              <a:rPr lang="en-CA" sz="1100" i="1"/>
              <a:t>Feedback gathering &amp; iteration​</a:t>
            </a:r>
          </a:p>
        </p:txBody>
      </p:sp>
      <p:sp>
        <p:nvSpPr>
          <p:cNvPr id="131" name="TextBox 36">
            <a:extLst>
              <a:ext uri="{FF2B5EF4-FFF2-40B4-BE49-F238E27FC236}">
                <a16:creationId xmlns:a16="http://schemas.microsoft.com/office/drawing/2014/main" id="{AA3F49CB-1274-B525-DEBF-5A8281FEFF4A}"/>
              </a:ext>
            </a:extLst>
          </p:cNvPr>
          <p:cNvSpPr txBox="1"/>
          <p:nvPr/>
        </p:nvSpPr>
        <p:spPr>
          <a:xfrm>
            <a:off x="8318654" y="3074591"/>
            <a:ext cx="2006025" cy="276999"/>
          </a:xfrm>
          <a:prstGeom prst="rect">
            <a:avLst/>
          </a:prstGeom>
          <a:noFill/>
          <a:ln>
            <a:solidFill>
              <a:schemeClr val="accent1">
                <a:lumMod val="90000"/>
              </a:schemeClr>
            </a:solidFill>
          </a:ln>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CA" sz="1200" b="1">
                <a:solidFill>
                  <a:prstClr val="black"/>
                </a:solidFill>
                <a:latin typeface="Arial"/>
                <a:ea typeface="+mn-ea"/>
                <a:cs typeface="+mn-cs"/>
              </a:rPr>
              <a:t>Production</a:t>
            </a:r>
            <a:r>
              <a:rPr lang="en-CA" sz="1200" b="1">
                <a:solidFill>
                  <a:prstClr val="black"/>
                </a:solidFill>
                <a:latin typeface="Arial"/>
              </a:rPr>
              <a:t> </a:t>
            </a:r>
            <a:r>
              <a:rPr lang="en-CA" sz="900" b="1">
                <a:solidFill>
                  <a:prstClr val="black"/>
                </a:solidFill>
                <a:latin typeface="Arial"/>
                <a:ea typeface="+mn-ea"/>
                <a:cs typeface="+mn-cs"/>
              </a:rPr>
              <a:t>(1</a:t>
            </a:r>
            <a:r>
              <a:rPr lang="en-CA" sz="900" b="1" baseline="30000">
                <a:solidFill>
                  <a:prstClr val="black"/>
                </a:solidFill>
                <a:latin typeface="Arial"/>
                <a:ea typeface="+mn-ea"/>
                <a:cs typeface="+mn-cs"/>
              </a:rPr>
              <a:t>st</a:t>
            </a:r>
            <a:r>
              <a:rPr lang="en-CA" sz="900" b="1">
                <a:solidFill>
                  <a:prstClr val="black"/>
                </a:solidFill>
                <a:latin typeface="Arial"/>
                <a:ea typeface="+mn-ea"/>
                <a:cs typeface="+mn-cs"/>
              </a:rPr>
              <a:t> Beta release)</a:t>
            </a:r>
            <a:endParaRPr lang="en-US" b="1">
              <a:solidFill>
                <a:prstClr val="black"/>
              </a:solidFill>
              <a:ea typeface="+mn-ea"/>
              <a:cs typeface="+mn-cs"/>
            </a:endParaRPr>
          </a:p>
        </p:txBody>
      </p:sp>
      <p:grpSp>
        <p:nvGrpSpPr>
          <p:cNvPr id="147" name="Group 146">
            <a:extLst>
              <a:ext uri="{FF2B5EF4-FFF2-40B4-BE49-F238E27FC236}">
                <a16:creationId xmlns:a16="http://schemas.microsoft.com/office/drawing/2014/main" id="{32A45F6B-5846-4D6E-FB38-FB3D68025AF8}"/>
              </a:ext>
            </a:extLst>
          </p:cNvPr>
          <p:cNvGrpSpPr/>
          <p:nvPr/>
        </p:nvGrpSpPr>
        <p:grpSpPr>
          <a:xfrm>
            <a:off x="4478081" y="6235152"/>
            <a:ext cx="3359510" cy="273810"/>
            <a:chOff x="4315541" y="6063250"/>
            <a:chExt cx="3359510" cy="273810"/>
          </a:xfrm>
        </p:grpSpPr>
        <p:sp>
          <p:nvSpPr>
            <p:cNvPr id="141" name="Oval 140">
              <a:extLst>
                <a:ext uri="{FF2B5EF4-FFF2-40B4-BE49-F238E27FC236}">
                  <a16:creationId xmlns:a16="http://schemas.microsoft.com/office/drawing/2014/main" id="{E0A27358-25AE-1AE2-E819-AC9DA28F18E2}"/>
                </a:ext>
              </a:extLst>
            </p:cNvPr>
            <p:cNvSpPr/>
            <p:nvPr/>
          </p:nvSpPr>
          <p:spPr>
            <a:xfrm>
              <a:off x="4315541" y="6116341"/>
              <a:ext cx="180000" cy="180000"/>
            </a:xfrm>
            <a:prstGeom prst="ellipse">
              <a:avLst/>
            </a:prstGeom>
            <a:solidFill>
              <a:srgbClr val="92D05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sz="700" b="1">
                <a:solidFill>
                  <a:schemeClr val="tx1"/>
                </a:solidFill>
              </a:endParaRPr>
            </a:p>
          </p:txBody>
        </p:sp>
        <p:sp>
          <p:nvSpPr>
            <p:cNvPr id="142" name="TextBox 23">
              <a:extLst>
                <a:ext uri="{FF2B5EF4-FFF2-40B4-BE49-F238E27FC236}">
                  <a16:creationId xmlns:a16="http://schemas.microsoft.com/office/drawing/2014/main" id="{041606FC-57D3-F58B-3478-770D047A3FD4}"/>
                </a:ext>
              </a:extLst>
            </p:cNvPr>
            <p:cNvSpPr txBox="1"/>
            <p:nvPr/>
          </p:nvSpPr>
          <p:spPr>
            <a:xfrm>
              <a:off x="4510663" y="6075450"/>
              <a:ext cx="823582"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100" i="1"/>
                <a:t>Complete</a:t>
              </a:r>
            </a:p>
          </p:txBody>
        </p:sp>
        <p:sp>
          <p:nvSpPr>
            <p:cNvPr id="143" name="Oval 142">
              <a:extLst>
                <a:ext uri="{FF2B5EF4-FFF2-40B4-BE49-F238E27FC236}">
                  <a16:creationId xmlns:a16="http://schemas.microsoft.com/office/drawing/2014/main" id="{56741E33-1BC4-A013-8C4B-43AE40C2391D}"/>
                </a:ext>
              </a:extLst>
            </p:cNvPr>
            <p:cNvSpPr/>
            <p:nvPr/>
          </p:nvSpPr>
          <p:spPr>
            <a:xfrm>
              <a:off x="5397090" y="6110343"/>
              <a:ext cx="180000" cy="180000"/>
            </a:xfrm>
            <a:prstGeom prst="ellipse">
              <a:avLst/>
            </a:prstGeom>
            <a:solidFill>
              <a:srgbClr val="FFFF0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sz="700" b="1">
                <a:solidFill>
                  <a:schemeClr val="tx1"/>
                </a:solidFill>
              </a:endParaRPr>
            </a:p>
          </p:txBody>
        </p:sp>
        <p:sp>
          <p:nvSpPr>
            <p:cNvPr id="144" name="TextBox 39">
              <a:extLst>
                <a:ext uri="{FF2B5EF4-FFF2-40B4-BE49-F238E27FC236}">
                  <a16:creationId xmlns:a16="http://schemas.microsoft.com/office/drawing/2014/main" id="{E3059502-3D57-D3D6-4C60-D6BAF3A6985E}"/>
                </a:ext>
              </a:extLst>
            </p:cNvPr>
            <p:cNvSpPr txBox="1"/>
            <p:nvPr/>
          </p:nvSpPr>
          <p:spPr>
            <a:xfrm>
              <a:off x="5592211" y="6069452"/>
              <a:ext cx="902605"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100" i="1"/>
                <a:t>In-progress</a:t>
              </a:r>
            </a:p>
          </p:txBody>
        </p:sp>
        <p:sp>
          <p:nvSpPr>
            <p:cNvPr id="145" name="Oval 144">
              <a:extLst>
                <a:ext uri="{FF2B5EF4-FFF2-40B4-BE49-F238E27FC236}">
                  <a16:creationId xmlns:a16="http://schemas.microsoft.com/office/drawing/2014/main" id="{ECA5F75A-C4DB-21CD-7526-17EEC63E992D}"/>
                </a:ext>
              </a:extLst>
            </p:cNvPr>
            <p:cNvSpPr/>
            <p:nvPr/>
          </p:nvSpPr>
          <p:spPr>
            <a:xfrm>
              <a:off x="6577325" y="6104141"/>
              <a:ext cx="180000" cy="180000"/>
            </a:xfrm>
            <a:prstGeom prst="ellipse">
              <a:avLst/>
            </a:prstGeom>
            <a:solidFill>
              <a:srgbClr val="C0000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sz="700" b="1">
                <a:solidFill>
                  <a:schemeClr val="tx1"/>
                </a:solidFill>
              </a:endParaRPr>
            </a:p>
          </p:txBody>
        </p:sp>
        <p:sp>
          <p:nvSpPr>
            <p:cNvPr id="146" name="TextBox 42">
              <a:extLst>
                <a:ext uri="{FF2B5EF4-FFF2-40B4-BE49-F238E27FC236}">
                  <a16:creationId xmlns:a16="http://schemas.microsoft.com/office/drawing/2014/main" id="{37EE42F6-C063-164C-F8D2-9838C7FEDA4F}"/>
                </a:ext>
              </a:extLst>
            </p:cNvPr>
            <p:cNvSpPr txBox="1"/>
            <p:nvPr/>
          </p:nvSpPr>
          <p:spPr>
            <a:xfrm>
              <a:off x="6772446" y="6063250"/>
              <a:ext cx="902605"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100" i="1"/>
                <a:t>Not Started</a:t>
              </a:r>
            </a:p>
          </p:txBody>
        </p:sp>
      </p:grpSp>
      <p:sp>
        <p:nvSpPr>
          <p:cNvPr id="134" name="Oval 133">
            <a:extLst>
              <a:ext uri="{FF2B5EF4-FFF2-40B4-BE49-F238E27FC236}">
                <a16:creationId xmlns:a16="http://schemas.microsoft.com/office/drawing/2014/main" id="{78D4D332-4D32-7332-A662-2EDD3BAB618D}"/>
              </a:ext>
            </a:extLst>
          </p:cNvPr>
          <p:cNvSpPr/>
          <p:nvPr/>
        </p:nvSpPr>
        <p:spPr>
          <a:xfrm>
            <a:off x="8064885" y="1250997"/>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35" name="TextBox 134">
            <a:extLst>
              <a:ext uri="{FF2B5EF4-FFF2-40B4-BE49-F238E27FC236}">
                <a16:creationId xmlns:a16="http://schemas.microsoft.com/office/drawing/2014/main" id="{91CD5C9B-5D2F-2806-0375-662D181604FD}"/>
              </a:ext>
            </a:extLst>
          </p:cNvPr>
          <p:cNvSpPr txBox="1"/>
          <p:nvPr/>
        </p:nvSpPr>
        <p:spPr>
          <a:xfrm>
            <a:off x="8245802" y="1210192"/>
            <a:ext cx="2218541" cy="261610"/>
          </a:xfrm>
          <a:prstGeom prst="rect">
            <a:avLst/>
          </a:prstGeom>
          <a:noFill/>
        </p:spPr>
        <p:txBody>
          <a:bodyPr wrap="square" rtlCol="0">
            <a:spAutoFit/>
          </a:bodyPr>
          <a:lstStyle/>
          <a:p>
            <a:r>
              <a:rPr lang="en-CA" sz="1100" i="1"/>
              <a:t>OPO Department user access</a:t>
            </a:r>
          </a:p>
        </p:txBody>
      </p:sp>
      <p:sp>
        <p:nvSpPr>
          <p:cNvPr id="136" name="Oval 135">
            <a:extLst>
              <a:ext uri="{FF2B5EF4-FFF2-40B4-BE49-F238E27FC236}">
                <a16:creationId xmlns:a16="http://schemas.microsoft.com/office/drawing/2014/main" id="{68734DFE-D34E-08F2-0630-25FE10F33F25}"/>
              </a:ext>
            </a:extLst>
          </p:cNvPr>
          <p:cNvSpPr/>
          <p:nvPr/>
        </p:nvSpPr>
        <p:spPr>
          <a:xfrm>
            <a:off x="9772249" y="4512504"/>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37" name="TextBox 136">
            <a:extLst>
              <a:ext uri="{FF2B5EF4-FFF2-40B4-BE49-F238E27FC236}">
                <a16:creationId xmlns:a16="http://schemas.microsoft.com/office/drawing/2014/main" id="{C097FBD8-4CAA-F91B-D3A0-9F6F6213E245}"/>
              </a:ext>
            </a:extLst>
          </p:cNvPr>
          <p:cNvSpPr txBox="1"/>
          <p:nvPr/>
        </p:nvSpPr>
        <p:spPr>
          <a:xfrm>
            <a:off x="9953166" y="4387061"/>
            <a:ext cx="2213920" cy="430887"/>
          </a:xfrm>
          <a:prstGeom prst="rect">
            <a:avLst/>
          </a:prstGeom>
          <a:noFill/>
        </p:spPr>
        <p:txBody>
          <a:bodyPr wrap="square" rtlCol="0">
            <a:spAutoFit/>
          </a:bodyPr>
          <a:lstStyle/>
          <a:p>
            <a:r>
              <a:rPr lang="en-CA" sz="1100" i="1"/>
              <a:t>Cross-departmental collaborator &amp; stakeholder user access​</a:t>
            </a:r>
          </a:p>
        </p:txBody>
      </p:sp>
      <p:sp>
        <p:nvSpPr>
          <p:cNvPr id="138" name="Oval 137">
            <a:extLst>
              <a:ext uri="{FF2B5EF4-FFF2-40B4-BE49-F238E27FC236}">
                <a16:creationId xmlns:a16="http://schemas.microsoft.com/office/drawing/2014/main" id="{968BD76A-A24A-A9E8-2D6E-DAC9E8D8D0B3}"/>
              </a:ext>
            </a:extLst>
          </p:cNvPr>
          <p:cNvSpPr/>
          <p:nvPr/>
        </p:nvSpPr>
        <p:spPr>
          <a:xfrm>
            <a:off x="8061181" y="1647966"/>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39" name="TextBox 138">
            <a:extLst>
              <a:ext uri="{FF2B5EF4-FFF2-40B4-BE49-F238E27FC236}">
                <a16:creationId xmlns:a16="http://schemas.microsoft.com/office/drawing/2014/main" id="{8D29DE24-DEAB-6FAC-71F5-92D9ACD6C89A}"/>
              </a:ext>
            </a:extLst>
          </p:cNvPr>
          <p:cNvSpPr txBox="1"/>
          <p:nvPr/>
        </p:nvSpPr>
        <p:spPr>
          <a:xfrm>
            <a:off x="8245802" y="1524512"/>
            <a:ext cx="2422198" cy="430887"/>
          </a:xfrm>
          <a:prstGeom prst="rect">
            <a:avLst/>
          </a:prstGeom>
          <a:noFill/>
        </p:spPr>
        <p:txBody>
          <a:bodyPr wrap="square" rtlCol="0">
            <a:spAutoFit/>
          </a:bodyPr>
          <a:lstStyle/>
          <a:p>
            <a:r>
              <a:rPr lang="en-CA" sz="1100" i="1"/>
              <a:t>Increased knowledgebase with data from PPT, Emails &amp; Forms</a:t>
            </a:r>
          </a:p>
        </p:txBody>
      </p:sp>
      <p:sp>
        <p:nvSpPr>
          <p:cNvPr id="148" name="Oval 147">
            <a:extLst>
              <a:ext uri="{FF2B5EF4-FFF2-40B4-BE49-F238E27FC236}">
                <a16:creationId xmlns:a16="http://schemas.microsoft.com/office/drawing/2014/main" id="{2E042E73-9629-30FD-51F5-EDFCEADE3943}"/>
              </a:ext>
            </a:extLst>
          </p:cNvPr>
          <p:cNvSpPr/>
          <p:nvPr/>
        </p:nvSpPr>
        <p:spPr>
          <a:xfrm>
            <a:off x="8061181" y="2018022"/>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49" name="TextBox 148">
            <a:extLst>
              <a:ext uri="{FF2B5EF4-FFF2-40B4-BE49-F238E27FC236}">
                <a16:creationId xmlns:a16="http://schemas.microsoft.com/office/drawing/2014/main" id="{6DDDECF4-5DEC-DB44-5D16-3A46A2DDF691}"/>
              </a:ext>
            </a:extLst>
          </p:cNvPr>
          <p:cNvSpPr txBox="1"/>
          <p:nvPr/>
        </p:nvSpPr>
        <p:spPr>
          <a:xfrm>
            <a:off x="8242098" y="1977217"/>
            <a:ext cx="2218541" cy="261610"/>
          </a:xfrm>
          <a:prstGeom prst="rect">
            <a:avLst/>
          </a:prstGeom>
          <a:noFill/>
        </p:spPr>
        <p:txBody>
          <a:bodyPr wrap="square" rtlCol="0">
            <a:spAutoFit/>
          </a:bodyPr>
          <a:lstStyle/>
          <a:p>
            <a:r>
              <a:rPr lang="en-CA" sz="1100" i="1"/>
              <a:t>Scalable infrastructure &amp; support​</a:t>
            </a:r>
          </a:p>
        </p:txBody>
      </p:sp>
      <p:sp>
        <p:nvSpPr>
          <p:cNvPr id="150" name="Oval 149">
            <a:extLst>
              <a:ext uri="{FF2B5EF4-FFF2-40B4-BE49-F238E27FC236}">
                <a16:creationId xmlns:a16="http://schemas.microsoft.com/office/drawing/2014/main" id="{2EF9EDE5-32BC-532F-E634-CD55FC82A44A}"/>
              </a:ext>
            </a:extLst>
          </p:cNvPr>
          <p:cNvSpPr/>
          <p:nvPr/>
        </p:nvSpPr>
        <p:spPr>
          <a:xfrm>
            <a:off x="8064885" y="2369631"/>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51" name="TextBox 150">
            <a:extLst>
              <a:ext uri="{FF2B5EF4-FFF2-40B4-BE49-F238E27FC236}">
                <a16:creationId xmlns:a16="http://schemas.microsoft.com/office/drawing/2014/main" id="{194984EC-F47A-FB97-F578-DA4294926BEC}"/>
              </a:ext>
            </a:extLst>
          </p:cNvPr>
          <p:cNvSpPr txBox="1"/>
          <p:nvPr/>
        </p:nvSpPr>
        <p:spPr>
          <a:xfrm>
            <a:off x="8245802" y="2244188"/>
            <a:ext cx="2483158" cy="430887"/>
          </a:xfrm>
          <a:prstGeom prst="rect">
            <a:avLst/>
          </a:prstGeom>
          <a:noFill/>
        </p:spPr>
        <p:txBody>
          <a:bodyPr wrap="square" rtlCol="0">
            <a:spAutoFit/>
          </a:bodyPr>
          <a:lstStyle/>
          <a:p>
            <a:r>
              <a:rPr lang="en-CA" sz="1100" i="1"/>
              <a:t>Reinforcement Learning from Human Feedback (RLHF)​</a:t>
            </a:r>
          </a:p>
        </p:txBody>
      </p:sp>
      <p:sp>
        <p:nvSpPr>
          <p:cNvPr id="152" name="Oval 151">
            <a:extLst>
              <a:ext uri="{FF2B5EF4-FFF2-40B4-BE49-F238E27FC236}">
                <a16:creationId xmlns:a16="http://schemas.microsoft.com/office/drawing/2014/main" id="{36863EF2-8F68-2D8F-DD9F-05E16C9714B3}"/>
              </a:ext>
            </a:extLst>
          </p:cNvPr>
          <p:cNvSpPr/>
          <p:nvPr/>
        </p:nvSpPr>
        <p:spPr>
          <a:xfrm>
            <a:off x="8061181" y="2751322"/>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53" name="TextBox 152">
            <a:extLst>
              <a:ext uri="{FF2B5EF4-FFF2-40B4-BE49-F238E27FC236}">
                <a16:creationId xmlns:a16="http://schemas.microsoft.com/office/drawing/2014/main" id="{7E35BCFC-35FC-E29A-885C-1D506A34E85D}"/>
              </a:ext>
            </a:extLst>
          </p:cNvPr>
          <p:cNvSpPr txBox="1"/>
          <p:nvPr/>
        </p:nvSpPr>
        <p:spPr>
          <a:xfrm>
            <a:off x="8242098" y="2710517"/>
            <a:ext cx="2218541" cy="261610"/>
          </a:xfrm>
          <a:prstGeom prst="rect">
            <a:avLst/>
          </a:prstGeom>
          <a:noFill/>
        </p:spPr>
        <p:txBody>
          <a:bodyPr wrap="square" rtlCol="0">
            <a:spAutoFit/>
          </a:bodyPr>
          <a:lstStyle/>
          <a:p>
            <a:r>
              <a:rPr lang="en-CA" sz="1100" i="1"/>
              <a:t>User training &amp; adoption​</a:t>
            </a:r>
          </a:p>
        </p:txBody>
      </p:sp>
      <p:sp>
        <p:nvSpPr>
          <p:cNvPr id="2" name="Rectangle 1">
            <a:extLst>
              <a:ext uri="{FF2B5EF4-FFF2-40B4-BE49-F238E27FC236}">
                <a16:creationId xmlns:a16="http://schemas.microsoft.com/office/drawing/2014/main" id="{3C44615C-219E-B0A9-EF57-5A3C39E86377}"/>
              </a:ext>
            </a:extLst>
          </p:cNvPr>
          <p:cNvSpPr/>
          <p:nvPr/>
        </p:nvSpPr>
        <p:spPr>
          <a:xfrm>
            <a:off x="635213" y="3546485"/>
            <a:ext cx="1086338" cy="26306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b="1">
                <a:solidFill>
                  <a:schemeClr val="tx1"/>
                </a:solidFill>
              </a:rPr>
              <a:t>Jan 2025</a:t>
            </a:r>
          </a:p>
        </p:txBody>
      </p:sp>
      <p:sp>
        <p:nvSpPr>
          <p:cNvPr id="5" name="Rectangle 4">
            <a:extLst>
              <a:ext uri="{FF2B5EF4-FFF2-40B4-BE49-F238E27FC236}">
                <a16:creationId xmlns:a16="http://schemas.microsoft.com/office/drawing/2014/main" id="{D630753C-8882-D17C-A383-81B492EDBA25}"/>
              </a:ext>
            </a:extLst>
          </p:cNvPr>
          <p:cNvSpPr/>
          <p:nvPr/>
        </p:nvSpPr>
        <p:spPr>
          <a:xfrm>
            <a:off x="2263870" y="3546485"/>
            <a:ext cx="1086338" cy="26306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b="1">
                <a:solidFill>
                  <a:schemeClr val="tx1"/>
                </a:solidFill>
              </a:rPr>
              <a:t>Feb 2025</a:t>
            </a:r>
          </a:p>
        </p:txBody>
      </p:sp>
      <p:sp>
        <p:nvSpPr>
          <p:cNvPr id="10" name="Rectangle 9">
            <a:extLst>
              <a:ext uri="{FF2B5EF4-FFF2-40B4-BE49-F238E27FC236}">
                <a16:creationId xmlns:a16="http://schemas.microsoft.com/office/drawing/2014/main" id="{2B52C002-25FF-74AD-B3DC-9B99B0DD0333}"/>
              </a:ext>
            </a:extLst>
          </p:cNvPr>
          <p:cNvSpPr/>
          <p:nvPr/>
        </p:nvSpPr>
        <p:spPr>
          <a:xfrm>
            <a:off x="3892527" y="3546485"/>
            <a:ext cx="1086338" cy="26306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b="1">
                <a:solidFill>
                  <a:schemeClr val="tx1"/>
                </a:solidFill>
              </a:rPr>
              <a:t>Oct 2025</a:t>
            </a:r>
          </a:p>
        </p:txBody>
      </p:sp>
      <p:sp>
        <p:nvSpPr>
          <p:cNvPr id="17" name="Rectangle 16">
            <a:extLst>
              <a:ext uri="{FF2B5EF4-FFF2-40B4-BE49-F238E27FC236}">
                <a16:creationId xmlns:a16="http://schemas.microsoft.com/office/drawing/2014/main" id="{E5C26A9C-6686-1667-A44E-F26760E6A5B3}"/>
              </a:ext>
            </a:extLst>
          </p:cNvPr>
          <p:cNvSpPr/>
          <p:nvPr/>
        </p:nvSpPr>
        <p:spPr>
          <a:xfrm>
            <a:off x="5521184" y="3546485"/>
            <a:ext cx="1086338" cy="26306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b="1">
                <a:solidFill>
                  <a:srgbClr val="000000"/>
                </a:solidFill>
              </a:rPr>
              <a:t>Nov 2025</a:t>
            </a:r>
          </a:p>
        </p:txBody>
      </p:sp>
      <p:sp>
        <p:nvSpPr>
          <p:cNvPr id="22" name="Rectangle 21">
            <a:extLst>
              <a:ext uri="{FF2B5EF4-FFF2-40B4-BE49-F238E27FC236}">
                <a16:creationId xmlns:a16="http://schemas.microsoft.com/office/drawing/2014/main" id="{F752105A-9D81-9F70-381A-4B4EA68C4F9C}"/>
              </a:ext>
            </a:extLst>
          </p:cNvPr>
          <p:cNvSpPr/>
          <p:nvPr/>
        </p:nvSpPr>
        <p:spPr>
          <a:xfrm>
            <a:off x="7149841" y="3546485"/>
            <a:ext cx="1086338" cy="26306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b="1">
                <a:solidFill>
                  <a:srgbClr val="000000"/>
                </a:solidFill>
              </a:rPr>
              <a:t>Q2 2026</a:t>
            </a:r>
          </a:p>
        </p:txBody>
      </p:sp>
      <p:sp>
        <p:nvSpPr>
          <p:cNvPr id="27" name="Rectangle 26">
            <a:extLst>
              <a:ext uri="{FF2B5EF4-FFF2-40B4-BE49-F238E27FC236}">
                <a16:creationId xmlns:a16="http://schemas.microsoft.com/office/drawing/2014/main" id="{B6FD65C9-DA95-0592-BF12-02E1225278E7}"/>
              </a:ext>
            </a:extLst>
          </p:cNvPr>
          <p:cNvSpPr/>
          <p:nvPr/>
        </p:nvSpPr>
        <p:spPr>
          <a:xfrm>
            <a:off x="8778498" y="3546485"/>
            <a:ext cx="1086338" cy="26306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b="1">
                <a:solidFill>
                  <a:srgbClr val="000000"/>
                </a:solidFill>
              </a:rPr>
              <a:t>Q3 2026</a:t>
            </a:r>
          </a:p>
        </p:txBody>
      </p:sp>
      <p:cxnSp>
        <p:nvCxnSpPr>
          <p:cNvPr id="30" name="Straight Connector 29">
            <a:extLst>
              <a:ext uri="{FF2B5EF4-FFF2-40B4-BE49-F238E27FC236}">
                <a16:creationId xmlns:a16="http://schemas.microsoft.com/office/drawing/2014/main" id="{81E16B78-FF70-7346-4043-ACC5745606D5}"/>
              </a:ext>
            </a:extLst>
          </p:cNvPr>
          <p:cNvCxnSpPr>
            <a:cxnSpLocks/>
            <a:stCxn id="131" idx="2"/>
            <a:endCxn id="27" idx="0"/>
          </p:cNvCxnSpPr>
          <p:nvPr/>
        </p:nvCxnSpPr>
        <p:spPr>
          <a:xfrm>
            <a:off x="9321667" y="3351590"/>
            <a:ext cx="0" cy="194895"/>
          </a:xfrm>
          <a:prstGeom prst="line">
            <a:avLst/>
          </a:prstGeom>
          <a:ln w="19050"/>
        </p:spPr>
        <p:style>
          <a:lnRef idx="2">
            <a:schemeClr val="accent3"/>
          </a:lnRef>
          <a:fillRef idx="0">
            <a:schemeClr val="accent3"/>
          </a:fillRef>
          <a:effectRef idx="1">
            <a:schemeClr val="accent3"/>
          </a:effectRef>
          <a:fontRef idx="minor">
            <a:schemeClr val="tx1"/>
          </a:fontRef>
        </p:style>
      </p:cxnSp>
      <p:cxnSp>
        <p:nvCxnSpPr>
          <p:cNvPr id="77" name="Straight Connector 76">
            <a:extLst>
              <a:ext uri="{FF2B5EF4-FFF2-40B4-BE49-F238E27FC236}">
                <a16:creationId xmlns:a16="http://schemas.microsoft.com/office/drawing/2014/main" id="{0F441B45-49EC-42E5-1FDA-D104C1999E88}"/>
              </a:ext>
            </a:extLst>
          </p:cNvPr>
          <p:cNvCxnSpPr>
            <a:cxnSpLocks/>
            <a:stCxn id="2" idx="2"/>
            <a:endCxn id="65" idx="0"/>
          </p:cNvCxnSpPr>
          <p:nvPr/>
        </p:nvCxnSpPr>
        <p:spPr>
          <a:xfrm>
            <a:off x="1178382" y="3809550"/>
            <a:ext cx="0" cy="208812"/>
          </a:xfrm>
          <a:prstGeom prst="line">
            <a:avLst/>
          </a:prstGeom>
          <a:ln w="19050"/>
        </p:spPr>
        <p:style>
          <a:lnRef idx="2">
            <a:schemeClr val="accent3"/>
          </a:lnRef>
          <a:fillRef idx="0">
            <a:schemeClr val="accent3"/>
          </a:fillRef>
          <a:effectRef idx="1">
            <a:schemeClr val="accent3"/>
          </a:effectRef>
          <a:fontRef idx="minor">
            <a:schemeClr val="tx1"/>
          </a:fontRef>
        </p:style>
      </p:cxnSp>
      <p:cxnSp>
        <p:nvCxnSpPr>
          <p:cNvPr id="79" name="Straight Connector 78">
            <a:extLst>
              <a:ext uri="{FF2B5EF4-FFF2-40B4-BE49-F238E27FC236}">
                <a16:creationId xmlns:a16="http://schemas.microsoft.com/office/drawing/2014/main" id="{2E826CC8-025E-1295-09BD-BCF85281E28C}"/>
              </a:ext>
            </a:extLst>
          </p:cNvPr>
          <p:cNvCxnSpPr>
            <a:cxnSpLocks/>
            <a:stCxn id="117" idx="2"/>
            <a:endCxn id="80" idx="0"/>
          </p:cNvCxnSpPr>
          <p:nvPr/>
        </p:nvCxnSpPr>
        <p:spPr>
          <a:xfrm>
            <a:off x="10950325" y="3809550"/>
            <a:ext cx="1425" cy="203392"/>
          </a:xfrm>
          <a:prstGeom prst="line">
            <a:avLst/>
          </a:prstGeom>
          <a:ln w="19050"/>
        </p:spPr>
        <p:style>
          <a:lnRef idx="2">
            <a:schemeClr val="accent3"/>
          </a:lnRef>
          <a:fillRef idx="0">
            <a:schemeClr val="accent3"/>
          </a:fillRef>
          <a:effectRef idx="1">
            <a:schemeClr val="accent3"/>
          </a:effectRef>
          <a:fontRef idx="minor">
            <a:schemeClr val="tx1"/>
          </a:fontRef>
        </p:style>
      </p:cxnSp>
      <p:sp>
        <p:nvSpPr>
          <p:cNvPr id="80" name="TextBox 36">
            <a:extLst>
              <a:ext uri="{FF2B5EF4-FFF2-40B4-BE49-F238E27FC236}">
                <a16:creationId xmlns:a16="http://schemas.microsoft.com/office/drawing/2014/main" id="{6E8D6336-59D5-5815-B594-E3A347A3AAC8}"/>
              </a:ext>
            </a:extLst>
          </p:cNvPr>
          <p:cNvSpPr txBox="1"/>
          <p:nvPr/>
        </p:nvSpPr>
        <p:spPr>
          <a:xfrm>
            <a:off x="9952249" y="4012942"/>
            <a:ext cx="1999002" cy="276999"/>
          </a:xfrm>
          <a:prstGeom prst="rect">
            <a:avLst/>
          </a:prstGeom>
          <a:noFill/>
          <a:ln>
            <a:solidFill>
              <a:schemeClr val="accent1">
                <a:lumMod val="90000"/>
              </a:schemeClr>
            </a:solidFill>
          </a:ln>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CA" sz="1200" b="1">
                <a:solidFill>
                  <a:prstClr val="black"/>
                </a:solidFill>
                <a:latin typeface="Arial"/>
                <a:ea typeface="+mn-ea"/>
                <a:cs typeface="+mn-cs"/>
              </a:rPr>
              <a:t>Production </a:t>
            </a:r>
            <a:r>
              <a:rPr lang="en-CA" sz="900" b="1">
                <a:solidFill>
                  <a:prstClr val="black"/>
                </a:solidFill>
                <a:latin typeface="Arial"/>
                <a:ea typeface="+mn-ea"/>
                <a:cs typeface="+mn-cs"/>
              </a:rPr>
              <a:t>(2</a:t>
            </a:r>
            <a:r>
              <a:rPr lang="en-CA" sz="900" b="1" baseline="30000">
                <a:solidFill>
                  <a:prstClr val="black"/>
                </a:solidFill>
                <a:latin typeface="Arial"/>
                <a:ea typeface="+mn-ea"/>
                <a:cs typeface="+mn-cs"/>
              </a:rPr>
              <a:t>nd</a:t>
            </a:r>
            <a:r>
              <a:rPr lang="en-CA" sz="900" b="1">
                <a:solidFill>
                  <a:prstClr val="black"/>
                </a:solidFill>
                <a:latin typeface="Arial"/>
                <a:ea typeface="+mn-ea"/>
                <a:cs typeface="+mn-cs"/>
              </a:rPr>
              <a:t> Beta release)</a:t>
            </a:r>
            <a:endParaRPr lang="en-CA" sz="1200" b="1">
              <a:solidFill>
                <a:prstClr val="black"/>
              </a:solidFill>
              <a:latin typeface="Arial"/>
              <a:ea typeface="+mn-ea"/>
              <a:cs typeface="+mn-cs"/>
            </a:endParaRPr>
          </a:p>
        </p:txBody>
      </p:sp>
      <p:sp>
        <p:nvSpPr>
          <p:cNvPr id="117" name="Rectangle 116">
            <a:extLst>
              <a:ext uri="{FF2B5EF4-FFF2-40B4-BE49-F238E27FC236}">
                <a16:creationId xmlns:a16="http://schemas.microsoft.com/office/drawing/2014/main" id="{187E3279-B43B-4CB3-185F-CE6C93655DEA}"/>
              </a:ext>
            </a:extLst>
          </p:cNvPr>
          <p:cNvSpPr/>
          <p:nvPr/>
        </p:nvSpPr>
        <p:spPr>
          <a:xfrm>
            <a:off x="10407156" y="3546485"/>
            <a:ext cx="1086338" cy="26306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b="1">
                <a:solidFill>
                  <a:srgbClr val="000000"/>
                </a:solidFill>
              </a:rPr>
              <a:t>Q4 2026</a:t>
            </a:r>
          </a:p>
        </p:txBody>
      </p:sp>
      <p:sp>
        <p:nvSpPr>
          <p:cNvPr id="118" name="Oval 117">
            <a:extLst>
              <a:ext uri="{FF2B5EF4-FFF2-40B4-BE49-F238E27FC236}">
                <a16:creationId xmlns:a16="http://schemas.microsoft.com/office/drawing/2014/main" id="{E0971FAC-4534-9C49-AF5B-1B907F494217}"/>
              </a:ext>
            </a:extLst>
          </p:cNvPr>
          <p:cNvSpPr/>
          <p:nvPr/>
        </p:nvSpPr>
        <p:spPr>
          <a:xfrm>
            <a:off x="9772249" y="4957248"/>
            <a:ext cx="180000" cy="180000"/>
          </a:xfrm>
          <a:prstGeom prst="ellipse">
            <a:avLst/>
          </a:prstGeom>
          <a:solidFill>
            <a:srgbClr val="C00000"/>
          </a:solidFill>
          <a:ln>
            <a:solidFill>
              <a:schemeClr val="bg1">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CA" sz="700" b="1">
              <a:solidFill>
                <a:schemeClr val="tx1"/>
              </a:solidFill>
            </a:endParaRPr>
          </a:p>
        </p:txBody>
      </p:sp>
      <p:sp>
        <p:nvSpPr>
          <p:cNvPr id="120" name="TextBox 119">
            <a:extLst>
              <a:ext uri="{FF2B5EF4-FFF2-40B4-BE49-F238E27FC236}">
                <a16:creationId xmlns:a16="http://schemas.microsoft.com/office/drawing/2014/main" id="{69042445-3D41-FE73-E993-4CC896882DA9}"/>
              </a:ext>
            </a:extLst>
          </p:cNvPr>
          <p:cNvSpPr txBox="1"/>
          <p:nvPr/>
        </p:nvSpPr>
        <p:spPr>
          <a:xfrm>
            <a:off x="9958608" y="4837166"/>
            <a:ext cx="2213920" cy="430887"/>
          </a:xfrm>
          <a:prstGeom prst="rect">
            <a:avLst/>
          </a:prstGeom>
          <a:noFill/>
        </p:spPr>
        <p:txBody>
          <a:bodyPr wrap="square" rtlCol="0">
            <a:spAutoFit/>
          </a:bodyPr>
          <a:lstStyle/>
          <a:p>
            <a:r>
              <a:rPr lang="en-CA" sz="1100" i="1"/>
              <a:t>Increased knowledgebase with data from Dashboards &amp; Tools​</a:t>
            </a:r>
          </a:p>
        </p:txBody>
      </p:sp>
    </p:spTree>
    <p:extLst>
      <p:ext uri="{BB962C8B-B14F-4D97-AF65-F5344CB8AC3E}">
        <p14:creationId xmlns:p14="http://schemas.microsoft.com/office/powerpoint/2010/main" val="1631602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BB6F7E-B6DF-C44F-2783-08F256EA285A}"/>
              </a:ext>
            </a:extLst>
          </p:cNvPr>
          <p:cNvSpPr>
            <a:spLocks noGrp="1"/>
          </p:cNvSpPr>
          <p:nvPr>
            <p:ph type="body" sz="quarter" idx="13"/>
          </p:nvPr>
        </p:nvSpPr>
        <p:spPr>
          <a:xfrm>
            <a:off x="694944" y="1271400"/>
            <a:ext cx="10829543" cy="4315200"/>
          </a:xfrm>
        </p:spPr>
        <p:txBody>
          <a:bodyPr/>
          <a:lstStyle/>
          <a:p>
            <a:r>
              <a:rPr lang="en-CA" sz="2000" dirty="0"/>
              <a:t>Have been assigned highest priority from BU</a:t>
            </a:r>
          </a:p>
          <a:p>
            <a:r>
              <a:rPr lang="en-CA" sz="2000" dirty="0"/>
              <a:t>Submitted to Consultation Lead – since 6/5/2025​</a:t>
            </a:r>
          </a:p>
        </p:txBody>
      </p:sp>
      <p:sp>
        <p:nvSpPr>
          <p:cNvPr id="3" name="Title 2">
            <a:extLst>
              <a:ext uri="{FF2B5EF4-FFF2-40B4-BE49-F238E27FC236}">
                <a16:creationId xmlns:a16="http://schemas.microsoft.com/office/drawing/2014/main" id="{615FA931-6B9D-5774-2361-5A737D526EF3}"/>
              </a:ext>
            </a:extLst>
          </p:cNvPr>
          <p:cNvSpPr>
            <a:spLocks noGrp="1"/>
          </p:cNvSpPr>
          <p:nvPr>
            <p:ph type="title"/>
          </p:nvPr>
        </p:nvSpPr>
        <p:spPr/>
        <p:txBody>
          <a:bodyPr/>
          <a:lstStyle/>
          <a:p>
            <a:r>
              <a:rPr lang="en-CA" dirty="0"/>
              <a:t>Demand - </a:t>
            </a:r>
            <a:r>
              <a:rPr lang="en-US" b="0" u="sng" dirty="0">
                <a:hlinkClick r:id="rId2"/>
              </a:rPr>
              <a:t>D21407</a:t>
            </a:r>
            <a:r>
              <a:rPr lang="en-US" b="0" dirty="0"/>
              <a:t>​</a:t>
            </a:r>
            <a:endParaRPr lang="en-CA" dirty="0"/>
          </a:p>
        </p:txBody>
      </p:sp>
      <p:sp>
        <p:nvSpPr>
          <p:cNvPr id="5" name="Slide Number Placeholder 4">
            <a:extLst>
              <a:ext uri="{FF2B5EF4-FFF2-40B4-BE49-F238E27FC236}">
                <a16:creationId xmlns:a16="http://schemas.microsoft.com/office/drawing/2014/main" id="{AC152041-1A09-247C-1B9A-F6C4301C76B4}"/>
              </a:ext>
            </a:extLst>
          </p:cNvPr>
          <p:cNvSpPr>
            <a:spLocks noGrp="1"/>
          </p:cNvSpPr>
          <p:nvPr>
            <p:ph type="sldNum" sz="quarter" idx="4"/>
          </p:nvPr>
        </p:nvSpPr>
        <p:spPr/>
        <p:txBody>
          <a:bodyPr/>
          <a:lstStyle/>
          <a:p>
            <a:fld id="{07165E6F-54ED-4977-A15E-D44BE7238A65}" type="slidenum">
              <a:rPr lang="en-US" smtClean="0"/>
              <a:pPr/>
              <a:t>24</a:t>
            </a:fld>
            <a:endParaRPr lang="en-US"/>
          </a:p>
        </p:txBody>
      </p:sp>
      <p:sp>
        <p:nvSpPr>
          <p:cNvPr id="6" name="Footer Placeholder 5">
            <a:extLst>
              <a:ext uri="{FF2B5EF4-FFF2-40B4-BE49-F238E27FC236}">
                <a16:creationId xmlns:a16="http://schemas.microsoft.com/office/drawing/2014/main" id="{05C5F837-AD54-763E-EA16-70D4EFF4DF61}"/>
              </a:ext>
            </a:extLst>
          </p:cNvPr>
          <p:cNvSpPr>
            <a:spLocks noGrp="1"/>
          </p:cNvSpPr>
          <p:nvPr>
            <p:ph type="ftr" sz="quarter" idx="3"/>
          </p:nvPr>
        </p:nvSpPr>
        <p:spPr/>
        <p:txBody>
          <a:bodyPr/>
          <a:lstStyle/>
          <a:p>
            <a:r>
              <a:rPr lang="en-US"/>
              <a:t>EXPORT MARKING: (Insert Export Marking) [TO CHANGE GO TO INSERT &gt; HEADER &amp; FOOTER] </a:t>
            </a:r>
          </a:p>
        </p:txBody>
      </p:sp>
      <p:pic>
        <p:nvPicPr>
          <p:cNvPr id="8" name="Picture 7">
            <a:extLst>
              <a:ext uri="{FF2B5EF4-FFF2-40B4-BE49-F238E27FC236}">
                <a16:creationId xmlns:a16="http://schemas.microsoft.com/office/drawing/2014/main" id="{87C9F626-0219-ED90-6CFE-047641A1A971}"/>
              </a:ext>
            </a:extLst>
          </p:cNvPr>
          <p:cNvPicPr>
            <a:picLocks noChangeAspect="1"/>
          </p:cNvPicPr>
          <p:nvPr/>
        </p:nvPicPr>
        <p:blipFill>
          <a:blip r:embed="rId3"/>
          <a:stretch>
            <a:fillRect/>
          </a:stretch>
        </p:blipFill>
        <p:spPr>
          <a:xfrm>
            <a:off x="2683373" y="2482302"/>
            <a:ext cx="6852684" cy="4041797"/>
          </a:xfrm>
          <a:prstGeom prst="rect">
            <a:avLst/>
          </a:prstGeom>
        </p:spPr>
      </p:pic>
    </p:spTree>
    <p:extLst>
      <p:ext uri="{BB962C8B-B14F-4D97-AF65-F5344CB8AC3E}">
        <p14:creationId xmlns:p14="http://schemas.microsoft.com/office/powerpoint/2010/main" val="922908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658E2B-B45B-E8D3-4023-E66D5E91FFF9}"/>
              </a:ext>
            </a:extLst>
          </p:cNvPr>
          <p:cNvSpPr>
            <a:spLocks noGrp="1"/>
          </p:cNvSpPr>
          <p:nvPr>
            <p:ph type="body" sz="quarter" idx="13"/>
          </p:nvPr>
        </p:nvSpPr>
        <p:spPr>
          <a:xfrm>
            <a:off x="685800" y="1143000"/>
            <a:ext cx="10829543" cy="1886343"/>
          </a:xfrm>
        </p:spPr>
        <p:txBody>
          <a:bodyPr/>
          <a:lstStyle/>
          <a:p>
            <a:r>
              <a:rPr lang="en-CA" sz="1800" dirty="0"/>
              <a:t>CLARA – 59627</a:t>
            </a:r>
          </a:p>
          <a:p>
            <a:r>
              <a:rPr lang="en-CA" sz="1800" dirty="0"/>
              <a:t>Submitted on 02/27/2026</a:t>
            </a:r>
          </a:p>
          <a:p>
            <a:r>
              <a:rPr lang="en-CA" sz="1800" dirty="0"/>
              <a:t>Data Privacy - Approved without condition for business contact data globally except of China business contact only by Alician Fabish.</a:t>
            </a:r>
          </a:p>
          <a:p>
            <a:r>
              <a:rPr lang="en-CA" sz="1800" dirty="0"/>
              <a:t>Currently under review with Global Trade under Edward Manemeit &amp; Vivian Gonzalez.</a:t>
            </a:r>
          </a:p>
        </p:txBody>
      </p:sp>
      <p:sp>
        <p:nvSpPr>
          <p:cNvPr id="3" name="Title 2">
            <a:extLst>
              <a:ext uri="{FF2B5EF4-FFF2-40B4-BE49-F238E27FC236}">
                <a16:creationId xmlns:a16="http://schemas.microsoft.com/office/drawing/2014/main" id="{03E340A1-F0B4-6F44-65A3-EA57833EE6E5}"/>
              </a:ext>
            </a:extLst>
          </p:cNvPr>
          <p:cNvSpPr>
            <a:spLocks noGrp="1"/>
          </p:cNvSpPr>
          <p:nvPr>
            <p:ph type="title"/>
          </p:nvPr>
        </p:nvSpPr>
        <p:spPr/>
        <p:txBody>
          <a:bodyPr/>
          <a:lstStyle/>
          <a:p>
            <a:r>
              <a:rPr lang="en-CA" sz="2800" dirty="0"/>
              <a:t>CLARA - </a:t>
            </a:r>
            <a:r>
              <a:rPr lang="en-CA" sz="2800" dirty="0" err="1">
                <a:hlinkClick r:id="rId2"/>
              </a:rPr>
              <a:t>OneTrust</a:t>
            </a:r>
            <a:r>
              <a:rPr lang="en-CA" sz="2800" dirty="0">
                <a:hlinkClick r:id="rId2"/>
              </a:rPr>
              <a:t> | Trust Intelligence | Login</a:t>
            </a:r>
            <a:endParaRPr lang="en-CA" sz="2800" dirty="0"/>
          </a:p>
        </p:txBody>
      </p:sp>
      <p:sp>
        <p:nvSpPr>
          <p:cNvPr id="5" name="Slide Number Placeholder 4">
            <a:extLst>
              <a:ext uri="{FF2B5EF4-FFF2-40B4-BE49-F238E27FC236}">
                <a16:creationId xmlns:a16="http://schemas.microsoft.com/office/drawing/2014/main" id="{5A150638-A3AC-7CFB-93B0-76C538FC9F7D}"/>
              </a:ext>
            </a:extLst>
          </p:cNvPr>
          <p:cNvSpPr>
            <a:spLocks noGrp="1"/>
          </p:cNvSpPr>
          <p:nvPr>
            <p:ph type="sldNum" sz="quarter" idx="4"/>
          </p:nvPr>
        </p:nvSpPr>
        <p:spPr/>
        <p:txBody>
          <a:bodyPr/>
          <a:lstStyle/>
          <a:p>
            <a:fld id="{07165E6F-54ED-4977-A15E-D44BE7238A65}" type="slidenum">
              <a:rPr lang="en-US" smtClean="0"/>
              <a:pPr/>
              <a:t>25</a:t>
            </a:fld>
            <a:endParaRPr lang="en-US"/>
          </a:p>
        </p:txBody>
      </p:sp>
      <p:sp>
        <p:nvSpPr>
          <p:cNvPr id="6" name="Footer Placeholder 5">
            <a:extLst>
              <a:ext uri="{FF2B5EF4-FFF2-40B4-BE49-F238E27FC236}">
                <a16:creationId xmlns:a16="http://schemas.microsoft.com/office/drawing/2014/main" id="{D76F78D0-1F7B-3E7B-E460-EF30A1BB13DE}"/>
              </a:ext>
            </a:extLst>
          </p:cNvPr>
          <p:cNvSpPr>
            <a:spLocks noGrp="1"/>
          </p:cNvSpPr>
          <p:nvPr>
            <p:ph type="ftr" sz="quarter" idx="3"/>
          </p:nvPr>
        </p:nvSpPr>
        <p:spPr/>
        <p:txBody>
          <a:bodyPr/>
          <a:lstStyle/>
          <a:p>
            <a:r>
              <a:rPr lang="en-US"/>
              <a:t>EXPORT MARKING: (Insert Export Marking) [TO CHANGE GO TO INSERT &gt; HEADER &amp; FOOTER] </a:t>
            </a:r>
          </a:p>
        </p:txBody>
      </p:sp>
      <p:sp>
        <p:nvSpPr>
          <p:cNvPr id="7" name="Title 2">
            <a:extLst>
              <a:ext uri="{FF2B5EF4-FFF2-40B4-BE49-F238E27FC236}">
                <a16:creationId xmlns:a16="http://schemas.microsoft.com/office/drawing/2014/main" id="{9BE20F96-34A8-0478-D909-C0AF4740DCAC}"/>
              </a:ext>
            </a:extLst>
          </p:cNvPr>
          <p:cNvSpPr txBox="1">
            <a:spLocks/>
          </p:cNvSpPr>
          <p:nvPr/>
        </p:nvSpPr>
        <p:spPr>
          <a:xfrm>
            <a:off x="694944" y="3212810"/>
            <a:ext cx="10811256" cy="676653"/>
          </a:xfrm>
          <a:prstGeom prst="rect">
            <a:avLst/>
          </a:prstGeom>
        </p:spPr>
        <p:txBody>
          <a:bodyPr vert="horz" lIns="0" tIns="0" rIns="0" bIns="0" rtlCol="0" anchor="t" anchorCtr="0">
            <a:noAutofit/>
          </a:bodyPr>
          <a:lstStyle>
            <a:lvl1pPr marL="0" algn="l" defTabSz="914400" rtl="0" eaLnBrk="1" latinLnBrk="0" hangingPunct="1">
              <a:lnSpc>
                <a:spcPct val="80000"/>
              </a:lnSpc>
              <a:spcBef>
                <a:spcPct val="0"/>
              </a:spcBef>
              <a:buNone/>
              <a:defRPr lang="en-US" sz="3200" b="1" kern="1200" baseline="0">
                <a:solidFill>
                  <a:schemeClr val="tx1"/>
                </a:solidFill>
                <a:latin typeface="+mj-lt"/>
                <a:ea typeface="+mj-ea"/>
                <a:cs typeface="Arial" panose="020B0604020202020204" pitchFamily="34" charset="0"/>
              </a:defRPr>
            </a:lvl1pPr>
          </a:lstStyle>
          <a:p>
            <a:r>
              <a:rPr lang="en-CA" sz="2800" dirty="0"/>
              <a:t>ATO - </a:t>
            </a:r>
            <a:r>
              <a:rPr lang="en-US" sz="2800" u="sng" dirty="0">
                <a:hlinkClick r:id="rId3"/>
              </a:rPr>
              <a:t>Cyber Archer GRC</a:t>
            </a:r>
            <a:r>
              <a:rPr lang="en-US" sz="2800" b="0" dirty="0"/>
              <a:t> </a:t>
            </a:r>
            <a:r>
              <a:rPr lang="en-US" sz="2800" dirty="0"/>
              <a:t> </a:t>
            </a:r>
            <a:r>
              <a:rPr lang="en-CA" sz="2800" dirty="0"/>
              <a:t>8291543</a:t>
            </a:r>
            <a:r>
              <a:rPr lang="en-US" sz="2800" dirty="0"/>
              <a:t>​</a:t>
            </a:r>
            <a:endParaRPr lang="en-CA" sz="2800" dirty="0"/>
          </a:p>
        </p:txBody>
      </p:sp>
      <p:pic>
        <p:nvPicPr>
          <p:cNvPr id="1028" name="Picture 4">
            <a:extLst>
              <a:ext uri="{FF2B5EF4-FFF2-40B4-BE49-F238E27FC236}">
                <a16:creationId xmlns:a16="http://schemas.microsoft.com/office/drawing/2014/main" id="{33C3F3EA-7770-4FB0-C575-D0B96D0EE5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4550" y="3686553"/>
            <a:ext cx="7962900"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606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5AB07C-8723-F7F3-3BEF-0320E7F4FEFA}"/>
              </a:ext>
            </a:extLst>
          </p:cNvPr>
          <p:cNvSpPr>
            <a:spLocks noGrp="1"/>
          </p:cNvSpPr>
          <p:nvPr>
            <p:ph type="title"/>
          </p:nvPr>
        </p:nvSpPr>
        <p:spPr/>
        <p:txBody>
          <a:bodyPr/>
          <a:lstStyle/>
          <a:p>
            <a:r>
              <a:rPr lang="en-CA" dirty="0"/>
              <a:t>Global Trade Assessment - </a:t>
            </a:r>
            <a:r>
              <a:rPr lang="en-US" u="sng" dirty="0">
                <a:hlinkClick r:id="rId2"/>
              </a:rPr>
              <a:t>8291537</a:t>
            </a:r>
            <a:r>
              <a:rPr lang="en-US" dirty="0"/>
              <a:t>​</a:t>
            </a:r>
            <a:endParaRPr lang="en-CA" dirty="0"/>
          </a:p>
        </p:txBody>
      </p:sp>
      <p:sp>
        <p:nvSpPr>
          <p:cNvPr id="5" name="Slide Number Placeholder 4">
            <a:extLst>
              <a:ext uri="{FF2B5EF4-FFF2-40B4-BE49-F238E27FC236}">
                <a16:creationId xmlns:a16="http://schemas.microsoft.com/office/drawing/2014/main" id="{7D56702A-2D8F-4A3C-5A1A-3BD521EBDE23}"/>
              </a:ext>
            </a:extLst>
          </p:cNvPr>
          <p:cNvSpPr>
            <a:spLocks noGrp="1"/>
          </p:cNvSpPr>
          <p:nvPr>
            <p:ph type="sldNum" sz="quarter" idx="4"/>
          </p:nvPr>
        </p:nvSpPr>
        <p:spPr/>
        <p:txBody>
          <a:bodyPr/>
          <a:lstStyle/>
          <a:p>
            <a:fld id="{07165E6F-54ED-4977-A15E-D44BE7238A65}" type="slidenum">
              <a:rPr lang="en-US" smtClean="0"/>
              <a:pPr/>
              <a:t>26</a:t>
            </a:fld>
            <a:endParaRPr lang="en-US"/>
          </a:p>
        </p:txBody>
      </p:sp>
      <p:sp>
        <p:nvSpPr>
          <p:cNvPr id="6" name="Footer Placeholder 5">
            <a:extLst>
              <a:ext uri="{FF2B5EF4-FFF2-40B4-BE49-F238E27FC236}">
                <a16:creationId xmlns:a16="http://schemas.microsoft.com/office/drawing/2014/main" id="{FC9364F6-D797-3CE4-0956-075860C01AD4}"/>
              </a:ext>
            </a:extLst>
          </p:cNvPr>
          <p:cNvSpPr>
            <a:spLocks noGrp="1"/>
          </p:cNvSpPr>
          <p:nvPr>
            <p:ph type="ftr" sz="quarter" idx="3"/>
          </p:nvPr>
        </p:nvSpPr>
        <p:spPr/>
        <p:txBody>
          <a:bodyPr/>
          <a:lstStyle/>
          <a:p>
            <a:r>
              <a:rPr lang="en-US"/>
              <a:t>EXPORT MARKING: (Insert Export Marking) [TO CHANGE GO TO INSERT &gt; HEADER &amp; FOOTER] </a:t>
            </a:r>
          </a:p>
        </p:txBody>
      </p:sp>
      <p:pic>
        <p:nvPicPr>
          <p:cNvPr id="8" name="Picture 7">
            <a:extLst>
              <a:ext uri="{FF2B5EF4-FFF2-40B4-BE49-F238E27FC236}">
                <a16:creationId xmlns:a16="http://schemas.microsoft.com/office/drawing/2014/main" id="{2A97AE46-82B4-B8A0-4405-5A9911295C42}"/>
              </a:ext>
            </a:extLst>
          </p:cNvPr>
          <p:cNvPicPr>
            <a:picLocks noChangeAspect="1"/>
          </p:cNvPicPr>
          <p:nvPr/>
        </p:nvPicPr>
        <p:blipFill>
          <a:blip r:embed="rId3"/>
          <a:stretch>
            <a:fillRect/>
          </a:stretch>
        </p:blipFill>
        <p:spPr>
          <a:xfrm>
            <a:off x="1798019" y="1056738"/>
            <a:ext cx="8595962" cy="5084859"/>
          </a:xfrm>
          <a:prstGeom prst="rect">
            <a:avLst/>
          </a:prstGeom>
        </p:spPr>
      </p:pic>
    </p:spTree>
    <p:extLst>
      <p:ext uri="{BB962C8B-B14F-4D97-AF65-F5344CB8AC3E}">
        <p14:creationId xmlns:p14="http://schemas.microsoft.com/office/powerpoint/2010/main" val="3374904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4DD2F4-ECBE-C4D5-46BE-02B49AC44F9A}"/>
              </a:ext>
            </a:extLst>
          </p:cNvPr>
          <p:cNvSpPr>
            <a:spLocks noGrp="1"/>
          </p:cNvSpPr>
          <p:nvPr>
            <p:ph type="body" sz="quarter" idx="13"/>
          </p:nvPr>
        </p:nvSpPr>
        <p:spPr>
          <a:xfrm>
            <a:off x="694944" y="1047619"/>
            <a:ext cx="10829543" cy="4315200"/>
          </a:xfrm>
        </p:spPr>
        <p:txBody>
          <a:bodyPr/>
          <a:lstStyle/>
          <a:p>
            <a:pPr marL="0" indent="0">
              <a:buNone/>
            </a:pPr>
            <a:r>
              <a:rPr lang="en-US" sz="1800" b="1" dirty="0"/>
              <a:t>GT Assessment</a:t>
            </a:r>
          </a:p>
          <a:p>
            <a:r>
              <a:rPr lang="en-US" sz="1400" dirty="0"/>
              <a:t>Proof of Hosting evidence. (Currently using a temporary solution from Raymundo Garcia &amp; Saketh, adopting the XRM Chat Tool infra)</a:t>
            </a:r>
          </a:p>
          <a:p>
            <a:r>
              <a:rPr lang="en-CA" sz="1400" dirty="0"/>
              <a:t>We will have to update the evidence on the GTA once the system has been set in place. </a:t>
            </a:r>
          </a:p>
          <a:p>
            <a:r>
              <a:rPr lang="en-US" sz="1400" dirty="0"/>
              <a:t>Need dedicated assistance form someone from the DT Infra Team.</a:t>
            </a:r>
          </a:p>
          <a:p>
            <a:endParaRPr lang="en-CA" sz="1800" dirty="0"/>
          </a:p>
        </p:txBody>
      </p:sp>
      <p:sp>
        <p:nvSpPr>
          <p:cNvPr id="3" name="Title 2">
            <a:extLst>
              <a:ext uri="{FF2B5EF4-FFF2-40B4-BE49-F238E27FC236}">
                <a16:creationId xmlns:a16="http://schemas.microsoft.com/office/drawing/2014/main" id="{A7CF1ECD-B8C7-B6CC-6F59-A185972E413D}"/>
              </a:ext>
            </a:extLst>
          </p:cNvPr>
          <p:cNvSpPr>
            <a:spLocks noGrp="1"/>
          </p:cNvSpPr>
          <p:nvPr>
            <p:ph type="title"/>
          </p:nvPr>
        </p:nvSpPr>
        <p:spPr/>
        <p:txBody>
          <a:bodyPr/>
          <a:lstStyle/>
          <a:p>
            <a:r>
              <a:rPr lang="en-CA" dirty="0"/>
              <a:t>Current Hurdles / Next Steps</a:t>
            </a:r>
          </a:p>
        </p:txBody>
      </p:sp>
      <p:sp>
        <p:nvSpPr>
          <p:cNvPr id="5" name="Slide Number Placeholder 4">
            <a:extLst>
              <a:ext uri="{FF2B5EF4-FFF2-40B4-BE49-F238E27FC236}">
                <a16:creationId xmlns:a16="http://schemas.microsoft.com/office/drawing/2014/main" id="{EB2CF552-2B43-C093-240F-68BA3F30E129}"/>
              </a:ext>
            </a:extLst>
          </p:cNvPr>
          <p:cNvSpPr>
            <a:spLocks noGrp="1"/>
          </p:cNvSpPr>
          <p:nvPr>
            <p:ph type="sldNum" sz="quarter" idx="4"/>
          </p:nvPr>
        </p:nvSpPr>
        <p:spPr/>
        <p:txBody>
          <a:bodyPr/>
          <a:lstStyle/>
          <a:p>
            <a:fld id="{07165E6F-54ED-4977-A15E-D44BE7238A65}" type="slidenum">
              <a:rPr lang="en-US" smtClean="0"/>
              <a:pPr/>
              <a:t>27</a:t>
            </a:fld>
            <a:endParaRPr lang="en-US"/>
          </a:p>
        </p:txBody>
      </p:sp>
      <p:sp>
        <p:nvSpPr>
          <p:cNvPr id="6" name="Footer Placeholder 5">
            <a:extLst>
              <a:ext uri="{FF2B5EF4-FFF2-40B4-BE49-F238E27FC236}">
                <a16:creationId xmlns:a16="http://schemas.microsoft.com/office/drawing/2014/main" id="{F3142122-FFA7-3E76-F886-3361BF3BE174}"/>
              </a:ext>
            </a:extLst>
          </p:cNvPr>
          <p:cNvSpPr>
            <a:spLocks noGrp="1"/>
          </p:cNvSpPr>
          <p:nvPr>
            <p:ph type="ftr" sz="quarter" idx="3"/>
          </p:nvPr>
        </p:nvSpPr>
        <p:spPr/>
        <p:txBody>
          <a:bodyPr/>
          <a:lstStyle/>
          <a:p>
            <a:r>
              <a:rPr lang="en-US"/>
              <a:t>EXPORT MARKING: (Insert Export Marking) [TO CHANGE GO TO INSERT &gt; HEADER &amp; FOOTER] </a:t>
            </a:r>
          </a:p>
        </p:txBody>
      </p:sp>
      <p:pic>
        <p:nvPicPr>
          <p:cNvPr id="2050" name="Picture 2">
            <a:extLst>
              <a:ext uri="{FF2B5EF4-FFF2-40B4-BE49-F238E27FC236}">
                <a16:creationId xmlns:a16="http://schemas.microsoft.com/office/drawing/2014/main" id="{3B834E3E-6FCB-9233-35E9-078E11D8D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9127" y="2887571"/>
            <a:ext cx="5349361" cy="2958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159D2730-C4DA-25EA-9F51-6D8A0FBCBAC5}"/>
              </a:ext>
            </a:extLst>
          </p:cNvPr>
          <p:cNvPicPr>
            <a:picLocks noChangeAspect="1"/>
          </p:cNvPicPr>
          <p:nvPr/>
        </p:nvPicPr>
        <p:blipFill>
          <a:blip r:embed="rId3"/>
          <a:stretch>
            <a:fillRect/>
          </a:stretch>
        </p:blipFill>
        <p:spPr>
          <a:xfrm>
            <a:off x="3544922" y="2395835"/>
            <a:ext cx="2551078" cy="3942057"/>
          </a:xfrm>
          <a:prstGeom prst="rect">
            <a:avLst/>
          </a:prstGeom>
        </p:spPr>
      </p:pic>
      <p:pic>
        <p:nvPicPr>
          <p:cNvPr id="10" name="Picture 9">
            <a:extLst>
              <a:ext uri="{FF2B5EF4-FFF2-40B4-BE49-F238E27FC236}">
                <a16:creationId xmlns:a16="http://schemas.microsoft.com/office/drawing/2014/main" id="{7A35CCF6-131F-D3BC-9356-362854910B4F}"/>
              </a:ext>
            </a:extLst>
          </p:cNvPr>
          <p:cNvPicPr>
            <a:picLocks noChangeAspect="1"/>
          </p:cNvPicPr>
          <p:nvPr/>
        </p:nvPicPr>
        <p:blipFill>
          <a:blip r:embed="rId4"/>
          <a:stretch>
            <a:fillRect/>
          </a:stretch>
        </p:blipFill>
        <p:spPr>
          <a:xfrm>
            <a:off x="410943" y="2743202"/>
            <a:ext cx="2699110" cy="3247322"/>
          </a:xfrm>
          <a:prstGeom prst="rect">
            <a:avLst/>
          </a:prstGeom>
        </p:spPr>
      </p:pic>
    </p:spTree>
    <p:extLst>
      <p:ext uri="{BB962C8B-B14F-4D97-AF65-F5344CB8AC3E}">
        <p14:creationId xmlns:p14="http://schemas.microsoft.com/office/powerpoint/2010/main" val="3413963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29669-E534-BB7E-07E2-E5773773FE7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0E36B27-902F-4C07-9603-0C11180D1CF3}"/>
              </a:ext>
            </a:extLst>
          </p:cNvPr>
          <p:cNvSpPr>
            <a:spLocks noGrp="1"/>
          </p:cNvSpPr>
          <p:nvPr>
            <p:ph type="body" sz="quarter" idx="13"/>
          </p:nvPr>
        </p:nvSpPr>
        <p:spPr>
          <a:xfrm>
            <a:off x="694944" y="1047619"/>
            <a:ext cx="10829543" cy="688085"/>
          </a:xfrm>
        </p:spPr>
        <p:txBody>
          <a:bodyPr/>
          <a:lstStyle/>
          <a:p>
            <a:pPr marL="0" indent="0">
              <a:buNone/>
            </a:pPr>
            <a:r>
              <a:rPr lang="en-US" sz="1800" b="1" dirty="0"/>
              <a:t>GT Assessment</a:t>
            </a:r>
          </a:p>
          <a:p>
            <a:r>
              <a:rPr lang="en-US" sz="1400" dirty="0"/>
              <a:t>Type F System Reference proof</a:t>
            </a:r>
          </a:p>
        </p:txBody>
      </p:sp>
      <p:sp>
        <p:nvSpPr>
          <p:cNvPr id="3" name="Title 2">
            <a:extLst>
              <a:ext uri="{FF2B5EF4-FFF2-40B4-BE49-F238E27FC236}">
                <a16:creationId xmlns:a16="http://schemas.microsoft.com/office/drawing/2014/main" id="{C36A3B95-F2D2-3534-0C99-BDC4984C8007}"/>
              </a:ext>
            </a:extLst>
          </p:cNvPr>
          <p:cNvSpPr>
            <a:spLocks noGrp="1"/>
          </p:cNvSpPr>
          <p:nvPr>
            <p:ph type="title"/>
          </p:nvPr>
        </p:nvSpPr>
        <p:spPr/>
        <p:txBody>
          <a:bodyPr/>
          <a:lstStyle/>
          <a:p>
            <a:r>
              <a:rPr lang="en-CA" dirty="0"/>
              <a:t>Current Hurdles / Next Steps</a:t>
            </a:r>
          </a:p>
        </p:txBody>
      </p:sp>
      <p:sp>
        <p:nvSpPr>
          <p:cNvPr id="5" name="Slide Number Placeholder 4">
            <a:extLst>
              <a:ext uri="{FF2B5EF4-FFF2-40B4-BE49-F238E27FC236}">
                <a16:creationId xmlns:a16="http://schemas.microsoft.com/office/drawing/2014/main" id="{46DCE743-FE00-703D-B339-2514B461BC21}"/>
              </a:ext>
            </a:extLst>
          </p:cNvPr>
          <p:cNvSpPr>
            <a:spLocks noGrp="1"/>
          </p:cNvSpPr>
          <p:nvPr>
            <p:ph type="sldNum" sz="quarter" idx="4"/>
          </p:nvPr>
        </p:nvSpPr>
        <p:spPr/>
        <p:txBody>
          <a:bodyPr/>
          <a:lstStyle/>
          <a:p>
            <a:fld id="{07165E6F-54ED-4977-A15E-D44BE7238A65}" type="slidenum">
              <a:rPr lang="en-US" smtClean="0"/>
              <a:pPr/>
              <a:t>28</a:t>
            </a:fld>
            <a:endParaRPr lang="en-US"/>
          </a:p>
        </p:txBody>
      </p:sp>
      <p:sp>
        <p:nvSpPr>
          <p:cNvPr id="6" name="Footer Placeholder 5">
            <a:extLst>
              <a:ext uri="{FF2B5EF4-FFF2-40B4-BE49-F238E27FC236}">
                <a16:creationId xmlns:a16="http://schemas.microsoft.com/office/drawing/2014/main" id="{527A358C-2F78-FF43-520E-A4ED0C0AED45}"/>
              </a:ext>
            </a:extLst>
          </p:cNvPr>
          <p:cNvSpPr>
            <a:spLocks noGrp="1"/>
          </p:cNvSpPr>
          <p:nvPr>
            <p:ph type="ftr" sz="quarter" idx="3"/>
          </p:nvPr>
        </p:nvSpPr>
        <p:spPr/>
        <p:txBody>
          <a:bodyPr/>
          <a:lstStyle/>
          <a:p>
            <a:r>
              <a:rPr lang="en-US"/>
              <a:t>EXPORT MARKING: (Insert Export Marking) [TO CHANGE GO TO INSERT &gt; HEADER &amp; FOOTER] </a:t>
            </a:r>
          </a:p>
        </p:txBody>
      </p:sp>
      <p:pic>
        <p:nvPicPr>
          <p:cNvPr id="7" name="Picture 6">
            <a:extLst>
              <a:ext uri="{FF2B5EF4-FFF2-40B4-BE49-F238E27FC236}">
                <a16:creationId xmlns:a16="http://schemas.microsoft.com/office/drawing/2014/main" id="{25B3FA07-124E-5E76-3E02-4511E0A434B4}"/>
              </a:ext>
            </a:extLst>
          </p:cNvPr>
          <p:cNvPicPr>
            <a:picLocks noChangeAspect="1"/>
          </p:cNvPicPr>
          <p:nvPr/>
        </p:nvPicPr>
        <p:blipFill>
          <a:blip r:embed="rId2"/>
          <a:stretch>
            <a:fillRect/>
          </a:stretch>
        </p:blipFill>
        <p:spPr>
          <a:xfrm>
            <a:off x="293802" y="2241975"/>
            <a:ext cx="5947972" cy="3174819"/>
          </a:xfrm>
          <a:prstGeom prst="rect">
            <a:avLst/>
          </a:prstGeom>
        </p:spPr>
      </p:pic>
      <p:pic>
        <p:nvPicPr>
          <p:cNvPr id="11" name="Picture 10">
            <a:extLst>
              <a:ext uri="{FF2B5EF4-FFF2-40B4-BE49-F238E27FC236}">
                <a16:creationId xmlns:a16="http://schemas.microsoft.com/office/drawing/2014/main" id="{4C83663E-2A86-645E-1B71-02186D8A2AB9}"/>
              </a:ext>
            </a:extLst>
          </p:cNvPr>
          <p:cNvPicPr>
            <a:picLocks noChangeAspect="1"/>
          </p:cNvPicPr>
          <p:nvPr/>
        </p:nvPicPr>
        <p:blipFill>
          <a:blip r:embed="rId3"/>
          <a:stretch>
            <a:fillRect/>
          </a:stretch>
        </p:blipFill>
        <p:spPr>
          <a:xfrm>
            <a:off x="6096000" y="997786"/>
            <a:ext cx="5583934" cy="1141115"/>
          </a:xfrm>
          <a:prstGeom prst="rect">
            <a:avLst/>
          </a:prstGeom>
        </p:spPr>
      </p:pic>
      <p:pic>
        <p:nvPicPr>
          <p:cNvPr id="13" name="Picture 12">
            <a:extLst>
              <a:ext uri="{FF2B5EF4-FFF2-40B4-BE49-F238E27FC236}">
                <a16:creationId xmlns:a16="http://schemas.microsoft.com/office/drawing/2014/main" id="{8538E0A8-76E7-F018-E164-63789FDDAC31}"/>
              </a:ext>
            </a:extLst>
          </p:cNvPr>
          <p:cNvPicPr>
            <a:picLocks noChangeAspect="1"/>
          </p:cNvPicPr>
          <p:nvPr/>
        </p:nvPicPr>
        <p:blipFill>
          <a:blip r:embed="rId4"/>
          <a:stretch>
            <a:fillRect/>
          </a:stretch>
        </p:blipFill>
        <p:spPr>
          <a:xfrm>
            <a:off x="6146268" y="2369528"/>
            <a:ext cx="5483397" cy="2354339"/>
          </a:xfrm>
          <a:prstGeom prst="rect">
            <a:avLst/>
          </a:prstGeom>
        </p:spPr>
      </p:pic>
      <p:pic>
        <p:nvPicPr>
          <p:cNvPr id="15" name="Picture 14">
            <a:extLst>
              <a:ext uri="{FF2B5EF4-FFF2-40B4-BE49-F238E27FC236}">
                <a16:creationId xmlns:a16="http://schemas.microsoft.com/office/drawing/2014/main" id="{31B3522D-6C7E-1A32-834C-E9328FAD796C}"/>
              </a:ext>
            </a:extLst>
          </p:cNvPr>
          <p:cNvPicPr>
            <a:picLocks noChangeAspect="1"/>
          </p:cNvPicPr>
          <p:nvPr/>
        </p:nvPicPr>
        <p:blipFill>
          <a:blip r:embed="rId5"/>
          <a:stretch>
            <a:fillRect/>
          </a:stretch>
        </p:blipFill>
        <p:spPr>
          <a:xfrm>
            <a:off x="6146268" y="4806765"/>
            <a:ext cx="5811661" cy="1403615"/>
          </a:xfrm>
          <a:prstGeom prst="rect">
            <a:avLst/>
          </a:prstGeom>
        </p:spPr>
      </p:pic>
    </p:spTree>
    <p:extLst>
      <p:ext uri="{BB962C8B-B14F-4D97-AF65-F5344CB8AC3E}">
        <p14:creationId xmlns:p14="http://schemas.microsoft.com/office/powerpoint/2010/main" val="6705499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7B2105-602E-BC46-7E92-0E9A220BE134}"/>
              </a:ext>
            </a:extLst>
          </p:cNvPr>
          <p:cNvSpPr>
            <a:spLocks noGrp="1"/>
          </p:cNvSpPr>
          <p:nvPr>
            <p:ph type="body" sz="quarter" idx="13"/>
          </p:nvPr>
        </p:nvSpPr>
        <p:spPr/>
        <p:txBody>
          <a:bodyPr/>
          <a:lstStyle/>
          <a:p>
            <a:r>
              <a:rPr lang="en-CA" dirty="0"/>
              <a:t>Code Documentation in Confluence</a:t>
            </a:r>
          </a:p>
          <a:p>
            <a:r>
              <a:rPr lang="en-CA" dirty="0"/>
              <a:t>ADO setup for the code repository – Clement, Raymundo</a:t>
            </a:r>
          </a:p>
          <a:p>
            <a:r>
              <a:rPr lang="en-CA" dirty="0"/>
              <a:t>Data Scientist / MLE to review the code – Nada’s Team</a:t>
            </a:r>
          </a:p>
          <a:p>
            <a:r>
              <a:rPr lang="en-CA" dirty="0"/>
              <a:t>Business Plan slides with financial impact (Vinit)</a:t>
            </a:r>
          </a:p>
          <a:p>
            <a:r>
              <a:rPr lang="en-CA" dirty="0"/>
              <a:t>Document the process so far with DT</a:t>
            </a:r>
          </a:p>
          <a:p>
            <a:r>
              <a:rPr lang="en-CA" dirty="0"/>
              <a:t>Each step done with timeline (checklist fashion)</a:t>
            </a:r>
          </a:p>
        </p:txBody>
      </p:sp>
      <p:sp>
        <p:nvSpPr>
          <p:cNvPr id="3" name="Title 2">
            <a:extLst>
              <a:ext uri="{FF2B5EF4-FFF2-40B4-BE49-F238E27FC236}">
                <a16:creationId xmlns:a16="http://schemas.microsoft.com/office/drawing/2014/main" id="{F9234329-A1D7-9070-935F-2780BE05C71B}"/>
              </a:ext>
            </a:extLst>
          </p:cNvPr>
          <p:cNvSpPr>
            <a:spLocks noGrp="1"/>
          </p:cNvSpPr>
          <p:nvPr>
            <p:ph type="title"/>
          </p:nvPr>
        </p:nvSpPr>
        <p:spPr/>
        <p:txBody>
          <a:bodyPr/>
          <a:lstStyle/>
          <a:p>
            <a:r>
              <a:rPr lang="en-CA" dirty="0"/>
              <a:t>Action Items</a:t>
            </a:r>
          </a:p>
        </p:txBody>
      </p:sp>
      <p:sp>
        <p:nvSpPr>
          <p:cNvPr id="5" name="Slide Number Placeholder 4">
            <a:extLst>
              <a:ext uri="{FF2B5EF4-FFF2-40B4-BE49-F238E27FC236}">
                <a16:creationId xmlns:a16="http://schemas.microsoft.com/office/drawing/2014/main" id="{32F814E2-18BF-1C63-A928-7510A7568422}"/>
              </a:ext>
            </a:extLst>
          </p:cNvPr>
          <p:cNvSpPr>
            <a:spLocks noGrp="1"/>
          </p:cNvSpPr>
          <p:nvPr>
            <p:ph type="sldNum" sz="quarter" idx="4"/>
          </p:nvPr>
        </p:nvSpPr>
        <p:spPr/>
        <p:txBody>
          <a:bodyPr/>
          <a:lstStyle/>
          <a:p>
            <a:fld id="{07165E6F-54ED-4977-A15E-D44BE7238A65}" type="slidenum">
              <a:rPr lang="en-US" smtClean="0"/>
              <a:pPr/>
              <a:t>29</a:t>
            </a:fld>
            <a:endParaRPr lang="en-US"/>
          </a:p>
        </p:txBody>
      </p:sp>
      <p:sp>
        <p:nvSpPr>
          <p:cNvPr id="6" name="Footer Placeholder 5">
            <a:extLst>
              <a:ext uri="{FF2B5EF4-FFF2-40B4-BE49-F238E27FC236}">
                <a16:creationId xmlns:a16="http://schemas.microsoft.com/office/drawing/2014/main" id="{74433E5A-0E1A-9A7B-572B-EC82515D5533}"/>
              </a:ext>
            </a:extLst>
          </p:cNvPr>
          <p:cNvSpPr>
            <a:spLocks noGrp="1"/>
          </p:cNvSpPr>
          <p:nvPr>
            <p:ph type="ftr" sz="quarter" idx="3"/>
          </p:nvPr>
        </p:nvSpPr>
        <p:spPr/>
        <p:txBody>
          <a:bodyPr/>
          <a:lstStyle/>
          <a:p>
            <a:r>
              <a:rPr lang="en-US"/>
              <a:t>EXPORT MARKING: (Insert Export Marking) [TO CHANGE GO TO INSERT &gt; HEADER &amp; FOOTER] </a:t>
            </a:r>
          </a:p>
        </p:txBody>
      </p:sp>
    </p:spTree>
    <p:extLst>
      <p:ext uri="{BB962C8B-B14F-4D97-AF65-F5344CB8AC3E}">
        <p14:creationId xmlns:p14="http://schemas.microsoft.com/office/powerpoint/2010/main" val="39511575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
  <p:tag name="BJHEADERFOOTERTEXTMARKING" val="RTX Corporation (Corporate) - Company Use"/>
</p:tagLst>
</file>

<file path=ppt/theme/theme1.xml><?xml version="1.0" encoding="utf-8"?>
<a:theme xmlns:a="http://schemas.openxmlformats.org/drawingml/2006/main" name="PW Masters: Covers">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 template PWC-EN.potx" id="{5D1194A4-6A73-40BD-8A08-4223D2BE5222}" vid="{15554F91-0199-4659-A007-3DBEFE71F5EB}"/>
    </a:ext>
  </a:extLst>
</a:theme>
</file>

<file path=ppt/theme/theme2.xml><?xml version="1.0" encoding="utf-8"?>
<a:theme xmlns:a="http://schemas.openxmlformats.org/drawingml/2006/main" name="MANDATORY">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 template PWC-EN.potx" id="{5D1194A4-6A73-40BD-8A08-4223D2BE5222}" vid="{9FFBB6B2-2A1A-4B69-BDB3-C139EA98BF23}"/>
    </a:ext>
  </a:extLst>
</a:theme>
</file>

<file path=ppt/theme/theme3.xml><?xml version="1.0" encoding="utf-8"?>
<a:theme xmlns:a="http://schemas.openxmlformats.org/drawingml/2006/main" name="PW Masters: Content">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 template PWC-EN.potx" id="{5D1194A4-6A73-40BD-8A08-4223D2BE5222}" vid="{DA24F101-AE8E-4FDD-B630-042FE1D4ED00}"/>
    </a:ext>
  </a:extLst>
</a:theme>
</file>

<file path=ppt/theme/theme4.xml><?xml version="1.0" encoding="utf-8"?>
<a:theme xmlns:a="http://schemas.openxmlformats.org/drawingml/2006/main" name="Office Theme">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sisl xmlns:xsi="http://www.w3.org/2001/XMLSchema-instance" xmlns:xsd="http://www.w3.org/2001/XMLSchema" xmlns="http://www.boldonjames.com/2008/01/sie/internal/label" sislVersion="0" policy="cde53ac1-bf5f-4aae-9cf1-07509e23a4b0" origin="userSelected">
  <element uid="dececbd6-da3b-46fe-8f00-f9d9deea2ee1" value=""/>
  <element uid="bba94c65-ac3d-4f34-b2e1-8de11ef6f01c" value=""/>
  <element uid="a06da4da-a263-4136-b4fd-f28a17d30188" value=""/>
  <element uid="bc2b7c01-6db1-4e7d-88d1-fc61674f86fd" value=""/>
  <element uid="92e993a3-af32-4afb-aa19-3a49cdb82c7a" value=""/>
</sisl>
</file>

<file path=customXml/item2.xml><?xml version="1.0" encoding="utf-8"?>
<WrappedLabelHistory xmlns:xsi="http://www.w3.org/2001/XMLSchema-instance" xmlns:xsd="http://www.w3.org/2001/XMLSchema" xmlns="http://www.boldonjames.com/2016/02/Classifier/internal/wrappedLabelHistory">
  <Value>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VVNcbnJwMDI0MTU4MjwvVXNlck5hbWU+PERhdGVUaW1lPjIvMTIvMjAyMCAyOjQ5OjE3IFBNPC9EYXRlVGltZT48TGFiZWxTdHJpbmc+T3JpZ2luIEp1cmlzZGljdGlvbjogVVMg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VVNcbnJwMDI0MTU4MjwvVXNlck5hbWU+PERhdGVUaW1lPjIvMTIvMjAyMCAzOjAzOjA5IFBNPC9EYXRlVGltZT48TGFiZWxTdHJpbmc+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yLzIwMjAgMzoyODo1NyBQTTwvRGF0ZVRpbWU+PExhYmVsU3RyaW5nPk9yaWdpbiBKdXJpc2RpY3Rpb246IFVTICB8IFJheXRoZW9uIFByb3ByaWV0YXJ5IHwgUGVyIEN1cnJlbnQgUmF5dGhlb24gUG9saWN5IChSUC1PR0MtMDM1KSB8IFVTLUlUQVIgQ29udHJvbGx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yLzE0LzIwMjAgNDo0Mjo0NCBQTTwvRGF0ZVRpbWU+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0LzIwMjAgNjoyOTozNC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VVNcbnJwMDI0MTU4MjwvVXNlck5hbWU+PERhdGVUaW1lPjIvMTgvMjAyMCA0OjU4OjI4IFBNPC9EYXRlVGltZT48TGFiZWxTdHJpbmc+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zLzcvMjAyMCA4OjIzOjM2IFBNPC9EYXRlVGltZT48TGFiZWxTdHJpbmc+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y83LzIwMjAgODoyNDo0OS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PC9zaXNsPjxVc2VyTmFtZT5VU1wxMTAzMDg1PC9Vc2VyTmFtZT48RGF0ZVRpbWU+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gLz48VXNlck5hbWU+VVNcMTEwMzA4NTwvVXNlck5hbWU+PERhdGVUaW1lPjMvMTMvMjAyMCAxMDowMjo0NCBQTTwvRGF0ZVRpbWU+PExhYmVsU3RyaW5nPlRoaXMgYXJ0aWZhY3QgaGFzIG5vIGNsYXNzaWZpY2F0aW9uLjwvTGFiZWxTdHJpbmc+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WNmOWVjYzMtMGY0NS00MjM0LWE5MGQtZTQzNjhmYWNkOTgxIiB2YWx1ZT0iIiB4bWxucz0iaHR0cDovL3d3dy5ib2xkb25qYW1lcy5jb20vMjAwOC8wMS9zaWUvaW50ZXJuYWwvbGFiZWwiIC8+PGVsZW1lbnQgdWlkPSJhYWZjOWE5NS1lZTVkLTQ4N2MtOWM0ZS02N2E1MzgwZjI5OTEiIHZhbHVlPSIiIHhtbG5zPSJodHRwOi8vd3d3LmJvbGRvbmphbWVzLmNvbS8yMDA4LzAxL3NpZS9pbnRlcm5hbC9sYWJlbCIgLz48L3Npc2w+PFVzZXJOYW1lPlVTXG5ycDAyNDE1ODI8L1VzZXJOYW1lPjxEYXRlVGltZT4zLzIzLzIwMjAgNzo1ODoxOSBQTTwvRGF0ZVRpbWU+PExhYmVsU3RyaW5nPk9yaWdpbiBKdXJpc2RpY3Rpb246IFVTICB8IEludGVybmFsIFVzZSBPbmx5IHwgUGVyIEN1cnJlbnQgUmF5dGhlb24gUG9saWN5IChSUC1PR0MtMDM1KSB8IE90aGVyIEluZm9ybWF0aW9uIChOb3QgUmVxdWlyaW5nIGFuIEV4cG9ydCBDb250cm9sIE1hcmtpbmcpIHwgTm8gbWFya2luZyBhcHBsaWVkIGJ5IHRoZSB0b29s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GVsZW1lbnQgdWlkPSIxNWZlZmExYy1hZjY3LTRlYmYtYTcxZC1mMDE2MjExNjg5NjIiIHZhbHVlPSIiIHhtbG5zPSJodHRwOi8vd3d3LmJvbGRvbmphbWVzLmNvbS8yMDA4LzAxL3NpZS9pbnRlcm5hbC9sYWJlbCIgLz48ZWxlbWVudCB1aWQ9ImFhZmM5YTk1LWVlNWQtNDg3Yy05YzRlLTY3YTUzODBmMjk5MSIgdmFsdWU9IiIgeG1sbnM9Imh0dHA6Ly93d3cuYm9sZG9uamFtZXMuY29tLzIwMDgvMDEvc2llL2ludGVybmFsL2xhYmVsIiAvPjwvc2lzbD48VXNlck5hbWU+VVNcbnJwMDI0MTU4MjwvVXNlck5hbWU+PERhdGVUaW1lPjMvMjMvMjAyMCA4OjQ4OjA4IFBNPC9EYXRlVGltZT48TGFiZWxTdHJpbmc+T3JpZ2luIEp1cmlzZGljdGlvbjogVVMgIHwgVGhpcmQgUGFydHkgUHJvcHJpZXRhcnkgLSBOZWVkIHRvIEtub3c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iAvPjxVc2VyTmFtZT5VU1wxMTAzMDg1PC9Vc2VyTmFtZT48RGF0ZVRpbWU+My8yMy8yMDIwIDEwOjE1OjQwIFBNPC9EYXRlVGltZT48TGFiZWxTdHJpbmc+VGhpcyBhcnRpZmFjdCBoYXMgbm8gY2xhc3NpZmljYXRpb24uPC9MYWJlbFN0cmluZz48L2l0ZW0+PGl0ZW0+PHNpc2wgc2lzbFZlcnNpb249IjAiIHBvbGljeT0iY2RlNTNhYzEtYmY1Zi00YWFlLTljZjEtMDc1MDllMjNhNGIwIiBvcmlnaW49ImRlZmF1bHRWYWx1ZSI+PGVsZW1lbnQgdWlkPSJiYmE5NGM2NS1hYzNkLTRmMzQtYjJlMS04ZGUxMWVmNmYwMWMiIHZhbHVlPSIiIHhtbG5zPSJodHRwOi8vd3d3LmJvbGRvbmphbWVzLmNvbS8yMDA4LzAxL3NpZS9pbnRlcm5hbC9sYWJlbCIgLz48L3Npc2w+PFVzZXJOYW1lPlVTXG5ycDAyNDE1ODI8L1VzZXJOYW1lPjxEYXRlVGltZT40LzIwLzIwMjAgNDoyOToyMyBQTTwvRGF0ZVRpbWU+PExhYmVsU3RyaW5nPk9yaWdpbiBKdXJpc2RpY3Rpb246IFVTIDwvTGFiZWxTdHJpbmc+PC9pdGVtPjxpdGVtPjxzaXNsIHNpc2xWZXJzaW9uPSIwIiBwb2xpY3k9ImNkZTUzYWMxLWJmNWYtNGFhZS05Y2YxLTA3NTA5ZTIzYTRiMCIgb3JpZ2luPSJ1c2VyU2VsZWN0ZWQiIC8+PFVzZXJOYW1lPlVTXDExMDMwODU8L1VzZXJOYW1lPjxEYXRlVGltZT40LzIwLzIwMjAgNjozMjo1MCBQTTwvRGF0ZVRpbWU+PExhYmVsU3RyaW5nPlRoaXMgYXJ0aWZhY3QgaGFzIG5vIGNsYXNzaWZpY2F0aW9uLjwvTGFiZWxTdHJpbmc+PC9pdGVtPjxpdGVtPjxzaXNsIHNpc2xWZXJzaW9uPSIwIiBwb2xpY3k9ImNkZTUzYWMxLWJmNWYtNGFhZS05Y2YxLTA3NTA5ZTIzYTRiMCIgb3JpZ2luPSJkZWZhdWx0VmFsdWUiPjxlbGVtZW50IHVpZD0iYmJhOTRjNjUtYWMzZC00ZjM0LWIyZTEtOGRlMTFlZjZmMDFjIiB2YWx1ZT0iIiB4bWxucz0iaHR0cDovL3d3dy5ib2xkb25qYW1lcy5jb20vMjAwOC8wMS9zaWUvaW50ZXJuYWwvbGFiZWwiIC8+PC9zaXNsPjxVc2VyTmFtZT5VU1x2YWExMDUwPC9Vc2VyTmFtZT48RGF0ZVRpbWU+MTIvMTYvMjAyMCA1OjIyOjIzIFBNPC9EYXRlVGltZT48TGFiZWxTdHJpbmc+T3JpZ2luIEp1cmlzZGljdGlvbjogVVMg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mRlY2VjYmQ2LWRhM2ItNDZmZS04ZjAwLWY5ZDlkZWVhMmVlMSIgdmFsdWU9IiIgeG1sbnM9Imh0dHA6Ly93d3cuYm9sZG9uamFtZXMuY29tLzIwMDgvMDEvc2llL2ludGVybmFsL2xhYmVsIiAvPjxlbGVtZW50IHVpZD0iYmJiZjdiZjQtNGY0Zi00MTg5LTljNWUtNjUwMTVkZThhNmFkIiB2YWx1ZT0iIiB4bWxucz0iaHR0cDovL3d3dy5ib2xkb25qYW1lcy5jb20vMjAwOC8wMS9zaWUvaW50ZXJuYWwvbGFiZWwiIC8+PGVsZW1lbnQgdWlkPSJmYjk5MTMwOC1hM2RlLTQwYTgtOTY3Yi0wOTIyMzM0MjQxYmE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VVNcdmFhMTA1MDwvVXNlck5hbWU+PERhdGVUaW1lPjEyLzE3LzIwMjAgMTo1NDo0NiBQTTwvRGF0ZVRpbWU+PExhYmVsU3RyaW5nPk9yaWdpbiBKdXJpc2RpY3Rpb246IFVTICB8IFVucmVzdHJpY3RlZCBDb250ZW50IHwgTm8gbWFya2luZyBhcHBsaWVkIGJ5IHRoaXMgdG9vbC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iAvPjxVc2VyTmFtZT5VU1wxMTYxMTEzPC9Vc2VyTmFtZT48RGF0ZVRpbWU+Ni8xLzIwMjMgMjo0OTo1NCBQTTwvRGF0ZVRpbWU+PExhYmVsU3RyaW5nPlRoaXMgYXJ0aWZhY3QgaGFzIG5vIGNsYXNzaWZpY2F0aW9uLjwvTGFiZWxTdHJpbmc+PC9pdGVtPjxpdGVtPjxzaXNsIHNpc2xWZXJzaW9uPSIwIiBwb2xpY3k9ImNkZTUzYWMxLWJmNWYtNGFhZS05Y2YxLTA3NTA5ZTIzYTRiMCIgb3JpZ2luPSJ1c2VyU2VsZWN0ZWQiPjxlbGVtZW50IHVpZD0iZGVjZWNiZDYtZGEzYi00NmZlLThmMDAtZjlkOWRlZWEyZWUxIiB2YWx1ZT0iIiB4bWxucz0iaHR0cDovL3d3dy5ib2xkb25qYW1lcy5jb20vMjAwOC8wMS9zaWUvaW50ZXJuYWwvbGFiZWwiIC8+PGVsZW1lbnQgdWlkPSJhNGE5ZjM4Mi04Y2VjLTQwYmItYTljMy1jMTg3NmRlZDlkZWU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ZDc1OWNkN2EtYjU3Yy00MmU0LTlhNDktOWI4MmEyMzM3NTc5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DExNjExMTM8L1VzZXJOYW1lPjxEYXRlVGltZT42LzYvMjAyMyA3OjEwOjE1IFBNPC9EYXRlVGltZT48TGFiZWxTdHJpbmc+T3JpZ2luIEp1cmlzZGljdGlvbjogVVMgfCBVbnJlc3RyaWN0ZWQgQ29udGVudCB8IFJheXRoZW9uIFRlY2hub2xvZ2llcyAoQ29ycG9yYXRlIE9ubHkpIHwgTm9uLUV4cG9ydCBDb250cm9sbGVkIFRlY2huaWNhbCBJbmZvcm1hdGlvbiAoRVhJTSBEZXRlcm1pbmVkIE9ubHkpIHwgTm8gbWFya2luZyBhcHBsaWVkIGJ5IHRoZSB0b29s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GVsZW1lbnQgdWlkPSJhY2Y5ZWNjMy0wZjQ1LTQyMzQtYTkwZC1lNDM2OGZhY2Q5ODEiIHZhbHVlPSIiIHhtbG5zPSJodHRwOi8vd3d3LmJvbGRvbmphbWVzLmNvbS8yMDA4LzAxL3NpZS9pbnRlcm5hbC9sYWJlbCIgLz48ZWxlbWVudCB1aWQ9ImE0YTlmMzgyLThjZWMtNDBiYi1hOWMzLWMxODc2ZGVkOWRlZSIgdmFsdWU9IiIgeG1sbnM9Imh0dHA6Ly93d3cuYm9sZG9uamFtZXMuY29tLzIwMDgvMDEvc2llL2ludGVybmFsL2xhYmVsIiAvPjwvc2lzbD48VXNlck5hbWU+VVNcMTE2MTExMzwvVXNlck5hbWU+PERhdGVUaW1lPjYvNi8yMDIzIDc6MTA6MzIgUE08L0RhdGVUaW1lPjxMYWJlbFN0cmluZz5PcmlnaW4gSnVyaXNkaWN0aW9uOiBVUyB8IENvbXBhbnkgVXNlL0ludGVybmFsIFVzZSBPbmx5IHwgUmF5dGhlb24gVGVjaG5vbG9naWVzIChDb3Jwb3JhdGUgT25se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IC8+PFVzZXJOYW1lPlVTXDExNjExMTM8L1VzZXJOYW1lPjxEYXRlVGltZT42LzYvMjAyMyA4OjE3OjQwIFBNPC9EYXRlVGltZT48TGFiZWxTdHJpbmc+VGhpcyBhcnRpZmFjdCBoYXMgbm8gY2xhc3NpZmljYXRpb24uPC9MYWJlbFN0cmluZz48L2l0ZW0+PGl0ZW0+PHNpc2wgc2lzbFZlcnNpb249IjAiIHBvbGljeT0iY2RlNTNhYzEtYmY1Zi00YWFlLTljZjEtMDc1MDllMjNhNGIwIiBvcmlnaW49ImRlZmF1bHRWYWx1ZSI+PGVsZW1lbnQgdWlkPSJiYmE5NGM2NS1hYzNkLTRmMzQtYjJlMS04ZGUxMWVmNmYwMWMiIHZhbHVlPSIiIHhtbG5zPSJodHRwOi8vd3d3LmJvbGRvbmphbWVzLmNvbS8yMDA4LzAxL3NpZS9pbnRlcm5hbC9sYWJlbCIgLz48L3Npc2w+PFVzZXJOYW1lPlVTXDExNjExMTM8L1VzZXJOYW1lPjxEYXRlVGltZT42LzIwLzIwMjMgNDoxNTozOCBQTTwvRGF0ZVRpbWU+PExhYmVsU3RyaW5nPk9yaWdpbiBKdXJpc2RpY3Rpb246IFVT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NjlkMDBhY2QtODljNC00NGUwLTg0YWUtZTU4ZGExN2Y0ODVj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TI3ZjY3MWYtMDQ1YS00OWQyLWIyMzgtNGYzY2EyZTBiMGJiIiB2YWx1ZT0iIiB4bWxucz0iaHR0cDovL3d3dy5ib2xkb25qYW1lcy5jb20vMjAwOC8wMS9zaWUvaW50ZXJuYWwvbGFiZWwiIC8+PC9zaXNsPjxVc2VyTmFtZT5BRFhVXEUyMTE2MTExMzwvVXNlck5hbWU+PERhdGVUaW1lPjgvMTQvMjAyMyAxOjQ5OjI0IFBNPC9EYXRlVGltZT48TGFiZWxTdHJpbmc+RXhwb3J0IENvbnRyb2wgQ291bnRyeTogVVMgIHwgQ29tcGFueSBVc2UgfCBSYXl0aGVvbiBUZWNobm9sb2dpZXMgfCBPdGhlciBJbmZvcm1hdGlvbiAoTm90IFJlcXVpcmluZyBhbiBFeHBvcnQgQ29udHJvbCBNYXJraW5nKSB8IE5vIHZpc3VhbCBtYXJraW5nIGFwcGxpZWQgYnkgdGhlIHRvb2wgfCBObyBUZWNoIERhdGE8L0xhYmVsU3RyaW5nPjwvaXRlbT48aXRlbT48c2lzbCBzaXNsVmVyc2lvbj0iMCIgcG9saWN5PSJjZGU1M2FjMS1iZjVmLTRhYWUtOWNmMS0wNzUwOWUyM2E0YjAiIG9yaWdpbj0idXNlclNlbGVjdGVkIj48ZWxlbWVudCB1aWQ9ImFjZjllY2MzLTBmNDUtNDIzNC1hOTBkLWU0MzY4ZmFjZDk4MSIgdmFsdWU9IiIgeG1sbnM9Imh0dHA6Ly93d3cuYm9sZG9uamFtZXMuY29tLzIwMDgvMDEvc2llL2ludGVybmFsL2xhYmVsIiAvPjxlbGVtZW50IHVpZD0iNjlkMDBhY2QtODljNC00NGUwLTg0YWUtZTU4ZGExN2Y0ODVjIiB2YWx1ZT0iIiB4bWxucz0iaHR0cDovL3d3dy5ib2xkb25qYW1lcy5jb20vMjAwOC8wMS9zaWUvaW50ZXJuYWwvbGFiZWwiIC8+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C9zaXNsPjxVc2VyTmFtZT5BRFhVXEUyMTE2MTExMzwvVXNlck5hbWU+PERhdGVUaW1lPjgvMTcvMjAyMyAyOjI0OjQzIFBNPC9EYXRlVGltZT48TGFiZWxTdHJpbmc+RXhwb3J0IENvbnRyb2wgQ291bnRyeTogVVMgIHwgQ29tcGFueSBVc2UvSW50ZXJuYWwgVXNlIE9ubHkgfCBSVFggQ29ycG9yYXRpb24gKENvcnBvcmF0ZSkgfCBPdGhlciBJbmZvcm1hdGlvbiAoTm90IFJlcXVpcmluZyBhbiBFeHBvcnQgQ29udHJvbCBNYXJraW5nKSB8IE5vIHZpc3VhbCBtYXJraW5nIGFwcGxpZWQgYnkgdGhlIHRvb2w8L0xhYmVsU3RyaW5nPjwvaXRlbT48aXRlbT48c2lzbCBzaXNsVmVyc2lvbj0iMCIgcG9saWN5PSJjZGU1M2FjMS1iZjVmLTRhYWUtOWNmMS0wNzUwOWUyM2E0YjAiIG9yaWdpbj0idXNlclNlbGVjdGVkIj48ZWxlbWVudCB1aWQ9ImRlY2VjYmQ2LWRhM2ItNDZmZS04ZjAwLWY5ZDlkZWVhMmVlMSIgdmFsdWU9IiIgeG1sbnM9Imh0dHA6Ly93d3cuYm9sZG9uamFtZXMuY29tLzIwMDgvMDEvc2llL2ludGVybmFsL2xhYmVsIiAvPjxlbGVtZW50IHVpZD0iYmJhOTRjNjUtYWMzZC00ZjM0LWIyZTEtOGRlMTFlZjZmMDFjIiB2YWx1ZT0iIiB4bWxucz0iaHR0cDovL3d3dy5ib2xkb25qYW1lcy5jb20vMjAwOC8wMS9zaWUvaW50ZXJuYWwvbGFiZWwiIC8+PGVsZW1lbnQgdWlkPSJhMDZkYTRkYS1hMjYzLTQxMzYtYjRmZC1mMjhhMTdkMzAxODg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C9zaXNsPjxVc2VyTmFtZT5BRFhVXEUyMTE2MTExMzwvVXNlck5hbWU+PERhdGVUaW1lPjEyLzI4LzIwMjQgMzoyMjoyNiBQTTwvRGF0ZVRpbWU+PExhYmVsU3RyaW5nPkV4cG9ydCBDb250cm9sIENvdW50cnk6IFVTICB8IFVucmVzdHJpY3RlZCBDb250ZW50IHwgVXNlIFByZWV4aXN0aW5nIE1hcmtpbmcgKG5vdCBhcHBsaWVkIGJ5IHRoaXMgdG9vbCkgfCBPdGhlciBJbmZvcm1hdGlvbiAoTm90IFJlcXVpcmluZyBhbiBFeHBvcnQgQ29udHJvbCBNYXJraW5nKSB8IE5vIHZpc3VhbCBtYXJraW5nIGFwcGxpZWQgYnkgdGhlIHRvb2w8L0xhYmVsU3RyaW5nPjwvaXRlbT48L2xhYmVsSGlzdG9yeT4=</Value>
</WrappedLabelHistory>
</file>

<file path=customXml/item3.xml><?xml version="1.0" encoding="utf-8"?>
<p:properties xmlns:p="http://schemas.microsoft.com/office/2006/metadata/properties" xmlns:xsi="http://www.w3.org/2001/XMLSchema-instance" xmlns:pc="http://schemas.microsoft.com/office/infopath/2007/PartnerControls">
  <documentManagement>
    <VIOLATION xmlns="ee80cefc-dfbc-4114-8a88-7c312de3b56e">FALSE</VIOLATION>
    <_ip_UnifiedCompliancePolicyUIAction xmlns="http://schemas.microsoft.com/sharepoint/v3" xsi:nil="true"/>
    <_ip_UnifiedCompliancePolicyProperties xmlns="http://schemas.microsoft.com/sharepoint/v3" xsi:nil="true"/>
    <TaxCatchAll xmlns="27fd7e37-9159-4ab9-a165-d9dd93d2e72c" xsi:nil="true"/>
    <lcf76f155ced4ddcb4097134ff3c332f xmlns="ee80cefc-dfbc-4114-8a88-7c312de3b56e">
      <Terms xmlns="http://schemas.microsoft.com/office/infopath/2007/PartnerControls"/>
    </lcf76f155ced4ddcb4097134ff3c332f>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t:contentTypeSchema xmlns:ct="http://schemas.microsoft.com/office/2006/metadata/contentType" xmlns:ma="http://schemas.microsoft.com/office/2006/metadata/properties/metaAttributes" ct:_="" ma:_="" ma:contentTypeName="Document" ma:contentTypeID="0x01010090698D2C34EA7741B3E6C945319627B3" ma:contentTypeVersion="19" ma:contentTypeDescription="Create a new document." ma:contentTypeScope="" ma:versionID="95e1c8ac6bb11435145b72f044e50c45">
  <xsd:schema xmlns:xsd="http://www.w3.org/2001/XMLSchema" xmlns:xs="http://www.w3.org/2001/XMLSchema" xmlns:p="http://schemas.microsoft.com/office/2006/metadata/properties" xmlns:ns1="http://schemas.microsoft.com/sharepoint/v3" xmlns:ns2="ee80cefc-dfbc-4114-8a88-7c312de3b56e" xmlns:ns3="27fd7e37-9159-4ab9-a165-d9dd93d2e72c" targetNamespace="http://schemas.microsoft.com/office/2006/metadata/properties" ma:root="true" ma:fieldsID="7bc36368f0acd54fad79acbd1487de8e" ns1:_="" ns2:_="" ns3:_="">
    <xsd:import namespace="http://schemas.microsoft.com/sharepoint/v3"/>
    <xsd:import namespace="ee80cefc-dfbc-4114-8a88-7c312de3b56e"/>
    <xsd:import namespace="27fd7e37-9159-4ab9-a165-d9dd93d2e72c"/>
    <xsd:element name="properties">
      <xsd:complexType>
        <xsd:sequence>
          <xsd:element name="documentManagement">
            <xsd:complexType>
              <xsd:all>
                <xsd:element ref="ns1:_ip_UnifiedCompliancePolicyProperties" minOccurs="0"/>
                <xsd:element ref="ns1:_ip_UnifiedCompliancePolicyUIAction" minOccurs="0"/>
                <xsd:element ref="ns2:MediaServiceMetadata" minOccurs="0"/>
                <xsd:element ref="ns2:MediaServiceFastMetadata" minOccurs="0"/>
                <xsd:element ref="ns2:VIOLATION"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80cefc-dfbc-4114-8a88-7c312de3b56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VIOLATION" ma:index="12" nillable="true" ma:displayName="VIOLATION" ma:internalName="VIOLATION">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a5da18db-0dbb-493a-8358-0ebfa2dc996a"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7fd7e37-9159-4ab9-a165-d9dd93d2e72c"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633e0ded-a55c-4876-a950-71659e1422ea}" ma:internalName="TaxCatchAll" ma:showField="CatchAllData" ma:web="27fd7e37-9159-4ab9-a165-d9dd93d2e7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WrappedLabelHistory xmlns:xsi="http://www.w3.org/2001/XMLSchema-instance" xmlns:xsd="http://www.w3.org/2001/XMLSchema" xmlns="http://www.boldonjames.com/2016/02/Classifier/internal/wrappedLabelHistory">
  <Value>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dXNlclNlbGVjdGVkIj48ZWxlbWVudCB1aWQ9ImRlY2VjYmQ2LWRhM2ItNDZmZS04ZjAwLWY5ZDlkZWVhMmVlMSIgdmFsdWU9IiIgeG1sbnM9Imh0dHA6Ly93d3cuYm9sZG9uamFtZXMuY29tLzIwMDgvMDEvc2llL2ludGVybmFsL2xhYmVsIiAvPjxlbGVtZW50IHVpZD0iYmJhOTRjNjUtYWMzZC00ZjM0LWIyZTEtOGRlMTFlZjZmMDFjIiB2YWx1ZT0iIiB4bWxucz0iaHR0cDovL3d3dy5ib2xkb25qYW1lcy5jb20vMjAwOC8wMS9zaWUvaW50ZXJuYWwvbGFiZWwiIC8+PGVsZW1lbnQgdWlkPSJhMDZkYTRkYS1hMjYzLTQxMzYtYjRmZC1mMjhhMTdkMzAxODg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C9zaXNsPjxVc2VyTmFtZT5BRFhVXEUyMTE2MTExMzwvVXNlck5hbWU+PERhdGVUaW1lPjIvMjQvMjAyNSA3OjA1OjMwIFBNPC9EYXRlVGltZT48TGFiZWxTdHJpbmc+RXhwb3J0IENvbnRyb2wgQ291bnRyeTogVVMgIHwgVW5yZXN0cmljdGVkIENvbnRlbnQgfCBVc2UgUHJlZXhpc3RpbmcgTWFya2luZyAobm90IGFwcGxpZWQgYnkgdGhpcyB0b29sKSB8IE90aGVyIEluZm9ybWF0aW9uIChOb3QgUmVxdWlyaW5nIGFuIEV4cG9ydCBDb250cm9sIE1hcmtpbmcpIHwgTm8gdmlzdWFsIG1hcmtpbmcgYXBwbGllZCBieSB0aGUgdG9vbDwvTGFiZWxTdHJpbmc+PC9pdGVtPjwvbGFiZWxIaXN0b3J5Pg==</Value>
</WrappedLabelHistory>
</file>

<file path=customXml/itemProps1.xml><?xml version="1.0" encoding="utf-8"?>
<ds:datastoreItem xmlns:ds="http://schemas.openxmlformats.org/officeDocument/2006/customXml" ds:itemID="{0EAB2BCC-68B4-4DFD-8ACE-C0793D509496}">
  <ds:schemaRefs>
    <ds:schemaRef ds:uri="http://www.boldonjames.com/2008/01/sie/internal/label"/>
    <ds:schemaRef ds:uri="http://www.w3.org/2001/XMLSchema"/>
  </ds:schemaRefs>
</ds:datastoreItem>
</file>

<file path=customXml/itemProps2.xml><?xml version="1.0" encoding="utf-8"?>
<ds:datastoreItem xmlns:ds="http://schemas.openxmlformats.org/officeDocument/2006/customXml" ds:itemID="{14142251-6467-420A-B1F1-057C30D5B505}">
  <ds:schemaRefs>
    <ds:schemaRef ds:uri="http://www.boldonjames.com/2016/02/Classifier/internal/wrappedLabelHistory"/>
    <ds:schemaRef ds:uri="http://www.w3.org/2001/XMLSchema"/>
  </ds:schemaRefs>
</ds:datastoreItem>
</file>

<file path=customXml/itemProps3.xml><?xml version="1.0" encoding="utf-8"?>
<ds:datastoreItem xmlns:ds="http://schemas.openxmlformats.org/officeDocument/2006/customXml" ds:itemID="{2AE5F23F-329C-4DBF-9D60-45A5F548688A}">
  <ds:schemaRefs>
    <ds:schemaRef ds:uri="27fd7e37-9159-4ab9-a165-d9dd93d2e72c"/>
    <ds:schemaRef ds:uri="ee80cefc-dfbc-4114-8a88-7c312de3b56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4F85E5AD-1BCC-408B-B532-7B415316D2C0}">
  <ds:schemaRefs>
    <ds:schemaRef ds:uri="http://schemas.microsoft.com/sharepoint/v3/contenttype/forms"/>
  </ds:schemaRefs>
</ds:datastoreItem>
</file>

<file path=customXml/itemProps5.xml><?xml version="1.0" encoding="utf-8"?>
<ds:datastoreItem xmlns:ds="http://schemas.openxmlformats.org/officeDocument/2006/customXml" ds:itemID="{1FFD8F08-F23C-4A37-ACA4-B7C571571E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e80cefc-dfbc-4114-8a88-7c312de3b56e"/>
    <ds:schemaRef ds:uri="27fd7e37-9159-4ab9-a165-d9dd93d2e7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000BA0A5-E7E9-4D4F-8612-8AE9247BE109}">
  <ds:schemaRefs>
    <ds:schemaRef ds:uri="http://www.boldonjames.com/2016/02/Classifier/internal/wrappedLabelHistory"/>
    <ds:schemaRef ds:uri="http://www.w3.org/2001/XMLSchema"/>
  </ds:schemaRefs>
</ds:datastoreItem>
</file>

<file path=docMetadata/LabelInfo.xml><?xml version="1.0" encoding="utf-8"?>
<clbl:labelList xmlns:clbl="http://schemas.microsoft.com/office/2020/mipLabelMetadata">
  <clbl:label id="{4447dd6a-a4a1-440b-a6a3-9124ef1ee017}" enabled="1" method="Privileged" siteId="{7a18110d-ef9b-4274-acef-e62ab0fe28ed}" removed="0"/>
</clbl:labelList>
</file>

<file path=docProps/app.xml><?xml version="1.0" encoding="utf-8"?>
<Properties xmlns="http://schemas.openxmlformats.org/officeDocument/2006/extended-properties" xmlns:vt="http://schemas.openxmlformats.org/officeDocument/2006/docPropsVTypes">
  <Template>PowerPoint template PWC-EN</Template>
  <TotalTime>498</TotalTime>
  <Words>4265</Words>
  <Application>Microsoft Office PowerPoint</Application>
  <PresentationFormat>Widescreen</PresentationFormat>
  <Paragraphs>632</Paragraphs>
  <Slides>29</Slides>
  <Notes>12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29</vt:i4>
      </vt:variant>
    </vt:vector>
  </HeadingPairs>
  <TitlesOfParts>
    <vt:vector size="37" baseType="lpstr">
      <vt:lpstr>Arial</vt:lpstr>
      <vt:lpstr>Arial Narrow</vt:lpstr>
      <vt:lpstr>Calibri</vt:lpstr>
      <vt:lpstr>Cascadia Mono</vt:lpstr>
      <vt:lpstr>Consolas</vt:lpstr>
      <vt:lpstr>PW Masters: Covers</vt:lpstr>
      <vt:lpstr>MANDATORY</vt:lpstr>
      <vt:lpstr>PW Masters: Content</vt:lpstr>
      <vt:lpstr>OPO’s OSKAR</vt:lpstr>
      <vt:lpstr>PowerPoint Presentation</vt:lpstr>
      <vt:lpstr>WHY DO WE CARE ABOUT AI &amp; DIGITIZATION NOW?</vt:lpstr>
      <vt:lpstr>ISSUES WITH USING NON-APPROVED AI TOOLS WITHIN RTX</vt:lpstr>
      <vt:lpstr>WHY EXISTING RTX GEN AI TOOLS WON'T WORK FOR OPO</vt:lpstr>
      <vt:lpstr>LOSING CRITICAL SKILLS​</vt:lpstr>
      <vt:lpstr>   OPO's Smart Knowledge Assistant and Researcher</vt:lpstr>
      <vt:lpstr>OSKAR - OPO Generative AI Chat Tool</vt:lpstr>
      <vt:lpstr>OSKAR - OPO Generative AI Chat Tool</vt:lpstr>
      <vt:lpstr>OPO GenAI Tool - RAG based LLM Architecture</vt:lpstr>
      <vt:lpstr>OPO GenAI Tool - RAG based LLM Architecture (with User Authentication)</vt:lpstr>
      <vt:lpstr>Additional Strategies - Retrieval</vt:lpstr>
      <vt:lpstr>Pipeline for the OPO GenAI Tool</vt:lpstr>
      <vt:lpstr>Data input regulation and governance ​</vt:lpstr>
      <vt:lpstr>Models Used</vt:lpstr>
      <vt:lpstr>Libraries Used</vt:lpstr>
      <vt:lpstr>Deployment Sprints (on Cloud)</vt:lpstr>
      <vt:lpstr>Service Level Agreement</vt:lpstr>
      <vt:lpstr>Evaluation Rubric (TBD via human feedback)</vt:lpstr>
      <vt:lpstr>EVALUATION RUBRIC &amp; RESULTS</vt:lpstr>
      <vt:lpstr>KEY FEATURES</vt:lpstr>
      <vt:lpstr>CASE STUDY - NPI Job Ticket Process Training with Ashmeed Ali</vt:lpstr>
      <vt:lpstr>OSKAR’s DEPLOYMENT TIMELINE</vt:lpstr>
      <vt:lpstr>Demand - D21407​</vt:lpstr>
      <vt:lpstr>CLARA - OneTrust | Trust Intelligence | Login</vt:lpstr>
      <vt:lpstr>Global Trade Assessment - 8291537​</vt:lpstr>
      <vt:lpstr>Current Hurdles / Next Steps</vt:lpstr>
      <vt:lpstr>Current Hurdles / Next Steps</vt:lpstr>
      <vt:lpstr>Action Items</vt:lpstr>
    </vt:vector>
  </TitlesOfParts>
  <Company>Raytheon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PANNU, GURLEEN (CAN)</dc:creator>
  <cp:keywords>https:/corpid.rtx.com</cp:keywords>
  <dc:description>Mar. 2025</dc:description>
  <cp:lastModifiedBy>PANNU, GURLEEN (CAN)</cp:lastModifiedBy>
  <cp:revision>58</cp:revision>
  <dcterms:created xsi:type="dcterms:W3CDTF">2025-09-11T13:54:55Z</dcterms:created>
  <dcterms:modified xsi:type="dcterms:W3CDTF">2026-06-05T12:30:14Z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ae443-9451-4ce3-aba6-c811c8d5f82f_SiteId">
    <vt:lpwstr>7a18110d-ef9b-4274-acef-e62ab0fe28ed</vt:lpwstr>
  </property>
  <property fmtid="{D5CDD505-2E9C-101B-9397-08002B2CF9AE}" pid="3" name="MSIP_Label_15fae443-9451-4ce3-aba6-c811c8d5f82f_SetDate">
    <vt:lpwstr>2025-02-24T18:41:35Z</vt:lpwstr>
  </property>
  <property fmtid="{D5CDD505-2E9C-101B-9397-08002B2CF9AE}" pid="4" name="MSIP_Label_15fae443-9451-4ce3-aba6-c811c8d5f82f_Name">
    <vt:lpwstr>UNSURE (USP)</vt:lpwstr>
  </property>
  <property fmtid="{D5CDD505-2E9C-101B-9397-08002B2CF9AE}" pid="5" name="MSIP_Label_15fae443-9451-4ce3-aba6-c811c8d5f82f_Method">
    <vt:lpwstr>Privileged</vt:lpwstr>
  </property>
  <property fmtid="{D5CDD505-2E9C-101B-9397-08002B2CF9AE}" pid="6" name="MSIP_Label_15fae443-9451-4ce3-aba6-c811c8d5f82f_Enabled">
    <vt:lpwstr>true</vt:lpwstr>
  </property>
  <property fmtid="{D5CDD505-2E9C-101B-9397-08002B2CF9AE}" pid="7" name="MSIP_Label_15fae443-9451-4ce3-aba6-c811c8d5f82f_ContentBits">
    <vt:lpwstr>8</vt:lpwstr>
  </property>
  <property fmtid="{D5CDD505-2E9C-101B-9397-08002B2CF9AE}" pid="8" name="docIndexRef">
    <vt:lpwstr>d90cc74f-a04b-44a1-8c8c-1dcd7c279445</vt:lpwstr>
  </property>
  <property fmtid="{D5CDD505-2E9C-101B-9397-08002B2CF9AE}" pid="9" name="bjClsUserRVM">
    <vt:lpwstr>[]</vt:lpwstr>
  </property>
  <property fmtid="{D5CDD505-2E9C-101B-9397-08002B2CF9AE}" pid="10" name="bjSaver">
    <vt:lpwstr>okkNoZhHkoLPnlAVL6Zmfzu0LeQLZcKv</vt:lpwstr>
  </property>
  <property fmtid="{D5CDD505-2E9C-101B-9397-08002B2CF9AE}" pid="11" name="bjLabelHistoryID">
    <vt:lpwstr>{000BA0A5-E7E9-4D4F-8612-8AE9247BE109}</vt:lpwstr>
  </property>
  <property fmtid="{D5CDD505-2E9C-101B-9397-08002B2CF9AE}" pid="12" name="bjDocumentSecurityLabel">
    <vt:lpwstr>Export Control Country: US  | Unrestricted Content | Use Preexisting Marking (not applied by this tool) | Other Information (Not Requiring an Export Control Marking) | No visual marking applied by the tool</vt:lpwstr>
  </property>
  <property fmtid="{D5CDD505-2E9C-101B-9397-08002B2CF9AE}" pid="13" name="bjDocumentLabelXML">
    <vt:lpwstr>&lt;?xml version="1.0" encoding="us-ascii"?&gt;&lt;sisl xmlns:xsd="http://www.w3.org/2001/XMLSchema" xmlns:xsi="http://www.w3.org/2001/XMLSchema-instance" sislVersion="0" policy="cde53ac1-bf5f-4aae-9cf1-07509e23a4b0" origin="userSelected" xmlns="http://www.boldonj</vt:lpwstr>
  </property>
  <property fmtid="{D5CDD505-2E9C-101B-9397-08002B2CF9AE}" pid="14" name="bjDocumentLabelXML-0">
    <vt:lpwstr>ames.com/2008/01/sie/internal/label" /&gt;</vt:lpwstr>
  </property>
  <property fmtid="{D5CDD505-2E9C-101B-9397-08002B2CF9AE}" pid="15" name="bjLabelRefreshRequired">
    <vt:lpwstr>FileClassifier</vt:lpwstr>
  </property>
  <property fmtid="{D5CDD505-2E9C-101B-9397-08002B2CF9AE}" pid="16" name="ContentTypeId">
    <vt:lpwstr>0x01010090698D2C34EA7741B3E6C945319627B3</vt:lpwstr>
  </property>
  <property fmtid="{D5CDD505-2E9C-101B-9397-08002B2CF9AE}" pid="17" name="MediaServiceImageTags">
    <vt:lpwstr/>
  </property>
</Properties>
</file>