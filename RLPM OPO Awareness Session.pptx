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1F2A4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449453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z="800" spc="-50">
                <a:solidFill>
                  <a:srgbClr val="B8B9B0"/>
                </a:solidFill>
                <a:latin typeface="Arial Narrow"/>
                <a:cs typeface="Arial Narrow"/>
              </a:rPr>
              <a:t>#</a:t>
            </a:fld>
            <a:endParaRPr sz="800">
              <a:latin typeface="Arial Narrow"/>
              <a:cs typeface="Arial Narrow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F2A4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449453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z="800" spc="-50">
                <a:solidFill>
                  <a:srgbClr val="B8B9B0"/>
                </a:solidFill>
                <a:latin typeface="Arial Narrow"/>
                <a:cs typeface="Arial Narrow"/>
              </a:rPr>
              <a:t>#</a:t>
            </a:fld>
            <a:endParaRPr sz="800">
              <a:latin typeface="Arial Narrow"/>
              <a:cs typeface="Arial Narrow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F2A4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449453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z="800" spc="-50">
                <a:solidFill>
                  <a:srgbClr val="B8B9B0"/>
                </a:solidFill>
                <a:latin typeface="Arial Narrow"/>
                <a:cs typeface="Arial Narrow"/>
              </a:rPr>
              <a:t>#</a:t>
            </a:fld>
            <a:endParaRPr sz="800">
              <a:latin typeface="Arial Narrow"/>
              <a:cs typeface="Arial Narrow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94944" y="-889"/>
            <a:ext cx="10820400" cy="254000"/>
          </a:xfrm>
          <a:custGeom>
            <a:avLst/>
            <a:gdLst/>
            <a:ahLst/>
            <a:cxnLst/>
            <a:rect l="l" t="t" r="r" b="b"/>
            <a:pathLst>
              <a:path w="10820400" h="254000">
                <a:moveTo>
                  <a:pt x="0" y="254000"/>
                </a:moveTo>
                <a:lnTo>
                  <a:pt x="10820400" y="254000"/>
                </a:lnTo>
                <a:lnTo>
                  <a:pt x="10820400" y="0"/>
                </a:lnTo>
                <a:lnTo>
                  <a:pt x="0" y="0"/>
                </a:lnTo>
                <a:lnTo>
                  <a:pt x="0" y="254000"/>
                </a:lnTo>
                <a:close/>
              </a:path>
            </a:pathLst>
          </a:custGeom>
          <a:solidFill>
            <a:srgbClr val="1F2A4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253" y="6268403"/>
            <a:ext cx="598199" cy="51401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7182" y="6065088"/>
            <a:ext cx="11978005" cy="311150"/>
          </a:xfrm>
          <a:custGeom>
            <a:avLst/>
            <a:gdLst/>
            <a:ahLst/>
            <a:cxnLst/>
            <a:rect l="l" t="t" r="r" b="b"/>
            <a:pathLst>
              <a:path w="11978005" h="311150">
                <a:moveTo>
                  <a:pt x="11977624" y="0"/>
                </a:moveTo>
                <a:lnTo>
                  <a:pt x="0" y="0"/>
                </a:lnTo>
                <a:lnTo>
                  <a:pt x="0" y="310832"/>
                </a:lnTo>
                <a:lnTo>
                  <a:pt x="11977624" y="310832"/>
                </a:lnTo>
                <a:lnTo>
                  <a:pt x="11977624" y="0"/>
                </a:lnTo>
                <a:close/>
              </a:path>
            </a:pathLst>
          </a:custGeom>
          <a:solidFill>
            <a:srgbClr val="1F2A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F2A4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449453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z="800" spc="-50">
                <a:solidFill>
                  <a:srgbClr val="B8B9B0"/>
                </a:solidFill>
                <a:latin typeface="Arial Narrow"/>
                <a:cs typeface="Arial Narrow"/>
              </a:rPr>
              <a:t>#</a:t>
            </a:fld>
            <a:endParaRPr sz="800">
              <a:latin typeface="Arial Narrow"/>
              <a:cs typeface="Arial Narrow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94944" y="-889"/>
            <a:ext cx="10820400" cy="254000"/>
          </a:xfrm>
          <a:custGeom>
            <a:avLst/>
            <a:gdLst/>
            <a:ahLst/>
            <a:cxnLst/>
            <a:rect l="l" t="t" r="r" b="b"/>
            <a:pathLst>
              <a:path w="10820400" h="254000">
                <a:moveTo>
                  <a:pt x="0" y="254000"/>
                </a:moveTo>
                <a:lnTo>
                  <a:pt x="10820400" y="254000"/>
                </a:lnTo>
                <a:lnTo>
                  <a:pt x="10820400" y="0"/>
                </a:lnTo>
                <a:lnTo>
                  <a:pt x="0" y="0"/>
                </a:lnTo>
                <a:lnTo>
                  <a:pt x="0" y="254000"/>
                </a:lnTo>
                <a:close/>
              </a:path>
            </a:pathLst>
          </a:custGeom>
          <a:solidFill>
            <a:srgbClr val="1F2A4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4720" y="2341626"/>
            <a:ext cx="4402201" cy="199732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449453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z="800" spc="-50">
                <a:solidFill>
                  <a:srgbClr val="B8B9B0"/>
                </a:solidFill>
                <a:latin typeface="Arial Narrow"/>
                <a:cs typeface="Arial Narrow"/>
              </a:rPr>
              <a:t>#</a:t>
            </a:fld>
            <a:endParaRPr sz="800">
              <a:latin typeface="Arial Narrow"/>
              <a:cs typeface="Arial Narrow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94944" y="-889"/>
            <a:ext cx="10820400" cy="254000"/>
          </a:xfrm>
          <a:custGeom>
            <a:avLst/>
            <a:gdLst/>
            <a:ahLst/>
            <a:cxnLst/>
            <a:rect l="l" t="t" r="r" b="b"/>
            <a:pathLst>
              <a:path w="10820400" h="254000">
                <a:moveTo>
                  <a:pt x="0" y="254000"/>
                </a:moveTo>
                <a:lnTo>
                  <a:pt x="10820400" y="254000"/>
                </a:lnTo>
                <a:lnTo>
                  <a:pt x="10820400" y="0"/>
                </a:lnTo>
                <a:lnTo>
                  <a:pt x="0" y="0"/>
                </a:lnTo>
                <a:lnTo>
                  <a:pt x="0" y="254000"/>
                </a:lnTo>
                <a:close/>
              </a:path>
            </a:pathLst>
          </a:custGeom>
          <a:solidFill>
            <a:srgbClr val="1F2A4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4253" y="6268403"/>
            <a:ext cx="598199" cy="51401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6900" y="150368"/>
            <a:ext cx="9604628" cy="7237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1F2A4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9754" y="1659763"/>
            <a:ext cx="6027420" cy="2806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987285" y="6378761"/>
            <a:ext cx="4909184" cy="3858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449453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z="800" spc="-50">
                <a:solidFill>
                  <a:srgbClr val="B8B9B0"/>
                </a:solidFill>
                <a:latin typeface="Arial Narrow"/>
                <a:cs typeface="Arial Narrow"/>
              </a:rPr>
              <a:t>#</a:t>
            </a:fld>
            <a:endParaRPr sz="800">
              <a:latin typeface="Arial Narrow"/>
              <a:cs typeface="Arial Narrow"/>
            </a:endParaRP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30.png"/><Relationship Id="rId14" Type="http://schemas.openxmlformats.org/officeDocument/2006/relationships/image" Target="../media/image31.png"/><Relationship Id="rId15" Type="http://schemas.openxmlformats.org/officeDocument/2006/relationships/image" Target="../media/image32.png"/><Relationship Id="rId16" Type="http://schemas.openxmlformats.org/officeDocument/2006/relationships/image" Target="../media/image33.png"/><Relationship Id="rId17" Type="http://schemas.openxmlformats.org/officeDocument/2006/relationships/image" Target="../media/image34.png"/><Relationship Id="rId18" Type="http://schemas.openxmlformats.org/officeDocument/2006/relationships/image" Target="../media/image35.png"/><Relationship Id="rId19" Type="http://schemas.openxmlformats.org/officeDocument/2006/relationships/image" Target="../media/image36.png"/><Relationship Id="rId20" Type="http://schemas.openxmlformats.org/officeDocument/2006/relationships/image" Target="../media/image37.png"/><Relationship Id="rId21" Type="http://schemas.openxmlformats.org/officeDocument/2006/relationships/image" Target="../media/image38.png"/><Relationship Id="rId22" Type="http://schemas.openxmlformats.org/officeDocument/2006/relationships/image" Target="../media/image39.png"/><Relationship Id="rId23" Type="http://schemas.openxmlformats.org/officeDocument/2006/relationships/image" Target="../media/image40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Relationship Id="rId12" Type="http://schemas.openxmlformats.org/officeDocument/2006/relationships/image" Target="../media/image51.png"/><Relationship Id="rId13" Type="http://schemas.openxmlformats.org/officeDocument/2006/relationships/image" Target="../media/image52.png"/><Relationship Id="rId14" Type="http://schemas.openxmlformats.org/officeDocument/2006/relationships/image" Target="../media/image53.png"/><Relationship Id="rId15" Type="http://schemas.openxmlformats.org/officeDocument/2006/relationships/image" Target="../media/image54.png"/><Relationship Id="rId16" Type="http://schemas.openxmlformats.org/officeDocument/2006/relationships/image" Target="../media/image55.png"/><Relationship Id="rId17" Type="http://schemas.openxmlformats.org/officeDocument/2006/relationships/image" Target="../media/image56.png"/><Relationship Id="rId18" Type="http://schemas.openxmlformats.org/officeDocument/2006/relationships/image" Target="../media/image57.png"/><Relationship Id="rId19" Type="http://schemas.openxmlformats.org/officeDocument/2006/relationships/image" Target="../media/image58.png"/><Relationship Id="rId20" Type="http://schemas.openxmlformats.org/officeDocument/2006/relationships/image" Target="../media/image59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2.jpg"/><Relationship Id="rId4" Type="http://schemas.openxmlformats.org/officeDocument/2006/relationships/image" Target="../media/image63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2A4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253" y="6268403"/>
            <a:ext cx="627278" cy="514018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694944" y="-889"/>
            <a:ext cx="10820400" cy="254000"/>
          </a:xfrm>
          <a:custGeom>
            <a:avLst/>
            <a:gdLst/>
            <a:ahLst/>
            <a:cxnLst/>
            <a:rect l="l" t="t" r="r" b="b"/>
            <a:pathLst>
              <a:path w="10820400" h="254000">
                <a:moveTo>
                  <a:pt x="0" y="254000"/>
                </a:moveTo>
                <a:lnTo>
                  <a:pt x="10820400" y="254000"/>
                </a:lnTo>
                <a:lnTo>
                  <a:pt x="10820400" y="0"/>
                </a:lnTo>
                <a:lnTo>
                  <a:pt x="0" y="0"/>
                </a:lnTo>
                <a:lnTo>
                  <a:pt x="0" y="254000"/>
                </a:lnTo>
                <a:close/>
              </a:path>
            </a:pathLst>
          </a:custGeom>
          <a:solidFill>
            <a:srgbClr val="00A9D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3148" y="5277688"/>
            <a:ext cx="2675636" cy="121396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06627" y="2719832"/>
            <a:ext cx="2997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A9DF"/>
                </a:solidFill>
              </a:rPr>
              <a:t>RLPM</a:t>
            </a:r>
            <a:r>
              <a:rPr dirty="0" sz="3600" spc="-105">
                <a:solidFill>
                  <a:srgbClr val="00A9DF"/>
                </a:solidFill>
              </a:rPr>
              <a:t> </a:t>
            </a:r>
            <a:r>
              <a:rPr dirty="0" sz="3600" spc="-10">
                <a:solidFill>
                  <a:srgbClr val="00A9DF"/>
                </a:solidFill>
              </a:rPr>
              <a:t>Update</a:t>
            </a:r>
            <a:endParaRPr sz="3600"/>
          </a:p>
        </p:txBody>
      </p:sp>
      <p:sp>
        <p:nvSpPr>
          <p:cNvPr id="8" name="object 8" descr=""/>
          <p:cNvSpPr txBox="1"/>
          <p:nvPr/>
        </p:nvSpPr>
        <p:spPr>
          <a:xfrm>
            <a:off x="2330576" y="6460518"/>
            <a:ext cx="1700530" cy="14287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EXPORT</a:t>
            </a:r>
            <a:r>
              <a:rPr dirty="0" sz="800" spc="-3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MARKING:</a:t>
            </a:r>
            <a:r>
              <a:rPr dirty="0" sz="800" spc="-2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NO</a:t>
            </a:r>
            <a:r>
              <a:rPr dirty="0" sz="800" spc="-1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TECHNICAL</a:t>
            </a:r>
            <a:r>
              <a:rPr dirty="0" sz="800" spc="-1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 spc="-20">
                <a:solidFill>
                  <a:srgbClr val="B8B9B0"/>
                </a:solidFill>
                <a:latin typeface="Arial Narrow"/>
                <a:cs typeface="Arial Narrow"/>
              </a:rPr>
              <a:t>DATA</a:t>
            </a:r>
            <a:endParaRPr sz="800">
              <a:latin typeface="Arial Narrow"/>
              <a:cs typeface="Arial Narro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341614" y="6483682"/>
            <a:ext cx="2680335" cy="14287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PRATT</a:t>
            </a:r>
            <a:r>
              <a:rPr dirty="0" sz="800" spc="-3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&amp; WHITNEY</a:t>
            </a:r>
            <a:r>
              <a:rPr dirty="0" sz="800" spc="-1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PROPRIETARY</a:t>
            </a:r>
            <a:r>
              <a:rPr dirty="0" sz="800" spc="170">
                <a:solidFill>
                  <a:srgbClr val="B8B9B0"/>
                </a:solidFill>
                <a:latin typeface="Arial Narrow"/>
                <a:cs typeface="Arial Narrow"/>
              </a:rPr>
              <a:t> 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|</a:t>
            </a:r>
            <a:r>
              <a:rPr dirty="0" sz="800" spc="195">
                <a:solidFill>
                  <a:srgbClr val="B8B9B0"/>
                </a:solidFill>
                <a:latin typeface="Arial Narrow"/>
                <a:cs typeface="Arial Narrow"/>
              </a:rPr>
              <a:t> 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©</a:t>
            </a:r>
            <a:r>
              <a:rPr dirty="0" sz="800" spc="2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2025</a:t>
            </a:r>
            <a:r>
              <a:rPr dirty="0" sz="800" spc="-3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PRATT</a:t>
            </a:r>
            <a:r>
              <a:rPr dirty="0" sz="800" spc="-3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&amp;</a:t>
            </a:r>
            <a:r>
              <a:rPr dirty="0" sz="800" spc="1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 spc="-10">
                <a:solidFill>
                  <a:srgbClr val="B8B9B0"/>
                </a:solidFill>
                <a:latin typeface="Arial Narrow"/>
                <a:cs typeface="Arial Narrow"/>
              </a:rPr>
              <a:t>WHITNEY</a:t>
            </a:r>
            <a:endParaRPr sz="800">
              <a:latin typeface="Arial Narrow"/>
              <a:cs typeface="Arial Narrow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11271" rIns="0" bIns="0" rtlCol="0" vert="horz">
            <a:spAutoFit/>
          </a:bodyPr>
          <a:lstStyle/>
          <a:p>
            <a:pPr marL="449453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z="800" spc="-50">
                <a:solidFill>
                  <a:srgbClr val="B8B9B0"/>
                </a:solidFill>
                <a:latin typeface="Arial Narrow"/>
                <a:cs typeface="Arial Narrow"/>
              </a:rPr>
              <a:t>1</a:t>
            </a:fld>
            <a:endParaRPr sz="800">
              <a:latin typeface="Arial Narrow"/>
              <a:cs typeface="Arial Narro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93927" y="3125825"/>
            <a:ext cx="2898140" cy="1381760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60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OPO</a:t>
            </a:r>
            <a:r>
              <a:rPr dirty="0" sz="2000" spc="-1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Awareness</a:t>
            </a:r>
            <a:r>
              <a:rPr dirty="0" sz="2000" spc="-1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Session</a:t>
            </a:r>
            <a:endParaRPr sz="2000">
              <a:latin typeface="Arial"/>
              <a:cs typeface="Arial"/>
            </a:endParaRPr>
          </a:p>
          <a:p>
            <a:pPr marL="25400" marR="1172845">
              <a:lnSpc>
                <a:spcPct val="148000"/>
              </a:lnSpc>
              <a:spcBef>
                <a:spcPts val="15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D.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Di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Iorio</a:t>
            </a:r>
            <a:r>
              <a:rPr dirty="0" sz="2000" spc="5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April</a:t>
            </a:r>
            <a:r>
              <a:rPr dirty="0" sz="20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11</a:t>
            </a:r>
            <a:r>
              <a:rPr dirty="0" baseline="25641" sz="1950">
                <a:solidFill>
                  <a:srgbClr val="FFFFFF"/>
                </a:solidFill>
                <a:latin typeface="Arial"/>
                <a:cs typeface="Arial"/>
              </a:rPr>
              <a:t>th</a:t>
            </a:r>
            <a:r>
              <a:rPr dirty="0" baseline="25641" sz="1950" spc="1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,2025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5359" rIns="0" bIns="0" rtlCol="0" vert="horz">
            <a:spAutoFit/>
          </a:bodyPr>
          <a:lstStyle/>
          <a:p>
            <a:pPr marL="97790">
              <a:lnSpc>
                <a:spcPct val="100000"/>
              </a:lnSpc>
              <a:spcBef>
                <a:spcPts val="105"/>
              </a:spcBef>
            </a:pPr>
            <a:r>
              <a:rPr dirty="0"/>
              <a:t>Export</a:t>
            </a:r>
            <a:r>
              <a:rPr dirty="0" spc="-40"/>
              <a:t> </a:t>
            </a:r>
            <a:r>
              <a:rPr dirty="0"/>
              <a:t>control</a:t>
            </a:r>
            <a:r>
              <a:rPr dirty="0" spc="-45"/>
              <a:t> </a:t>
            </a:r>
            <a:r>
              <a:rPr dirty="0" spc="-10"/>
              <a:t>classification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5122926" y="1321498"/>
            <a:ext cx="231140" cy="236854"/>
          </a:xfrm>
          <a:custGeom>
            <a:avLst/>
            <a:gdLst/>
            <a:ahLst/>
            <a:cxnLst/>
            <a:rect l="l" t="t" r="r" b="b"/>
            <a:pathLst>
              <a:path w="231139" h="236855">
                <a:moveTo>
                  <a:pt x="0" y="236283"/>
                </a:moveTo>
                <a:lnTo>
                  <a:pt x="230670" y="236283"/>
                </a:lnTo>
                <a:lnTo>
                  <a:pt x="230670" y="0"/>
                </a:lnTo>
                <a:lnTo>
                  <a:pt x="0" y="0"/>
                </a:lnTo>
                <a:lnTo>
                  <a:pt x="0" y="23628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176520" y="1315974"/>
            <a:ext cx="123189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latin typeface="Arial Narrow"/>
                <a:cs typeface="Arial Narrow"/>
              </a:rPr>
              <a:t>X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474589" y="1268094"/>
            <a:ext cx="14420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 Narrow"/>
                <a:cs typeface="Arial Narrow"/>
              </a:rPr>
              <a:t>Check</a:t>
            </a:r>
            <a:r>
              <a:rPr dirty="0" sz="1000" spc="-30">
                <a:latin typeface="Arial Narrow"/>
                <a:cs typeface="Arial Narrow"/>
              </a:rPr>
              <a:t> </a:t>
            </a:r>
            <a:r>
              <a:rPr dirty="0" sz="1000">
                <a:latin typeface="Arial Narrow"/>
                <a:cs typeface="Arial Narrow"/>
              </a:rPr>
              <a:t>this</a:t>
            </a:r>
            <a:r>
              <a:rPr dirty="0" sz="1000" spc="-15">
                <a:latin typeface="Arial Narrow"/>
                <a:cs typeface="Arial Narrow"/>
              </a:rPr>
              <a:t> </a:t>
            </a:r>
            <a:r>
              <a:rPr dirty="0" sz="1000">
                <a:latin typeface="Arial Narrow"/>
                <a:cs typeface="Arial Narrow"/>
              </a:rPr>
              <a:t>box</a:t>
            </a:r>
            <a:r>
              <a:rPr dirty="0" sz="1000" spc="-20">
                <a:latin typeface="Arial Narrow"/>
                <a:cs typeface="Arial Narrow"/>
              </a:rPr>
              <a:t> </a:t>
            </a:r>
            <a:r>
              <a:rPr dirty="0" sz="1000">
                <a:latin typeface="Arial Narrow"/>
                <a:cs typeface="Arial Narrow"/>
              </a:rPr>
              <a:t>if</a:t>
            </a:r>
            <a:r>
              <a:rPr dirty="0" sz="1000" spc="-20">
                <a:latin typeface="Arial Narrow"/>
                <a:cs typeface="Arial Narrow"/>
              </a:rPr>
              <a:t> </a:t>
            </a:r>
            <a:r>
              <a:rPr dirty="0" sz="1000">
                <a:latin typeface="Arial Narrow"/>
                <a:cs typeface="Arial Narrow"/>
              </a:rPr>
              <a:t>the</a:t>
            </a:r>
            <a:r>
              <a:rPr dirty="0" sz="1000" spc="-35">
                <a:latin typeface="Arial Narrow"/>
                <a:cs typeface="Arial Narrow"/>
              </a:rPr>
              <a:t> </a:t>
            </a:r>
            <a:r>
              <a:rPr dirty="0" sz="1000" spc="-10">
                <a:latin typeface="Arial Narrow"/>
                <a:cs typeface="Arial Narrow"/>
              </a:rPr>
              <a:t>document </a:t>
            </a:r>
            <a:r>
              <a:rPr dirty="0" sz="1000">
                <a:latin typeface="Arial Narrow"/>
                <a:cs typeface="Arial Narrow"/>
              </a:rPr>
              <a:t>contains</a:t>
            </a:r>
            <a:r>
              <a:rPr dirty="0" sz="1000" spc="-5">
                <a:latin typeface="Arial Narrow"/>
                <a:cs typeface="Arial Narrow"/>
              </a:rPr>
              <a:t> </a:t>
            </a:r>
            <a:r>
              <a:rPr dirty="0" sz="1000" b="1">
                <a:latin typeface="Arial Narrow"/>
                <a:cs typeface="Arial Narrow"/>
              </a:rPr>
              <a:t>no</a:t>
            </a:r>
            <a:r>
              <a:rPr dirty="0" sz="1000" spc="-5" b="1">
                <a:latin typeface="Arial Narrow"/>
                <a:cs typeface="Arial Narrow"/>
              </a:rPr>
              <a:t> </a:t>
            </a:r>
            <a:r>
              <a:rPr dirty="0" sz="1000" spc="-10" b="1">
                <a:latin typeface="Arial Narrow"/>
                <a:cs typeface="Arial Narrow"/>
              </a:rPr>
              <a:t>technical</a:t>
            </a:r>
            <a:r>
              <a:rPr dirty="0" sz="1000" spc="-40" b="1">
                <a:latin typeface="Arial Narrow"/>
                <a:cs typeface="Arial Narrow"/>
              </a:rPr>
              <a:t> </a:t>
            </a:r>
            <a:r>
              <a:rPr dirty="0" sz="1000" spc="-20" b="1">
                <a:latin typeface="Arial Narrow"/>
                <a:cs typeface="Arial Narrow"/>
              </a:rPr>
              <a:t>data</a:t>
            </a:r>
            <a:r>
              <a:rPr dirty="0" sz="1000" spc="-20">
                <a:latin typeface="Arial Narrow"/>
                <a:cs typeface="Arial Narrow"/>
              </a:rPr>
              <a:t>.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103109" y="1305813"/>
            <a:ext cx="19939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OR</a:t>
            </a:r>
            <a:endParaRPr sz="1100">
              <a:latin typeface="Arial Narrow"/>
              <a:cs typeface="Arial Narro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508240" y="1268094"/>
            <a:ext cx="213233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 Narrow"/>
                <a:cs typeface="Arial Narrow"/>
              </a:rPr>
              <a:t>Summarize the</a:t>
            </a:r>
            <a:r>
              <a:rPr dirty="0" sz="1000" spc="-30">
                <a:latin typeface="Arial Narrow"/>
                <a:cs typeface="Arial Narrow"/>
              </a:rPr>
              <a:t> </a:t>
            </a:r>
            <a:r>
              <a:rPr dirty="0" sz="1000">
                <a:latin typeface="Arial Narrow"/>
                <a:cs typeface="Arial Narrow"/>
              </a:rPr>
              <a:t>export</a:t>
            </a:r>
            <a:r>
              <a:rPr dirty="0" sz="1000" spc="-30">
                <a:latin typeface="Arial Narrow"/>
                <a:cs typeface="Arial Narrow"/>
              </a:rPr>
              <a:t> </a:t>
            </a:r>
            <a:r>
              <a:rPr dirty="0" sz="1000" spc="-10">
                <a:latin typeface="Arial Narrow"/>
                <a:cs typeface="Arial Narrow"/>
              </a:rPr>
              <a:t>classification</a:t>
            </a:r>
            <a:r>
              <a:rPr dirty="0" sz="1000" spc="15">
                <a:latin typeface="Arial Narrow"/>
                <a:cs typeface="Arial Narrow"/>
              </a:rPr>
              <a:t> </a:t>
            </a:r>
            <a:r>
              <a:rPr dirty="0" sz="1000">
                <a:latin typeface="Arial Narrow"/>
                <a:cs typeface="Arial Narrow"/>
              </a:rPr>
              <a:t>of</a:t>
            </a:r>
            <a:r>
              <a:rPr dirty="0" sz="1000" spc="-20">
                <a:latin typeface="Arial Narrow"/>
                <a:cs typeface="Arial Narrow"/>
              </a:rPr>
              <a:t> </a:t>
            </a:r>
            <a:r>
              <a:rPr dirty="0" sz="1000" spc="-25">
                <a:latin typeface="Arial Narrow"/>
                <a:cs typeface="Arial Narrow"/>
              </a:rPr>
              <a:t>all</a:t>
            </a:r>
            <a:r>
              <a:rPr dirty="0" sz="1000">
                <a:latin typeface="Arial Narrow"/>
                <a:cs typeface="Arial Narrow"/>
              </a:rPr>
              <a:t> slides</a:t>
            </a:r>
            <a:r>
              <a:rPr dirty="0" sz="1000" spc="20">
                <a:latin typeface="Arial Narrow"/>
                <a:cs typeface="Arial Narrow"/>
              </a:rPr>
              <a:t> </a:t>
            </a:r>
            <a:r>
              <a:rPr dirty="0" sz="1000">
                <a:latin typeface="Arial Narrow"/>
                <a:cs typeface="Arial Narrow"/>
              </a:rPr>
              <a:t>in</a:t>
            </a:r>
            <a:r>
              <a:rPr dirty="0" sz="1000" spc="5">
                <a:latin typeface="Arial Narrow"/>
                <a:cs typeface="Arial Narrow"/>
              </a:rPr>
              <a:t> </a:t>
            </a:r>
            <a:r>
              <a:rPr dirty="0" sz="1000">
                <a:latin typeface="Arial Narrow"/>
                <a:cs typeface="Arial Narrow"/>
              </a:rPr>
              <a:t>this</a:t>
            </a:r>
            <a:r>
              <a:rPr dirty="0" sz="1000" spc="10">
                <a:latin typeface="Arial Narrow"/>
                <a:cs typeface="Arial Narrow"/>
              </a:rPr>
              <a:t> </a:t>
            </a:r>
            <a:r>
              <a:rPr dirty="0" sz="1000" spc="-10">
                <a:latin typeface="Arial Narrow"/>
                <a:cs typeface="Arial Narrow"/>
              </a:rPr>
              <a:t>presentation</a:t>
            </a:r>
            <a:r>
              <a:rPr dirty="0" sz="1000" spc="-40">
                <a:latin typeface="Arial Narrow"/>
                <a:cs typeface="Arial Narrow"/>
              </a:rPr>
              <a:t> </a:t>
            </a:r>
            <a:r>
              <a:rPr dirty="0" sz="1000">
                <a:latin typeface="Arial Narrow"/>
                <a:cs typeface="Arial Narrow"/>
              </a:rPr>
              <a:t>as</a:t>
            </a:r>
            <a:r>
              <a:rPr dirty="0" sz="1000" spc="5">
                <a:latin typeface="Arial Narrow"/>
                <a:cs typeface="Arial Narrow"/>
              </a:rPr>
              <a:t> </a:t>
            </a:r>
            <a:r>
              <a:rPr dirty="0" sz="1000" spc="-10">
                <a:latin typeface="Arial Narrow"/>
                <a:cs typeface="Arial Narrow"/>
              </a:rPr>
              <a:t>instructed</a:t>
            </a:r>
            <a:r>
              <a:rPr dirty="0" sz="1000" spc="-15">
                <a:latin typeface="Arial Narrow"/>
                <a:cs typeface="Arial Narrow"/>
              </a:rPr>
              <a:t> </a:t>
            </a:r>
            <a:r>
              <a:rPr dirty="0" sz="1000" spc="-10">
                <a:latin typeface="Arial Narrow"/>
                <a:cs typeface="Arial Narrow"/>
              </a:rPr>
              <a:t>below.</a:t>
            </a:r>
            <a:endParaRPr sz="1000">
              <a:latin typeface="Arial Narrow"/>
              <a:cs typeface="Arial Narrow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5120259" y="913891"/>
          <a:ext cx="6527165" cy="320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8960"/>
                <a:gridCol w="1679575"/>
                <a:gridCol w="1345564"/>
                <a:gridCol w="1575435"/>
              </a:tblGrid>
              <a:tr h="320675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DATE OF</a:t>
                      </a:r>
                      <a:r>
                        <a:rPr dirty="0" sz="800" spc="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MARKING</a:t>
                      </a:r>
                      <a:r>
                        <a:rPr dirty="0" sz="8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(YYYY-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MM-</a:t>
                      </a:r>
                      <a:r>
                        <a:rPr dirty="0" sz="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DD):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927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9DF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80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2025-</a:t>
                      </a:r>
                      <a:r>
                        <a:rPr dirty="0" sz="800" spc="-10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02-</a:t>
                      </a:r>
                      <a:r>
                        <a:rPr dirty="0" sz="800" spc="-35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927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BADGE</a:t>
                      </a:r>
                      <a:r>
                        <a:rPr dirty="0" sz="800" spc="1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(XX######):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927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9DF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800" spc="-10" i="1">
                          <a:solidFill>
                            <a:srgbClr val="1F2A44"/>
                          </a:solidFill>
                          <a:latin typeface="Calibri"/>
                          <a:cs typeface="Calibri"/>
                        </a:rPr>
                        <a:t>PW51027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927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951" y="1686941"/>
            <a:ext cx="4330192" cy="3117087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90459" y="2458135"/>
            <a:ext cx="795096" cy="388188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90459" y="3621824"/>
            <a:ext cx="795096" cy="382358"/>
          </a:xfrm>
          <a:prstGeom prst="rect">
            <a:avLst/>
          </a:prstGeom>
        </p:spPr>
      </p:pic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5120259" y="1654429"/>
          <a:ext cx="6531609" cy="3139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4105"/>
                <a:gridCol w="795019"/>
                <a:gridCol w="1624329"/>
                <a:gridCol w="1659889"/>
              </a:tblGrid>
              <a:tr h="350520"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dirty="0" sz="1100" spc="-10">
                          <a:latin typeface="Arial Narrow"/>
                          <a:cs typeface="Arial Narrow"/>
                        </a:rPr>
                        <a:t>Classifications</a:t>
                      </a:r>
                      <a:r>
                        <a:rPr dirty="0" sz="1100" spc="-25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>
                          <a:latin typeface="Arial Narrow"/>
                          <a:cs typeface="Arial Narrow"/>
                        </a:rPr>
                        <a:t>must always</a:t>
                      </a:r>
                      <a:r>
                        <a:rPr dirty="0" sz="1100" spc="5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 spc="-25">
                          <a:latin typeface="Arial Narrow"/>
                          <a:cs typeface="Arial Narrow"/>
                        </a:rPr>
                        <a:t>be</a:t>
                      </a:r>
                      <a:endParaRPr sz="1100">
                        <a:latin typeface="Arial Narrow"/>
                        <a:cs typeface="Arial Narrow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dirty="0" sz="1100">
                          <a:latin typeface="Arial Narrow"/>
                          <a:cs typeface="Arial Narrow"/>
                        </a:rPr>
                        <a:t>provided</a:t>
                      </a:r>
                      <a:r>
                        <a:rPr dirty="0" sz="1100" spc="-5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>
                          <a:latin typeface="Arial Narrow"/>
                          <a:cs typeface="Arial Narrow"/>
                        </a:rPr>
                        <a:t>for</a:t>
                      </a:r>
                      <a:r>
                        <a:rPr dirty="0" sz="1100" spc="-15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>
                          <a:latin typeface="Arial Narrow"/>
                          <a:cs typeface="Arial Narrow"/>
                        </a:rPr>
                        <a:t>U.S.</a:t>
                      </a:r>
                      <a:r>
                        <a:rPr dirty="0" sz="1100" spc="-25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>
                          <a:latin typeface="Arial Narrow"/>
                          <a:cs typeface="Arial Narrow"/>
                        </a:rPr>
                        <a:t>and</a:t>
                      </a:r>
                      <a:r>
                        <a:rPr dirty="0" sz="1100" spc="-25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>
                          <a:latin typeface="Arial Narrow"/>
                          <a:cs typeface="Arial Narrow"/>
                        </a:rPr>
                        <a:t>Outside</a:t>
                      </a:r>
                      <a:r>
                        <a:rPr dirty="0" sz="1100" spc="-5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>
                          <a:latin typeface="Arial Narrow"/>
                          <a:cs typeface="Arial Narrow"/>
                        </a:rPr>
                        <a:t>U.S.</a:t>
                      </a:r>
                      <a:r>
                        <a:rPr dirty="0" sz="1100" spc="-10">
                          <a:latin typeface="Arial Narrow"/>
                          <a:cs typeface="Arial Narrow"/>
                        </a:rPr>
                        <a:t> boxes.</a:t>
                      </a:r>
                      <a:endParaRPr sz="1100">
                        <a:latin typeface="Arial Narrow"/>
                        <a:cs typeface="Arial Narrow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0805" marR="104775">
                        <a:lnSpc>
                          <a:spcPct val="98800"/>
                        </a:lnSpc>
                      </a:pPr>
                      <a:r>
                        <a:rPr dirty="0" sz="1100">
                          <a:latin typeface="Arial Narrow"/>
                          <a:cs typeface="Arial Narrow"/>
                        </a:rPr>
                        <a:t>When</a:t>
                      </a:r>
                      <a:r>
                        <a:rPr dirty="0" sz="1100" spc="-2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>
                          <a:latin typeface="Arial Narrow"/>
                          <a:cs typeface="Arial Narrow"/>
                        </a:rPr>
                        <a:t>the</a:t>
                      </a:r>
                      <a:r>
                        <a:rPr dirty="0" sz="1100" spc="-1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>
                          <a:latin typeface="Arial Narrow"/>
                          <a:cs typeface="Arial Narrow"/>
                        </a:rPr>
                        <a:t>person</a:t>
                      </a:r>
                      <a:r>
                        <a:rPr dirty="0" sz="1100" spc="-25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 spc="-10">
                          <a:latin typeface="Arial Narrow"/>
                          <a:cs typeface="Arial Narrow"/>
                        </a:rPr>
                        <a:t>completing</a:t>
                      </a:r>
                      <a:r>
                        <a:rPr dirty="0" sz="1100" spc="-35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>
                          <a:latin typeface="Arial Narrow"/>
                          <a:cs typeface="Arial Narrow"/>
                        </a:rPr>
                        <a:t>the</a:t>
                      </a:r>
                      <a:r>
                        <a:rPr dirty="0" sz="1100" spc="-1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>
                          <a:latin typeface="Arial Narrow"/>
                          <a:cs typeface="Arial Narrow"/>
                        </a:rPr>
                        <a:t>grid</a:t>
                      </a:r>
                      <a:r>
                        <a:rPr dirty="0" sz="1100" spc="-1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 spc="-25">
                          <a:latin typeface="Arial Narrow"/>
                          <a:cs typeface="Arial Narrow"/>
                        </a:rPr>
                        <a:t>is </a:t>
                      </a:r>
                      <a:r>
                        <a:rPr dirty="0" sz="1100" spc="-10">
                          <a:latin typeface="Arial Narrow"/>
                          <a:cs typeface="Arial Narrow"/>
                        </a:rPr>
                        <a:t>physically</a:t>
                      </a:r>
                      <a:r>
                        <a:rPr dirty="0" sz="1100" spc="-3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 spc="-10">
                          <a:latin typeface="Arial Narrow"/>
                          <a:cs typeface="Arial Narrow"/>
                        </a:rPr>
                        <a:t>located</a:t>
                      </a:r>
                      <a:r>
                        <a:rPr dirty="0" sz="1100" spc="-3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>
                          <a:latin typeface="Arial Narrow"/>
                          <a:cs typeface="Arial Narrow"/>
                        </a:rPr>
                        <a:t>outside</a:t>
                      </a:r>
                      <a:r>
                        <a:rPr dirty="0" sz="1100" spc="-2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>
                          <a:latin typeface="Arial Narrow"/>
                          <a:cs typeface="Arial Narrow"/>
                        </a:rPr>
                        <a:t>of</a:t>
                      </a:r>
                      <a:r>
                        <a:rPr dirty="0" sz="1100" spc="-5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>
                          <a:latin typeface="Arial Narrow"/>
                          <a:cs typeface="Arial Narrow"/>
                        </a:rPr>
                        <a:t>the</a:t>
                      </a:r>
                      <a:r>
                        <a:rPr dirty="0" sz="1100" spc="-5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>
                          <a:latin typeface="Arial Narrow"/>
                          <a:cs typeface="Arial Narrow"/>
                        </a:rPr>
                        <a:t>U.S.,</a:t>
                      </a:r>
                      <a:r>
                        <a:rPr dirty="0" sz="1100" spc="15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 spc="-25">
                          <a:latin typeface="Arial Narrow"/>
                          <a:cs typeface="Arial Narrow"/>
                        </a:rPr>
                        <a:t>the </a:t>
                      </a:r>
                      <a:r>
                        <a:rPr dirty="0" sz="1100">
                          <a:latin typeface="Arial Narrow"/>
                          <a:cs typeface="Arial Narrow"/>
                        </a:rPr>
                        <a:t>local</a:t>
                      </a:r>
                      <a:r>
                        <a:rPr dirty="0" sz="1100" spc="-15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 spc="-10">
                          <a:latin typeface="Arial Narrow"/>
                          <a:cs typeface="Arial Narrow"/>
                        </a:rPr>
                        <a:t>classifications</a:t>
                      </a:r>
                      <a:r>
                        <a:rPr dirty="0" sz="1100" spc="-3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>
                          <a:latin typeface="Arial Narrow"/>
                          <a:cs typeface="Arial Narrow"/>
                        </a:rPr>
                        <a:t>must also</a:t>
                      </a:r>
                      <a:r>
                        <a:rPr dirty="0" sz="1100" spc="-1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>
                          <a:latin typeface="Arial Narrow"/>
                          <a:cs typeface="Arial Narrow"/>
                        </a:rPr>
                        <a:t>be </a:t>
                      </a:r>
                      <a:r>
                        <a:rPr dirty="0" sz="1100" spc="-10">
                          <a:latin typeface="Arial Narrow"/>
                          <a:cs typeface="Arial Narrow"/>
                        </a:rPr>
                        <a:t>provided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500" spc="-10">
                          <a:solidFill>
                            <a:srgbClr val="FFFFFF"/>
                          </a:solidFill>
                          <a:latin typeface="Arial Narrow"/>
                          <a:cs typeface="Arial Narrow"/>
                        </a:rPr>
                        <a:t>CLASSIFICATION</a:t>
                      </a:r>
                      <a:endParaRPr sz="1500">
                        <a:latin typeface="Arial Narrow"/>
                        <a:cs typeface="Arial Narrow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1F2A4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1F2A44"/>
                      </a:solidFill>
                      <a:prstDash val="solid"/>
                    </a:lnB>
                    <a:solidFill>
                      <a:srgbClr val="00A9D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464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Arial Narrow"/>
                          <a:cs typeface="Arial Narrow"/>
                        </a:rPr>
                        <a:t>LOCATION</a:t>
                      </a:r>
                      <a:endParaRPr sz="1100">
                        <a:latin typeface="Arial Narrow"/>
                        <a:cs typeface="Arial Narrow"/>
                      </a:endParaRPr>
                    </a:p>
                  </a:txBody>
                  <a:tcPr marL="0" marR="0" marB="0" marT="137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1F2A4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1F2A44"/>
                      </a:solidFill>
                      <a:prstDash val="solid"/>
                    </a:lnB>
                    <a:solidFill>
                      <a:srgbClr val="00A9D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14300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Arial Narrow"/>
                          <a:cs typeface="Arial Narrow"/>
                        </a:rPr>
                        <a:t>U.S.</a:t>
                      </a:r>
                      <a:r>
                        <a:rPr dirty="0" sz="1100" spc="-20">
                          <a:solidFill>
                            <a:srgbClr val="FFFFFF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Arial Narrow"/>
                          <a:cs typeface="Arial Narrow"/>
                        </a:rPr>
                        <a:t>REGULATION</a:t>
                      </a:r>
                      <a:endParaRPr sz="1100">
                        <a:latin typeface="Arial Narrow"/>
                        <a:cs typeface="Arial Narrow"/>
                      </a:endParaRPr>
                    </a:p>
                  </a:txBody>
                  <a:tcPr marL="0" marR="0" marB="0" marT="137160">
                    <a:lnL w="12700">
                      <a:solidFill>
                        <a:srgbClr val="1F2A4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1F2A44"/>
                      </a:solidFill>
                      <a:prstDash val="solid"/>
                    </a:lnT>
                    <a:lnB w="12700">
                      <a:solidFill>
                        <a:srgbClr val="1F2A44"/>
                      </a:solidFill>
                      <a:prstDash val="solid"/>
                    </a:lnB>
                    <a:solidFill>
                      <a:srgbClr val="00A9D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879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F2A44"/>
                      </a:solidFill>
                      <a:prstDash val="solid"/>
                    </a:lnL>
                    <a:lnR w="12700">
                      <a:solidFill>
                        <a:srgbClr val="1F2A44"/>
                      </a:solidFill>
                      <a:prstDash val="solid"/>
                    </a:lnR>
                    <a:lnT w="12700">
                      <a:solidFill>
                        <a:srgbClr val="1F2A44"/>
                      </a:solidFill>
                      <a:prstDash val="solid"/>
                    </a:lnT>
                    <a:lnB w="12700">
                      <a:solidFill>
                        <a:srgbClr val="1F2A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dirty="0" sz="1100" spc="-25">
                          <a:latin typeface="Arial Narrow"/>
                          <a:cs typeface="Arial Narrow"/>
                        </a:rPr>
                        <a:t>EAR</a:t>
                      </a:r>
                      <a:endParaRPr sz="1100">
                        <a:latin typeface="Arial Narrow"/>
                        <a:cs typeface="Arial Narrow"/>
                      </a:endParaRPr>
                    </a:p>
                  </a:txBody>
                  <a:tcPr marL="0" marR="0" marB="0" marT="108585">
                    <a:lnL w="12700">
                      <a:solidFill>
                        <a:srgbClr val="1F2A44"/>
                      </a:solidFill>
                      <a:prstDash val="solid"/>
                    </a:lnL>
                    <a:lnR w="12700">
                      <a:solidFill>
                        <a:srgbClr val="1F2A44"/>
                      </a:solidFill>
                      <a:prstDash val="solid"/>
                    </a:lnR>
                    <a:lnT w="12700">
                      <a:solidFill>
                        <a:srgbClr val="1F2A44"/>
                      </a:solidFill>
                      <a:prstDash val="solid"/>
                    </a:lnT>
                    <a:lnB w="12700">
                      <a:solidFill>
                        <a:srgbClr val="1F2A44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dirty="0" sz="1100" spc="-20">
                          <a:latin typeface="Arial Narrow"/>
                          <a:cs typeface="Arial Narrow"/>
                        </a:rPr>
                        <a:t>ITAR</a:t>
                      </a:r>
                      <a:endParaRPr sz="1100">
                        <a:latin typeface="Arial Narrow"/>
                        <a:cs typeface="Arial Narrow"/>
                      </a:endParaRPr>
                    </a:p>
                  </a:txBody>
                  <a:tcPr marL="0" marR="0" marB="0" marT="108585">
                    <a:lnL w="12700">
                      <a:solidFill>
                        <a:srgbClr val="1F2A44"/>
                      </a:solidFill>
                      <a:prstDash val="solid"/>
                    </a:lnL>
                    <a:lnR w="12700">
                      <a:solidFill>
                        <a:srgbClr val="1F2A44"/>
                      </a:solidFill>
                      <a:prstDash val="solid"/>
                    </a:lnR>
                    <a:lnT w="12700">
                      <a:solidFill>
                        <a:srgbClr val="1F2A44"/>
                      </a:solidFill>
                      <a:prstDash val="solid"/>
                    </a:lnT>
                    <a:lnB w="12700">
                      <a:solidFill>
                        <a:srgbClr val="1F2A44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854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900" spc="-2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U.S.</a:t>
                      </a:r>
                      <a:endParaRPr sz="900">
                        <a:latin typeface="Arial Narrow"/>
                        <a:cs typeface="Arial Narrow"/>
                      </a:endParaRPr>
                    </a:p>
                  </a:txBody>
                  <a:tcPr marL="0" marR="0" marB="0" marT="1219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1F2A44"/>
                      </a:solidFill>
                      <a:prstDash val="solid"/>
                    </a:lnR>
                    <a:lnT w="12700">
                      <a:solidFill>
                        <a:srgbClr val="1F2A4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000" spc="-10">
                          <a:solidFill>
                            <a:srgbClr val="A6A6A6"/>
                          </a:solidFill>
                          <a:latin typeface="Arial Narrow"/>
                          <a:cs typeface="Arial Narrow"/>
                        </a:rPr>
                        <a:t>P-</a:t>
                      </a:r>
                      <a:r>
                        <a:rPr dirty="0" sz="1000" spc="-20">
                          <a:solidFill>
                            <a:srgbClr val="A6A6A6"/>
                          </a:solidFill>
                          <a:latin typeface="Arial Narrow"/>
                          <a:cs typeface="Arial Narrow"/>
                        </a:rPr>
                        <a:t>ECCN</a:t>
                      </a:r>
                      <a:endParaRPr sz="1000">
                        <a:latin typeface="Arial Narrow"/>
                        <a:cs typeface="Arial Narrow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1F2A44"/>
                      </a:solidFill>
                      <a:prstDash val="solid"/>
                    </a:lnL>
                    <a:lnR w="12700">
                      <a:solidFill>
                        <a:srgbClr val="1F2A44"/>
                      </a:solidFill>
                      <a:prstDash val="solid"/>
                    </a:lnR>
                    <a:lnT w="12700">
                      <a:solidFill>
                        <a:srgbClr val="1F2A44"/>
                      </a:solidFill>
                      <a:prstDash val="solid"/>
                    </a:lnT>
                    <a:lnB w="12700">
                      <a:solidFill>
                        <a:srgbClr val="1F2A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000" spc="-10">
                          <a:solidFill>
                            <a:srgbClr val="A6A6A6"/>
                          </a:solidFill>
                          <a:latin typeface="Arial Narrow"/>
                          <a:cs typeface="Arial Narrow"/>
                        </a:rPr>
                        <a:t>P-</a:t>
                      </a:r>
                      <a:r>
                        <a:rPr dirty="0" sz="1000" spc="-20">
                          <a:solidFill>
                            <a:srgbClr val="A6A6A6"/>
                          </a:solidFill>
                          <a:latin typeface="Arial Narrow"/>
                          <a:cs typeface="Arial Narrow"/>
                        </a:rPr>
                        <a:t>USML</a:t>
                      </a:r>
                      <a:endParaRPr sz="1000">
                        <a:latin typeface="Arial Narrow"/>
                        <a:cs typeface="Arial Narrow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1F2A44"/>
                      </a:solidFill>
                      <a:prstDash val="solid"/>
                    </a:lnL>
                    <a:lnR w="12700">
                      <a:solidFill>
                        <a:srgbClr val="1F2A44"/>
                      </a:solidFill>
                      <a:prstDash val="solid"/>
                    </a:lnR>
                    <a:lnT w="12700">
                      <a:solidFill>
                        <a:srgbClr val="1F2A44"/>
                      </a:solidFill>
                      <a:prstDash val="solid"/>
                    </a:lnT>
                    <a:lnB w="12700">
                      <a:solidFill>
                        <a:srgbClr val="1F2A44"/>
                      </a:solidFill>
                      <a:prstDash val="solid"/>
                    </a:lnB>
                  </a:tcPr>
                </a:tc>
              </a:tr>
              <a:tr h="3892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06705" marR="181610" indent="-11747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900" spc="-1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OUTSIDE</a:t>
                      </a:r>
                      <a:r>
                        <a:rPr dirty="0" sz="900" spc="50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900" spc="-2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U.S.</a:t>
                      </a:r>
                      <a:endParaRPr sz="900">
                        <a:latin typeface="Arial Narrow"/>
                        <a:cs typeface="Arial Narrow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1F2A4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000" spc="-20">
                          <a:solidFill>
                            <a:srgbClr val="A6A6A6"/>
                          </a:solidFill>
                          <a:latin typeface="Arial Narrow"/>
                          <a:cs typeface="Arial Narrow"/>
                        </a:rPr>
                        <a:t>ECCN</a:t>
                      </a:r>
                      <a:endParaRPr sz="1000">
                        <a:latin typeface="Arial Narrow"/>
                        <a:cs typeface="Arial Narrow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1F2A44"/>
                      </a:solidFill>
                      <a:prstDash val="solid"/>
                    </a:lnL>
                    <a:lnR w="12700">
                      <a:solidFill>
                        <a:srgbClr val="1F2A44"/>
                      </a:solidFill>
                      <a:prstDash val="solid"/>
                    </a:lnR>
                    <a:lnT w="12700">
                      <a:solidFill>
                        <a:srgbClr val="1F2A44"/>
                      </a:solidFill>
                      <a:prstDash val="solid"/>
                    </a:lnT>
                    <a:lnB w="12700">
                      <a:solidFill>
                        <a:srgbClr val="1F2A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000" spc="-20">
                          <a:solidFill>
                            <a:srgbClr val="A6A6A6"/>
                          </a:solidFill>
                          <a:latin typeface="Arial Narrow"/>
                          <a:cs typeface="Arial Narrow"/>
                        </a:rPr>
                        <a:t>USML</a:t>
                      </a:r>
                      <a:endParaRPr sz="1000">
                        <a:latin typeface="Arial Narrow"/>
                        <a:cs typeface="Arial Narrow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1F2A44"/>
                      </a:solidFill>
                      <a:prstDash val="solid"/>
                    </a:lnL>
                    <a:lnR w="12700">
                      <a:solidFill>
                        <a:srgbClr val="1F2A44"/>
                      </a:solidFill>
                      <a:prstDash val="solid"/>
                    </a:lnR>
                    <a:lnT w="12700">
                      <a:solidFill>
                        <a:srgbClr val="1F2A44"/>
                      </a:solidFill>
                      <a:prstDash val="solid"/>
                    </a:lnT>
                    <a:lnB w="12700">
                      <a:solidFill>
                        <a:srgbClr val="1F2A44"/>
                      </a:solidFill>
                      <a:prstDash val="solid"/>
                    </a:lnB>
                  </a:tcPr>
                </a:tc>
              </a:tr>
              <a:tr h="3822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1F2A4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06680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Arial Narrow"/>
                          <a:cs typeface="Arial Narrow"/>
                        </a:rPr>
                        <a:t>LOCAL</a:t>
                      </a:r>
                      <a:r>
                        <a:rPr dirty="0" sz="1100" spc="-35">
                          <a:solidFill>
                            <a:srgbClr val="FFFFFF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Arial Narrow"/>
                          <a:cs typeface="Arial Narrow"/>
                        </a:rPr>
                        <a:t>REGULATION</a:t>
                      </a:r>
                      <a:endParaRPr sz="1100">
                        <a:latin typeface="Arial Narrow"/>
                        <a:cs typeface="Arial Narrow"/>
                      </a:endParaRPr>
                    </a:p>
                  </a:txBody>
                  <a:tcPr marL="0" marR="0" marB="0" marT="105410">
                    <a:lnL w="12700">
                      <a:solidFill>
                        <a:srgbClr val="1F2A4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1F2A44"/>
                      </a:solidFill>
                      <a:prstDash val="solid"/>
                    </a:lnT>
                    <a:lnB w="12700">
                      <a:solidFill>
                        <a:srgbClr val="1F2A44"/>
                      </a:solidFill>
                      <a:prstDash val="solid"/>
                    </a:lnB>
                    <a:solidFill>
                      <a:srgbClr val="00A9D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2227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03200">
                        <a:lnSpc>
                          <a:spcPct val="100000"/>
                        </a:lnSpc>
                      </a:pPr>
                      <a:r>
                        <a:rPr dirty="0" sz="900" spc="-10">
                          <a:latin typeface="Arial Narrow"/>
                          <a:cs typeface="Arial Narrow"/>
                        </a:rPr>
                        <a:t>CANADA</a:t>
                      </a:r>
                      <a:endParaRPr sz="900">
                        <a:latin typeface="Arial Narrow"/>
                        <a:cs typeface="Arial Narro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1F2A4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900">
                          <a:latin typeface="Arial Narrow"/>
                          <a:cs typeface="Arial Narrow"/>
                        </a:rPr>
                        <a:t>EIPA</a:t>
                      </a:r>
                      <a:r>
                        <a:rPr dirty="0" sz="900" spc="-15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900" spc="-10">
                          <a:latin typeface="Arial Narrow"/>
                          <a:cs typeface="Arial Narrow"/>
                        </a:rPr>
                        <a:t>(ECL)</a:t>
                      </a:r>
                      <a:endParaRPr sz="900">
                        <a:latin typeface="Arial Narrow"/>
                        <a:cs typeface="Arial Narrow"/>
                      </a:endParaRPr>
                    </a:p>
                  </a:txBody>
                  <a:tcPr marL="0" marR="0" marB="0" marT="8890">
                    <a:lnL w="12700">
                      <a:solidFill>
                        <a:srgbClr val="1F2A4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1F2A4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900">
                          <a:latin typeface="Arial Narrow"/>
                          <a:cs typeface="Arial Narrow"/>
                        </a:rPr>
                        <a:t>DPA</a:t>
                      </a:r>
                      <a:r>
                        <a:rPr dirty="0" sz="900" spc="-15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900" spc="-20">
                          <a:latin typeface="Arial Narrow"/>
                          <a:cs typeface="Arial Narrow"/>
                        </a:rPr>
                        <a:t>(CG)</a:t>
                      </a:r>
                      <a:endParaRPr sz="900">
                        <a:latin typeface="Arial Narrow"/>
                        <a:cs typeface="Arial Narrow"/>
                      </a:endParaRPr>
                    </a:p>
                  </a:txBody>
                  <a:tcPr marL="0" marR="0" marB="0" marT="88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1F2A44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752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1F2A44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F2A44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830"/>
                        </a:lnSpc>
                        <a:spcBef>
                          <a:spcPts val="160"/>
                        </a:spcBef>
                      </a:pPr>
                      <a:r>
                        <a:rPr dirty="0" sz="80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Document</a:t>
                      </a:r>
                      <a:r>
                        <a:rPr dirty="0" sz="800" spc="-3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80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may</a:t>
                      </a:r>
                      <a:r>
                        <a:rPr dirty="0" sz="800" spc="-3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80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be</a:t>
                      </a:r>
                      <a:r>
                        <a:rPr dirty="0" sz="800" spc="-2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800" spc="-15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DPA</a:t>
                      </a:r>
                      <a:r>
                        <a:rPr dirty="0" sz="800" spc="-5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80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controlled</a:t>
                      </a:r>
                      <a:r>
                        <a:rPr dirty="0" sz="800" spc="-15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80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if</a:t>
                      </a:r>
                      <a:r>
                        <a:rPr dirty="0" sz="800" spc="-5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800" spc="-2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EIPA</a:t>
                      </a:r>
                      <a:endParaRPr sz="800">
                        <a:latin typeface="Arial Narrow"/>
                        <a:cs typeface="Arial Narrow"/>
                      </a:endParaRPr>
                    </a:p>
                    <a:p>
                      <a:pPr marL="37465" marR="247015">
                        <a:lnSpc>
                          <a:spcPct val="72500"/>
                        </a:lnSpc>
                        <a:spcBef>
                          <a:spcPts val="130"/>
                        </a:spcBef>
                      </a:pPr>
                      <a:r>
                        <a:rPr dirty="0" sz="80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value</a:t>
                      </a:r>
                      <a:r>
                        <a:rPr dirty="0" sz="800" spc="-15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80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starts</a:t>
                      </a:r>
                      <a:r>
                        <a:rPr dirty="0" sz="800" spc="-5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80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with</a:t>
                      </a:r>
                      <a:r>
                        <a:rPr dirty="0" sz="800" spc="-5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80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“2”</a:t>
                      </a:r>
                      <a:r>
                        <a:rPr dirty="0" sz="800" spc="-15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80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or</a:t>
                      </a:r>
                      <a:r>
                        <a:rPr dirty="0" sz="800" spc="-25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80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US</a:t>
                      </a:r>
                      <a:r>
                        <a:rPr dirty="0" sz="800" spc="-5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800" spc="-1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ITAR</a:t>
                      </a:r>
                      <a:r>
                        <a:rPr dirty="0" sz="800" spc="-15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800" spc="-25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box</a:t>
                      </a:r>
                      <a:r>
                        <a:rPr dirty="0" sz="800" spc="50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80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contains</a:t>
                      </a:r>
                      <a:r>
                        <a:rPr dirty="0" sz="800" spc="-25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80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any</a:t>
                      </a:r>
                      <a:r>
                        <a:rPr dirty="0" sz="800" spc="-2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80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value</a:t>
                      </a:r>
                      <a:r>
                        <a:rPr dirty="0" sz="800" spc="-1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80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other</a:t>
                      </a:r>
                      <a:r>
                        <a:rPr dirty="0" sz="800" spc="-25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dirty="0" sz="80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than</a:t>
                      </a:r>
                      <a:r>
                        <a:rPr dirty="0" sz="800" spc="-10">
                          <a:solidFill>
                            <a:srgbClr val="1F2A44"/>
                          </a:solidFill>
                          <a:latin typeface="Arial Narrow"/>
                          <a:cs typeface="Arial Narrow"/>
                        </a:rPr>
                        <a:t> “NSR”.</a:t>
                      </a:r>
                      <a:endParaRPr sz="800">
                        <a:latin typeface="Arial Narrow"/>
                        <a:cs typeface="Arial Narrow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object 17" descr=""/>
          <p:cNvSpPr txBox="1"/>
          <p:nvPr/>
        </p:nvSpPr>
        <p:spPr>
          <a:xfrm>
            <a:off x="1934336" y="6483682"/>
            <a:ext cx="2901950" cy="14287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EXPORT</a:t>
            </a:r>
            <a:r>
              <a:rPr dirty="0" sz="800" spc="-3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MARKING:</a:t>
            </a:r>
            <a:r>
              <a:rPr dirty="0" sz="800" spc="-2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(TO</a:t>
            </a:r>
            <a:r>
              <a:rPr dirty="0" sz="800" spc="-1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CHANGE</a:t>
            </a:r>
            <a:r>
              <a:rPr dirty="0" sz="800" spc="-3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GO</a:t>
            </a:r>
            <a:r>
              <a:rPr dirty="0" sz="800" spc="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TO</a:t>
            </a:r>
            <a:r>
              <a:rPr dirty="0" sz="800" spc="-2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INSERT</a:t>
            </a:r>
            <a:r>
              <a:rPr dirty="0" sz="800" spc="-1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&gt; HEADER</a:t>
            </a:r>
            <a:r>
              <a:rPr dirty="0" sz="800" spc="-3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&amp; </a:t>
            </a:r>
            <a:r>
              <a:rPr dirty="0" sz="800" spc="-10">
                <a:solidFill>
                  <a:srgbClr val="B8B9B0"/>
                </a:solidFill>
                <a:latin typeface="Arial Narrow"/>
                <a:cs typeface="Arial Narrow"/>
              </a:rPr>
              <a:t>FOOTER)</a:t>
            </a:r>
            <a:endParaRPr sz="800">
              <a:latin typeface="Arial Narrow"/>
              <a:cs typeface="Arial Narrow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289672" y="6483682"/>
            <a:ext cx="3733800" cy="14287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PRATT</a:t>
            </a:r>
            <a:r>
              <a:rPr dirty="0" sz="800" spc="-3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&amp; WHITNEY</a:t>
            </a:r>
            <a:r>
              <a:rPr dirty="0" sz="800" spc="-2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CANADA</a:t>
            </a:r>
            <a:r>
              <a:rPr dirty="0" sz="800" spc="-4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PROPRIETARY</a:t>
            </a:r>
            <a:r>
              <a:rPr dirty="0" sz="800" spc="265">
                <a:solidFill>
                  <a:srgbClr val="B8B9B0"/>
                </a:solidFill>
                <a:latin typeface="Arial Narrow"/>
                <a:cs typeface="Arial Narrow"/>
              </a:rPr>
              <a:t> 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|</a:t>
            </a:r>
            <a:r>
              <a:rPr dirty="0" sz="800" spc="190">
                <a:solidFill>
                  <a:srgbClr val="B8B9B0"/>
                </a:solidFill>
                <a:latin typeface="Arial Narrow"/>
                <a:cs typeface="Arial Narrow"/>
              </a:rPr>
              <a:t> 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©</a:t>
            </a:r>
            <a:r>
              <a:rPr dirty="0" sz="800" spc="4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2025</a:t>
            </a:r>
            <a:r>
              <a:rPr dirty="0" sz="800" spc="-1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PRATT</a:t>
            </a:r>
            <a:r>
              <a:rPr dirty="0" sz="800" spc="-1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&amp;</a:t>
            </a:r>
            <a:r>
              <a:rPr dirty="0" sz="800" spc="-3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WHITNEY</a:t>
            </a:r>
            <a:r>
              <a:rPr dirty="0" sz="800" spc="-1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CANADA</a:t>
            </a:r>
            <a:r>
              <a:rPr dirty="0" sz="800" spc="-4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 spc="-10">
                <a:solidFill>
                  <a:srgbClr val="B8B9B0"/>
                </a:solidFill>
                <a:latin typeface="Arial Narrow"/>
                <a:cs typeface="Arial Narrow"/>
              </a:rPr>
              <a:t>CORP.</a:t>
            </a:r>
            <a:endParaRPr sz="800">
              <a:latin typeface="Arial Narrow"/>
              <a:cs typeface="Arial Narrow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11271" rIns="0" bIns="0" rtlCol="0" vert="horz">
            <a:spAutoFit/>
          </a:bodyPr>
          <a:lstStyle/>
          <a:p>
            <a:pPr marL="449453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z="800" spc="-50">
                <a:solidFill>
                  <a:srgbClr val="B8B9B0"/>
                </a:solidFill>
                <a:latin typeface="Arial Narrow"/>
                <a:cs typeface="Arial Narrow"/>
              </a:rPr>
              <a:t>2</a:t>
            </a:fld>
            <a:endParaRPr sz="800">
              <a:latin typeface="Arial Narrow"/>
              <a:cs typeface="Arial Narro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09676" y="5063923"/>
            <a:ext cx="10443210" cy="60642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000" spc="-10" b="1">
                <a:solidFill>
                  <a:srgbClr val="00A9DF"/>
                </a:solidFill>
                <a:latin typeface="Arial Narrow"/>
                <a:cs typeface="Arial Narrow"/>
              </a:rPr>
              <a:t>PROPRIETARY</a:t>
            </a:r>
            <a:r>
              <a:rPr dirty="0" sz="1000" spc="45" b="1">
                <a:solidFill>
                  <a:srgbClr val="00A9DF"/>
                </a:solidFill>
                <a:latin typeface="Arial Narrow"/>
                <a:cs typeface="Arial Narrow"/>
              </a:rPr>
              <a:t> </a:t>
            </a:r>
            <a:r>
              <a:rPr dirty="0" sz="1000" spc="-10" b="1">
                <a:solidFill>
                  <a:srgbClr val="00A9DF"/>
                </a:solidFill>
                <a:latin typeface="Arial Narrow"/>
                <a:cs typeface="Arial Narrow"/>
              </a:rPr>
              <a:t>NOTICE</a:t>
            </a:r>
            <a:endParaRPr sz="1000">
              <a:latin typeface="Arial Narrow"/>
              <a:cs typeface="Arial Narrow"/>
            </a:endParaRPr>
          </a:p>
          <a:p>
            <a:pPr marL="12700" marR="5080">
              <a:lnSpc>
                <a:spcPts val="860"/>
              </a:lnSpc>
              <a:spcBef>
                <a:spcPts val="420"/>
              </a:spcBef>
            </a:pPr>
            <a:r>
              <a:rPr dirty="0" sz="800">
                <a:latin typeface="Arial Narrow"/>
                <a:cs typeface="Arial Narrow"/>
              </a:rPr>
              <a:t>THIS DOCUMENT</a:t>
            </a:r>
            <a:r>
              <a:rPr dirty="0" sz="800" spc="-1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IS</a:t>
            </a:r>
            <a:r>
              <a:rPr dirty="0" sz="800" spc="-1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THE</a:t>
            </a:r>
            <a:r>
              <a:rPr dirty="0" sz="800" spc="-15">
                <a:latin typeface="Arial Narrow"/>
                <a:cs typeface="Arial Narrow"/>
              </a:rPr>
              <a:t> </a:t>
            </a:r>
            <a:r>
              <a:rPr dirty="0" sz="800" spc="-10">
                <a:latin typeface="Arial Narrow"/>
                <a:cs typeface="Arial Narrow"/>
              </a:rPr>
              <a:t>PROPERTY</a:t>
            </a:r>
            <a:r>
              <a:rPr dirty="0" sz="800" spc="-4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OF</a:t>
            </a:r>
            <a:r>
              <a:rPr dirty="0" sz="800" spc="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PRATT</a:t>
            </a:r>
            <a:r>
              <a:rPr dirty="0" sz="800" spc="-2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&amp; WHITNEY</a:t>
            </a:r>
            <a:r>
              <a:rPr dirty="0" sz="800" spc="-1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CANADA</a:t>
            </a:r>
            <a:r>
              <a:rPr dirty="0" sz="800" spc="-4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CORP.</a:t>
            </a:r>
            <a:r>
              <a:rPr dirty="0" sz="800" spc="-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(“P&amp;WC”).</a:t>
            </a:r>
            <a:r>
              <a:rPr dirty="0" sz="800" spc="-2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YOU</a:t>
            </a:r>
            <a:r>
              <a:rPr dirty="0" sz="800" spc="-1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MAY</a:t>
            </a:r>
            <a:r>
              <a:rPr dirty="0" sz="800" spc="-1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NOT POSSESS,</a:t>
            </a:r>
            <a:r>
              <a:rPr dirty="0" sz="800" spc="-2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USE,</a:t>
            </a:r>
            <a:r>
              <a:rPr dirty="0" sz="800" spc="-1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COPY</a:t>
            </a:r>
            <a:r>
              <a:rPr dirty="0" sz="800" spc="-1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OR DISCLOSE</a:t>
            </a:r>
            <a:r>
              <a:rPr dirty="0" sz="800" spc="-2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THIS</a:t>
            </a:r>
            <a:r>
              <a:rPr dirty="0" sz="800" spc="-1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DOCUMENT</a:t>
            </a:r>
            <a:r>
              <a:rPr dirty="0" sz="800" spc="1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OR ANY</a:t>
            </a:r>
            <a:r>
              <a:rPr dirty="0" sz="800" spc="-15">
                <a:latin typeface="Arial Narrow"/>
                <a:cs typeface="Arial Narrow"/>
              </a:rPr>
              <a:t> </a:t>
            </a:r>
            <a:r>
              <a:rPr dirty="0" sz="800" spc="-10">
                <a:latin typeface="Arial Narrow"/>
                <a:cs typeface="Arial Narrow"/>
              </a:rPr>
              <a:t>INFORMATION</a:t>
            </a:r>
            <a:r>
              <a:rPr dirty="0" sz="800" spc="-2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IN</a:t>
            </a:r>
            <a:r>
              <a:rPr dirty="0" sz="800" spc="1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IT,</a:t>
            </a:r>
            <a:r>
              <a:rPr dirty="0" sz="800" spc="2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FOR</a:t>
            </a:r>
            <a:r>
              <a:rPr dirty="0" sz="800" spc="-1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ANY</a:t>
            </a:r>
            <a:r>
              <a:rPr dirty="0" sz="800" spc="-1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PURPOSE,</a:t>
            </a:r>
            <a:r>
              <a:rPr dirty="0" sz="800" spc="-3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INCLUDING</a:t>
            </a:r>
            <a:r>
              <a:rPr dirty="0" sz="800" spc="-1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WITHOUT</a:t>
            </a:r>
            <a:r>
              <a:rPr dirty="0" sz="800" spc="-2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LIMITATION</a:t>
            </a:r>
            <a:r>
              <a:rPr dirty="0" sz="800" spc="-1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TO</a:t>
            </a:r>
            <a:r>
              <a:rPr dirty="0" sz="800" spc="-5">
                <a:latin typeface="Arial Narrow"/>
                <a:cs typeface="Arial Narrow"/>
              </a:rPr>
              <a:t> </a:t>
            </a:r>
            <a:r>
              <a:rPr dirty="0" sz="800" spc="-10">
                <a:latin typeface="Arial Narrow"/>
                <a:cs typeface="Arial Narrow"/>
              </a:rPr>
              <a:t>DESIGN,</a:t>
            </a:r>
            <a:r>
              <a:rPr dirty="0" sz="800" spc="500">
                <a:latin typeface="Arial Narrow"/>
                <a:cs typeface="Arial Narrow"/>
              </a:rPr>
              <a:t> </a:t>
            </a:r>
            <a:r>
              <a:rPr dirty="0" sz="800" spc="-10">
                <a:latin typeface="Arial Narrow"/>
                <a:cs typeface="Arial Narrow"/>
              </a:rPr>
              <a:t>MANUFACTURE</a:t>
            </a:r>
            <a:r>
              <a:rPr dirty="0" sz="800" spc="-3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OR</a:t>
            </a:r>
            <a:r>
              <a:rPr dirty="0" sz="800" spc="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REPAIR</a:t>
            </a:r>
            <a:r>
              <a:rPr dirty="0" sz="800" spc="-1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PARTS</a:t>
            </a:r>
            <a:r>
              <a:rPr dirty="0" sz="800" spc="-2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OR</a:t>
            </a:r>
            <a:r>
              <a:rPr dirty="0" sz="800" spc="1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OBTAIN</a:t>
            </a:r>
            <a:r>
              <a:rPr dirty="0" sz="800" spc="-1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TCCA,</a:t>
            </a:r>
            <a:r>
              <a:rPr dirty="0" sz="800" spc="-1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FAA</a:t>
            </a:r>
            <a:r>
              <a:rPr dirty="0" sz="800" spc="-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OR</a:t>
            </a:r>
            <a:r>
              <a:rPr dirty="0" sz="800" spc="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OTHER</a:t>
            </a:r>
            <a:r>
              <a:rPr dirty="0" sz="800" spc="-2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APPROVAL</a:t>
            </a:r>
            <a:r>
              <a:rPr dirty="0" sz="800" spc="-4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TO</a:t>
            </a:r>
            <a:r>
              <a:rPr dirty="0" sz="800" spc="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DO SO,</a:t>
            </a:r>
            <a:r>
              <a:rPr dirty="0" sz="800" spc="-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WITHOUT</a:t>
            </a:r>
            <a:r>
              <a:rPr dirty="0" sz="800" spc="-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P&amp;WC’S</a:t>
            </a:r>
            <a:r>
              <a:rPr dirty="0" sz="800" spc="5">
                <a:latin typeface="Arial Narrow"/>
                <a:cs typeface="Arial Narrow"/>
              </a:rPr>
              <a:t> </a:t>
            </a:r>
            <a:r>
              <a:rPr dirty="0" sz="800" spc="-10">
                <a:latin typeface="Arial Narrow"/>
                <a:cs typeface="Arial Narrow"/>
              </a:rPr>
              <a:t>EXPRESS</a:t>
            </a:r>
            <a:r>
              <a:rPr dirty="0" sz="800" spc="-3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WRITTEN</a:t>
            </a:r>
            <a:r>
              <a:rPr dirty="0" sz="800" spc="-10">
                <a:latin typeface="Arial Narrow"/>
                <a:cs typeface="Arial Narrow"/>
              </a:rPr>
              <a:t> PERMISSION. </a:t>
            </a:r>
            <a:r>
              <a:rPr dirty="0" sz="800">
                <a:latin typeface="Arial Narrow"/>
                <a:cs typeface="Arial Narrow"/>
              </a:rPr>
              <a:t>NEITHER</a:t>
            </a:r>
            <a:r>
              <a:rPr dirty="0" sz="800" spc="-2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RECEIPT</a:t>
            </a:r>
            <a:r>
              <a:rPr dirty="0" sz="800" spc="-1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NOR</a:t>
            </a:r>
            <a:r>
              <a:rPr dirty="0" sz="800" spc="-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POSSESSION</a:t>
            </a:r>
            <a:r>
              <a:rPr dirty="0" sz="800" spc="-2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OF</a:t>
            </a:r>
            <a:r>
              <a:rPr dirty="0" sz="800" spc="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THIS</a:t>
            </a:r>
            <a:r>
              <a:rPr dirty="0" sz="800" spc="-1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DOCUMENT</a:t>
            </a:r>
            <a:r>
              <a:rPr dirty="0" sz="800" spc="-1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ALONE,</a:t>
            </a:r>
            <a:r>
              <a:rPr dirty="0" sz="800" spc="-2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FROM</a:t>
            </a:r>
            <a:r>
              <a:rPr dirty="0" sz="800" spc="-1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ANY</a:t>
            </a:r>
            <a:r>
              <a:rPr dirty="0" sz="800" spc="-1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SOURCE,</a:t>
            </a:r>
            <a:r>
              <a:rPr dirty="0" sz="800" spc="-1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CONSTITUTES</a:t>
            </a:r>
            <a:r>
              <a:rPr dirty="0" sz="800" spc="-35">
                <a:latin typeface="Arial Narrow"/>
                <a:cs typeface="Arial Narrow"/>
              </a:rPr>
              <a:t> </a:t>
            </a:r>
            <a:r>
              <a:rPr dirty="0" sz="800" spc="-20">
                <a:latin typeface="Arial Narrow"/>
                <a:cs typeface="Arial Narrow"/>
              </a:rPr>
              <a:t>SUCH</a:t>
            </a:r>
            <a:r>
              <a:rPr dirty="0" sz="800" spc="500">
                <a:latin typeface="Arial Narrow"/>
                <a:cs typeface="Arial Narrow"/>
              </a:rPr>
              <a:t> </a:t>
            </a:r>
            <a:r>
              <a:rPr dirty="0" sz="800" spc="-10">
                <a:latin typeface="Arial Narrow"/>
                <a:cs typeface="Arial Narrow"/>
              </a:rPr>
              <a:t>PERMISSION.</a:t>
            </a:r>
            <a:r>
              <a:rPr dirty="0" sz="800" spc="-2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POSSESSION,</a:t>
            </a:r>
            <a:r>
              <a:rPr dirty="0" sz="800" spc="-2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USE,</a:t>
            </a:r>
            <a:r>
              <a:rPr dirty="0" sz="800" spc="-1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COPYING</a:t>
            </a:r>
            <a:r>
              <a:rPr dirty="0" sz="800" spc="-1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OR</a:t>
            </a:r>
            <a:r>
              <a:rPr dirty="0" sz="800" spc="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DISCLOSURE</a:t>
            </a:r>
            <a:r>
              <a:rPr dirty="0" sz="800" spc="-1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BY</a:t>
            </a:r>
            <a:r>
              <a:rPr dirty="0" sz="800" spc="-2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ANYONE</a:t>
            </a:r>
            <a:r>
              <a:rPr dirty="0" sz="800" spc="-4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WITH</a:t>
            </a:r>
            <a:r>
              <a:rPr dirty="0" sz="800" spc="1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GOVERNMENT</a:t>
            </a:r>
            <a:r>
              <a:rPr dirty="0" sz="800" spc="-1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OUT</a:t>
            </a:r>
            <a:r>
              <a:rPr dirty="0" sz="800" spc="-3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P&amp;WC’S</a:t>
            </a:r>
            <a:r>
              <a:rPr dirty="0" sz="800" spc="-1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EXPRESS</a:t>
            </a:r>
            <a:r>
              <a:rPr dirty="0" sz="800" spc="-4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WRITTEN</a:t>
            </a:r>
            <a:r>
              <a:rPr dirty="0" sz="800" spc="-10">
                <a:latin typeface="Arial Narrow"/>
                <a:cs typeface="Arial Narrow"/>
              </a:rPr>
              <a:t> PERMISSION</a:t>
            </a:r>
            <a:r>
              <a:rPr dirty="0" sz="800" spc="-2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IS</a:t>
            </a:r>
            <a:r>
              <a:rPr dirty="0" sz="800" spc="1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NOT</a:t>
            </a:r>
            <a:r>
              <a:rPr dirty="0" sz="800" spc="-1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AUTHORIZED</a:t>
            </a:r>
            <a:r>
              <a:rPr dirty="0" sz="800" spc="-4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AND</a:t>
            </a:r>
            <a:r>
              <a:rPr dirty="0" sz="800" spc="-10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MAY RESULT</a:t>
            </a:r>
            <a:r>
              <a:rPr dirty="0" sz="800" spc="-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IN</a:t>
            </a:r>
            <a:r>
              <a:rPr dirty="0" sz="800" spc="-1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CRIMINAL</a:t>
            </a:r>
            <a:r>
              <a:rPr dirty="0" sz="800" spc="-5">
                <a:latin typeface="Arial Narrow"/>
                <a:cs typeface="Arial Narrow"/>
              </a:rPr>
              <a:t> </a:t>
            </a:r>
            <a:r>
              <a:rPr dirty="0" sz="800">
                <a:latin typeface="Arial Narrow"/>
                <a:cs typeface="Arial Narrow"/>
              </a:rPr>
              <a:t>OR CIVIL</a:t>
            </a:r>
            <a:r>
              <a:rPr dirty="0" sz="800" spc="5">
                <a:latin typeface="Arial Narrow"/>
                <a:cs typeface="Arial Narrow"/>
              </a:rPr>
              <a:t> </a:t>
            </a:r>
            <a:r>
              <a:rPr dirty="0" sz="800" spc="-10">
                <a:latin typeface="Arial Narrow"/>
                <a:cs typeface="Arial Narrow"/>
              </a:rPr>
              <a:t>LIABILITY.</a:t>
            </a:r>
            <a:endParaRPr sz="800">
              <a:latin typeface="Arial Narrow"/>
              <a:cs typeface="Arial Narro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108575" y="4877561"/>
            <a:ext cx="45739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For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F0000"/>
                </a:solidFill>
                <a:latin typeface="Arial"/>
                <a:cs typeface="Arial"/>
              </a:rPr>
              <a:t>instructions</a:t>
            </a:r>
            <a:r>
              <a:rPr dirty="0" sz="900" spc="-5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dirty="0" sz="900" spc="-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F0000"/>
                </a:solidFill>
                <a:latin typeface="Arial"/>
                <a:cs typeface="Arial"/>
              </a:rPr>
              <a:t>examples</a:t>
            </a:r>
            <a:r>
              <a:rPr dirty="0" sz="900" spc="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on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how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 fill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this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slide,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click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here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latin typeface="Arial"/>
                <a:cs typeface="Arial"/>
              </a:rPr>
              <a:t>When</a:t>
            </a:r>
            <a:r>
              <a:rPr dirty="0" sz="900" spc="-4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you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are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located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F0000"/>
                </a:solidFill>
                <a:latin typeface="Arial"/>
                <a:cs typeface="Arial"/>
              </a:rPr>
              <a:t>outside</a:t>
            </a:r>
            <a:r>
              <a:rPr dirty="0" sz="900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FF0000"/>
                </a:solidFill>
                <a:latin typeface="Arial"/>
                <a:cs typeface="Arial"/>
              </a:rPr>
              <a:t>of Canada</a:t>
            </a:r>
            <a:r>
              <a:rPr dirty="0" sz="900">
                <a:latin typeface="Arial"/>
                <a:cs typeface="Arial"/>
              </a:rPr>
              <a:t>,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modify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Local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Regulation</a:t>
            </a:r>
            <a:r>
              <a:rPr dirty="0" sz="900" spc="-3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section</a:t>
            </a:r>
            <a:r>
              <a:rPr dirty="0" sz="900" spc="-3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accordingly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86816" y="5765698"/>
            <a:ext cx="2710180" cy="382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100"/>
              </a:spcBef>
            </a:pPr>
            <a:r>
              <a:rPr dirty="0" sz="1000">
                <a:latin typeface="Arial Narrow"/>
                <a:cs typeface="Arial Narrow"/>
              </a:rPr>
              <a:t>EXPORT</a:t>
            </a:r>
            <a:r>
              <a:rPr dirty="0" sz="1000" spc="-15">
                <a:latin typeface="Arial Narrow"/>
                <a:cs typeface="Arial Narrow"/>
              </a:rPr>
              <a:t> </a:t>
            </a:r>
            <a:r>
              <a:rPr dirty="0" sz="1000">
                <a:latin typeface="Arial Narrow"/>
                <a:cs typeface="Arial Narrow"/>
              </a:rPr>
              <a:t>CLASSIFICATION:</a:t>
            </a:r>
            <a:r>
              <a:rPr dirty="0" sz="1000" spc="-25">
                <a:latin typeface="Arial Narrow"/>
                <a:cs typeface="Arial Narrow"/>
              </a:rPr>
              <a:t> </a:t>
            </a:r>
            <a:r>
              <a:rPr dirty="0" sz="1000">
                <a:latin typeface="Arial Narrow"/>
                <a:cs typeface="Arial Narrow"/>
              </a:rPr>
              <a:t>[NO</a:t>
            </a:r>
            <a:r>
              <a:rPr dirty="0" sz="1000" spc="-35">
                <a:latin typeface="Arial Narrow"/>
                <a:cs typeface="Arial Narrow"/>
              </a:rPr>
              <a:t> </a:t>
            </a:r>
            <a:r>
              <a:rPr dirty="0" sz="1000">
                <a:latin typeface="Arial Narrow"/>
                <a:cs typeface="Arial Narrow"/>
              </a:rPr>
              <a:t>TECHNICAL</a:t>
            </a:r>
            <a:r>
              <a:rPr dirty="0" sz="1000" spc="-35">
                <a:latin typeface="Arial Narrow"/>
                <a:cs typeface="Arial Narrow"/>
              </a:rPr>
              <a:t> </a:t>
            </a:r>
            <a:r>
              <a:rPr dirty="0" sz="1000" spc="-20">
                <a:latin typeface="Arial Narrow"/>
                <a:cs typeface="Arial Narrow"/>
              </a:rPr>
              <a:t>DATA] </a:t>
            </a:r>
            <a:r>
              <a:rPr dirty="0" sz="1000">
                <a:latin typeface="Arial Narrow"/>
                <a:cs typeface="Arial Narrow"/>
              </a:rPr>
              <a:t>DATE</a:t>
            </a:r>
            <a:r>
              <a:rPr dirty="0" sz="1000" spc="-15">
                <a:latin typeface="Arial Narrow"/>
                <a:cs typeface="Arial Narrow"/>
              </a:rPr>
              <a:t> </a:t>
            </a:r>
            <a:r>
              <a:rPr dirty="0" sz="1000">
                <a:latin typeface="Arial Narrow"/>
                <a:cs typeface="Arial Narrow"/>
              </a:rPr>
              <a:t>OF</a:t>
            </a:r>
            <a:r>
              <a:rPr dirty="0" sz="1000" spc="-15">
                <a:latin typeface="Arial Narrow"/>
                <a:cs typeface="Arial Narrow"/>
              </a:rPr>
              <a:t> </a:t>
            </a:r>
            <a:r>
              <a:rPr dirty="0" sz="1000">
                <a:latin typeface="Arial Narrow"/>
                <a:cs typeface="Arial Narrow"/>
              </a:rPr>
              <a:t>MARKING:</a:t>
            </a:r>
            <a:r>
              <a:rPr dirty="0" sz="1000" spc="-10">
                <a:latin typeface="Arial Narrow"/>
                <a:cs typeface="Arial Narrow"/>
              </a:rPr>
              <a:t> [2025-02-</a:t>
            </a:r>
            <a:r>
              <a:rPr dirty="0" sz="1000">
                <a:latin typeface="Arial Narrow"/>
                <a:cs typeface="Arial Narrow"/>
              </a:rPr>
              <a:t>18],</a:t>
            </a:r>
            <a:r>
              <a:rPr dirty="0" sz="1000" spc="-45">
                <a:latin typeface="Arial Narrow"/>
                <a:cs typeface="Arial Narrow"/>
              </a:rPr>
              <a:t> </a:t>
            </a:r>
            <a:r>
              <a:rPr dirty="0" sz="1000">
                <a:latin typeface="Arial Narrow"/>
                <a:cs typeface="Arial Narrow"/>
              </a:rPr>
              <a:t>BADGE</a:t>
            </a:r>
            <a:r>
              <a:rPr dirty="0" sz="1000" spc="-5">
                <a:latin typeface="Arial Narrow"/>
                <a:cs typeface="Arial Narrow"/>
              </a:rPr>
              <a:t> </a:t>
            </a:r>
            <a:r>
              <a:rPr dirty="0" sz="1000">
                <a:latin typeface="Arial Narrow"/>
                <a:cs typeface="Arial Narrow"/>
              </a:rPr>
              <a:t>#:</a:t>
            </a:r>
            <a:r>
              <a:rPr dirty="0" sz="1000" spc="-20">
                <a:latin typeface="Arial Narrow"/>
                <a:cs typeface="Arial Narrow"/>
              </a:rPr>
              <a:t> </a:t>
            </a:r>
            <a:r>
              <a:rPr dirty="0" sz="1000" spc="-10">
                <a:latin typeface="Arial Narrow"/>
                <a:cs typeface="Arial Narrow"/>
              </a:rPr>
              <a:t>[PW51027]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245734" y="5777280"/>
            <a:ext cx="62871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04080" algn="l"/>
              </a:tabLst>
            </a:pPr>
            <a:r>
              <a:rPr dirty="0" sz="900" b="1">
                <a:latin typeface="Arial Narrow"/>
                <a:cs typeface="Arial Narrow"/>
              </a:rPr>
              <a:t>PRATT</a:t>
            </a:r>
            <a:r>
              <a:rPr dirty="0" sz="900" spc="-35" b="1">
                <a:latin typeface="Arial Narrow"/>
                <a:cs typeface="Arial Narrow"/>
              </a:rPr>
              <a:t> </a:t>
            </a:r>
            <a:r>
              <a:rPr dirty="0" sz="900" b="1">
                <a:latin typeface="Arial Narrow"/>
                <a:cs typeface="Arial Narrow"/>
              </a:rPr>
              <a:t>&amp;</a:t>
            </a:r>
            <a:r>
              <a:rPr dirty="0" sz="900" spc="-40" b="1">
                <a:latin typeface="Arial Narrow"/>
                <a:cs typeface="Arial Narrow"/>
              </a:rPr>
              <a:t> </a:t>
            </a:r>
            <a:r>
              <a:rPr dirty="0" sz="900" b="1">
                <a:latin typeface="Arial Narrow"/>
                <a:cs typeface="Arial Narrow"/>
              </a:rPr>
              <a:t>WHITNEY</a:t>
            </a:r>
            <a:r>
              <a:rPr dirty="0" sz="900" spc="-30" b="1">
                <a:latin typeface="Arial Narrow"/>
                <a:cs typeface="Arial Narrow"/>
              </a:rPr>
              <a:t> </a:t>
            </a:r>
            <a:r>
              <a:rPr dirty="0" sz="900" b="1">
                <a:latin typeface="Arial Narrow"/>
                <a:cs typeface="Arial Narrow"/>
              </a:rPr>
              <a:t>CANADA</a:t>
            </a:r>
            <a:r>
              <a:rPr dirty="0" sz="900" spc="10" b="1">
                <a:latin typeface="Arial Narrow"/>
                <a:cs typeface="Arial Narrow"/>
              </a:rPr>
              <a:t> </a:t>
            </a:r>
            <a:r>
              <a:rPr dirty="0" sz="900" spc="-10" b="1">
                <a:latin typeface="Arial Narrow"/>
                <a:cs typeface="Arial Narrow"/>
              </a:rPr>
              <a:t>PROPRIETARY</a:t>
            </a:r>
            <a:r>
              <a:rPr dirty="0" sz="900" b="1">
                <a:latin typeface="Arial Narrow"/>
                <a:cs typeface="Arial Narrow"/>
              </a:rPr>
              <a:t>	FOR</a:t>
            </a:r>
            <a:r>
              <a:rPr dirty="0" sz="900" spc="145" b="1">
                <a:latin typeface="Arial Narrow"/>
                <a:cs typeface="Arial Narrow"/>
              </a:rPr>
              <a:t> </a:t>
            </a:r>
            <a:r>
              <a:rPr dirty="0" sz="900" b="1">
                <a:latin typeface="Arial Narrow"/>
                <a:cs typeface="Arial Narrow"/>
              </a:rPr>
              <a:t>PLANNING</a:t>
            </a:r>
            <a:r>
              <a:rPr dirty="0" sz="900" spc="-15" b="1">
                <a:latin typeface="Arial Narrow"/>
                <a:cs typeface="Arial Narrow"/>
              </a:rPr>
              <a:t> </a:t>
            </a:r>
            <a:r>
              <a:rPr dirty="0" sz="900" b="1">
                <a:latin typeface="Arial Narrow"/>
                <a:cs typeface="Arial Narrow"/>
              </a:rPr>
              <a:t>PURPOSES</a:t>
            </a:r>
            <a:r>
              <a:rPr dirty="0" sz="900" spc="-35" b="1">
                <a:latin typeface="Arial Narrow"/>
                <a:cs typeface="Arial Narrow"/>
              </a:rPr>
              <a:t> </a:t>
            </a:r>
            <a:r>
              <a:rPr dirty="0" sz="900" spc="-20" b="1">
                <a:latin typeface="Arial Narrow"/>
                <a:cs typeface="Arial Narrow"/>
              </a:rPr>
              <a:t>ONLY</a:t>
            </a:r>
            <a:endParaRPr sz="9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7182" y="6065088"/>
            <a:ext cx="11978005" cy="311150"/>
          </a:xfrm>
          <a:custGeom>
            <a:avLst/>
            <a:gdLst/>
            <a:ahLst/>
            <a:cxnLst/>
            <a:rect l="l" t="t" r="r" b="b"/>
            <a:pathLst>
              <a:path w="11978005" h="311150">
                <a:moveTo>
                  <a:pt x="11977624" y="0"/>
                </a:moveTo>
                <a:lnTo>
                  <a:pt x="0" y="0"/>
                </a:lnTo>
                <a:lnTo>
                  <a:pt x="0" y="310832"/>
                </a:lnTo>
                <a:lnTo>
                  <a:pt x="11977624" y="310832"/>
                </a:lnTo>
                <a:lnTo>
                  <a:pt x="11977624" y="0"/>
                </a:lnTo>
                <a:close/>
              </a:path>
            </a:pathLst>
          </a:custGeom>
          <a:solidFill>
            <a:srgbClr val="1F2A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339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RLPM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655104" y="1334516"/>
            <a:ext cx="10622915" cy="4604385"/>
            <a:chOff x="655104" y="1334516"/>
            <a:chExt cx="10622915" cy="460438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104" y="1334516"/>
              <a:ext cx="3845433" cy="349097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24929" y="1334643"/>
              <a:ext cx="4852670" cy="272084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66313" y="3141764"/>
              <a:ext cx="4314444" cy="2796667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3758691" y="2916212"/>
              <a:ext cx="2335530" cy="246379"/>
            </a:xfrm>
            <a:custGeom>
              <a:avLst/>
              <a:gdLst/>
              <a:ahLst/>
              <a:cxnLst/>
              <a:rect l="l" t="t" r="r" b="b"/>
              <a:pathLst>
                <a:path w="2335529" h="246380">
                  <a:moveTo>
                    <a:pt x="2335530" y="0"/>
                  </a:moveTo>
                  <a:lnTo>
                    <a:pt x="0" y="0"/>
                  </a:lnTo>
                  <a:lnTo>
                    <a:pt x="0" y="246214"/>
                  </a:lnTo>
                  <a:lnTo>
                    <a:pt x="2335530" y="246214"/>
                  </a:lnTo>
                  <a:lnTo>
                    <a:pt x="23355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008075" y="1047368"/>
            <a:ext cx="31172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1F2A44"/>
                </a:solidFill>
                <a:latin typeface="Arial"/>
                <a:cs typeface="Arial"/>
              </a:rPr>
              <a:t>General</a:t>
            </a:r>
            <a:r>
              <a:rPr dirty="0" sz="1600" spc="-3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1F2A44"/>
                </a:solidFill>
                <a:latin typeface="Arial"/>
                <a:cs typeface="Arial"/>
              </a:rPr>
              <a:t>Email</a:t>
            </a:r>
            <a:r>
              <a:rPr dirty="0" sz="1600" spc="-5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1F2A44"/>
                </a:solidFill>
                <a:latin typeface="Arial"/>
                <a:cs typeface="Arial"/>
              </a:rPr>
              <a:t>received</a:t>
            </a:r>
            <a:r>
              <a:rPr dirty="0" sz="1600" spc="-4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1F2A44"/>
                </a:solidFill>
                <a:latin typeface="Arial"/>
                <a:cs typeface="Arial"/>
              </a:rPr>
              <a:t>on</a:t>
            </a:r>
            <a:r>
              <a:rPr dirty="0" sz="1600" spc="-4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1F2A44"/>
                </a:solidFill>
                <a:latin typeface="Arial"/>
                <a:cs typeface="Arial"/>
              </a:rPr>
              <a:t>Feb-</a:t>
            </a:r>
            <a:r>
              <a:rPr dirty="0" sz="1600" spc="-25">
                <a:solidFill>
                  <a:srgbClr val="1F2A44"/>
                </a:solidFill>
                <a:latin typeface="Arial"/>
                <a:cs typeface="Arial"/>
              </a:rPr>
              <a:t>17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588509" y="6116377"/>
            <a:ext cx="3016250" cy="217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50">
                <a:solidFill>
                  <a:srgbClr val="FFFFFF"/>
                </a:solidFill>
                <a:latin typeface="Arial"/>
                <a:cs typeface="Arial"/>
              </a:rPr>
              <a:t>RLPM:</a:t>
            </a:r>
            <a:r>
              <a:rPr dirty="0" sz="13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FFFFFF"/>
                </a:solidFill>
                <a:latin typeface="Arial"/>
                <a:cs typeface="Arial"/>
              </a:rPr>
              <a:t>RTX</a:t>
            </a:r>
            <a:r>
              <a:rPr dirty="0" sz="135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FFFFFF"/>
                </a:solidFill>
                <a:latin typeface="Arial"/>
                <a:cs typeface="Arial"/>
              </a:rPr>
              <a:t>Life</a:t>
            </a:r>
            <a:r>
              <a:rPr dirty="0" sz="13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FFFFFF"/>
                </a:solidFill>
                <a:latin typeface="Arial"/>
                <a:cs typeface="Arial"/>
              </a:rPr>
              <a:t>Program</a:t>
            </a:r>
            <a:r>
              <a:rPr dirty="0" sz="135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endParaRPr sz="13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96900" y="6466223"/>
            <a:ext cx="2561590" cy="1670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1F2A44"/>
                </a:solidFill>
                <a:latin typeface="Arial"/>
                <a:cs typeface="Arial"/>
              </a:rPr>
              <a:t>EXPORT</a:t>
            </a:r>
            <a:r>
              <a:rPr dirty="0" sz="1000" spc="-4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F2A44"/>
                </a:solidFill>
                <a:latin typeface="Arial"/>
                <a:cs typeface="Arial"/>
              </a:rPr>
              <a:t>MARKING:</a:t>
            </a:r>
            <a:r>
              <a:rPr dirty="0" sz="10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F2A44"/>
                </a:solidFill>
                <a:latin typeface="Arial"/>
                <a:cs typeface="Arial"/>
              </a:rPr>
              <a:t>NO</a:t>
            </a:r>
            <a:r>
              <a:rPr dirty="0" sz="1000" spc="-4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F2A44"/>
                </a:solidFill>
                <a:latin typeface="Arial"/>
                <a:cs typeface="Arial"/>
              </a:rPr>
              <a:t>TECHNICAL</a:t>
            </a:r>
            <a:r>
              <a:rPr dirty="0" sz="10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1F2A44"/>
                </a:solidFill>
                <a:latin typeface="Arial"/>
                <a:cs typeface="Arial"/>
              </a:rPr>
              <a:t>DATA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0571" rIns="0" bIns="0" rtlCol="0" vert="horz">
            <a:spAutoFit/>
          </a:bodyPr>
          <a:lstStyle/>
          <a:p>
            <a:pPr algn="r" marR="306070">
              <a:lnSpc>
                <a:spcPts val="1255"/>
              </a:lnSpc>
              <a:spcBef>
                <a:spcPts val="50"/>
              </a:spcBef>
            </a:pPr>
            <a:fld id="{81D60167-4931-47E6-BA6A-407CBD079E47}" type="slidenum">
              <a:rPr dirty="0" sz="1050" spc="-50">
                <a:solidFill>
                  <a:srgbClr val="1F2A44"/>
                </a:solidFill>
                <a:latin typeface="Arial Narrow"/>
                <a:cs typeface="Arial Narrow"/>
              </a:rPr>
              <a:t>3</a:t>
            </a:fld>
            <a:endParaRPr sz="1050">
              <a:latin typeface="Arial Narrow"/>
              <a:cs typeface="Arial Narrow"/>
            </a:endParaRPr>
          </a:p>
          <a:p>
            <a:pPr marL="12700">
              <a:lnSpc>
                <a:spcPts val="955"/>
              </a:lnSpc>
            </a:pPr>
            <a:r>
              <a:rPr dirty="0" sz="800">
                <a:solidFill>
                  <a:srgbClr val="1F2A44"/>
                </a:solidFill>
              </a:rPr>
              <a:t>P&amp;W</a:t>
            </a:r>
            <a:r>
              <a:rPr dirty="0" sz="800" spc="-35">
                <a:solidFill>
                  <a:srgbClr val="1F2A44"/>
                </a:solidFill>
              </a:rPr>
              <a:t> </a:t>
            </a:r>
            <a:r>
              <a:rPr dirty="0" sz="800">
                <a:solidFill>
                  <a:srgbClr val="1F2A44"/>
                </a:solidFill>
              </a:rPr>
              <a:t>PROPRIETARY-</a:t>
            </a:r>
            <a:r>
              <a:rPr dirty="0" sz="800" spc="-40">
                <a:solidFill>
                  <a:srgbClr val="1F2A44"/>
                </a:solidFill>
              </a:rPr>
              <a:t> </a:t>
            </a:r>
            <a:r>
              <a:rPr dirty="0" sz="800">
                <a:solidFill>
                  <a:srgbClr val="1F2A44"/>
                </a:solidFill>
              </a:rPr>
              <a:t>THIS</a:t>
            </a:r>
            <a:r>
              <a:rPr dirty="0" sz="800" spc="-40">
                <a:solidFill>
                  <a:srgbClr val="1F2A44"/>
                </a:solidFill>
              </a:rPr>
              <a:t> </a:t>
            </a:r>
            <a:r>
              <a:rPr dirty="0" sz="800">
                <a:solidFill>
                  <a:srgbClr val="1F2A44"/>
                </a:solidFill>
              </a:rPr>
              <a:t>PAGE</a:t>
            </a:r>
            <a:r>
              <a:rPr dirty="0" sz="800" spc="-15">
                <a:solidFill>
                  <a:srgbClr val="1F2A44"/>
                </a:solidFill>
              </a:rPr>
              <a:t> </a:t>
            </a:r>
            <a:r>
              <a:rPr dirty="0" sz="800">
                <a:solidFill>
                  <a:srgbClr val="1F2A44"/>
                </a:solidFill>
              </a:rPr>
              <a:t>DOES</a:t>
            </a:r>
            <a:r>
              <a:rPr dirty="0" sz="800" spc="-25">
                <a:solidFill>
                  <a:srgbClr val="1F2A44"/>
                </a:solidFill>
              </a:rPr>
              <a:t> </a:t>
            </a:r>
            <a:r>
              <a:rPr dirty="0" sz="800">
                <a:solidFill>
                  <a:srgbClr val="1F2A44"/>
                </a:solidFill>
              </a:rPr>
              <a:t>NOT</a:t>
            </a:r>
            <a:r>
              <a:rPr dirty="0" sz="800" spc="-30">
                <a:solidFill>
                  <a:srgbClr val="1F2A44"/>
                </a:solidFill>
              </a:rPr>
              <a:t> </a:t>
            </a:r>
            <a:r>
              <a:rPr dirty="0" sz="800">
                <a:solidFill>
                  <a:srgbClr val="1F2A44"/>
                </a:solidFill>
              </a:rPr>
              <a:t>CONTAIN</a:t>
            </a:r>
            <a:r>
              <a:rPr dirty="0" sz="800" spc="-35">
                <a:solidFill>
                  <a:srgbClr val="1F2A44"/>
                </a:solidFill>
              </a:rPr>
              <a:t> </a:t>
            </a:r>
            <a:r>
              <a:rPr dirty="0" sz="800">
                <a:solidFill>
                  <a:srgbClr val="1F2A44"/>
                </a:solidFill>
              </a:rPr>
              <a:t>ANY</a:t>
            </a:r>
            <a:r>
              <a:rPr dirty="0" sz="800" spc="-30">
                <a:solidFill>
                  <a:srgbClr val="1F2A44"/>
                </a:solidFill>
              </a:rPr>
              <a:t> </a:t>
            </a:r>
            <a:r>
              <a:rPr dirty="0" sz="800">
                <a:solidFill>
                  <a:srgbClr val="1F2A44"/>
                </a:solidFill>
              </a:rPr>
              <a:t>EXPORT</a:t>
            </a:r>
            <a:r>
              <a:rPr dirty="0" sz="800" spc="-5">
                <a:solidFill>
                  <a:srgbClr val="1F2A44"/>
                </a:solidFill>
              </a:rPr>
              <a:t> </a:t>
            </a:r>
            <a:r>
              <a:rPr dirty="0" sz="800">
                <a:solidFill>
                  <a:srgbClr val="1F2A44"/>
                </a:solidFill>
              </a:rPr>
              <a:t>REGULATED</a:t>
            </a:r>
            <a:r>
              <a:rPr dirty="0" sz="800" spc="-35">
                <a:solidFill>
                  <a:srgbClr val="1F2A44"/>
                </a:solidFill>
              </a:rPr>
              <a:t> </a:t>
            </a:r>
            <a:r>
              <a:rPr dirty="0" sz="800">
                <a:solidFill>
                  <a:srgbClr val="1F2A44"/>
                </a:solidFill>
              </a:rPr>
              <a:t>TECHNICAL</a:t>
            </a:r>
            <a:r>
              <a:rPr dirty="0" sz="800" spc="-30">
                <a:solidFill>
                  <a:srgbClr val="1F2A44"/>
                </a:solidFill>
              </a:rPr>
              <a:t> </a:t>
            </a:r>
            <a:r>
              <a:rPr dirty="0" sz="800" spc="-20">
                <a:solidFill>
                  <a:srgbClr val="1F2A44"/>
                </a:solidFill>
              </a:rPr>
              <a:t>DATA</a:t>
            </a:r>
            <a:endParaRPr sz="800"/>
          </a:p>
        </p:txBody>
      </p:sp>
      <p:sp>
        <p:nvSpPr>
          <p:cNvPr id="10" name="object 10" descr=""/>
          <p:cNvSpPr txBox="1"/>
          <p:nvPr/>
        </p:nvSpPr>
        <p:spPr>
          <a:xfrm>
            <a:off x="7760334" y="994029"/>
            <a:ext cx="21075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1F2A44"/>
                </a:solidFill>
                <a:latin typeface="Arial"/>
                <a:cs typeface="Arial"/>
              </a:rPr>
              <a:t>Video</a:t>
            </a:r>
            <a:r>
              <a:rPr dirty="0" sz="1600" spc="-3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1F2A44"/>
                </a:solidFill>
                <a:latin typeface="Arial"/>
                <a:cs typeface="Arial"/>
              </a:rPr>
              <a:t>included</a:t>
            </a:r>
            <a:r>
              <a:rPr dirty="0" sz="1600" spc="-4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1F2A44"/>
                </a:solidFill>
                <a:latin typeface="Arial"/>
                <a:cs typeface="Arial"/>
              </a:rPr>
              <a:t>in</a:t>
            </a:r>
            <a:r>
              <a:rPr dirty="0" sz="16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1F2A44"/>
                </a:solidFill>
                <a:latin typeface="Arial"/>
                <a:cs typeface="Arial"/>
              </a:rPr>
              <a:t>email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950454" y="4454144"/>
            <a:ext cx="3103880" cy="1244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1F2A44"/>
                </a:solidFill>
                <a:latin typeface="Arial"/>
                <a:cs typeface="Arial"/>
              </a:rPr>
              <a:t>Feb-</a:t>
            </a:r>
            <a:r>
              <a:rPr dirty="0" sz="1600" b="1">
                <a:solidFill>
                  <a:srgbClr val="1F2A44"/>
                </a:solidFill>
                <a:latin typeface="Arial"/>
                <a:cs typeface="Arial"/>
              </a:rPr>
              <a:t>26:</a:t>
            </a:r>
            <a:r>
              <a:rPr dirty="0" sz="1600" spc="-15" b="1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1F2A44"/>
                </a:solidFill>
                <a:latin typeface="Arial"/>
                <a:cs typeface="Arial"/>
              </a:rPr>
              <a:t>Nathalie’s</a:t>
            </a:r>
            <a:r>
              <a:rPr dirty="0" sz="1600" spc="-4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1F2A44"/>
                </a:solidFill>
                <a:latin typeface="Arial"/>
                <a:cs typeface="Arial"/>
              </a:rPr>
              <a:t>staff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solidFill>
                  <a:srgbClr val="1F2A44"/>
                </a:solidFill>
                <a:latin typeface="Arial"/>
                <a:cs typeface="Arial"/>
              </a:rPr>
              <a:t>March</a:t>
            </a:r>
            <a:r>
              <a:rPr dirty="0" sz="1600" spc="-50" b="1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F2A44"/>
                </a:solidFill>
                <a:latin typeface="Arial"/>
                <a:cs typeface="Arial"/>
              </a:rPr>
              <a:t>4</a:t>
            </a:r>
            <a:r>
              <a:rPr dirty="0" sz="1600">
                <a:solidFill>
                  <a:srgbClr val="1F2A44"/>
                </a:solidFill>
                <a:latin typeface="Arial"/>
                <a:cs typeface="Arial"/>
              </a:rPr>
              <a:t>:</a:t>
            </a:r>
            <a:r>
              <a:rPr dirty="0" sz="1600" spc="-5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1F2A44"/>
                </a:solidFill>
                <a:latin typeface="Arial"/>
                <a:cs typeface="Arial"/>
              </a:rPr>
              <a:t>Laurent’s</a:t>
            </a:r>
            <a:r>
              <a:rPr dirty="0" sz="1600" spc="-5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1F2A44"/>
                </a:solidFill>
                <a:latin typeface="Arial"/>
                <a:cs typeface="Arial"/>
              </a:rPr>
              <a:t>staff</a:t>
            </a:r>
            <a:r>
              <a:rPr dirty="0" sz="1600" spc="-5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1F2A44"/>
                </a:solidFill>
                <a:latin typeface="Arial"/>
                <a:cs typeface="Arial"/>
              </a:rPr>
              <a:t>(Dominic)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solidFill>
                  <a:srgbClr val="1F2A44"/>
                </a:solidFill>
                <a:latin typeface="Arial"/>
                <a:cs typeface="Arial"/>
              </a:rPr>
              <a:t>March</a:t>
            </a:r>
            <a:r>
              <a:rPr dirty="0" sz="1600" spc="-40" b="1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F2A44"/>
                </a:solidFill>
                <a:latin typeface="Arial"/>
                <a:cs typeface="Arial"/>
              </a:rPr>
              <a:t>6</a:t>
            </a:r>
            <a:r>
              <a:rPr dirty="0" sz="1600">
                <a:solidFill>
                  <a:srgbClr val="1F2A44"/>
                </a:solidFill>
                <a:latin typeface="Arial"/>
                <a:cs typeface="Arial"/>
              </a:rPr>
              <a:t>:</a:t>
            </a:r>
            <a:r>
              <a:rPr dirty="0" sz="1600" spc="-3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1F2A44"/>
                </a:solidFill>
                <a:latin typeface="Arial"/>
                <a:cs typeface="Arial"/>
              </a:rPr>
              <a:t>Presentation</a:t>
            </a:r>
            <a:r>
              <a:rPr dirty="0" sz="16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1F2A44"/>
                </a:solidFill>
                <a:latin typeface="Arial"/>
                <a:cs typeface="Arial"/>
              </a:rPr>
              <a:t>to</a:t>
            </a:r>
            <a:r>
              <a:rPr dirty="0" sz="1600" spc="-3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1F2A44"/>
                </a:solidFill>
                <a:latin typeface="Arial"/>
                <a:cs typeface="Arial"/>
              </a:rPr>
              <a:t>MDP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746372" y="2899663"/>
            <a:ext cx="23380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1F2A44"/>
                </a:solidFill>
                <a:latin typeface="Arial"/>
                <a:cs typeface="Arial"/>
              </a:rPr>
              <a:t>Email</a:t>
            </a:r>
            <a:r>
              <a:rPr dirty="0" sz="1600" spc="-3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1F2A44"/>
                </a:solidFill>
                <a:latin typeface="Arial"/>
                <a:cs typeface="Arial"/>
              </a:rPr>
              <a:t>received</a:t>
            </a:r>
            <a:r>
              <a:rPr dirty="0" sz="1600" spc="-4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1F2A44"/>
                </a:solidFill>
                <a:latin typeface="Arial"/>
                <a:cs typeface="Arial"/>
              </a:rPr>
              <a:t>on</a:t>
            </a:r>
            <a:r>
              <a:rPr dirty="0" sz="1600" spc="-10">
                <a:solidFill>
                  <a:srgbClr val="1F2A44"/>
                </a:solidFill>
                <a:latin typeface="Arial"/>
                <a:cs typeface="Arial"/>
              </a:rPr>
              <a:t> Feb-</a:t>
            </a:r>
            <a:r>
              <a:rPr dirty="0" sz="1600" spc="-25">
                <a:solidFill>
                  <a:srgbClr val="1F2A44"/>
                </a:solidFill>
                <a:latin typeface="Arial"/>
                <a:cs typeface="Arial"/>
              </a:rPr>
              <a:t>26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339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RLPM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7822" y="1167714"/>
            <a:ext cx="8436482" cy="475526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588509" y="6116377"/>
            <a:ext cx="3016250" cy="217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50">
                <a:solidFill>
                  <a:srgbClr val="FFFFFF"/>
                </a:solidFill>
                <a:latin typeface="Arial"/>
                <a:cs typeface="Arial"/>
              </a:rPr>
              <a:t>RLPM:</a:t>
            </a:r>
            <a:r>
              <a:rPr dirty="0" sz="13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FFFFFF"/>
                </a:solidFill>
                <a:latin typeface="Arial"/>
                <a:cs typeface="Arial"/>
              </a:rPr>
              <a:t>RTX</a:t>
            </a:r>
            <a:r>
              <a:rPr dirty="0" sz="135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FFFFFF"/>
                </a:solidFill>
                <a:latin typeface="Arial"/>
                <a:cs typeface="Arial"/>
              </a:rPr>
              <a:t>Life</a:t>
            </a:r>
            <a:r>
              <a:rPr dirty="0" sz="13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FFFFFF"/>
                </a:solidFill>
                <a:latin typeface="Arial"/>
                <a:cs typeface="Arial"/>
              </a:rPr>
              <a:t>Program</a:t>
            </a:r>
            <a:r>
              <a:rPr dirty="0" sz="135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endParaRPr sz="13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6900" y="6466223"/>
            <a:ext cx="2561590" cy="1670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1F2A44"/>
                </a:solidFill>
                <a:latin typeface="Arial"/>
                <a:cs typeface="Arial"/>
              </a:rPr>
              <a:t>EXPORT</a:t>
            </a:r>
            <a:r>
              <a:rPr dirty="0" sz="1000" spc="-4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F2A44"/>
                </a:solidFill>
                <a:latin typeface="Arial"/>
                <a:cs typeface="Arial"/>
              </a:rPr>
              <a:t>MARKING:</a:t>
            </a:r>
            <a:r>
              <a:rPr dirty="0" sz="10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F2A44"/>
                </a:solidFill>
                <a:latin typeface="Arial"/>
                <a:cs typeface="Arial"/>
              </a:rPr>
              <a:t>NO</a:t>
            </a:r>
            <a:r>
              <a:rPr dirty="0" sz="1000" spc="-4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F2A44"/>
                </a:solidFill>
                <a:latin typeface="Arial"/>
                <a:cs typeface="Arial"/>
              </a:rPr>
              <a:t>TECHNICAL</a:t>
            </a:r>
            <a:r>
              <a:rPr dirty="0" sz="10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1F2A44"/>
                </a:solidFill>
                <a:latin typeface="Arial"/>
                <a:cs typeface="Arial"/>
              </a:rPr>
              <a:t>DATA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0571" rIns="0" bIns="0" rtlCol="0" vert="horz">
            <a:spAutoFit/>
          </a:bodyPr>
          <a:lstStyle/>
          <a:p>
            <a:pPr algn="r" marR="306070">
              <a:lnSpc>
                <a:spcPts val="1255"/>
              </a:lnSpc>
              <a:spcBef>
                <a:spcPts val="50"/>
              </a:spcBef>
            </a:pPr>
            <a:fld id="{81D60167-4931-47E6-BA6A-407CBD079E47}" type="slidenum">
              <a:rPr dirty="0" sz="1050" spc="-50">
                <a:solidFill>
                  <a:srgbClr val="1F2A44"/>
                </a:solidFill>
                <a:latin typeface="Arial Narrow"/>
                <a:cs typeface="Arial Narrow"/>
              </a:rPr>
              <a:t>3</a:t>
            </a:fld>
            <a:endParaRPr sz="1050">
              <a:latin typeface="Arial Narrow"/>
              <a:cs typeface="Arial Narrow"/>
            </a:endParaRPr>
          </a:p>
          <a:p>
            <a:pPr marL="12700">
              <a:lnSpc>
                <a:spcPts val="955"/>
              </a:lnSpc>
            </a:pPr>
            <a:r>
              <a:rPr dirty="0" sz="800">
                <a:solidFill>
                  <a:srgbClr val="1F2A44"/>
                </a:solidFill>
              </a:rPr>
              <a:t>P&amp;W</a:t>
            </a:r>
            <a:r>
              <a:rPr dirty="0" sz="800" spc="-35">
                <a:solidFill>
                  <a:srgbClr val="1F2A44"/>
                </a:solidFill>
              </a:rPr>
              <a:t> </a:t>
            </a:r>
            <a:r>
              <a:rPr dirty="0" sz="800">
                <a:solidFill>
                  <a:srgbClr val="1F2A44"/>
                </a:solidFill>
              </a:rPr>
              <a:t>PROPRIETARY-</a:t>
            </a:r>
            <a:r>
              <a:rPr dirty="0" sz="800" spc="-40">
                <a:solidFill>
                  <a:srgbClr val="1F2A44"/>
                </a:solidFill>
              </a:rPr>
              <a:t> </a:t>
            </a:r>
            <a:r>
              <a:rPr dirty="0" sz="800">
                <a:solidFill>
                  <a:srgbClr val="1F2A44"/>
                </a:solidFill>
              </a:rPr>
              <a:t>THIS</a:t>
            </a:r>
            <a:r>
              <a:rPr dirty="0" sz="800" spc="-40">
                <a:solidFill>
                  <a:srgbClr val="1F2A44"/>
                </a:solidFill>
              </a:rPr>
              <a:t> </a:t>
            </a:r>
            <a:r>
              <a:rPr dirty="0" sz="800">
                <a:solidFill>
                  <a:srgbClr val="1F2A44"/>
                </a:solidFill>
              </a:rPr>
              <a:t>PAGE</a:t>
            </a:r>
            <a:r>
              <a:rPr dirty="0" sz="800" spc="-15">
                <a:solidFill>
                  <a:srgbClr val="1F2A44"/>
                </a:solidFill>
              </a:rPr>
              <a:t> </a:t>
            </a:r>
            <a:r>
              <a:rPr dirty="0" sz="800">
                <a:solidFill>
                  <a:srgbClr val="1F2A44"/>
                </a:solidFill>
              </a:rPr>
              <a:t>DOES</a:t>
            </a:r>
            <a:r>
              <a:rPr dirty="0" sz="800" spc="-25">
                <a:solidFill>
                  <a:srgbClr val="1F2A44"/>
                </a:solidFill>
              </a:rPr>
              <a:t> </a:t>
            </a:r>
            <a:r>
              <a:rPr dirty="0" sz="800">
                <a:solidFill>
                  <a:srgbClr val="1F2A44"/>
                </a:solidFill>
              </a:rPr>
              <a:t>NOT</a:t>
            </a:r>
            <a:r>
              <a:rPr dirty="0" sz="800" spc="-30">
                <a:solidFill>
                  <a:srgbClr val="1F2A44"/>
                </a:solidFill>
              </a:rPr>
              <a:t> </a:t>
            </a:r>
            <a:r>
              <a:rPr dirty="0" sz="800">
                <a:solidFill>
                  <a:srgbClr val="1F2A44"/>
                </a:solidFill>
              </a:rPr>
              <a:t>CONTAIN</a:t>
            </a:r>
            <a:r>
              <a:rPr dirty="0" sz="800" spc="-35">
                <a:solidFill>
                  <a:srgbClr val="1F2A44"/>
                </a:solidFill>
              </a:rPr>
              <a:t> </a:t>
            </a:r>
            <a:r>
              <a:rPr dirty="0" sz="800">
                <a:solidFill>
                  <a:srgbClr val="1F2A44"/>
                </a:solidFill>
              </a:rPr>
              <a:t>ANY</a:t>
            </a:r>
            <a:r>
              <a:rPr dirty="0" sz="800" spc="-30">
                <a:solidFill>
                  <a:srgbClr val="1F2A44"/>
                </a:solidFill>
              </a:rPr>
              <a:t> </a:t>
            </a:r>
            <a:r>
              <a:rPr dirty="0" sz="800">
                <a:solidFill>
                  <a:srgbClr val="1F2A44"/>
                </a:solidFill>
              </a:rPr>
              <a:t>EXPORT</a:t>
            </a:r>
            <a:r>
              <a:rPr dirty="0" sz="800" spc="-5">
                <a:solidFill>
                  <a:srgbClr val="1F2A44"/>
                </a:solidFill>
              </a:rPr>
              <a:t> </a:t>
            </a:r>
            <a:r>
              <a:rPr dirty="0" sz="800">
                <a:solidFill>
                  <a:srgbClr val="1F2A44"/>
                </a:solidFill>
              </a:rPr>
              <a:t>REGULATED</a:t>
            </a:r>
            <a:r>
              <a:rPr dirty="0" sz="800" spc="-35">
                <a:solidFill>
                  <a:srgbClr val="1F2A44"/>
                </a:solidFill>
              </a:rPr>
              <a:t> </a:t>
            </a:r>
            <a:r>
              <a:rPr dirty="0" sz="800">
                <a:solidFill>
                  <a:srgbClr val="1F2A44"/>
                </a:solidFill>
              </a:rPr>
              <a:t>TECHNICAL</a:t>
            </a:r>
            <a:r>
              <a:rPr dirty="0" sz="800" spc="-30">
                <a:solidFill>
                  <a:srgbClr val="1F2A44"/>
                </a:solidFill>
              </a:rPr>
              <a:t> </a:t>
            </a:r>
            <a:r>
              <a:rPr dirty="0" sz="800" spc="-20">
                <a:solidFill>
                  <a:srgbClr val="1F2A44"/>
                </a:solidFill>
              </a:rPr>
              <a:t>DATA</a:t>
            </a:r>
            <a:endParaRPr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2244" y="242392"/>
            <a:ext cx="526542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RLPM</a:t>
            </a:r>
            <a:r>
              <a:rPr dirty="0" spc="-30"/>
              <a:t> </a:t>
            </a:r>
            <a:r>
              <a:rPr dirty="0"/>
              <a:t>P&amp;WC </a:t>
            </a:r>
            <a:r>
              <a:rPr dirty="0" spc="-10"/>
              <a:t>Incorporation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2244" y="674370"/>
            <a:ext cx="10655935" cy="4530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0" b="1">
                <a:solidFill>
                  <a:srgbClr val="00A9DF"/>
                </a:solidFill>
                <a:latin typeface="Arial"/>
                <a:cs typeface="Arial"/>
              </a:rPr>
              <a:t>BLUF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RLPM</a:t>
            </a:r>
            <a:r>
              <a:rPr dirty="0" sz="2000" spc="-5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Implementation</a:t>
            </a:r>
            <a:r>
              <a:rPr dirty="0" sz="2000" spc="-5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progressing</a:t>
            </a:r>
            <a:r>
              <a:rPr dirty="0" sz="2000" spc="-7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to</a:t>
            </a:r>
            <a:r>
              <a:rPr dirty="0" sz="2000" spc="-14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April</a:t>
            </a:r>
            <a:r>
              <a:rPr dirty="0" sz="2000" spc="-2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1</a:t>
            </a:r>
            <a:r>
              <a:rPr dirty="0" sz="2000" spc="-4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L1</a:t>
            </a:r>
            <a:r>
              <a:rPr dirty="0" sz="2000" spc="-2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document</a:t>
            </a:r>
            <a:r>
              <a:rPr dirty="0" sz="2000" spc="-7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1F2A44"/>
                </a:solidFill>
                <a:latin typeface="Arial"/>
                <a:cs typeface="Arial"/>
              </a:rPr>
              <a:t>readiness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P&amp;WC</a:t>
            </a:r>
            <a:r>
              <a:rPr dirty="0" sz="20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implementation;</a:t>
            </a:r>
            <a:r>
              <a:rPr dirty="0" sz="2000" spc="-5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Compliance</a:t>
            </a:r>
            <a:r>
              <a:rPr dirty="0" sz="2000" spc="-4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to</a:t>
            </a:r>
            <a:r>
              <a:rPr dirty="0" sz="2000" spc="-4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RLPM</a:t>
            </a:r>
            <a:r>
              <a:rPr dirty="0" sz="20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through</a:t>
            </a:r>
            <a:r>
              <a:rPr dirty="0" sz="2000" spc="-5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updates</a:t>
            </a:r>
            <a:r>
              <a:rPr dirty="0" sz="2000" spc="-4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to</a:t>
            </a:r>
            <a:r>
              <a:rPr dirty="0" sz="2000" spc="-3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MMP220</a:t>
            </a:r>
            <a:r>
              <a:rPr dirty="0" sz="2000" spc="-4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&amp;</a:t>
            </a:r>
            <a:r>
              <a:rPr dirty="0" sz="2000" spc="-2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1F2A44"/>
                </a:solidFill>
                <a:latin typeface="Arial"/>
                <a:cs typeface="Arial"/>
              </a:rPr>
              <a:t>MMP219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Coordinated</a:t>
            </a:r>
            <a:r>
              <a:rPr dirty="0" sz="2000" spc="-6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with</a:t>
            </a:r>
            <a:r>
              <a:rPr dirty="0" sz="20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PW</a:t>
            </a:r>
            <a:r>
              <a:rPr dirty="0" sz="20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1F2A44"/>
                </a:solidFill>
                <a:latin typeface="Arial"/>
                <a:cs typeface="Arial"/>
              </a:rPr>
              <a:t>implementation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2000">
              <a:latin typeface="Arial"/>
              <a:cs typeface="Arial"/>
            </a:endParaRPr>
          </a:p>
          <a:p>
            <a:pPr marL="12700" marR="1991360">
              <a:lnSpc>
                <a:spcPct val="148500"/>
              </a:lnSpc>
              <a:spcBef>
                <a:spcPts val="5"/>
              </a:spcBef>
            </a:pP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RLPM</a:t>
            </a:r>
            <a:r>
              <a:rPr dirty="0" sz="2000" spc="-4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Framework</a:t>
            </a:r>
            <a:r>
              <a:rPr dirty="0" sz="2000" spc="-5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provides</a:t>
            </a:r>
            <a:r>
              <a:rPr dirty="0" sz="2000" spc="-4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opportunities</a:t>
            </a:r>
            <a:r>
              <a:rPr dirty="0" sz="2000" spc="-5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to</a:t>
            </a:r>
            <a:r>
              <a:rPr dirty="0" sz="2000" spc="-3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enhance</a:t>
            </a:r>
            <a:r>
              <a:rPr dirty="0" sz="2000" spc="-5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IPMP</a:t>
            </a:r>
            <a:r>
              <a:rPr dirty="0" sz="2000" spc="-5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reset</a:t>
            </a:r>
            <a:r>
              <a:rPr dirty="0" sz="2000" spc="-6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1F2A44"/>
                </a:solidFill>
                <a:latin typeface="Arial"/>
                <a:cs typeface="Arial"/>
              </a:rPr>
              <a:t>governance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(Plans,</a:t>
            </a:r>
            <a:r>
              <a:rPr dirty="0" sz="2000" spc="-14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Archetype/</a:t>
            </a:r>
            <a:r>
              <a:rPr dirty="0" sz="2000" spc="-7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1F2A44"/>
                </a:solidFill>
                <a:latin typeface="Arial"/>
                <a:cs typeface="Arial"/>
              </a:rPr>
              <a:t>Tailoring)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Program</a:t>
            </a:r>
            <a:r>
              <a:rPr dirty="0" sz="2000" spc="-7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transition</a:t>
            </a:r>
            <a:r>
              <a:rPr dirty="0" sz="2000" spc="-3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will</a:t>
            </a:r>
            <a:r>
              <a:rPr dirty="0" sz="20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require</a:t>
            </a:r>
            <a:r>
              <a:rPr dirty="0" sz="2000" spc="-4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L1</a:t>
            </a:r>
            <a:r>
              <a:rPr dirty="0" sz="20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and</a:t>
            </a:r>
            <a:r>
              <a:rPr dirty="0" sz="20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key</a:t>
            </a:r>
            <a:r>
              <a:rPr dirty="0" sz="2000" spc="-4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L2</a:t>
            </a:r>
            <a:r>
              <a:rPr dirty="0" sz="20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document</a:t>
            </a:r>
            <a:r>
              <a:rPr dirty="0" sz="2000" spc="-6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updates</a:t>
            </a:r>
            <a:r>
              <a:rPr dirty="0" sz="2000" spc="-5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(post</a:t>
            </a:r>
            <a:r>
              <a:rPr dirty="0" sz="2000" spc="-14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April</a:t>
            </a:r>
            <a:r>
              <a:rPr dirty="0" sz="20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1</a:t>
            </a:r>
            <a:r>
              <a:rPr dirty="0" sz="2000" spc="-3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per</a:t>
            </a:r>
            <a:r>
              <a:rPr dirty="0" sz="20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F2A44"/>
                </a:solidFill>
                <a:latin typeface="Arial"/>
                <a:cs typeface="Arial"/>
              </a:rPr>
              <a:t>RTX</a:t>
            </a:r>
            <a:r>
              <a:rPr dirty="0" sz="20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1F2A44"/>
                </a:solidFill>
                <a:latin typeface="Arial"/>
                <a:cs typeface="Arial"/>
              </a:rPr>
              <a:t>timeline)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469116" y="6477101"/>
            <a:ext cx="7239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B8B9B0"/>
                </a:solidFill>
                <a:latin typeface="Arial Narrow"/>
                <a:cs typeface="Arial Narrow"/>
              </a:rPr>
              <a:t>5</a:t>
            </a:r>
            <a:endParaRPr sz="800">
              <a:latin typeface="Arial Narrow"/>
              <a:cs typeface="Arial Narro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289672" y="6477101"/>
            <a:ext cx="373380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PRATT</a:t>
            </a:r>
            <a:r>
              <a:rPr dirty="0" sz="800" spc="-3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&amp; WHITNEY</a:t>
            </a:r>
            <a:r>
              <a:rPr dirty="0" sz="800" spc="-2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CANADA</a:t>
            </a:r>
            <a:r>
              <a:rPr dirty="0" sz="800" spc="-4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PROPRIETARY</a:t>
            </a:r>
            <a:r>
              <a:rPr dirty="0" sz="800" spc="265">
                <a:solidFill>
                  <a:srgbClr val="B8B9B0"/>
                </a:solidFill>
                <a:latin typeface="Arial Narrow"/>
                <a:cs typeface="Arial Narrow"/>
              </a:rPr>
              <a:t> 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|</a:t>
            </a:r>
            <a:r>
              <a:rPr dirty="0" sz="800" spc="190">
                <a:solidFill>
                  <a:srgbClr val="B8B9B0"/>
                </a:solidFill>
                <a:latin typeface="Arial Narrow"/>
                <a:cs typeface="Arial Narrow"/>
              </a:rPr>
              <a:t> 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©</a:t>
            </a:r>
            <a:r>
              <a:rPr dirty="0" sz="800" spc="4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2025</a:t>
            </a:r>
            <a:r>
              <a:rPr dirty="0" sz="800" spc="-1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PRATT</a:t>
            </a:r>
            <a:r>
              <a:rPr dirty="0" sz="800" spc="-1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&amp;</a:t>
            </a:r>
            <a:r>
              <a:rPr dirty="0" sz="800" spc="-3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WHITNEY</a:t>
            </a:r>
            <a:r>
              <a:rPr dirty="0" sz="800" spc="-1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CANADA</a:t>
            </a:r>
            <a:r>
              <a:rPr dirty="0" sz="800" spc="-4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 spc="-10">
                <a:solidFill>
                  <a:srgbClr val="B8B9B0"/>
                </a:solidFill>
                <a:latin typeface="Arial Narrow"/>
                <a:cs typeface="Arial Narrow"/>
              </a:rPr>
              <a:t>CORP.</a:t>
            </a:r>
            <a:endParaRPr sz="800">
              <a:latin typeface="Arial Narrow"/>
              <a:cs typeface="Arial Narro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934336" y="6477101"/>
            <a:ext cx="290195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EXPORT</a:t>
            </a:r>
            <a:r>
              <a:rPr dirty="0" sz="800" spc="-3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MARKING:</a:t>
            </a:r>
            <a:r>
              <a:rPr dirty="0" sz="800" spc="-2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(TO</a:t>
            </a:r>
            <a:r>
              <a:rPr dirty="0" sz="800" spc="-1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CHANGE</a:t>
            </a:r>
            <a:r>
              <a:rPr dirty="0" sz="800" spc="-3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GO</a:t>
            </a:r>
            <a:r>
              <a:rPr dirty="0" sz="800" spc="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TO</a:t>
            </a:r>
            <a:r>
              <a:rPr dirty="0" sz="800" spc="-2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INSERT</a:t>
            </a:r>
            <a:r>
              <a:rPr dirty="0" sz="800" spc="-1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&gt; HEADER</a:t>
            </a:r>
            <a:r>
              <a:rPr dirty="0" sz="800" spc="-3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&amp; </a:t>
            </a:r>
            <a:r>
              <a:rPr dirty="0" sz="800" spc="-10">
                <a:solidFill>
                  <a:srgbClr val="B8B9B0"/>
                </a:solidFill>
                <a:latin typeface="Arial Narrow"/>
                <a:cs typeface="Arial Narrow"/>
              </a:rPr>
              <a:t>FOOTER)</a:t>
            </a:r>
            <a:endParaRPr sz="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7182" y="5883427"/>
            <a:ext cx="11978005" cy="311150"/>
          </a:xfrm>
          <a:custGeom>
            <a:avLst/>
            <a:gdLst/>
            <a:ahLst/>
            <a:cxnLst/>
            <a:rect l="l" t="t" r="r" b="b"/>
            <a:pathLst>
              <a:path w="11978005" h="311150">
                <a:moveTo>
                  <a:pt x="11977624" y="0"/>
                </a:moveTo>
                <a:lnTo>
                  <a:pt x="0" y="0"/>
                </a:lnTo>
                <a:lnTo>
                  <a:pt x="0" y="310832"/>
                </a:lnTo>
                <a:lnTo>
                  <a:pt x="11977624" y="310832"/>
                </a:lnTo>
                <a:lnTo>
                  <a:pt x="11977624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3341623" y="5836411"/>
            <a:ext cx="550989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Collaborative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 efforts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across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54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100"/>
              </a:spcBef>
            </a:pPr>
            <a:r>
              <a:rPr dirty="0"/>
              <a:t>RLPM</a:t>
            </a:r>
            <a:r>
              <a:rPr dirty="0" spc="-40"/>
              <a:t> </a:t>
            </a:r>
            <a:r>
              <a:rPr dirty="0"/>
              <a:t>P&amp;WC</a:t>
            </a:r>
            <a:r>
              <a:rPr dirty="0" spc="-25"/>
              <a:t> </a:t>
            </a:r>
            <a:r>
              <a:rPr dirty="0"/>
              <a:t>Implementation</a:t>
            </a:r>
            <a:r>
              <a:rPr dirty="0" spc="-60"/>
              <a:t> </a:t>
            </a:r>
            <a:r>
              <a:rPr dirty="0" spc="-20"/>
              <a:t>team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8380856" y="1006914"/>
            <a:ext cx="3590290" cy="4349750"/>
          </a:xfrm>
          <a:prstGeom prst="rect">
            <a:avLst/>
          </a:prstGeom>
        </p:spPr>
        <p:txBody>
          <a:bodyPr wrap="square" lIns="0" tIns="1530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2000" b="1">
                <a:solidFill>
                  <a:srgbClr val="1F2A44"/>
                </a:solidFill>
                <a:latin typeface="Arial"/>
                <a:cs typeface="Arial"/>
              </a:rPr>
              <a:t>Implementation</a:t>
            </a:r>
            <a:r>
              <a:rPr dirty="0" sz="2000" spc="-105" b="1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1F2A44"/>
                </a:solidFill>
                <a:latin typeface="Arial"/>
                <a:cs typeface="Arial"/>
              </a:rPr>
              <a:t>team</a:t>
            </a:r>
            <a:endParaRPr sz="2000">
              <a:latin typeface="Arial"/>
              <a:cs typeface="Arial"/>
            </a:endParaRPr>
          </a:p>
          <a:p>
            <a:pPr marL="12700" marR="263525">
              <a:lnSpc>
                <a:spcPts val="1939"/>
              </a:lnSpc>
              <a:spcBef>
                <a:spcPts val="1240"/>
              </a:spcBef>
            </a:pPr>
            <a:r>
              <a:rPr dirty="0" sz="1800" spc="-35">
                <a:solidFill>
                  <a:srgbClr val="1F2A44"/>
                </a:solidFill>
                <a:latin typeface="Arial"/>
                <a:cs typeface="Arial"/>
              </a:rPr>
              <a:t>SLT</a:t>
            </a:r>
            <a:r>
              <a:rPr dirty="0" sz="1800" spc="-8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engagement</a:t>
            </a:r>
            <a:r>
              <a:rPr dirty="0" sz="18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through</a:t>
            </a:r>
            <a:r>
              <a:rPr dirty="0" sz="1800" spc="-4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1F2A44"/>
                </a:solidFill>
                <a:latin typeface="Arial"/>
                <a:cs typeface="Arial"/>
              </a:rPr>
              <a:t>PMMT </a:t>
            </a:r>
            <a:r>
              <a:rPr dirty="0" sz="1800" spc="-10">
                <a:solidFill>
                  <a:srgbClr val="1F2A44"/>
                </a:solidFill>
                <a:latin typeface="Arial"/>
                <a:cs typeface="Arial"/>
              </a:rPr>
              <a:t>steering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MMP220</a:t>
            </a:r>
            <a:r>
              <a:rPr dirty="0" sz="1800" spc="-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&amp;</a:t>
            </a:r>
            <a:r>
              <a:rPr dirty="0" sz="18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MMP219 </a:t>
            </a:r>
            <a:r>
              <a:rPr dirty="0" sz="1800" spc="-20">
                <a:solidFill>
                  <a:srgbClr val="1F2A44"/>
                </a:solidFill>
                <a:latin typeface="Arial"/>
                <a:cs typeface="Arial"/>
              </a:rPr>
              <a:t>Leads</a:t>
            </a:r>
            <a:endParaRPr sz="1800">
              <a:latin typeface="Arial"/>
              <a:cs typeface="Arial"/>
            </a:endParaRPr>
          </a:p>
          <a:p>
            <a:pPr marL="12700" marR="68580">
              <a:lnSpc>
                <a:spcPts val="1939"/>
              </a:lnSpc>
              <a:spcBef>
                <a:spcPts val="1235"/>
              </a:spcBef>
            </a:pP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Collaborative</a:t>
            </a:r>
            <a:r>
              <a:rPr dirty="0" sz="1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effort</a:t>
            </a:r>
            <a:r>
              <a:rPr dirty="0" sz="1800" spc="-5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-</a:t>
            </a:r>
            <a:r>
              <a:rPr dirty="0" sz="1800" spc="-4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F2A44"/>
                </a:solidFill>
                <a:latin typeface="Arial"/>
                <a:cs typeface="Arial"/>
              </a:rPr>
              <a:t>enterprise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alignment</a:t>
            </a:r>
            <a:r>
              <a:rPr dirty="0" sz="1800" spc="-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weekly</a:t>
            </a:r>
            <a:r>
              <a:rPr dirty="0" sz="1800" spc="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at</a:t>
            </a:r>
            <a:r>
              <a:rPr dirty="0" sz="1800" spc="-3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PMT</a:t>
            </a:r>
            <a:r>
              <a:rPr dirty="0" sz="1800" spc="-5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&amp;</a:t>
            </a:r>
            <a:r>
              <a:rPr dirty="0" sz="1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1F2A44"/>
                </a:solidFill>
                <a:latin typeface="Arial"/>
                <a:cs typeface="Arial"/>
              </a:rPr>
              <a:t>PMMT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level</a:t>
            </a:r>
            <a:r>
              <a:rPr dirty="0" sz="1800" spc="-1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(Scrum</a:t>
            </a:r>
            <a:r>
              <a:rPr dirty="0" sz="1800" spc="-10">
                <a:solidFill>
                  <a:srgbClr val="1F2A44"/>
                </a:solidFill>
                <a:latin typeface="Arial"/>
                <a:cs typeface="Arial"/>
              </a:rPr>
              <a:t> approach)</a:t>
            </a:r>
            <a:endParaRPr sz="1800">
              <a:latin typeface="Arial"/>
              <a:cs typeface="Arial"/>
            </a:endParaRPr>
          </a:p>
          <a:p>
            <a:pPr marL="12700" marR="56515">
              <a:lnSpc>
                <a:spcPts val="1939"/>
              </a:lnSpc>
              <a:spcBef>
                <a:spcPts val="1210"/>
              </a:spcBef>
            </a:pP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PMT</a:t>
            </a:r>
            <a:r>
              <a:rPr dirty="0" sz="1800" spc="-8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weekly</a:t>
            </a:r>
            <a:r>
              <a:rPr dirty="0" sz="1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workshops</a:t>
            </a:r>
            <a:r>
              <a:rPr dirty="0" sz="1800" spc="-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align</a:t>
            </a:r>
            <a:r>
              <a:rPr dirty="0" sz="1800" spc="-5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F2A44"/>
                </a:solidFill>
                <a:latin typeface="Arial"/>
                <a:cs typeface="Arial"/>
              </a:rPr>
              <a:t>on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key</a:t>
            </a:r>
            <a:r>
              <a:rPr dirty="0" sz="1800" spc="-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F2A44"/>
                </a:solidFill>
                <a:latin typeface="Arial"/>
                <a:cs typeface="Arial"/>
              </a:rPr>
              <a:t>updates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55"/>
              </a:lnSpc>
              <a:spcBef>
                <a:spcPts val="960"/>
              </a:spcBef>
            </a:pP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Single</a:t>
            </a:r>
            <a:r>
              <a:rPr dirty="0" sz="1800" spc="-3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point</a:t>
            </a:r>
            <a:r>
              <a:rPr dirty="0" sz="1800" spc="-2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of</a:t>
            </a:r>
            <a:r>
              <a:rPr dirty="0" sz="18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contact</a:t>
            </a:r>
            <a:r>
              <a:rPr dirty="0" sz="1800" spc="-3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with </a:t>
            </a:r>
            <a:r>
              <a:rPr dirty="0" sz="1800" spc="-25">
                <a:solidFill>
                  <a:srgbClr val="1F2A44"/>
                </a:solidFill>
                <a:latin typeface="Arial"/>
                <a:cs typeface="Arial"/>
              </a:rPr>
              <a:t>PWA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55"/>
              </a:lnSpc>
            </a:pP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effort</a:t>
            </a:r>
            <a:r>
              <a:rPr dirty="0" sz="18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to</a:t>
            </a:r>
            <a:r>
              <a:rPr dirty="0" sz="18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ensure</a:t>
            </a:r>
            <a:r>
              <a:rPr dirty="0" sz="18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L1</a:t>
            </a:r>
            <a:r>
              <a:rPr dirty="0" sz="1800" spc="-10">
                <a:solidFill>
                  <a:srgbClr val="1F2A44"/>
                </a:solidFill>
                <a:latin typeface="Arial"/>
                <a:cs typeface="Arial"/>
              </a:rPr>
              <a:t> alignment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1939"/>
              </a:lnSpc>
              <a:spcBef>
                <a:spcPts val="1235"/>
              </a:spcBef>
            </a:pP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Enterprise</a:t>
            </a:r>
            <a:r>
              <a:rPr dirty="0" sz="1800" spc="-7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Fellows/SME</a:t>
            </a:r>
            <a:r>
              <a:rPr dirty="0" sz="1800" spc="-2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1F2A44"/>
                </a:solidFill>
                <a:latin typeface="Arial"/>
                <a:cs typeface="Arial"/>
              </a:rPr>
              <a:t>review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March</a:t>
            </a:r>
            <a:r>
              <a:rPr dirty="0" sz="1800" spc="-3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19</a:t>
            </a:r>
            <a:r>
              <a:rPr dirty="0" sz="1800" spc="-2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prior</a:t>
            </a:r>
            <a:r>
              <a:rPr dirty="0" sz="1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MMP</a:t>
            </a:r>
            <a:r>
              <a:rPr dirty="0" sz="1800" spc="-6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Ballot</a:t>
            </a:r>
            <a:r>
              <a:rPr dirty="0" sz="18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F2A44"/>
                </a:solidFill>
                <a:latin typeface="Arial"/>
                <a:cs typeface="Arial"/>
              </a:rPr>
              <a:t>(April</a:t>
            </a:r>
            <a:r>
              <a:rPr dirty="0" sz="18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F2A44"/>
                </a:solidFill>
                <a:latin typeface="Arial"/>
                <a:cs typeface="Arial"/>
              </a:rPr>
              <a:t>1)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069" y="1193076"/>
            <a:ext cx="7769953" cy="41247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7182" y="5961164"/>
            <a:ext cx="11978005" cy="311150"/>
          </a:xfrm>
          <a:custGeom>
            <a:avLst/>
            <a:gdLst/>
            <a:ahLst/>
            <a:cxnLst/>
            <a:rect l="l" t="t" r="r" b="b"/>
            <a:pathLst>
              <a:path w="11978005" h="311150">
                <a:moveTo>
                  <a:pt x="11977624" y="0"/>
                </a:moveTo>
                <a:lnTo>
                  <a:pt x="0" y="0"/>
                </a:lnTo>
                <a:lnTo>
                  <a:pt x="0" y="310832"/>
                </a:lnTo>
                <a:lnTo>
                  <a:pt x="11977624" y="310832"/>
                </a:lnTo>
                <a:lnTo>
                  <a:pt x="11977624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1124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100"/>
              </a:spcBef>
            </a:pPr>
            <a:r>
              <a:rPr dirty="0"/>
              <a:t>RLPM</a:t>
            </a:r>
            <a:r>
              <a:rPr dirty="0" spc="-20"/>
              <a:t> </a:t>
            </a:r>
            <a:r>
              <a:rPr dirty="0" spc="-10"/>
              <a:t>Schedule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729678" y="872261"/>
            <a:ext cx="10743565" cy="4904105"/>
            <a:chOff x="729678" y="872261"/>
            <a:chExt cx="10743565" cy="4904105"/>
          </a:xfrm>
        </p:grpSpPr>
        <p:sp>
          <p:nvSpPr>
            <p:cNvPr id="5" name="object 5" descr=""/>
            <p:cNvSpPr/>
            <p:nvPr/>
          </p:nvSpPr>
          <p:spPr>
            <a:xfrm>
              <a:off x="761415" y="891311"/>
              <a:ext cx="1318260" cy="1208405"/>
            </a:xfrm>
            <a:custGeom>
              <a:avLst/>
              <a:gdLst/>
              <a:ahLst/>
              <a:cxnLst/>
              <a:rect l="l" t="t" r="r" b="b"/>
              <a:pathLst>
                <a:path w="1318260" h="1208405">
                  <a:moveTo>
                    <a:pt x="1317752" y="0"/>
                  </a:moveTo>
                  <a:lnTo>
                    <a:pt x="0" y="0"/>
                  </a:lnTo>
                  <a:lnTo>
                    <a:pt x="0" y="1207998"/>
                  </a:lnTo>
                  <a:lnTo>
                    <a:pt x="1317752" y="1207998"/>
                  </a:lnTo>
                  <a:lnTo>
                    <a:pt x="1317752" y="0"/>
                  </a:lnTo>
                  <a:close/>
                </a:path>
              </a:pathLst>
            </a:custGeom>
            <a:solidFill>
              <a:srgbClr val="CE11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61415" y="891311"/>
              <a:ext cx="1318260" cy="1208405"/>
            </a:xfrm>
            <a:custGeom>
              <a:avLst/>
              <a:gdLst/>
              <a:ahLst/>
              <a:cxnLst/>
              <a:rect l="l" t="t" r="r" b="b"/>
              <a:pathLst>
                <a:path w="1318260" h="1208405">
                  <a:moveTo>
                    <a:pt x="0" y="1207998"/>
                  </a:moveTo>
                  <a:lnTo>
                    <a:pt x="1317752" y="1207998"/>
                  </a:lnTo>
                  <a:lnTo>
                    <a:pt x="1317752" y="0"/>
                  </a:lnTo>
                  <a:lnTo>
                    <a:pt x="0" y="0"/>
                  </a:lnTo>
                  <a:lnTo>
                    <a:pt x="0" y="1207998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61415" y="2099309"/>
              <a:ext cx="1318260" cy="914400"/>
            </a:xfrm>
            <a:custGeom>
              <a:avLst/>
              <a:gdLst/>
              <a:ahLst/>
              <a:cxnLst/>
              <a:rect l="l" t="t" r="r" b="b"/>
              <a:pathLst>
                <a:path w="1318260" h="914400">
                  <a:moveTo>
                    <a:pt x="1317752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317752" y="914400"/>
                  </a:lnTo>
                  <a:lnTo>
                    <a:pt x="131775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61415" y="2099309"/>
              <a:ext cx="1318260" cy="914400"/>
            </a:xfrm>
            <a:custGeom>
              <a:avLst/>
              <a:gdLst/>
              <a:ahLst/>
              <a:cxnLst/>
              <a:rect l="l" t="t" r="r" b="b"/>
              <a:pathLst>
                <a:path w="1318260" h="914400">
                  <a:moveTo>
                    <a:pt x="0" y="914400"/>
                  </a:moveTo>
                  <a:lnTo>
                    <a:pt x="1317752" y="914400"/>
                  </a:lnTo>
                  <a:lnTo>
                    <a:pt x="1317752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61415" y="3013709"/>
              <a:ext cx="1318260" cy="914400"/>
            </a:xfrm>
            <a:custGeom>
              <a:avLst/>
              <a:gdLst/>
              <a:ahLst/>
              <a:cxnLst/>
              <a:rect l="l" t="t" r="r" b="b"/>
              <a:pathLst>
                <a:path w="1318260" h="914400">
                  <a:moveTo>
                    <a:pt x="1317752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317752" y="914400"/>
                  </a:lnTo>
                  <a:lnTo>
                    <a:pt x="131775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61415" y="3013709"/>
              <a:ext cx="1318260" cy="914400"/>
            </a:xfrm>
            <a:custGeom>
              <a:avLst/>
              <a:gdLst/>
              <a:ahLst/>
              <a:cxnLst/>
              <a:rect l="l" t="t" r="r" b="b"/>
              <a:pathLst>
                <a:path w="1318260" h="914400">
                  <a:moveTo>
                    <a:pt x="0" y="914400"/>
                  </a:moveTo>
                  <a:lnTo>
                    <a:pt x="1317752" y="914400"/>
                  </a:lnTo>
                  <a:lnTo>
                    <a:pt x="1317752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61415" y="3928109"/>
              <a:ext cx="1318260" cy="914400"/>
            </a:xfrm>
            <a:custGeom>
              <a:avLst/>
              <a:gdLst/>
              <a:ahLst/>
              <a:cxnLst/>
              <a:rect l="l" t="t" r="r" b="b"/>
              <a:pathLst>
                <a:path w="1318260" h="914400">
                  <a:moveTo>
                    <a:pt x="1317752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317752" y="914400"/>
                  </a:lnTo>
                  <a:lnTo>
                    <a:pt x="131775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61415" y="3928109"/>
              <a:ext cx="1318260" cy="914400"/>
            </a:xfrm>
            <a:custGeom>
              <a:avLst/>
              <a:gdLst/>
              <a:ahLst/>
              <a:cxnLst/>
              <a:rect l="l" t="t" r="r" b="b"/>
              <a:pathLst>
                <a:path w="1318260" h="914400">
                  <a:moveTo>
                    <a:pt x="0" y="914400"/>
                  </a:moveTo>
                  <a:lnTo>
                    <a:pt x="1317752" y="914400"/>
                  </a:lnTo>
                  <a:lnTo>
                    <a:pt x="1317752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48728" y="4842560"/>
              <a:ext cx="1318260" cy="914400"/>
            </a:xfrm>
            <a:custGeom>
              <a:avLst/>
              <a:gdLst/>
              <a:ahLst/>
              <a:cxnLst/>
              <a:rect l="l" t="t" r="r" b="b"/>
              <a:pathLst>
                <a:path w="1318260" h="914400">
                  <a:moveTo>
                    <a:pt x="1317752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317752" y="914400"/>
                  </a:lnTo>
                  <a:lnTo>
                    <a:pt x="131775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48728" y="4842560"/>
              <a:ext cx="1318260" cy="914400"/>
            </a:xfrm>
            <a:custGeom>
              <a:avLst/>
              <a:gdLst/>
              <a:ahLst/>
              <a:cxnLst/>
              <a:rect l="l" t="t" r="r" b="b"/>
              <a:pathLst>
                <a:path w="1318260" h="914400">
                  <a:moveTo>
                    <a:pt x="0" y="914400"/>
                  </a:moveTo>
                  <a:lnTo>
                    <a:pt x="1317752" y="914400"/>
                  </a:lnTo>
                  <a:lnTo>
                    <a:pt x="1317752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079244" y="891400"/>
              <a:ext cx="1874520" cy="603250"/>
            </a:xfrm>
            <a:custGeom>
              <a:avLst/>
              <a:gdLst/>
              <a:ahLst/>
              <a:cxnLst/>
              <a:rect l="l" t="t" r="r" b="b"/>
              <a:pathLst>
                <a:path w="1874520" h="603250">
                  <a:moveTo>
                    <a:pt x="1874520" y="0"/>
                  </a:moveTo>
                  <a:lnTo>
                    <a:pt x="0" y="0"/>
                  </a:lnTo>
                  <a:lnTo>
                    <a:pt x="0" y="602881"/>
                  </a:lnTo>
                  <a:lnTo>
                    <a:pt x="1874520" y="602881"/>
                  </a:lnTo>
                  <a:lnTo>
                    <a:pt x="1874520" y="0"/>
                  </a:lnTo>
                  <a:close/>
                </a:path>
              </a:pathLst>
            </a:custGeom>
            <a:solidFill>
              <a:srgbClr val="D9D9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079244" y="891400"/>
              <a:ext cx="1874520" cy="603250"/>
            </a:xfrm>
            <a:custGeom>
              <a:avLst/>
              <a:gdLst/>
              <a:ahLst/>
              <a:cxnLst/>
              <a:rect l="l" t="t" r="r" b="b"/>
              <a:pathLst>
                <a:path w="1874520" h="603250">
                  <a:moveTo>
                    <a:pt x="0" y="602881"/>
                  </a:moveTo>
                  <a:lnTo>
                    <a:pt x="1874520" y="602881"/>
                  </a:lnTo>
                  <a:lnTo>
                    <a:pt x="1874520" y="0"/>
                  </a:lnTo>
                  <a:lnTo>
                    <a:pt x="0" y="0"/>
                  </a:lnTo>
                  <a:lnTo>
                    <a:pt x="0" y="602881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953764" y="891400"/>
              <a:ext cx="1874520" cy="603250"/>
            </a:xfrm>
            <a:custGeom>
              <a:avLst/>
              <a:gdLst/>
              <a:ahLst/>
              <a:cxnLst/>
              <a:rect l="l" t="t" r="r" b="b"/>
              <a:pathLst>
                <a:path w="1874520" h="603250">
                  <a:moveTo>
                    <a:pt x="1874519" y="0"/>
                  </a:moveTo>
                  <a:lnTo>
                    <a:pt x="0" y="0"/>
                  </a:lnTo>
                  <a:lnTo>
                    <a:pt x="0" y="602881"/>
                  </a:lnTo>
                  <a:lnTo>
                    <a:pt x="1874519" y="602881"/>
                  </a:lnTo>
                  <a:lnTo>
                    <a:pt x="1874519" y="0"/>
                  </a:lnTo>
                  <a:close/>
                </a:path>
              </a:pathLst>
            </a:custGeom>
            <a:solidFill>
              <a:srgbClr val="B0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953764" y="891400"/>
              <a:ext cx="1874520" cy="603250"/>
            </a:xfrm>
            <a:custGeom>
              <a:avLst/>
              <a:gdLst/>
              <a:ahLst/>
              <a:cxnLst/>
              <a:rect l="l" t="t" r="r" b="b"/>
              <a:pathLst>
                <a:path w="1874520" h="603250">
                  <a:moveTo>
                    <a:pt x="0" y="602881"/>
                  </a:moveTo>
                  <a:lnTo>
                    <a:pt x="1874519" y="602881"/>
                  </a:lnTo>
                  <a:lnTo>
                    <a:pt x="1874519" y="0"/>
                  </a:lnTo>
                  <a:lnTo>
                    <a:pt x="0" y="0"/>
                  </a:lnTo>
                  <a:lnTo>
                    <a:pt x="0" y="602881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828283" y="891400"/>
              <a:ext cx="1874520" cy="603250"/>
            </a:xfrm>
            <a:custGeom>
              <a:avLst/>
              <a:gdLst/>
              <a:ahLst/>
              <a:cxnLst/>
              <a:rect l="l" t="t" r="r" b="b"/>
              <a:pathLst>
                <a:path w="1874520" h="603250">
                  <a:moveTo>
                    <a:pt x="1874519" y="0"/>
                  </a:moveTo>
                  <a:lnTo>
                    <a:pt x="0" y="0"/>
                  </a:lnTo>
                  <a:lnTo>
                    <a:pt x="0" y="602881"/>
                  </a:lnTo>
                  <a:lnTo>
                    <a:pt x="1874519" y="602881"/>
                  </a:lnTo>
                  <a:lnTo>
                    <a:pt x="1874519" y="0"/>
                  </a:lnTo>
                  <a:close/>
                </a:path>
              </a:pathLst>
            </a:custGeom>
            <a:solidFill>
              <a:srgbClr val="6266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828283" y="891400"/>
              <a:ext cx="1874520" cy="603250"/>
            </a:xfrm>
            <a:custGeom>
              <a:avLst/>
              <a:gdLst/>
              <a:ahLst/>
              <a:cxnLst/>
              <a:rect l="l" t="t" r="r" b="b"/>
              <a:pathLst>
                <a:path w="1874520" h="603250">
                  <a:moveTo>
                    <a:pt x="0" y="602881"/>
                  </a:moveTo>
                  <a:lnTo>
                    <a:pt x="1874519" y="602881"/>
                  </a:lnTo>
                  <a:lnTo>
                    <a:pt x="1874519" y="0"/>
                  </a:lnTo>
                  <a:lnTo>
                    <a:pt x="0" y="0"/>
                  </a:lnTo>
                  <a:lnTo>
                    <a:pt x="0" y="602881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702804" y="891400"/>
              <a:ext cx="1874520" cy="603250"/>
            </a:xfrm>
            <a:custGeom>
              <a:avLst/>
              <a:gdLst/>
              <a:ahLst/>
              <a:cxnLst/>
              <a:rect l="l" t="t" r="r" b="b"/>
              <a:pathLst>
                <a:path w="1874520" h="603250">
                  <a:moveTo>
                    <a:pt x="1874520" y="0"/>
                  </a:moveTo>
                  <a:lnTo>
                    <a:pt x="0" y="0"/>
                  </a:lnTo>
                  <a:lnTo>
                    <a:pt x="0" y="602881"/>
                  </a:lnTo>
                  <a:lnTo>
                    <a:pt x="1874520" y="602881"/>
                  </a:lnTo>
                  <a:lnTo>
                    <a:pt x="1874520" y="0"/>
                  </a:lnTo>
                  <a:close/>
                </a:path>
              </a:pathLst>
            </a:custGeom>
            <a:solidFill>
              <a:srgbClr val="7AA7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702804" y="891400"/>
              <a:ext cx="1874520" cy="603250"/>
            </a:xfrm>
            <a:custGeom>
              <a:avLst/>
              <a:gdLst/>
              <a:ahLst/>
              <a:cxnLst/>
              <a:rect l="l" t="t" r="r" b="b"/>
              <a:pathLst>
                <a:path w="1874520" h="603250">
                  <a:moveTo>
                    <a:pt x="0" y="602881"/>
                  </a:moveTo>
                  <a:lnTo>
                    <a:pt x="1874520" y="602881"/>
                  </a:lnTo>
                  <a:lnTo>
                    <a:pt x="1874520" y="0"/>
                  </a:lnTo>
                  <a:lnTo>
                    <a:pt x="0" y="0"/>
                  </a:lnTo>
                  <a:lnTo>
                    <a:pt x="0" y="602881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9577323" y="891400"/>
              <a:ext cx="1874520" cy="603250"/>
            </a:xfrm>
            <a:custGeom>
              <a:avLst/>
              <a:gdLst/>
              <a:ahLst/>
              <a:cxnLst/>
              <a:rect l="l" t="t" r="r" b="b"/>
              <a:pathLst>
                <a:path w="1874520" h="603250">
                  <a:moveTo>
                    <a:pt x="1874520" y="0"/>
                  </a:moveTo>
                  <a:lnTo>
                    <a:pt x="0" y="0"/>
                  </a:lnTo>
                  <a:lnTo>
                    <a:pt x="0" y="602881"/>
                  </a:lnTo>
                  <a:lnTo>
                    <a:pt x="1874520" y="602881"/>
                  </a:lnTo>
                  <a:lnTo>
                    <a:pt x="1874520" y="0"/>
                  </a:lnTo>
                  <a:close/>
                </a:path>
              </a:pathLst>
            </a:custGeom>
            <a:solidFill>
              <a:srgbClr val="D9D9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577323" y="891400"/>
              <a:ext cx="1874520" cy="603250"/>
            </a:xfrm>
            <a:custGeom>
              <a:avLst/>
              <a:gdLst/>
              <a:ahLst/>
              <a:cxnLst/>
              <a:rect l="l" t="t" r="r" b="b"/>
              <a:pathLst>
                <a:path w="1874520" h="603250">
                  <a:moveTo>
                    <a:pt x="0" y="602881"/>
                  </a:moveTo>
                  <a:lnTo>
                    <a:pt x="1874520" y="602881"/>
                  </a:lnTo>
                  <a:lnTo>
                    <a:pt x="1874520" y="0"/>
                  </a:lnTo>
                  <a:lnTo>
                    <a:pt x="0" y="0"/>
                  </a:lnTo>
                  <a:lnTo>
                    <a:pt x="0" y="602881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079244" y="2099309"/>
              <a:ext cx="9372600" cy="914400"/>
            </a:xfrm>
            <a:custGeom>
              <a:avLst/>
              <a:gdLst/>
              <a:ahLst/>
              <a:cxnLst/>
              <a:rect l="l" t="t" r="r" b="b"/>
              <a:pathLst>
                <a:path w="9372600" h="914400">
                  <a:moveTo>
                    <a:pt x="93726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372600" y="914400"/>
                  </a:lnTo>
                  <a:lnTo>
                    <a:pt x="93726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079244" y="2099309"/>
              <a:ext cx="9372600" cy="1828800"/>
            </a:xfrm>
            <a:custGeom>
              <a:avLst/>
              <a:gdLst/>
              <a:ahLst/>
              <a:cxnLst/>
              <a:rect l="l" t="t" r="r" b="b"/>
              <a:pathLst>
                <a:path w="9372600" h="1828800">
                  <a:moveTo>
                    <a:pt x="0" y="914400"/>
                  </a:moveTo>
                  <a:lnTo>
                    <a:pt x="9372600" y="914400"/>
                  </a:lnTo>
                  <a:lnTo>
                    <a:pt x="93726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  <a:path w="9372600" h="1828800">
                  <a:moveTo>
                    <a:pt x="0" y="1828800"/>
                  </a:moveTo>
                  <a:lnTo>
                    <a:pt x="9372600" y="1828800"/>
                  </a:lnTo>
                  <a:lnTo>
                    <a:pt x="9372600" y="914400"/>
                  </a:lnTo>
                  <a:lnTo>
                    <a:pt x="0" y="914400"/>
                  </a:lnTo>
                  <a:lnTo>
                    <a:pt x="0" y="18288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079244" y="3014218"/>
              <a:ext cx="9372600" cy="914400"/>
            </a:xfrm>
            <a:custGeom>
              <a:avLst/>
              <a:gdLst/>
              <a:ahLst/>
              <a:cxnLst/>
              <a:rect l="l" t="t" r="r" b="b"/>
              <a:pathLst>
                <a:path w="9372600" h="914400">
                  <a:moveTo>
                    <a:pt x="9372600" y="0"/>
                  </a:moveTo>
                  <a:lnTo>
                    <a:pt x="0" y="0"/>
                  </a:lnTo>
                  <a:lnTo>
                    <a:pt x="0" y="914399"/>
                  </a:lnTo>
                  <a:lnTo>
                    <a:pt x="9372600" y="914399"/>
                  </a:lnTo>
                  <a:lnTo>
                    <a:pt x="93726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079244" y="3014218"/>
              <a:ext cx="9372600" cy="914400"/>
            </a:xfrm>
            <a:custGeom>
              <a:avLst/>
              <a:gdLst/>
              <a:ahLst/>
              <a:cxnLst/>
              <a:rect l="l" t="t" r="r" b="b"/>
              <a:pathLst>
                <a:path w="9372600" h="914400">
                  <a:moveTo>
                    <a:pt x="0" y="914399"/>
                  </a:moveTo>
                  <a:lnTo>
                    <a:pt x="9372600" y="914399"/>
                  </a:lnTo>
                  <a:lnTo>
                    <a:pt x="9372600" y="0"/>
                  </a:lnTo>
                  <a:lnTo>
                    <a:pt x="0" y="0"/>
                  </a:lnTo>
                  <a:lnTo>
                    <a:pt x="0" y="914399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079244" y="4842560"/>
              <a:ext cx="9372600" cy="914400"/>
            </a:xfrm>
            <a:custGeom>
              <a:avLst/>
              <a:gdLst/>
              <a:ahLst/>
              <a:cxnLst/>
              <a:rect l="l" t="t" r="r" b="b"/>
              <a:pathLst>
                <a:path w="9372600" h="914400">
                  <a:moveTo>
                    <a:pt x="93726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372600" y="914400"/>
                  </a:lnTo>
                  <a:lnTo>
                    <a:pt x="93726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079244" y="4842560"/>
              <a:ext cx="9372600" cy="914400"/>
            </a:xfrm>
            <a:custGeom>
              <a:avLst/>
              <a:gdLst/>
              <a:ahLst/>
              <a:cxnLst/>
              <a:rect l="l" t="t" r="r" b="b"/>
              <a:pathLst>
                <a:path w="9372600" h="914400">
                  <a:moveTo>
                    <a:pt x="0" y="914400"/>
                  </a:moveTo>
                  <a:lnTo>
                    <a:pt x="9372600" y="914400"/>
                  </a:lnTo>
                  <a:lnTo>
                    <a:pt x="93726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079244" y="1494231"/>
              <a:ext cx="622300" cy="607695"/>
            </a:xfrm>
            <a:custGeom>
              <a:avLst/>
              <a:gdLst/>
              <a:ahLst/>
              <a:cxnLst/>
              <a:rect l="l" t="t" r="r" b="b"/>
              <a:pathLst>
                <a:path w="622300" h="607694">
                  <a:moveTo>
                    <a:pt x="621792" y="0"/>
                  </a:moveTo>
                  <a:lnTo>
                    <a:pt x="0" y="0"/>
                  </a:lnTo>
                  <a:lnTo>
                    <a:pt x="0" y="607364"/>
                  </a:lnTo>
                  <a:lnTo>
                    <a:pt x="621792" y="607364"/>
                  </a:lnTo>
                  <a:lnTo>
                    <a:pt x="6217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079244" y="1494231"/>
              <a:ext cx="622300" cy="607695"/>
            </a:xfrm>
            <a:custGeom>
              <a:avLst/>
              <a:gdLst/>
              <a:ahLst/>
              <a:cxnLst/>
              <a:rect l="l" t="t" r="r" b="b"/>
              <a:pathLst>
                <a:path w="622300" h="607694">
                  <a:moveTo>
                    <a:pt x="0" y="607364"/>
                  </a:moveTo>
                  <a:lnTo>
                    <a:pt x="621792" y="607364"/>
                  </a:lnTo>
                  <a:lnTo>
                    <a:pt x="621792" y="0"/>
                  </a:lnTo>
                  <a:lnTo>
                    <a:pt x="0" y="0"/>
                  </a:lnTo>
                  <a:lnTo>
                    <a:pt x="0" y="607364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698750" y="1494231"/>
              <a:ext cx="633730" cy="607695"/>
            </a:xfrm>
            <a:custGeom>
              <a:avLst/>
              <a:gdLst/>
              <a:ahLst/>
              <a:cxnLst/>
              <a:rect l="l" t="t" r="r" b="b"/>
              <a:pathLst>
                <a:path w="633729" h="607694">
                  <a:moveTo>
                    <a:pt x="633222" y="0"/>
                  </a:moveTo>
                  <a:lnTo>
                    <a:pt x="0" y="0"/>
                  </a:lnTo>
                  <a:lnTo>
                    <a:pt x="0" y="607364"/>
                  </a:lnTo>
                  <a:lnTo>
                    <a:pt x="633222" y="607364"/>
                  </a:lnTo>
                  <a:lnTo>
                    <a:pt x="63322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698750" y="1494231"/>
              <a:ext cx="633730" cy="607695"/>
            </a:xfrm>
            <a:custGeom>
              <a:avLst/>
              <a:gdLst/>
              <a:ahLst/>
              <a:cxnLst/>
              <a:rect l="l" t="t" r="r" b="b"/>
              <a:pathLst>
                <a:path w="633729" h="607694">
                  <a:moveTo>
                    <a:pt x="0" y="607364"/>
                  </a:moveTo>
                  <a:lnTo>
                    <a:pt x="633222" y="607364"/>
                  </a:lnTo>
                  <a:lnTo>
                    <a:pt x="633222" y="0"/>
                  </a:lnTo>
                  <a:lnTo>
                    <a:pt x="0" y="0"/>
                  </a:lnTo>
                  <a:lnTo>
                    <a:pt x="0" y="607364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334258" y="1494231"/>
              <a:ext cx="622300" cy="607695"/>
            </a:xfrm>
            <a:custGeom>
              <a:avLst/>
              <a:gdLst/>
              <a:ahLst/>
              <a:cxnLst/>
              <a:rect l="l" t="t" r="r" b="b"/>
              <a:pathLst>
                <a:path w="622300" h="607694">
                  <a:moveTo>
                    <a:pt x="621791" y="0"/>
                  </a:moveTo>
                  <a:lnTo>
                    <a:pt x="0" y="0"/>
                  </a:lnTo>
                  <a:lnTo>
                    <a:pt x="0" y="607364"/>
                  </a:lnTo>
                  <a:lnTo>
                    <a:pt x="621791" y="607364"/>
                  </a:lnTo>
                  <a:lnTo>
                    <a:pt x="62179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334258" y="1494231"/>
              <a:ext cx="622300" cy="607695"/>
            </a:xfrm>
            <a:custGeom>
              <a:avLst/>
              <a:gdLst/>
              <a:ahLst/>
              <a:cxnLst/>
              <a:rect l="l" t="t" r="r" b="b"/>
              <a:pathLst>
                <a:path w="622300" h="607694">
                  <a:moveTo>
                    <a:pt x="0" y="607364"/>
                  </a:moveTo>
                  <a:lnTo>
                    <a:pt x="621791" y="607364"/>
                  </a:lnTo>
                  <a:lnTo>
                    <a:pt x="621791" y="0"/>
                  </a:lnTo>
                  <a:lnTo>
                    <a:pt x="0" y="0"/>
                  </a:lnTo>
                  <a:lnTo>
                    <a:pt x="0" y="607364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951477" y="1494231"/>
              <a:ext cx="622300" cy="607695"/>
            </a:xfrm>
            <a:custGeom>
              <a:avLst/>
              <a:gdLst/>
              <a:ahLst/>
              <a:cxnLst/>
              <a:rect l="l" t="t" r="r" b="b"/>
              <a:pathLst>
                <a:path w="622300" h="607694">
                  <a:moveTo>
                    <a:pt x="621791" y="0"/>
                  </a:moveTo>
                  <a:lnTo>
                    <a:pt x="0" y="0"/>
                  </a:lnTo>
                  <a:lnTo>
                    <a:pt x="0" y="607364"/>
                  </a:lnTo>
                  <a:lnTo>
                    <a:pt x="621791" y="607364"/>
                  </a:lnTo>
                  <a:lnTo>
                    <a:pt x="62179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951477" y="1494231"/>
              <a:ext cx="622300" cy="607695"/>
            </a:xfrm>
            <a:custGeom>
              <a:avLst/>
              <a:gdLst/>
              <a:ahLst/>
              <a:cxnLst/>
              <a:rect l="l" t="t" r="r" b="b"/>
              <a:pathLst>
                <a:path w="622300" h="607694">
                  <a:moveTo>
                    <a:pt x="0" y="607364"/>
                  </a:moveTo>
                  <a:lnTo>
                    <a:pt x="621791" y="607364"/>
                  </a:lnTo>
                  <a:lnTo>
                    <a:pt x="621791" y="0"/>
                  </a:lnTo>
                  <a:lnTo>
                    <a:pt x="0" y="0"/>
                  </a:lnTo>
                  <a:lnTo>
                    <a:pt x="0" y="607364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570983" y="1494231"/>
              <a:ext cx="633730" cy="607695"/>
            </a:xfrm>
            <a:custGeom>
              <a:avLst/>
              <a:gdLst/>
              <a:ahLst/>
              <a:cxnLst/>
              <a:rect l="l" t="t" r="r" b="b"/>
              <a:pathLst>
                <a:path w="633729" h="607694">
                  <a:moveTo>
                    <a:pt x="633222" y="0"/>
                  </a:moveTo>
                  <a:lnTo>
                    <a:pt x="0" y="0"/>
                  </a:lnTo>
                  <a:lnTo>
                    <a:pt x="0" y="607364"/>
                  </a:lnTo>
                  <a:lnTo>
                    <a:pt x="633222" y="607364"/>
                  </a:lnTo>
                  <a:lnTo>
                    <a:pt x="63322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570983" y="1494231"/>
              <a:ext cx="633730" cy="607695"/>
            </a:xfrm>
            <a:custGeom>
              <a:avLst/>
              <a:gdLst/>
              <a:ahLst/>
              <a:cxnLst/>
              <a:rect l="l" t="t" r="r" b="b"/>
              <a:pathLst>
                <a:path w="633729" h="607694">
                  <a:moveTo>
                    <a:pt x="0" y="607364"/>
                  </a:moveTo>
                  <a:lnTo>
                    <a:pt x="633222" y="607364"/>
                  </a:lnTo>
                  <a:lnTo>
                    <a:pt x="633222" y="0"/>
                  </a:lnTo>
                  <a:lnTo>
                    <a:pt x="0" y="0"/>
                  </a:lnTo>
                  <a:lnTo>
                    <a:pt x="0" y="607364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5206492" y="1494231"/>
              <a:ext cx="622300" cy="607695"/>
            </a:xfrm>
            <a:custGeom>
              <a:avLst/>
              <a:gdLst/>
              <a:ahLst/>
              <a:cxnLst/>
              <a:rect l="l" t="t" r="r" b="b"/>
              <a:pathLst>
                <a:path w="622300" h="607694">
                  <a:moveTo>
                    <a:pt x="621791" y="0"/>
                  </a:moveTo>
                  <a:lnTo>
                    <a:pt x="0" y="0"/>
                  </a:lnTo>
                  <a:lnTo>
                    <a:pt x="0" y="607364"/>
                  </a:lnTo>
                  <a:lnTo>
                    <a:pt x="621791" y="607364"/>
                  </a:lnTo>
                  <a:lnTo>
                    <a:pt x="62179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5206492" y="1494231"/>
              <a:ext cx="622300" cy="607695"/>
            </a:xfrm>
            <a:custGeom>
              <a:avLst/>
              <a:gdLst/>
              <a:ahLst/>
              <a:cxnLst/>
              <a:rect l="l" t="t" r="r" b="b"/>
              <a:pathLst>
                <a:path w="622300" h="607694">
                  <a:moveTo>
                    <a:pt x="0" y="607364"/>
                  </a:moveTo>
                  <a:lnTo>
                    <a:pt x="621791" y="607364"/>
                  </a:lnTo>
                  <a:lnTo>
                    <a:pt x="621791" y="0"/>
                  </a:lnTo>
                  <a:lnTo>
                    <a:pt x="0" y="0"/>
                  </a:lnTo>
                  <a:lnTo>
                    <a:pt x="0" y="607364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827141" y="1494231"/>
              <a:ext cx="622300" cy="607695"/>
            </a:xfrm>
            <a:custGeom>
              <a:avLst/>
              <a:gdLst/>
              <a:ahLst/>
              <a:cxnLst/>
              <a:rect l="l" t="t" r="r" b="b"/>
              <a:pathLst>
                <a:path w="622300" h="607694">
                  <a:moveTo>
                    <a:pt x="621791" y="0"/>
                  </a:moveTo>
                  <a:lnTo>
                    <a:pt x="0" y="0"/>
                  </a:lnTo>
                  <a:lnTo>
                    <a:pt x="0" y="607364"/>
                  </a:lnTo>
                  <a:lnTo>
                    <a:pt x="621791" y="607364"/>
                  </a:lnTo>
                  <a:lnTo>
                    <a:pt x="62179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827141" y="1494231"/>
              <a:ext cx="622300" cy="607695"/>
            </a:xfrm>
            <a:custGeom>
              <a:avLst/>
              <a:gdLst/>
              <a:ahLst/>
              <a:cxnLst/>
              <a:rect l="l" t="t" r="r" b="b"/>
              <a:pathLst>
                <a:path w="622300" h="607694">
                  <a:moveTo>
                    <a:pt x="0" y="607364"/>
                  </a:moveTo>
                  <a:lnTo>
                    <a:pt x="621791" y="607364"/>
                  </a:lnTo>
                  <a:lnTo>
                    <a:pt x="621791" y="0"/>
                  </a:lnTo>
                  <a:lnTo>
                    <a:pt x="0" y="0"/>
                  </a:lnTo>
                  <a:lnTo>
                    <a:pt x="0" y="607364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446647" y="1494231"/>
              <a:ext cx="633730" cy="607695"/>
            </a:xfrm>
            <a:custGeom>
              <a:avLst/>
              <a:gdLst/>
              <a:ahLst/>
              <a:cxnLst/>
              <a:rect l="l" t="t" r="r" b="b"/>
              <a:pathLst>
                <a:path w="633729" h="607694">
                  <a:moveTo>
                    <a:pt x="633222" y="0"/>
                  </a:moveTo>
                  <a:lnTo>
                    <a:pt x="0" y="0"/>
                  </a:lnTo>
                  <a:lnTo>
                    <a:pt x="0" y="607364"/>
                  </a:lnTo>
                  <a:lnTo>
                    <a:pt x="633222" y="607364"/>
                  </a:lnTo>
                  <a:lnTo>
                    <a:pt x="63322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446647" y="1494231"/>
              <a:ext cx="633730" cy="607695"/>
            </a:xfrm>
            <a:custGeom>
              <a:avLst/>
              <a:gdLst/>
              <a:ahLst/>
              <a:cxnLst/>
              <a:rect l="l" t="t" r="r" b="b"/>
              <a:pathLst>
                <a:path w="633729" h="607694">
                  <a:moveTo>
                    <a:pt x="0" y="607364"/>
                  </a:moveTo>
                  <a:lnTo>
                    <a:pt x="633222" y="607364"/>
                  </a:lnTo>
                  <a:lnTo>
                    <a:pt x="633222" y="0"/>
                  </a:lnTo>
                  <a:lnTo>
                    <a:pt x="0" y="0"/>
                  </a:lnTo>
                  <a:lnTo>
                    <a:pt x="0" y="607364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7082155" y="1494231"/>
              <a:ext cx="622300" cy="607695"/>
            </a:xfrm>
            <a:custGeom>
              <a:avLst/>
              <a:gdLst/>
              <a:ahLst/>
              <a:cxnLst/>
              <a:rect l="l" t="t" r="r" b="b"/>
              <a:pathLst>
                <a:path w="622300" h="607694">
                  <a:moveTo>
                    <a:pt x="621792" y="0"/>
                  </a:moveTo>
                  <a:lnTo>
                    <a:pt x="0" y="0"/>
                  </a:lnTo>
                  <a:lnTo>
                    <a:pt x="0" y="607364"/>
                  </a:lnTo>
                  <a:lnTo>
                    <a:pt x="621792" y="607364"/>
                  </a:lnTo>
                  <a:lnTo>
                    <a:pt x="6217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7082155" y="1494231"/>
              <a:ext cx="622300" cy="607695"/>
            </a:xfrm>
            <a:custGeom>
              <a:avLst/>
              <a:gdLst/>
              <a:ahLst/>
              <a:cxnLst/>
              <a:rect l="l" t="t" r="r" b="b"/>
              <a:pathLst>
                <a:path w="622300" h="607694">
                  <a:moveTo>
                    <a:pt x="0" y="607364"/>
                  </a:moveTo>
                  <a:lnTo>
                    <a:pt x="621792" y="607364"/>
                  </a:lnTo>
                  <a:lnTo>
                    <a:pt x="621792" y="0"/>
                  </a:lnTo>
                  <a:lnTo>
                    <a:pt x="0" y="0"/>
                  </a:lnTo>
                  <a:lnTo>
                    <a:pt x="0" y="607364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701025" y="1494231"/>
              <a:ext cx="622300" cy="607695"/>
            </a:xfrm>
            <a:custGeom>
              <a:avLst/>
              <a:gdLst/>
              <a:ahLst/>
              <a:cxnLst/>
              <a:rect l="l" t="t" r="r" b="b"/>
              <a:pathLst>
                <a:path w="622300" h="607694">
                  <a:moveTo>
                    <a:pt x="621792" y="0"/>
                  </a:moveTo>
                  <a:lnTo>
                    <a:pt x="0" y="0"/>
                  </a:lnTo>
                  <a:lnTo>
                    <a:pt x="0" y="607364"/>
                  </a:lnTo>
                  <a:lnTo>
                    <a:pt x="621792" y="607364"/>
                  </a:lnTo>
                  <a:lnTo>
                    <a:pt x="6217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7701025" y="1494231"/>
              <a:ext cx="622300" cy="607695"/>
            </a:xfrm>
            <a:custGeom>
              <a:avLst/>
              <a:gdLst/>
              <a:ahLst/>
              <a:cxnLst/>
              <a:rect l="l" t="t" r="r" b="b"/>
              <a:pathLst>
                <a:path w="622300" h="607694">
                  <a:moveTo>
                    <a:pt x="0" y="607364"/>
                  </a:moveTo>
                  <a:lnTo>
                    <a:pt x="621792" y="607364"/>
                  </a:lnTo>
                  <a:lnTo>
                    <a:pt x="621792" y="0"/>
                  </a:lnTo>
                  <a:lnTo>
                    <a:pt x="0" y="0"/>
                  </a:lnTo>
                  <a:lnTo>
                    <a:pt x="0" y="607364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8320532" y="1494231"/>
              <a:ext cx="633730" cy="607695"/>
            </a:xfrm>
            <a:custGeom>
              <a:avLst/>
              <a:gdLst/>
              <a:ahLst/>
              <a:cxnLst/>
              <a:rect l="l" t="t" r="r" b="b"/>
              <a:pathLst>
                <a:path w="633729" h="607694">
                  <a:moveTo>
                    <a:pt x="633222" y="0"/>
                  </a:moveTo>
                  <a:lnTo>
                    <a:pt x="0" y="0"/>
                  </a:lnTo>
                  <a:lnTo>
                    <a:pt x="0" y="607364"/>
                  </a:lnTo>
                  <a:lnTo>
                    <a:pt x="633222" y="607364"/>
                  </a:lnTo>
                  <a:lnTo>
                    <a:pt x="63322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8320532" y="1494231"/>
              <a:ext cx="633730" cy="607695"/>
            </a:xfrm>
            <a:custGeom>
              <a:avLst/>
              <a:gdLst/>
              <a:ahLst/>
              <a:cxnLst/>
              <a:rect l="l" t="t" r="r" b="b"/>
              <a:pathLst>
                <a:path w="633729" h="607694">
                  <a:moveTo>
                    <a:pt x="0" y="607364"/>
                  </a:moveTo>
                  <a:lnTo>
                    <a:pt x="633222" y="607364"/>
                  </a:lnTo>
                  <a:lnTo>
                    <a:pt x="633222" y="0"/>
                  </a:lnTo>
                  <a:lnTo>
                    <a:pt x="0" y="0"/>
                  </a:lnTo>
                  <a:lnTo>
                    <a:pt x="0" y="607364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8956039" y="1494231"/>
              <a:ext cx="622300" cy="607695"/>
            </a:xfrm>
            <a:custGeom>
              <a:avLst/>
              <a:gdLst/>
              <a:ahLst/>
              <a:cxnLst/>
              <a:rect l="l" t="t" r="r" b="b"/>
              <a:pathLst>
                <a:path w="622300" h="607694">
                  <a:moveTo>
                    <a:pt x="621792" y="0"/>
                  </a:moveTo>
                  <a:lnTo>
                    <a:pt x="0" y="0"/>
                  </a:lnTo>
                  <a:lnTo>
                    <a:pt x="0" y="607364"/>
                  </a:lnTo>
                  <a:lnTo>
                    <a:pt x="621792" y="607364"/>
                  </a:lnTo>
                  <a:lnTo>
                    <a:pt x="6217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8956039" y="1494231"/>
              <a:ext cx="622300" cy="607695"/>
            </a:xfrm>
            <a:custGeom>
              <a:avLst/>
              <a:gdLst/>
              <a:ahLst/>
              <a:cxnLst/>
              <a:rect l="l" t="t" r="r" b="b"/>
              <a:pathLst>
                <a:path w="622300" h="607694">
                  <a:moveTo>
                    <a:pt x="0" y="607364"/>
                  </a:moveTo>
                  <a:lnTo>
                    <a:pt x="621792" y="607364"/>
                  </a:lnTo>
                  <a:lnTo>
                    <a:pt x="621792" y="0"/>
                  </a:lnTo>
                  <a:lnTo>
                    <a:pt x="0" y="0"/>
                  </a:lnTo>
                  <a:lnTo>
                    <a:pt x="0" y="607364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9578467" y="1494231"/>
              <a:ext cx="622300" cy="607695"/>
            </a:xfrm>
            <a:custGeom>
              <a:avLst/>
              <a:gdLst/>
              <a:ahLst/>
              <a:cxnLst/>
              <a:rect l="l" t="t" r="r" b="b"/>
              <a:pathLst>
                <a:path w="622300" h="607694">
                  <a:moveTo>
                    <a:pt x="621792" y="0"/>
                  </a:moveTo>
                  <a:lnTo>
                    <a:pt x="0" y="0"/>
                  </a:lnTo>
                  <a:lnTo>
                    <a:pt x="0" y="607364"/>
                  </a:lnTo>
                  <a:lnTo>
                    <a:pt x="621792" y="607364"/>
                  </a:lnTo>
                  <a:lnTo>
                    <a:pt x="6217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9578467" y="1494231"/>
              <a:ext cx="622300" cy="607695"/>
            </a:xfrm>
            <a:custGeom>
              <a:avLst/>
              <a:gdLst/>
              <a:ahLst/>
              <a:cxnLst/>
              <a:rect l="l" t="t" r="r" b="b"/>
              <a:pathLst>
                <a:path w="622300" h="607694">
                  <a:moveTo>
                    <a:pt x="0" y="607364"/>
                  </a:moveTo>
                  <a:lnTo>
                    <a:pt x="621792" y="607364"/>
                  </a:lnTo>
                  <a:lnTo>
                    <a:pt x="621792" y="0"/>
                  </a:lnTo>
                  <a:lnTo>
                    <a:pt x="0" y="0"/>
                  </a:lnTo>
                  <a:lnTo>
                    <a:pt x="0" y="607364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0197972" y="1494231"/>
              <a:ext cx="633730" cy="607695"/>
            </a:xfrm>
            <a:custGeom>
              <a:avLst/>
              <a:gdLst/>
              <a:ahLst/>
              <a:cxnLst/>
              <a:rect l="l" t="t" r="r" b="b"/>
              <a:pathLst>
                <a:path w="633729" h="607694">
                  <a:moveTo>
                    <a:pt x="633222" y="0"/>
                  </a:moveTo>
                  <a:lnTo>
                    <a:pt x="0" y="0"/>
                  </a:lnTo>
                  <a:lnTo>
                    <a:pt x="0" y="607364"/>
                  </a:lnTo>
                  <a:lnTo>
                    <a:pt x="633222" y="607364"/>
                  </a:lnTo>
                  <a:lnTo>
                    <a:pt x="63322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0197972" y="1494231"/>
              <a:ext cx="633730" cy="607695"/>
            </a:xfrm>
            <a:custGeom>
              <a:avLst/>
              <a:gdLst/>
              <a:ahLst/>
              <a:cxnLst/>
              <a:rect l="l" t="t" r="r" b="b"/>
              <a:pathLst>
                <a:path w="633729" h="607694">
                  <a:moveTo>
                    <a:pt x="0" y="607364"/>
                  </a:moveTo>
                  <a:lnTo>
                    <a:pt x="633222" y="607364"/>
                  </a:lnTo>
                  <a:lnTo>
                    <a:pt x="633222" y="0"/>
                  </a:lnTo>
                  <a:lnTo>
                    <a:pt x="0" y="0"/>
                  </a:lnTo>
                  <a:lnTo>
                    <a:pt x="0" y="607364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0833481" y="1494231"/>
              <a:ext cx="621030" cy="607695"/>
            </a:xfrm>
            <a:custGeom>
              <a:avLst/>
              <a:gdLst/>
              <a:ahLst/>
              <a:cxnLst/>
              <a:rect l="l" t="t" r="r" b="b"/>
              <a:pathLst>
                <a:path w="621029" h="607694">
                  <a:moveTo>
                    <a:pt x="620649" y="0"/>
                  </a:moveTo>
                  <a:lnTo>
                    <a:pt x="0" y="0"/>
                  </a:lnTo>
                  <a:lnTo>
                    <a:pt x="0" y="607364"/>
                  </a:lnTo>
                  <a:lnTo>
                    <a:pt x="620649" y="607364"/>
                  </a:lnTo>
                  <a:lnTo>
                    <a:pt x="62064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0833481" y="1494231"/>
              <a:ext cx="621030" cy="607695"/>
            </a:xfrm>
            <a:custGeom>
              <a:avLst/>
              <a:gdLst/>
              <a:ahLst/>
              <a:cxnLst/>
              <a:rect l="l" t="t" r="r" b="b"/>
              <a:pathLst>
                <a:path w="621029" h="607694">
                  <a:moveTo>
                    <a:pt x="0" y="607364"/>
                  </a:moveTo>
                  <a:lnTo>
                    <a:pt x="620649" y="607364"/>
                  </a:lnTo>
                  <a:lnTo>
                    <a:pt x="620649" y="0"/>
                  </a:lnTo>
                  <a:lnTo>
                    <a:pt x="0" y="0"/>
                  </a:lnTo>
                  <a:lnTo>
                    <a:pt x="0" y="607364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2867405" y="1052829"/>
            <a:ext cx="2946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Q3</a:t>
            </a:r>
            <a:endParaRPr sz="1600">
              <a:latin typeface="Arial"/>
              <a:cs typeface="Arial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4743069" y="1052829"/>
            <a:ext cx="2946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Q4</a:t>
            </a:r>
            <a:endParaRPr sz="1600">
              <a:latin typeface="Arial"/>
              <a:cs typeface="Arial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6616954" y="1052829"/>
            <a:ext cx="2946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Q1</a:t>
            </a:r>
            <a:endParaRPr sz="1600">
              <a:latin typeface="Arial"/>
              <a:cs typeface="Arial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8492743" y="1052829"/>
            <a:ext cx="2946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Q2</a:t>
            </a:r>
            <a:endParaRPr sz="1600">
              <a:latin typeface="Arial"/>
              <a:cs typeface="Arial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10367518" y="1052829"/>
            <a:ext cx="2946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Q3</a:t>
            </a:r>
            <a:endParaRPr sz="1600">
              <a:latin typeface="Arial"/>
              <a:cs typeface="Arial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854455" y="1354328"/>
            <a:ext cx="11296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P&amp;W</a:t>
            </a:r>
            <a:r>
              <a:rPr dirty="0" sz="16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RLPM</a:t>
            </a:r>
            <a:endParaRPr sz="1600">
              <a:latin typeface="Arial"/>
              <a:cs typeface="Arial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2265933" y="1688338"/>
            <a:ext cx="2463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Jul</a:t>
            </a:r>
            <a:endParaRPr sz="1200">
              <a:latin typeface="Arial"/>
              <a:cs typeface="Arial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2856992" y="1688338"/>
            <a:ext cx="3168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Aug</a:t>
            </a:r>
            <a:endParaRPr sz="1200">
              <a:latin typeface="Arial"/>
              <a:cs typeface="Arial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3466846" y="1688338"/>
            <a:ext cx="356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latin typeface="Arial"/>
                <a:cs typeface="Arial"/>
              </a:rPr>
              <a:t>Sept</a:t>
            </a:r>
            <a:endParaRPr sz="1200">
              <a:latin typeface="Arial"/>
              <a:cs typeface="Arial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4125595" y="1688338"/>
            <a:ext cx="2806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Oct</a:t>
            </a:r>
            <a:endParaRPr sz="1200">
              <a:latin typeface="Arial"/>
              <a:cs typeface="Arial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4734559" y="1688338"/>
            <a:ext cx="3130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Nov</a:t>
            </a:r>
            <a:endParaRPr sz="1200">
              <a:latin typeface="Arial"/>
              <a:cs typeface="Arial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5367909" y="1688338"/>
            <a:ext cx="305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Dec</a:t>
            </a:r>
            <a:endParaRPr sz="1200">
              <a:latin typeface="Arial"/>
              <a:cs typeface="Arial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5996432" y="1688338"/>
            <a:ext cx="290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Jan</a:t>
            </a:r>
            <a:endParaRPr sz="1200">
              <a:latin typeface="Arial"/>
              <a:cs typeface="Arial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6624066" y="1688338"/>
            <a:ext cx="2971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Feb</a:t>
            </a:r>
            <a:endParaRPr sz="1200">
              <a:latin typeface="Arial"/>
              <a:cs typeface="Arial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7242809" y="1688338"/>
            <a:ext cx="296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Mar</a:t>
            </a:r>
            <a:endParaRPr sz="1200">
              <a:latin typeface="Arial"/>
              <a:cs typeface="Arial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7870317" y="1688338"/>
            <a:ext cx="2832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Apr</a:t>
            </a:r>
            <a:endParaRPr sz="1200">
              <a:latin typeface="Arial"/>
              <a:cs typeface="Arial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8479281" y="1688338"/>
            <a:ext cx="3219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May</a:t>
            </a:r>
            <a:endParaRPr sz="1200">
              <a:latin typeface="Arial"/>
              <a:cs typeface="Arial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9119996" y="1688338"/>
            <a:ext cx="2971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Jun</a:t>
            </a:r>
            <a:endParaRPr sz="1200">
              <a:latin typeface="Arial"/>
              <a:cs typeface="Arial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9765030" y="1688338"/>
            <a:ext cx="2463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Jul</a:t>
            </a:r>
            <a:endParaRPr sz="1200">
              <a:latin typeface="Arial"/>
              <a:cs typeface="Arial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10366375" y="1688338"/>
            <a:ext cx="3168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Aug</a:t>
            </a:r>
            <a:endParaRPr sz="1200">
              <a:latin typeface="Arial"/>
              <a:cs typeface="Arial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10964418" y="1688338"/>
            <a:ext cx="356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latin typeface="Arial"/>
                <a:cs typeface="Arial"/>
              </a:rPr>
              <a:t>Sept</a:t>
            </a:r>
            <a:endParaRPr sz="1200">
              <a:latin typeface="Arial"/>
              <a:cs typeface="Arial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1105306" y="2358644"/>
            <a:ext cx="6038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4135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latin typeface="Arial"/>
                <a:cs typeface="Arial"/>
              </a:rPr>
              <a:t>RLPM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Arial"/>
                <a:cs typeface="Arial"/>
              </a:rPr>
              <a:t>Policies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1021791" y="3181858"/>
            <a:ext cx="77089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PW</a:t>
            </a:r>
            <a:endParaRPr sz="1200">
              <a:latin typeface="Arial"/>
              <a:cs typeface="Arial"/>
            </a:endParaRPr>
          </a:p>
          <a:p>
            <a:pPr algn="ctr" marL="12700" marR="5080">
              <a:lnSpc>
                <a:spcPct val="100000"/>
              </a:lnSpc>
            </a:pPr>
            <a:r>
              <a:rPr dirty="0" sz="1200" spc="-10" b="1">
                <a:latin typeface="Arial"/>
                <a:cs typeface="Arial"/>
              </a:rPr>
              <a:t>Document Updates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831291" y="4316095"/>
            <a:ext cx="11531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Implementation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85" name="object 85" descr=""/>
          <p:cNvSpPr/>
          <p:nvPr/>
        </p:nvSpPr>
        <p:spPr>
          <a:xfrm>
            <a:off x="3256915" y="3107181"/>
            <a:ext cx="4441825" cy="316230"/>
          </a:xfrm>
          <a:custGeom>
            <a:avLst/>
            <a:gdLst/>
            <a:ahLst/>
            <a:cxnLst/>
            <a:rect l="l" t="t" r="r" b="b"/>
            <a:pathLst>
              <a:path w="4441825" h="316229">
                <a:moveTo>
                  <a:pt x="1991995" y="157861"/>
                </a:moveTo>
                <a:lnTo>
                  <a:pt x="1782318" y="0"/>
                </a:lnTo>
                <a:lnTo>
                  <a:pt x="0" y="0"/>
                </a:lnTo>
                <a:lnTo>
                  <a:pt x="0" y="315849"/>
                </a:lnTo>
                <a:lnTo>
                  <a:pt x="1782318" y="315849"/>
                </a:lnTo>
                <a:lnTo>
                  <a:pt x="1991995" y="157861"/>
                </a:lnTo>
                <a:close/>
              </a:path>
              <a:path w="4441825" h="316229">
                <a:moveTo>
                  <a:pt x="4441698" y="169926"/>
                </a:moveTo>
                <a:lnTo>
                  <a:pt x="4251706" y="26924"/>
                </a:lnTo>
                <a:lnTo>
                  <a:pt x="3285490" y="26924"/>
                </a:lnTo>
                <a:lnTo>
                  <a:pt x="3285490" y="313055"/>
                </a:lnTo>
                <a:lnTo>
                  <a:pt x="4251706" y="313055"/>
                </a:lnTo>
                <a:lnTo>
                  <a:pt x="4441698" y="169926"/>
                </a:lnTo>
                <a:close/>
              </a:path>
            </a:pathLst>
          </a:custGeom>
          <a:solidFill>
            <a:srgbClr val="6266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 txBox="1"/>
          <p:nvPr/>
        </p:nvSpPr>
        <p:spPr>
          <a:xfrm>
            <a:off x="6877304" y="3185541"/>
            <a:ext cx="3403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Ballot</a:t>
            </a:r>
            <a:endParaRPr sz="1000">
              <a:latin typeface="Arial"/>
              <a:cs typeface="Arial"/>
            </a:endParaRPr>
          </a:p>
        </p:txBody>
      </p:sp>
      <p:sp>
        <p:nvSpPr>
          <p:cNvPr id="87" name="object 87" descr=""/>
          <p:cNvSpPr/>
          <p:nvPr/>
        </p:nvSpPr>
        <p:spPr>
          <a:xfrm>
            <a:off x="5398896" y="4081017"/>
            <a:ext cx="2341880" cy="286385"/>
          </a:xfrm>
          <a:custGeom>
            <a:avLst/>
            <a:gdLst/>
            <a:ahLst/>
            <a:cxnLst/>
            <a:rect l="l" t="t" r="r" b="b"/>
            <a:pathLst>
              <a:path w="2341879" h="286385">
                <a:moveTo>
                  <a:pt x="2151887" y="0"/>
                </a:moveTo>
                <a:lnTo>
                  <a:pt x="0" y="0"/>
                </a:lnTo>
                <a:lnTo>
                  <a:pt x="0" y="286130"/>
                </a:lnTo>
                <a:lnTo>
                  <a:pt x="2151887" y="286130"/>
                </a:lnTo>
                <a:lnTo>
                  <a:pt x="2341879" y="143128"/>
                </a:lnTo>
                <a:lnTo>
                  <a:pt x="2151887" y="0"/>
                </a:lnTo>
                <a:close/>
              </a:path>
            </a:pathLst>
          </a:custGeom>
          <a:solidFill>
            <a:srgbClr val="7AA7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 txBox="1"/>
          <p:nvPr/>
        </p:nvSpPr>
        <p:spPr>
          <a:xfrm>
            <a:off x="5771134" y="4124959"/>
            <a:ext cx="13455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Comms</a:t>
            </a:r>
            <a:r>
              <a:rPr dirty="0" sz="10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1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Arial"/>
                <a:cs typeface="Arial"/>
              </a:rPr>
              <a:t>Plan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9" name="object 89" descr=""/>
          <p:cNvGrpSpPr/>
          <p:nvPr/>
        </p:nvGrpSpPr>
        <p:grpSpPr>
          <a:xfrm>
            <a:off x="4432808" y="2180082"/>
            <a:ext cx="313690" cy="295910"/>
            <a:chOff x="4432808" y="2180082"/>
            <a:chExt cx="313690" cy="295910"/>
          </a:xfrm>
        </p:grpSpPr>
        <p:sp>
          <p:nvSpPr>
            <p:cNvPr id="90" name="object 90" descr=""/>
            <p:cNvSpPr/>
            <p:nvPr/>
          </p:nvSpPr>
          <p:spPr>
            <a:xfrm>
              <a:off x="4439158" y="2186432"/>
              <a:ext cx="300990" cy="283210"/>
            </a:xfrm>
            <a:custGeom>
              <a:avLst/>
              <a:gdLst/>
              <a:ahLst/>
              <a:cxnLst/>
              <a:rect l="l" t="t" r="r" b="b"/>
              <a:pathLst>
                <a:path w="300989" h="283210">
                  <a:moveTo>
                    <a:pt x="150240" y="0"/>
                  </a:moveTo>
                  <a:lnTo>
                    <a:pt x="114807" y="108076"/>
                  </a:lnTo>
                  <a:lnTo>
                    <a:pt x="0" y="108076"/>
                  </a:lnTo>
                  <a:lnTo>
                    <a:pt x="92837" y="174878"/>
                  </a:lnTo>
                  <a:lnTo>
                    <a:pt x="57403" y="282955"/>
                  </a:lnTo>
                  <a:lnTo>
                    <a:pt x="150240" y="216153"/>
                  </a:lnTo>
                  <a:lnTo>
                    <a:pt x="243077" y="282955"/>
                  </a:lnTo>
                  <a:lnTo>
                    <a:pt x="207644" y="174878"/>
                  </a:lnTo>
                  <a:lnTo>
                    <a:pt x="300481" y="108076"/>
                  </a:lnTo>
                  <a:lnTo>
                    <a:pt x="185800" y="108076"/>
                  </a:lnTo>
                  <a:lnTo>
                    <a:pt x="150240" y="0"/>
                  </a:lnTo>
                  <a:close/>
                </a:path>
              </a:pathLst>
            </a:custGeom>
            <a:solidFill>
              <a:srgbClr val="CE11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4439158" y="2186432"/>
              <a:ext cx="300990" cy="283210"/>
            </a:xfrm>
            <a:custGeom>
              <a:avLst/>
              <a:gdLst/>
              <a:ahLst/>
              <a:cxnLst/>
              <a:rect l="l" t="t" r="r" b="b"/>
              <a:pathLst>
                <a:path w="300989" h="283210">
                  <a:moveTo>
                    <a:pt x="0" y="108076"/>
                  </a:moveTo>
                  <a:lnTo>
                    <a:pt x="114807" y="108076"/>
                  </a:lnTo>
                  <a:lnTo>
                    <a:pt x="150240" y="0"/>
                  </a:lnTo>
                  <a:lnTo>
                    <a:pt x="185800" y="108076"/>
                  </a:lnTo>
                  <a:lnTo>
                    <a:pt x="300481" y="108076"/>
                  </a:lnTo>
                  <a:lnTo>
                    <a:pt x="207644" y="174878"/>
                  </a:lnTo>
                  <a:lnTo>
                    <a:pt x="243077" y="282955"/>
                  </a:lnTo>
                  <a:lnTo>
                    <a:pt x="150240" y="216153"/>
                  </a:lnTo>
                  <a:lnTo>
                    <a:pt x="57403" y="282955"/>
                  </a:lnTo>
                  <a:lnTo>
                    <a:pt x="92837" y="174878"/>
                  </a:lnTo>
                  <a:lnTo>
                    <a:pt x="0" y="108076"/>
                  </a:lnTo>
                  <a:close/>
                </a:path>
              </a:pathLst>
            </a:custGeom>
            <a:ln w="12700">
              <a:solidFill>
                <a:srgbClr val="CE11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 descr=""/>
          <p:cNvSpPr txBox="1"/>
          <p:nvPr/>
        </p:nvSpPr>
        <p:spPr>
          <a:xfrm>
            <a:off x="4163695" y="2505582"/>
            <a:ext cx="84645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5575" marR="5080" indent="-14351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RLPM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Policies Released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93" name="object 93" descr=""/>
          <p:cNvGrpSpPr/>
          <p:nvPr/>
        </p:nvGrpSpPr>
        <p:grpSpPr>
          <a:xfrm>
            <a:off x="7623429" y="2182241"/>
            <a:ext cx="313690" cy="295910"/>
            <a:chOff x="7623429" y="2182241"/>
            <a:chExt cx="313690" cy="295910"/>
          </a:xfrm>
        </p:grpSpPr>
        <p:sp>
          <p:nvSpPr>
            <p:cNvPr id="94" name="object 94" descr=""/>
            <p:cNvSpPr/>
            <p:nvPr/>
          </p:nvSpPr>
          <p:spPr>
            <a:xfrm>
              <a:off x="7629779" y="2188591"/>
              <a:ext cx="300990" cy="283210"/>
            </a:xfrm>
            <a:custGeom>
              <a:avLst/>
              <a:gdLst/>
              <a:ahLst/>
              <a:cxnLst/>
              <a:rect l="l" t="t" r="r" b="b"/>
              <a:pathLst>
                <a:path w="300990" h="283210">
                  <a:moveTo>
                    <a:pt x="150241" y="0"/>
                  </a:moveTo>
                  <a:lnTo>
                    <a:pt x="114680" y="108076"/>
                  </a:lnTo>
                  <a:lnTo>
                    <a:pt x="0" y="108076"/>
                  </a:lnTo>
                  <a:lnTo>
                    <a:pt x="92837" y="174879"/>
                  </a:lnTo>
                  <a:lnTo>
                    <a:pt x="57403" y="282956"/>
                  </a:lnTo>
                  <a:lnTo>
                    <a:pt x="150241" y="216154"/>
                  </a:lnTo>
                  <a:lnTo>
                    <a:pt x="243077" y="282956"/>
                  </a:lnTo>
                  <a:lnTo>
                    <a:pt x="207645" y="174879"/>
                  </a:lnTo>
                  <a:lnTo>
                    <a:pt x="300481" y="108076"/>
                  </a:lnTo>
                  <a:lnTo>
                    <a:pt x="185674" y="108076"/>
                  </a:lnTo>
                  <a:lnTo>
                    <a:pt x="150241" y="0"/>
                  </a:lnTo>
                  <a:close/>
                </a:path>
              </a:pathLst>
            </a:custGeom>
            <a:solidFill>
              <a:srgbClr val="CE11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7629779" y="2188591"/>
              <a:ext cx="300990" cy="283210"/>
            </a:xfrm>
            <a:custGeom>
              <a:avLst/>
              <a:gdLst/>
              <a:ahLst/>
              <a:cxnLst/>
              <a:rect l="l" t="t" r="r" b="b"/>
              <a:pathLst>
                <a:path w="300990" h="283210">
                  <a:moveTo>
                    <a:pt x="0" y="108076"/>
                  </a:moveTo>
                  <a:lnTo>
                    <a:pt x="114680" y="108076"/>
                  </a:lnTo>
                  <a:lnTo>
                    <a:pt x="150241" y="0"/>
                  </a:lnTo>
                  <a:lnTo>
                    <a:pt x="185674" y="108076"/>
                  </a:lnTo>
                  <a:lnTo>
                    <a:pt x="300481" y="108076"/>
                  </a:lnTo>
                  <a:lnTo>
                    <a:pt x="207645" y="174879"/>
                  </a:lnTo>
                  <a:lnTo>
                    <a:pt x="243077" y="282956"/>
                  </a:lnTo>
                  <a:lnTo>
                    <a:pt x="150241" y="216154"/>
                  </a:lnTo>
                  <a:lnTo>
                    <a:pt x="57403" y="282956"/>
                  </a:lnTo>
                  <a:lnTo>
                    <a:pt x="92837" y="174879"/>
                  </a:lnTo>
                  <a:lnTo>
                    <a:pt x="0" y="108076"/>
                  </a:lnTo>
                  <a:close/>
                </a:path>
              </a:pathLst>
            </a:custGeom>
            <a:ln w="12700">
              <a:solidFill>
                <a:srgbClr val="CE11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 descr=""/>
          <p:cNvSpPr txBox="1"/>
          <p:nvPr/>
        </p:nvSpPr>
        <p:spPr>
          <a:xfrm>
            <a:off x="7359777" y="2477261"/>
            <a:ext cx="84645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715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Compliance</a:t>
            </a:r>
            <a:r>
              <a:rPr dirty="0" sz="1000" spc="-65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to </a:t>
            </a:r>
            <a:r>
              <a:rPr dirty="0" sz="1000">
                <a:latin typeface="Arial"/>
                <a:cs typeface="Arial"/>
              </a:rPr>
              <a:t>RLPM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Policies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97" name="object 97" descr=""/>
          <p:cNvGrpSpPr/>
          <p:nvPr/>
        </p:nvGrpSpPr>
        <p:grpSpPr>
          <a:xfrm>
            <a:off x="2144648" y="3080004"/>
            <a:ext cx="1031875" cy="328930"/>
            <a:chOff x="2144648" y="3080004"/>
            <a:chExt cx="1031875" cy="328930"/>
          </a:xfrm>
        </p:grpSpPr>
        <p:sp>
          <p:nvSpPr>
            <p:cNvPr id="98" name="object 98" descr=""/>
            <p:cNvSpPr/>
            <p:nvPr/>
          </p:nvSpPr>
          <p:spPr>
            <a:xfrm>
              <a:off x="2150998" y="3086354"/>
              <a:ext cx="1019175" cy="316230"/>
            </a:xfrm>
            <a:custGeom>
              <a:avLst/>
              <a:gdLst/>
              <a:ahLst/>
              <a:cxnLst/>
              <a:rect l="l" t="t" r="r" b="b"/>
              <a:pathLst>
                <a:path w="1019175" h="316229">
                  <a:moveTo>
                    <a:pt x="809370" y="0"/>
                  </a:moveTo>
                  <a:lnTo>
                    <a:pt x="0" y="0"/>
                  </a:lnTo>
                  <a:lnTo>
                    <a:pt x="0" y="315849"/>
                  </a:lnTo>
                  <a:lnTo>
                    <a:pt x="809370" y="315849"/>
                  </a:lnTo>
                  <a:lnTo>
                    <a:pt x="1019048" y="157987"/>
                  </a:lnTo>
                  <a:lnTo>
                    <a:pt x="809370" y="0"/>
                  </a:lnTo>
                  <a:close/>
                </a:path>
              </a:pathLst>
            </a:custGeom>
            <a:solidFill>
              <a:srgbClr val="B7A9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2150998" y="3086354"/>
              <a:ext cx="1019175" cy="316230"/>
            </a:xfrm>
            <a:custGeom>
              <a:avLst/>
              <a:gdLst/>
              <a:ahLst/>
              <a:cxnLst/>
              <a:rect l="l" t="t" r="r" b="b"/>
              <a:pathLst>
                <a:path w="1019175" h="316229">
                  <a:moveTo>
                    <a:pt x="0" y="0"/>
                  </a:moveTo>
                  <a:lnTo>
                    <a:pt x="809370" y="0"/>
                  </a:lnTo>
                  <a:lnTo>
                    <a:pt x="1019048" y="157987"/>
                  </a:lnTo>
                  <a:lnTo>
                    <a:pt x="809370" y="315849"/>
                  </a:lnTo>
                  <a:lnTo>
                    <a:pt x="0" y="31584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B7A99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 descr=""/>
          <p:cNvSpPr txBox="1"/>
          <p:nvPr/>
        </p:nvSpPr>
        <p:spPr>
          <a:xfrm>
            <a:off x="2168398" y="3073399"/>
            <a:ext cx="78486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6845" marR="5080" indent="-1447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Final</a:t>
            </a:r>
            <a:r>
              <a:rPr dirty="0" sz="1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LW</a:t>
            </a: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 Doc 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Updates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1" name="object 101" descr=""/>
          <p:cNvSpPr/>
          <p:nvPr/>
        </p:nvSpPr>
        <p:spPr>
          <a:xfrm>
            <a:off x="3072892" y="3355466"/>
            <a:ext cx="213360" cy="212090"/>
          </a:xfrm>
          <a:custGeom>
            <a:avLst/>
            <a:gdLst/>
            <a:ahLst/>
            <a:cxnLst/>
            <a:rect l="l" t="t" r="r" b="b"/>
            <a:pathLst>
              <a:path w="213360" h="212089">
                <a:moveTo>
                  <a:pt x="106425" y="0"/>
                </a:moveTo>
                <a:lnTo>
                  <a:pt x="0" y="105918"/>
                </a:lnTo>
                <a:lnTo>
                  <a:pt x="106425" y="211836"/>
                </a:lnTo>
                <a:lnTo>
                  <a:pt x="212852" y="105918"/>
                </a:lnTo>
                <a:lnTo>
                  <a:pt x="106425" y="0"/>
                </a:lnTo>
                <a:close/>
              </a:path>
            </a:pathLst>
          </a:custGeom>
          <a:solidFill>
            <a:srgbClr val="B7A9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 descr=""/>
          <p:cNvSpPr txBox="1"/>
          <p:nvPr/>
        </p:nvSpPr>
        <p:spPr>
          <a:xfrm>
            <a:off x="2670175" y="3576320"/>
            <a:ext cx="103124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5494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LW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Updates </a:t>
            </a:r>
            <a:r>
              <a:rPr dirty="0" sz="1000">
                <a:latin typeface="Arial"/>
                <a:cs typeface="Arial"/>
              </a:rPr>
              <a:t>Ballot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Submission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03" name="object 103" descr=""/>
          <p:cNvGrpSpPr/>
          <p:nvPr/>
        </p:nvGrpSpPr>
        <p:grpSpPr>
          <a:xfrm>
            <a:off x="2093086" y="2167382"/>
            <a:ext cx="1143000" cy="328930"/>
            <a:chOff x="2093086" y="2167382"/>
            <a:chExt cx="1143000" cy="328930"/>
          </a:xfrm>
        </p:grpSpPr>
        <p:sp>
          <p:nvSpPr>
            <p:cNvPr id="104" name="object 104" descr=""/>
            <p:cNvSpPr/>
            <p:nvPr/>
          </p:nvSpPr>
          <p:spPr>
            <a:xfrm>
              <a:off x="2099436" y="2173732"/>
              <a:ext cx="1130300" cy="316230"/>
            </a:xfrm>
            <a:custGeom>
              <a:avLst/>
              <a:gdLst/>
              <a:ahLst/>
              <a:cxnLst/>
              <a:rect l="l" t="t" r="r" b="b"/>
              <a:pathLst>
                <a:path w="1130300" h="316230">
                  <a:moveTo>
                    <a:pt x="920369" y="0"/>
                  </a:moveTo>
                  <a:lnTo>
                    <a:pt x="0" y="0"/>
                  </a:lnTo>
                  <a:lnTo>
                    <a:pt x="0" y="315848"/>
                  </a:lnTo>
                  <a:lnTo>
                    <a:pt x="920369" y="315848"/>
                  </a:lnTo>
                  <a:lnTo>
                    <a:pt x="1130045" y="157860"/>
                  </a:lnTo>
                  <a:lnTo>
                    <a:pt x="920369" y="0"/>
                  </a:lnTo>
                  <a:close/>
                </a:path>
              </a:pathLst>
            </a:custGeom>
            <a:solidFill>
              <a:srgbClr val="CE11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2099436" y="2173732"/>
              <a:ext cx="1130300" cy="316230"/>
            </a:xfrm>
            <a:custGeom>
              <a:avLst/>
              <a:gdLst/>
              <a:ahLst/>
              <a:cxnLst/>
              <a:rect l="l" t="t" r="r" b="b"/>
              <a:pathLst>
                <a:path w="1130300" h="316230">
                  <a:moveTo>
                    <a:pt x="0" y="0"/>
                  </a:moveTo>
                  <a:lnTo>
                    <a:pt x="920369" y="0"/>
                  </a:lnTo>
                  <a:lnTo>
                    <a:pt x="1130045" y="157860"/>
                  </a:lnTo>
                  <a:lnTo>
                    <a:pt x="920369" y="315848"/>
                  </a:lnTo>
                  <a:lnTo>
                    <a:pt x="0" y="31584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CE11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6" name="object 106" descr=""/>
          <p:cNvSpPr txBox="1"/>
          <p:nvPr/>
        </p:nvSpPr>
        <p:spPr>
          <a:xfrm>
            <a:off x="2345563" y="2170302"/>
            <a:ext cx="57340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5720" marR="5080" indent="-33655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BU</a:t>
            </a:r>
            <a:r>
              <a:rPr dirty="0" sz="10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Policy Reviews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7" name="object 107" descr=""/>
          <p:cNvSpPr/>
          <p:nvPr/>
        </p:nvSpPr>
        <p:spPr>
          <a:xfrm>
            <a:off x="4024503" y="3509898"/>
            <a:ext cx="2188210" cy="316230"/>
          </a:xfrm>
          <a:custGeom>
            <a:avLst/>
            <a:gdLst/>
            <a:ahLst/>
            <a:cxnLst/>
            <a:rect l="l" t="t" r="r" b="b"/>
            <a:pathLst>
              <a:path w="2188210" h="316229">
                <a:moveTo>
                  <a:pt x="1978533" y="0"/>
                </a:moveTo>
                <a:lnTo>
                  <a:pt x="0" y="0"/>
                </a:lnTo>
                <a:lnTo>
                  <a:pt x="0" y="315975"/>
                </a:lnTo>
                <a:lnTo>
                  <a:pt x="1978533" y="315975"/>
                </a:lnTo>
                <a:lnTo>
                  <a:pt x="2188210" y="157987"/>
                </a:lnTo>
                <a:lnTo>
                  <a:pt x="1978533" y="0"/>
                </a:lnTo>
                <a:close/>
              </a:path>
            </a:pathLst>
          </a:custGeom>
          <a:solidFill>
            <a:srgbClr val="6266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 descr=""/>
          <p:cNvSpPr txBox="1"/>
          <p:nvPr/>
        </p:nvSpPr>
        <p:spPr>
          <a:xfrm>
            <a:off x="3697351" y="3104133"/>
            <a:ext cx="1238885" cy="7181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2095" marR="219710" indent="-240029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RLPM</a:t>
            </a:r>
            <a:r>
              <a:rPr dirty="0" sz="10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Redlines</a:t>
            </a:r>
            <a:r>
              <a:rPr dirty="0" sz="1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Arial"/>
                <a:cs typeface="Arial"/>
              </a:rPr>
              <a:t>&amp; 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Iterations</a:t>
            </a:r>
            <a:endParaRPr sz="1000">
              <a:latin typeface="Arial"/>
              <a:cs typeface="Arial"/>
            </a:endParaRPr>
          </a:p>
          <a:p>
            <a:pPr algn="ctr" marL="436880">
              <a:lnSpc>
                <a:spcPct val="100000"/>
              </a:lnSpc>
              <a:spcBef>
                <a:spcPts val="660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RLPM</a:t>
            </a:r>
            <a:r>
              <a:rPr dirty="0" sz="1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Doc</a:t>
            </a:r>
            <a:endParaRPr sz="1000">
              <a:latin typeface="Arial"/>
              <a:cs typeface="Arial"/>
            </a:endParaRPr>
          </a:p>
          <a:p>
            <a:pPr algn="ctr" marL="436880">
              <a:lnSpc>
                <a:spcPct val="100000"/>
              </a:lnSpc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Peer</a:t>
            </a: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Reviews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9" name="object 109" descr=""/>
          <p:cNvSpPr/>
          <p:nvPr/>
        </p:nvSpPr>
        <p:spPr>
          <a:xfrm>
            <a:off x="5268214" y="3104514"/>
            <a:ext cx="1253490" cy="316230"/>
          </a:xfrm>
          <a:custGeom>
            <a:avLst/>
            <a:gdLst/>
            <a:ahLst/>
            <a:cxnLst/>
            <a:rect l="l" t="t" r="r" b="b"/>
            <a:pathLst>
              <a:path w="1253490" h="316229">
                <a:moveTo>
                  <a:pt x="1043432" y="0"/>
                </a:moveTo>
                <a:lnTo>
                  <a:pt x="0" y="0"/>
                </a:lnTo>
                <a:lnTo>
                  <a:pt x="0" y="315849"/>
                </a:lnTo>
                <a:lnTo>
                  <a:pt x="1043432" y="315849"/>
                </a:lnTo>
                <a:lnTo>
                  <a:pt x="1253109" y="157861"/>
                </a:lnTo>
                <a:lnTo>
                  <a:pt x="1043432" y="0"/>
                </a:lnTo>
                <a:close/>
              </a:path>
            </a:pathLst>
          </a:custGeom>
          <a:solidFill>
            <a:srgbClr val="6266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 descr=""/>
          <p:cNvSpPr txBox="1"/>
          <p:nvPr/>
        </p:nvSpPr>
        <p:spPr>
          <a:xfrm>
            <a:off x="5631941" y="3085592"/>
            <a:ext cx="50038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0005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Council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Reviews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1" name="object 111" descr=""/>
          <p:cNvSpPr/>
          <p:nvPr/>
        </p:nvSpPr>
        <p:spPr>
          <a:xfrm>
            <a:off x="6437503" y="3413505"/>
            <a:ext cx="213360" cy="212090"/>
          </a:xfrm>
          <a:custGeom>
            <a:avLst/>
            <a:gdLst/>
            <a:ahLst/>
            <a:cxnLst/>
            <a:rect l="l" t="t" r="r" b="b"/>
            <a:pathLst>
              <a:path w="213359" h="212089">
                <a:moveTo>
                  <a:pt x="106425" y="0"/>
                </a:moveTo>
                <a:lnTo>
                  <a:pt x="0" y="105918"/>
                </a:lnTo>
                <a:lnTo>
                  <a:pt x="106425" y="211836"/>
                </a:lnTo>
                <a:lnTo>
                  <a:pt x="212851" y="105918"/>
                </a:lnTo>
                <a:lnTo>
                  <a:pt x="106425" y="0"/>
                </a:lnTo>
                <a:close/>
              </a:path>
            </a:pathLst>
          </a:custGeom>
          <a:solidFill>
            <a:srgbClr val="6266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 descr=""/>
          <p:cNvSpPr txBox="1"/>
          <p:nvPr/>
        </p:nvSpPr>
        <p:spPr>
          <a:xfrm>
            <a:off x="6128384" y="3597402"/>
            <a:ext cx="103124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Arial"/>
                <a:cs typeface="Arial"/>
              </a:rPr>
              <a:t>RLPM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000">
                <a:latin typeface="Arial"/>
                <a:cs typeface="Arial"/>
              </a:rPr>
              <a:t>Ballot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Submission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3" name="object 113" descr=""/>
          <p:cNvSpPr/>
          <p:nvPr/>
        </p:nvSpPr>
        <p:spPr>
          <a:xfrm>
            <a:off x="7514590" y="3402076"/>
            <a:ext cx="213360" cy="212090"/>
          </a:xfrm>
          <a:custGeom>
            <a:avLst/>
            <a:gdLst/>
            <a:ahLst/>
            <a:cxnLst/>
            <a:rect l="l" t="t" r="r" b="b"/>
            <a:pathLst>
              <a:path w="213359" h="212089">
                <a:moveTo>
                  <a:pt x="106425" y="0"/>
                </a:moveTo>
                <a:lnTo>
                  <a:pt x="0" y="105918"/>
                </a:lnTo>
                <a:lnTo>
                  <a:pt x="106425" y="211962"/>
                </a:lnTo>
                <a:lnTo>
                  <a:pt x="212851" y="105918"/>
                </a:lnTo>
                <a:lnTo>
                  <a:pt x="106425" y="0"/>
                </a:lnTo>
                <a:close/>
              </a:path>
            </a:pathLst>
          </a:custGeom>
          <a:solidFill>
            <a:srgbClr val="6266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 descr=""/>
          <p:cNvSpPr txBox="1"/>
          <p:nvPr/>
        </p:nvSpPr>
        <p:spPr>
          <a:xfrm>
            <a:off x="7273797" y="3606165"/>
            <a:ext cx="88265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3335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RLPM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Level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1 </a:t>
            </a:r>
            <a:r>
              <a:rPr dirty="0" sz="1000">
                <a:solidFill>
                  <a:srgbClr val="1F2A44"/>
                </a:solidFill>
                <a:latin typeface="Arial"/>
                <a:cs typeface="Arial"/>
              </a:rPr>
              <a:t>Docs</a:t>
            </a:r>
            <a:r>
              <a:rPr dirty="0" sz="1000" spc="-3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Released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5" name="object 115" descr=""/>
          <p:cNvSpPr/>
          <p:nvPr/>
        </p:nvSpPr>
        <p:spPr>
          <a:xfrm>
            <a:off x="7836407" y="4062476"/>
            <a:ext cx="3564254" cy="316230"/>
          </a:xfrm>
          <a:custGeom>
            <a:avLst/>
            <a:gdLst/>
            <a:ahLst/>
            <a:cxnLst/>
            <a:rect l="l" t="t" r="r" b="b"/>
            <a:pathLst>
              <a:path w="3564254" h="316229">
                <a:moveTo>
                  <a:pt x="3354451" y="0"/>
                </a:moveTo>
                <a:lnTo>
                  <a:pt x="0" y="0"/>
                </a:lnTo>
                <a:lnTo>
                  <a:pt x="0" y="315849"/>
                </a:lnTo>
                <a:lnTo>
                  <a:pt x="3354451" y="315849"/>
                </a:lnTo>
                <a:lnTo>
                  <a:pt x="3564128" y="157987"/>
                </a:lnTo>
                <a:lnTo>
                  <a:pt x="3354451" y="0"/>
                </a:lnTo>
                <a:close/>
              </a:path>
            </a:pathLst>
          </a:custGeom>
          <a:solidFill>
            <a:srgbClr val="7AA7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 descr=""/>
          <p:cNvSpPr txBox="1"/>
          <p:nvPr/>
        </p:nvSpPr>
        <p:spPr>
          <a:xfrm>
            <a:off x="8435720" y="4051808"/>
            <a:ext cx="198945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5904" marR="5080" indent="-24384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Level</a:t>
            </a:r>
            <a:r>
              <a:rPr dirty="0" sz="10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10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document</a:t>
            </a:r>
            <a:r>
              <a:rPr dirty="0" sz="10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updates/creation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Training</a:t>
            </a:r>
            <a:r>
              <a:rPr dirty="0" sz="1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Implementation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7" name="object 117" descr=""/>
          <p:cNvSpPr/>
          <p:nvPr/>
        </p:nvSpPr>
        <p:spPr>
          <a:xfrm>
            <a:off x="3415284" y="4051808"/>
            <a:ext cx="1795145" cy="306070"/>
          </a:xfrm>
          <a:custGeom>
            <a:avLst/>
            <a:gdLst/>
            <a:ahLst/>
            <a:cxnLst/>
            <a:rect l="l" t="t" r="r" b="b"/>
            <a:pathLst>
              <a:path w="1795145" h="306070">
                <a:moveTo>
                  <a:pt x="1591944" y="0"/>
                </a:moveTo>
                <a:lnTo>
                  <a:pt x="0" y="0"/>
                </a:lnTo>
                <a:lnTo>
                  <a:pt x="0" y="305943"/>
                </a:lnTo>
                <a:lnTo>
                  <a:pt x="1591944" y="305943"/>
                </a:lnTo>
                <a:lnTo>
                  <a:pt x="1795017" y="152908"/>
                </a:lnTo>
                <a:lnTo>
                  <a:pt x="1591944" y="0"/>
                </a:lnTo>
                <a:close/>
              </a:path>
            </a:pathLst>
          </a:custGeom>
          <a:solidFill>
            <a:srgbClr val="7AA7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 descr=""/>
          <p:cNvSpPr txBox="1"/>
          <p:nvPr/>
        </p:nvSpPr>
        <p:spPr>
          <a:xfrm>
            <a:off x="3699764" y="4038091"/>
            <a:ext cx="88201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7645" marR="5080" indent="-1955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Functional</a:t>
            </a:r>
            <a:r>
              <a:rPr dirty="0" sz="10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Gap 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9" name="object 119" descr=""/>
          <p:cNvSpPr/>
          <p:nvPr/>
        </p:nvSpPr>
        <p:spPr>
          <a:xfrm>
            <a:off x="7717281" y="3144139"/>
            <a:ext cx="1693545" cy="286385"/>
          </a:xfrm>
          <a:custGeom>
            <a:avLst/>
            <a:gdLst/>
            <a:ahLst/>
            <a:cxnLst/>
            <a:rect l="l" t="t" r="r" b="b"/>
            <a:pathLst>
              <a:path w="1693545" h="286385">
                <a:moveTo>
                  <a:pt x="1503299" y="0"/>
                </a:moveTo>
                <a:lnTo>
                  <a:pt x="0" y="0"/>
                </a:lnTo>
                <a:lnTo>
                  <a:pt x="0" y="286131"/>
                </a:lnTo>
                <a:lnTo>
                  <a:pt x="1503299" y="286131"/>
                </a:lnTo>
                <a:lnTo>
                  <a:pt x="1693291" y="143001"/>
                </a:lnTo>
                <a:lnTo>
                  <a:pt x="1503299" y="0"/>
                </a:lnTo>
                <a:close/>
              </a:path>
            </a:pathLst>
          </a:custGeom>
          <a:solidFill>
            <a:srgbClr val="6266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 descr=""/>
          <p:cNvSpPr txBox="1"/>
          <p:nvPr/>
        </p:nvSpPr>
        <p:spPr>
          <a:xfrm>
            <a:off x="7917560" y="3195573"/>
            <a:ext cx="100139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90</a:t>
            </a:r>
            <a:r>
              <a:rPr dirty="0" sz="1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Day</a:t>
            </a: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Effectivity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21" name="object 121" descr=""/>
          <p:cNvGrpSpPr/>
          <p:nvPr/>
        </p:nvGrpSpPr>
        <p:grpSpPr>
          <a:xfrm>
            <a:off x="4860797" y="2116582"/>
            <a:ext cx="3042285" cy="3592195"/>
            <a:chOff x="4860797" y="2116582"/>
            <a:chExt cx="3042285" cy="3592195"/>
          </a:xfrm>
        </p:grpSpPr>
        <p:sp>
          <p:nvSpPr>
            <p:cNvPr id="122" name="object 122" descr=""/>
            <p:cNvSpPr/>
            <p:nvPr/>
          </p:nvSpPr>
          <p:spPr>
            <a:xfrm>
              <a:off x="7883143" y="2126107"/>
              <a:ext cx="10160" cy="3573145"/>
            </a:xfrm>
            <a:custGeom>
              <a:avLst/>
              <a:gdLst/>
              <a:ahLst/>
              <a:cxnLst/>
              <a:rect l="l" t="t" r="r" b="b"/>
              <a:pathLst>
                <a:path w="10159" h="3573145">
                  <a:moveTo>
                    <a:pt x="9905" y="0"/>
                  </a:moveTo>
                  <a:lnTo>
                    <a:pt x="0" y="3572751"/>
                  </a:lnTo>
                </a:path>
              </a:pathLst>
            </a:custGeom>
            <a:ln w="19050">
              <a:solidFill>
                <a:srgbClr val="EEB66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4860797" y="4381119"/>
              <a:ext cx="213360" cy="212090"/>
            </a:xfrm>
            <a:custGeom>
              <a:avLst/>
              <a:gdLst/>
              <a:ahLst/>
              <a:cxnLst/>
              <a:rect l="l" t="t" r="r" b="b"/>
              <a:pathLst>
                <a:path w="213360" h="212089">
                  <a:moveTo>
                    <a:pt x="106425" y="0"/>
                  </a:moveTo>
                  <a:lnTo>
                    <a:pt x="0" y="105917"/>
                  </a:lnTo>
                  <a:lnTo>
                    <a:pt x="106425" y="211835"/>
                  </a:lnTo>
                  <a:lnTo>
                    <a:pt x="212851" y="105917"/>
                  </a:lnTo>
                  <a:lnTo>
                    <a:pt x="106425" y="0"/>
                  </a:lnTo>
                  <a:close/>
                </a:path>
              </a:pathLst>
            </a:custGeom>
            <a:solidFill>
              <a:srgbClr val="7AA7B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4" name="object 124" descr=""/>
          <p:cNvSpPr txBox="1"/>
          <p:nvPr/>
        </p:nvSpPr>
        <p:spPr>
          <a:xfrm>
            <a:off x="4547108" y="4558029"/>
            <a:ext cx="8197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9065" marR="5080" indent="-1270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Change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Mgmt </a:t>
            </a:r>
            <a:r>
              <a:rPr dirty="0" sz="1000" spc="-10">
                <a:latin typeface="Arial"/>
                <a:cs typeface="Arial"/>
              </a:rPr>
              <a:t>Workshop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5" name="object 125" descr=""/>
          <p:cNvSpPr/>
          <p:nvPr/>
        </p:nvSpPr>
        <p:spPr>
          <a:xfrm>
            <a:off x="7585710" y="4413376"/>
            <a:ext cx="3815079" cy="403225"/>
          </a:xfrm>
          <a:custGeom>
            <a:avLst/>
            <a:gdLst/>
            <a:ahLst/>
            <a:cxnLst/>
            <a:rect l="l" t="t" r="r" b="b"/>
            <a:pathLst>
              <a:path w="3815079" h="403225">
                <a:moveTo>
                  <a:pt x="212852" y="105918"/>
                </a:moveTo>
                <a:lnTo>
                  <a:pt x="106426" y="0"/>
                </a:lnTo>
                <a:lnTo>
                  <a:pt x="0" y="105918"/>
                </a:lnTo>
                <a:lnTo>
                  <a:pt x="106426" y="211836"/>
                </a:lnTo>
                <a:lnTo>
                  <a:pt x="212852" y="105918"/>
                </a:lnTo>
                <a:close/>
              </a:path>
              <a:path w="3815079" h="403225">
                <a:moveTo>
                  <a:pt x="3814826" y="245110"/>
                </a:moveTo>
                <a:lnTo>
                  <a:pt x="3605149" y="87122"/>
                </a:lnTo>
                <a:lnTo>
                  <a:pt x="850900" y="87122"/>
                </a:lnTo>
                <a:lnTo>
                  <a:pt x="850900" y="402971"/>
                </a:lnTo>
                <a:lnTo>
                  <a:pt x="3605149" y="402971"/>
                </a:lnTo>
                <a:lnTo>
                  <a:pt x="3814826" y="245110"/>
                </a:lnTo>
                <a:close/>
              </a:path>
            </a:pathLst>
          </a:custGeom>
          <a:solidFill>
            <a:srgbClr val="7AA7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 descr=""/>
          <p:cNvSpPr txBox="1"/>
          <p:nvPr/>
        </p:nvSpPr>
        <p:spPr>
          <a:xfrm>
            <a:off x="7047738" y="4666615"/>
            <a:ext cx="13042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New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program</a:t>
            </a:r>
            <a:r>
              <a:rPr dirty="0" sz="1000" spc="-3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adoption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7" name="object 127" descr=""/>
          <p:cNvSpPr txBox="1"/>
          <p:nvPr/>
        </p:nvSpPr>
        <p:spPr>
          <a:xfrm>
            <a:off x="9028303" y="4489830"/>
            <a:ext cx="119888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5120" marR="5080" indent="-313055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Program</a:t>
            </a:r>
            <a:r>
              <a:rPr dirty="0" sz="10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transition</a:t>
            </a:r>
            <a:r>
              <a:rPr dirty="0" sz="10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at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next</a:t>
            </a:r>
            <a:r>
              <a:rPr dirty="0" sz="1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Arial"/>
                <a:cs typeface="Arial"/>
              </a:rPr>
              <a:t>Gate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8" name="object 128" descr=""/>
          <p:cNvSpPr txBox="1"/>
          <p:nvPr/>
        </p:nvSpPr>
        <p:spPr>
          <a:xfrm>
            <a:off x="932789" y="5061966"/>
            <a:ext cx="10083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02565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Arial"/>
                <a:cs typeface="Arial"/>
              </a:rPr>
              <a:t>Metrics Incorporation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9" name="object 129" descr=""/>
          <p:cNvSpPr/>
          <p:nvPr/>
        </p:nvSpPr>
        <p:spPr>
          <a:xfrm>
            <a:off x="2234564" y="5005578"/>
            <a:ext cx="2969895" cy="306070"/>
          </a:xfrm>
          <a:custGeom>
            <a:avLst/>
            <a:gdLst/>
            <a:ahLst/>
            <a:cxnLst/>
            <a:rect l="l" t="t" r="r" b="b"/>
            <a:pathLst>
              <a:path w="2969895" h="306070">
                <a:moveTo>
                  <a:pt x="2766441" y="0"/>
                </a:moveTo>
                <a:lnTo>
                  <a:pt x="0" y="0"/>
                </a:lnTo>
                <a:lnTo>
                  <a:pt x="0" y="306070"/>
                </a:lnTo>
                <a:lnTo>
                  <a:pt x="2766441" y="306070"/>
                </a:lnTo>
                <a:lnTo>
                  <a:pt x="2969641" y="153035"/>
                </a:lnTo>
                <a:lnTo>
                  <a:pt x="2766441" y="0"/>
                </a:lnTo>
                <a:close/>
              </a:path>
            </a:pathLst>
          </a:custGeom>
          <a:solidFill>
            <a:srgbClr val="7AA7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 descr=""/>
          <p:cNvSpPr txBox="1"/>
          <p:nvPr/>
        </p:nvSpPr>
        <p:spPr>
          <a:xfrm>
            <a:off x="2512567" y="4992115"/>
            <a:ext cx="21590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4010" marR="5080" indent="-321945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Sprint</a:t>
            </a:r>
            <a:r>
              <a:rPr dirty="0" sz="1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1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Define</a:t>
            </a: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metrics</a:t>
            </a:r>
            <a:r>
              <a:rPr dirty="0" sz="10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0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calculation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Sprint</a:t>
            </a:r>
            <a:r>
              <a:rPr dirty="0" sz="1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1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0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DT</a:t>
            </a:r>
            <a:r>
              <a:rPr dirty="0" sz="1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CORE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 event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1" name="object 131" descr=""/>
          <p:cNvSpPr/>
          <p:nvPr/>
        </p:nvSpPr>
        <p:spPr>
          <a:xfrm>
            <a:off x="4289171" y="5388990"/>
            <a:ext cx="1224280" cy="306070"/>
          </a:xfrm>
          <a:custGeom>
            <a:avLst/>
            <a:gdLst/>
            <a:ahLst/>
            <a:cxnLst/>
            <a:rect l="l" t="t" r="r" b="b"/>
            <a:pathLst>
              <a:path w="1224279" h="306070">
                <a:moveTo>
                  <a:pt x="1020571" y="0"/>
                </a:moveTo>
                <a:lnTo>
                  <a:pt x="0" y="0"/>
                </a:lnTo>
                <a:lnTo>
                  <a:pt x="0" y="306006"/>
                </a:lnTo>
                <a:lnTo>
                  <a:pt x="1020571" y="306006"/>
                </a:lnTo>
                <a:lnTo>
                  <a:pt x="1223771" y="153035"/>
                </a:lnTo>
                <a:lnTo>
                  <a:pt x="1020571" y="0"/>
                </a:lnTo>
                <a:close/>
              </a:path>
            </a:pathLst>
          </a:custGeom>
          <a:solidFill>
            <a:srgbClr val="7AA7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 descr=""/>
          <p:cNvSpPr txBox="1"/>
          <p:nvPr/>
        </p:nvSpPr>
        <p:spPr>
          <a:xfrm>
            <a:off x="4422394" y="5375528"/>
            <a:ext cx="7689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0170" marR="5080" indent="-78105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Sprint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dirty="0" sz="1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0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DT 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Estimation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3" name="object 133" descr=""/>
          <p:cNvSpPr/>
          <p:nvPr/>
        </p:nvSpPr>
        <p:spPr>
          <a:xfrm>
            <a:off x="5950458" y="5385053"/>
            <a:ext cx="3627120" cy="316230"/>
          </a:xfrm>
          <a:custGeom>
            <a:avLst/>
            <a:gdLst/>
            <a:ahLst/>
            <a:cxnLst/>
            <a:rect l="l" t="t" r="r" b="b"/>
            <a:pathLst>
              <a:path w="3627120" h="316229">
                <a:moveTo>
                  <a:pt x="3417189" y="0"/>
                </a:moveTo>
                <a:lnTo>
                  <a:pt x="0" y="0"/>
                </a:lnTo>
                <a:lnTo>
                  <a:pt x="0" y="315925"/>
                </a:lnTo>
                <a:lnTo>
                  <a:pt x="3417189" y="315925"/>
                </a:lnTo>
                <a:lnTo>
                  <a:pt x="3626866" y="157988"/>
                </a:lnTo>
                <a:lnTo>
                  <a:pt x="3417189" y="0"/>
                </a:lnTo>
                <a:close/>
              </a:path>
            </a:pathLst>
          </a:custGeom>
          <a:solidFill>
            <a:srgbClr val="7AA7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 descr=""/>
          <p:cNvSpPr txBox="1"/>
          <p:nvPr/>
        </p:nvSpPr>
        <p:spPr>
          <a:xfrm>
            <a:off x="6586219" y="5450840"/>
            <a:ext cx="11106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Metrics</a:t>
            </a:r>
            <a:r>
              <a:rPr dirty="0" sz="10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"/>
                <a:cs typeface="Arial"/>
              </a:rPr>
              <a:t>Automation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35" name="object 135" descr=""/>
          <p:cNvGrpSpPr/>
          <p:nvPr/>
        </p:nvGrpSpPr>
        <p:grpSpPr>
          <a:xfrm>
            <a:off x="5432044" y="2180844"/>
            <a:ext cx="313690" cy="295910"/>
            <a:chOff x="5432044" y="2180844"/>
            <a:chExt cx="313690" cy="295910"/>
          </a:xfrm>
        </p:grpSpPr>
        <p:sp>
          <p:nvSpPr>
            <p:cNvPr id="136" name="object 136" descr=""/>
            <p:cNvSpPr/>
            <p:nvPr/>
          </p:nvSpPr>
          <p:spPr>
            <a:xfrm>
              <a:off x="5438394" y="2187194"/>
              <a:ext cx="300990" cy="283210"/>
            </a:xfrm>
            <a:custGeom>
              <a:avLst/>
              <a:gdLst/>
              <a:ahLst/>
              <a:cxnLst/>
              <a:rect l="l" t="t" r="r" b="b"/>
              <a:pathLst>
                <a:path w="300989" h="283210">
                  <a:moveTo>
                    <a:pt x="150240" y="0"/>
                  </a:moveTo>
                  <a:lnTo>
                    <a:pt x="114680" y="108076"/>
                  </a:lnTo>
                  <a:lnTo>
                    <a:pt x="0" y="108076"/>
                  </a:lnTo>
                  <a:lnTo>
                    <a:pt x="92836" y="174878"/>
                  </a:lnTo>
                  <a:lnTo>
                    <a:pt x="57403" y="282955"/>
                  </a:lnTo>
                  <a:lnTo>
                    <a:pt x="150240" y="216153"/>
                  </a:lnTo>
                  <a:lnTo>
                    <a:pt x="243077" y="282955"/>
                  </a:lnTo>
                  <a:lnTo>
                    <a:pt x="207644" y="174878"/>
                  </a:lnTo>
                  <a:lnTo>
                    <a:pt x="300481" y="108076"/>
                  </a:lnTo>
                  <a:lnTo>
                    <a:pt x="185673" y="108076"/>
                  </a:lnTo>
                  <a:lnTo>
                    <a:pt x="150240" y="0"/>
                  </a:lnTo>
                  <a:close/>
                </a:path>
              </a:pathLst>
            </a:custGeom>
            <a:solidFill>
              <a:srgbClr val="CE11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5438394" y="2187194"/>
              <a:ext cx="300990" cy="283210"/>
            </a:xfrm>
            <a:custGeom>
              <a:avLst/>
              <a:gdLst/>
              <a:ahLst/>
              <a:cxnLst/>
              <a:rect l="l" t="t" r="r" b="b"/>
              <a:pathLst>
                <a:path w="300989" h="283210">
                  <a:moveTo>
                    <a:pt x="0" y="108076"/>
                  </a:moveTo>
                  <a:lnTo>
                    <a:pt x="114680" y="108076"/>
                  </a:lnTo>
                  <a:lnTo>
                    <a:pt x="150240" y="0"/>
                  </a:lnTo>
                  <a:lnTo>
                    <a:pt x="185673" y="108076"/>
                  </a:lnTo>
                  <a:lnTo>
                    <a:pt x="300481" y="108076"/>
                  </a:lnTo>
                  <a:lnTo>
                    <a:pt x="207644" y="174878"/>
                  </a:lnTo>
                  <a:lnTo>
                    <a:pt x="243077" y="282955"/>
                  </a:lnTo>
                  <a:lnTo>
                    <a:pt x="150240" y="216153"/>
                  </a:lnTo>
                  <a:lnTo>
                    <a:pt x="57403" y="282955"/>
                  </a:lnTo>
                  <a:lnTo>
                    <a:pt x="92836" y="174878"/>
                  </a:lnTo>
                  <a:lnTo>
                    <a:pt x="0" y="108076"/>
                  </a:lnTo>
                  <a:close/>
                </a:path>
              </a:pathLst>
            </a:custGeom>
            <a:ln w="12700">
              <a:solidFill>
                <a:srgbClr val="CE11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8" name="object 138" descr=""/>
          <p:cNvSpPr txBox="1"/>
          <p:nvPr/>
        </p:nvSpPr>
        <p:spPr>
          <a:xfrm>
            <a:off x="5694426" y="2210180"/>
            <a:ext cx="102108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80975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"/>
                <a:cs typeface="Arial"/>
              </a:rPr>
              <a:t>Homeroom Recommendation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9" name="object 139" descr=""/>
          <p:cNvSpPr/>
          <p:nvPr/>
        </p:nvSpPr>
        <p:spPr>
          <a:xfrm>
            <a:off x="5889752" y="4372990"/>
            <a:ext cx="213360" cy="212090"/>
          </a:xfrm>
          <a:custGeom>
            <a:avLst/>
            <a:gdLst/>
            <a:ahLst/>
            <a:cxnLst/>
            <a:rect l="l" t="t" r="r" b="b"/>
            <a:pathLst>
              <a:path w="213360" h="212089">
                <a:moveTo>
                  <a:pt x="106425" y="0"/>
                </a:moveTo>
                <a:lnTo>
                  <a:pt x="0" y="105917"/>
                </a:lnTo>
                <a:lnTo>
                  <a:pt x="106425" y="211835"/>
                </a:lnTo>
                <a:lnTo>
                  <a:pt x="212851" y="105917"/>
                </a:lnTo>
                <a:lnTo>
                  <a:pt x="106425" y="0"/>
                </a:lnTo>
                <a:close/>
              </a:path>
            </a:pathLst>
          </a:custGeom>
          <a:solidFill>
            <a:srgbClr val="7AA7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 descr=""/>
          <p:cNvSpPr txBox="1"/>
          <p:nvPr/>
        </p:nvSpPr>
        <p:spPr>
          <a:xfrm>
            <a:off x="5675503" y="4549597"/>
            <a:ext cx="65405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"/>
                <a:cs typeface="Arial"/>
              </a:rPr>
              <a:t>Archetypes</a:t>
            </a:r>
            <a:endParaRPr sz="1000">
              <a:latin typeface="Arial"/>
              <a:cs typeface="Arial"/>
            </a:endParaRPr>
          </a:p>
          <a:p>
            <a:pPr marL="40005">
              <a:lnSpc>
                <a:spcPct val="100000"/>
              </a:lnSpc>
              <a:spcBef>
                <a:spcPts val="5"/>
              </a:spcBef>
            </a:pPr>
            <a:r>
              <a:rPr dirty="0" sz="1000" spc="-10">
                <a:latin typeface="Arial"/>
                <a:cs typeface="Arial"/>
              </a:rPr>
              <a:t>Workshop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2" name="object 14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11271" rIns="0" bIns="0" rtlCol="0" vert="horz">
            <a:spAutoFit/>
          </a:bodyPr>
          <a:lstStyle/>
          <a:p>
            <a:pPr marL="449453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z="800" spc="-50">
                <a:solidFill>
                  <a:srgbClr val="B8B9B0"/>
                </a:solidFill>
                <a:latin typeface="Arial Narrow"/>
                <a:cs typeface="Arial Narrow"/>
              </a:rPr>
              <a:t>7</a:t>
            </a:fld>
            <a:endParaRPr sz="800">
              <a:latin typeface="Arial Narrow"/>
              <a:cs typeface="Arial Narrow"/>
            </a:endParaRPr>
          </a:p>
        </p:txBody>
      </p:sp>
      <p:sp>
        <p:nvSpPr>
          <p:cNvPr id="143" name="object 143" descr=""/>
          <p:cNvSpPr txBox="1"/>
          <p:nvPr/>
        </p:nvSpPr>
        <p:spPr>
          <a:xfrm>
            <a:off x="2422017" y="6506237"/>
            <a:ext cx="1997075" cy="14287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EXPORT</a:t>
            </a:r>
            <a:r>
              <a:rPr dirty="0" sz="800" spc="-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 spc="-10">
                <a:solidFill>
                  <a:srgbClr val="B8B9B0"/>
                </a:solidFill>
                <a:latin typeface="Arial Narrow"/>
                <a:cs typeface="Arial Narrow"/>
              </a:rPr>
              <a:t>CLASSIFICATION:</a:t>
            </a:r>
            <a:r>
              <a:rPr dirty="0" sz="800" spc="-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NO</a:t>
            </a:r>
            <a:r>
              <a:rPr dirty="0" sz="800" spc="2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TECHNICAL</a:t>
            </a:r>
            <a:r>
              <a:rPr dirty="0" sz="800" spc="1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 spc="-20">
                <a:solidFill>
                  <a:srgbClr val="B8B9B0"/>
                </a:solidFill>
                <a:latin typeface="Arial Narrow"/>
                <a:cs typeface="Arial Narrow"/>
              </a:rPr>
              <a:t>DATA</a:t>
            </a:r>
            <a:endParaRPr sz="800">
              <a:latin typeface="Arial Narrow"/>
              <a:cs typeface="Arial Narrow"/>
            </a:endParaRPr>
          </a:p>
        </p:txBody>
      </p:sp>
      <p:sp>
        <p:nvSpPr>
          <p:cNvPr id="144" name="object 144" descr=""/>
          <p:cNvSpPr txBox="1"/>
          <p:nvPr/>
        </p:nvSpPr>
        <p:spPr>
          <a:xfrm>
            <a:off x="7856601" y="6529403"/>
            <a:ext cx="3075940" cy="14287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PRATT</a:t>
            </a:r>
            <a:r>
              <a:rPr dirty="0" sz="800" spc="-3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&amp; WHITNEY</a:t>
            </a:r>
            <a:r>
              <a:rPr dirty="0" sz="800" spc="-1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CANADA</a:t>
            </a:r>
            <a:r>
              <a:rPr dirty="0" sz="800" spc="-4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PROPRIETARY</a:t>
            </a:r>
            <a:r>
              <a:rPr dirty="0" sz="800" spc="265">
                <a:solidFill>
                  <a:srgbClr val="B8B9B0"/>
                </a:solidFill>
                <a:latin typeface="Arial Narrow"/>
                <a:cs typeface="Arial Narrow"/>
              </a:rPr>
              <a:t> 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|</a:t>
            </a:r>
            <a:r>
              <a:rPr dirty="0" sz="800" spc="195">
                <a:solidFill>
                  <a:srgbClr val="B8B9B0"/>
                </a:solidFill>
                <a:latin typeface="Arial Narrow"/>
                <a:cs typeface="Arial Narrow"/>
              </a:rPr>
              <a:t> 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©</a:t>
            </a:r>
            <a:r>
              <a:rPr dirty="0" sz="800" spc="4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2025</a:t>
            </a:r>
            <a:r>
              <a:rPr dirty="0" sz="800" spc="-1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PRATT</a:t>
            </a:r>
            <a:r>
              <a:rPr dirty="0" sz="800" spc="-1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&amp;</a:t>
            </a:r>
            <a:r>
              <a:rPr dirty="0" sz="800" spc="-2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 spc="-10">
                <a:solidFill>
                  <a:srgbClr val="B8B9B0"/>
                </a:solidFill>
                <a:latin typeface="Arial Narrow"/>
                <a:cs typeface="Arial Narrow"/>
              </a:rPr>
              <a:t>WHITNEY</a:t>
            </a:r>
            <a:endParaRPr sz="800">
              <a:latin typeface="Arial Narrow"/>
              <a:cs typeface="Arial Narrow"/>
            </a:endParaRPr>
          </a:p>
        </p:txBody>
      </p:sp>
      <p:sp>
        <p:nvSpPr>
          <p:cNvPr id="141" name="object 141" descr=""/>
          <p:cNvSpPr txBox="1"/>
          <p:nvPr/>
        </p:nvSpPr>
        <p:spPr>
          <a:xfrm>
            <a:off x="1332738" y="5945225"/>
            <a:ext cx="95230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90-day</a:t>
            </a:r>
            <a:r>
              <a:rPr dirty="0" sz="20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effectivity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after</a:t>
            </a:r>
            <a:r>
              <a:rPr dirty="0" sz="2000" spc="-1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April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require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support</a:t>
            </a:r>
            <a:r>
              <a:rPr dirty="0" sz="20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program</a:t>
            </a:r>
            <a:r>
              <a:rPr dirty="0" sz="20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transition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framework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96009" y="2234819"/>
            <a:ext cx="4135754" cy="1653539"/>
            <a:chOff x="1196009" y="2234819"/>
            <a:chExt cx="4135754" cy="1653539"/>
          </a:xfrm>
        </p:grpSpPr>
        <p:sp>
          <p:nvSpPr>
            <p:cNvPr id="3" name="object 3" descr=""/>
            <p:cNvSpPr/>
            <p:nvPr/>
          </p:nvSpPr>
          <p:spPr>
            <a:xfrm>
              <a:off x="5326380" y="2237994"/>
              <a:ext cx="2540" cy="1647189"/>
            </a:xfrm>
            <a:custGeom>
              <a:avLst/>
              <a:gdLst/>
              <a:ahLst/>
              <a:cxnLst/>
              <a:rect l="l" t="t" r="r" b="b"/>
              <a:pathLst>
                <a:path w="2539" h="1647189">
                  <a:moveTo>
                    <a:pt x="0" y="0"/>
                  </a:moveTo>
                  <a:lnTo>
                    <a:pt x="2032" y="1646808"/>
                  </a:lnTo>
                </a:path>
              </a:pathLst>
            </a:custGeom>
            <a:ln w="6349">
              <a:solidFill>
                <a:srgbClr val="D9D9D9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02359" y="2330450"/>
              <a:ext cx="1893570" cy="774065"/>
            </a:xfrm>
            <a:custGeom>
              <a:avLst/>
              <a:gdLst/>
              <a:ahLst/>
              <a:cxnLst/>
              <a:rect l="l" t="t" r="r" b="b"/>
              <a:pathLst>
                <a:path w="1893570" h="774064">
                  <a:moveTo>
                    <a:pt x="1815795" y="0"/>
                  </a:moveTo>
                  <a:lnTo>
                    <a:pt x="77419" y="0"/>
                  </a:lnTo>
                  <a:lnTo>
                    <a:pt x="47277" y="6086"/>
                  </a:lnTo>
                  <a:lnTo>
                    <a:pt x="22669" y="22685"/>
                  </a:lnTo>
                  <a:lnTo>
                    <a:pt x="6081" y="47309"/>
                  </a:lnTo>
                  <a:lnTo>
                    <a:pt x="0" y="77470"/>
                  </a:lnTo>
                  <a:lnTo>
                    <a:pt x="0" y="696467"/>
                  </a:lnTo>
                  <a:lnTo>
                    <a:pt x="6081" y="726555"/>
                  </a:lnTo>
                  <a:lnTo>
                    <a:pt x="22669" y="751141"/>
                  </a:lnTo>
                  <a:lnTo>
                    <a:pt x="47277" y="767726"/>
                  </a:lnTo>
                  <a:lnTo>
                    <a:pt x="77419" y="773811"/>
                  </a:lnTo>
                  <a:lnTo>
                    <a:pt x="1815795" y="773811"/>
                  </a:lnTo>
                  <a:lnTo>
                    <a:pt x="1845935" y="767726"/>
                  </a:lnTo>
                  <a:lnTo>
                    <a:pt x="1870516" y="751141"/>
                  </a:lnTo>
                  <a:lnTo>
                    <a:pt x="1887071" y="726555"/>
                  </a:lnTo>
                  <a:lnTo>
                    <a:pt x="1893138" y="696467"/>
                  </a:lnTo>
                  <a:lnTo>
                    <a:pt x="1893138" y="77470"/>
                  </a:lnTo>
                  <a:lnTo>
                    <a:pt x="1887071" y="47309"/>
                  </a:lnTo>
                  <a:lnTo>
                    <a:pt x="1870516" y="22685"/>
                  </a:lnTo>
                  <a:lnTo>
                    <a:pt x="1845935" y="6086"/>
                  </a:lnTo>
                  <a:lnTo>
                    <a:pt x="181579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02359" y="2330450"/>
              <a:ext cx="1893570" cy="774065"/>
            </a:xfrm>
            <a:custGeom>
              <a:avLst/>
              <a:gdLst/>
              <a:ahLst/>
              <a:cxnLst/>
              <a:rect l="l" t="t" r="r" b="b"/>
              <a:pathLst>
                <a:path w="1893570" h="774064">
                  <a:moveTo>
                    <a:pt x="0" y="77470"/>
                  </a:moveTo>
                  <a:lnTo>
                    <a:pt x="6081" y="47309"/>
                  </a:lnTo>
                  <a:lnTo>
                    <a:pt x="22669" y="22685"/>
                  </a:lnTo>
                  <a:lnTo>
                    <a:pt x="47277" y="6086"/>
                  </a:lnTo>
                  <a:lnTo>
                    <a:pt x="77419" y="0"/>
                  </a:lnTo>
                  <a:lnTo>
                    <a:pt x="1815795" y="0"/>
                  </a:lnTo>
                  <a:lnTo>
                    <a:pt x="1845935" y="6086"/>
                  </a:lnTo>
                  <a:lnTo>
                    <a:pt x="1870516" y="22685"/>
                  </a:lnTo>
                  <a:lnTo>
                    <a:pt x="1887071" y="47309"/>
                  </a:lnTo>
                  <a:lnTo>
                    <a:pt x="1893138" y="77470"/>
                  </a:lnTo>
                  <a:lnTo>
                    <a:pt x="1893138" y="696467"/>
                  </a:lnTo>
                  <a:lnTo>
                    <a:pt x="1887071" y="726555"/>
                  </a:lnTo>
                  <a:lnTo>
                    <a:pt x="1870516" y="751141"/>
                  </a:lnTo>
                  <a:lnTo>
                    <a:pt x="1845935" y="767726"/>
                  </a:lnTo>
                  <a:lnTo>
                    <a:pt x="1815795" y="773811"/>
                  </a:lnTo>
                  <a:lnTo>
                    <a:pt x="77419" y="773811"/>
                  </a:lnTo>
                  <a:lnTo>
                    <a:pt x="47277" y="767726"/>
                  </a:lnTo>
                  <a:lnTo>
                    <a:pt x="22669" y="751141"/>
                  </a:lnTo>
                  <a:lnTo>
                    <a:pt x="6081" y="726555"/>
                  </a:lnTo>
                  <a:lnTo>
                    <a:pt x="0" y="696467"/>
                  </a:lnTo>
                  <a:lnTo>
                    <a:pt x="0" y="77470"/>
                  </a:lnTo>
                  <a:close/>
                </a:path>
              </a:pathLst>
            </a:custGeom>
            <a:ln w="12700">
              <a:solidFill>
                <a:srgbClr val="B8B9B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9158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100"/>
              </a:spcBef>
            </a:pPr>
            <a:r>
              <a:rPr dirty="0"/>
              <a:t>P&amp;WC</a:t>
            </a:r>
            <a:r>
              <a:rPr dirty="0" spc="-20"/>
              <a:t> </a:t>
            </a:r>
            <a:r>
              <a:rPr dirty="0"/>
              <a:t>RLPM</a:t>
            </a:r>
            <a:r>
              <a:rPr dirty="0" spc="-30"/>
              <a:t> </a:t>
            </a:r>
            <a:r>
              <a:rPr dirty="0"/>
              <a:t>Compliance</a:t>
            </a:r>
            <a:r>
              <a:rPr dirty="0" spc="-45"/>
              <a:t> </a:t>
            </a:r>
            <a:r>
              <a:rPr dirty="0"/>
              <a:t>Strategy</a:t>
            </a:r>
            <a:r>
              <a:rPr dirty="0" spc="-30"/>
              <a:t> </a:t>
            </a:r>
            <a:r>
              <a:rPr dirty="0"/>
              <a:t>&amp;</a:t>
            </a:r>
            <a:r>
              <a:rPr dirty="0" spc="-20"/>
              <a:t> </a:t>
            </a:r>
            <a:r>
              <a:rPr dirty="0" spc="-10"/>
              <a:t>Deployment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641475" y="2412032"/>
            <a:ext cx="1017269" cy="52387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30"/>
              </a:spcBef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GCP-</a:t>
            </a: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59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General</a:t>
            </a:r>
            <a:r>
              <a:rPr dirty="0" sz="1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Policy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197343" y="3426967"/>
            <a:ext cx="1906270" cy="786765"/>
            <a:chOff x="1197343" y="3426967"/>
            <a:chExt cx="1906270" cy="786765"/>
          </a:xfrm>
        </p:grpSpPr>
        <p:sp>
          <p:nvSpPr>
            <p:cNvPr id="9" name="object 9" descr=""/>
            <p:cNvSpPr/>
            <p:nvPr/>
          </p:nvSpPr>
          <p:spPr>
            <a:xfrm>
              <a:off x="1203693" y="3433317"/>
              <a:ext cx="1893570" cy="774065"/>
            </a:xfrm>
            <a:custGeom>
              <a:avLst/>
              <a:gdLst/>
              <a:ahLst/>
              <a:cxnLst/>
              <a:rect l="l" t="t" r="r" b="b"/>
              <a:pathLst>
                <a:path w="1893570" h="774064">
                  <a:moveTo>
                    <a:pt x="1815858" y="0"/>
                  </a:moveTo>
                  <a:lnTo>
                    <a:pt x="77355" y="0"/>
                  </a:lnTo>
                  <a:lnTo>
                    <a:pt x="47245" y="6084"/>
                  </a:lnTo>
                  <a:lnTo>
                    <a:pt x="22656" y="22669"/>
                  </a:lnTo>
                  <a:lnTo>
                    <a:pt x="6078" y="47255"/>
                  </a:lnTo>
                  <a:lnTo>
                    <a:pt x="0" y="77343"/>
                  </a:lnTo>
                  <a:lnTo>
                    <a:pt x="0" y="696341"/>
                  </a:lnTo>
                  <a:lnTo>
                    <a:pt x="6078" y="726428"/>
                  </a:lnTo>
                  <a:lnTo>
                    <a:pt x="22656" y="751014"/>
                  </a:lnTo>
                  <a:lnTo>
                    <a:pt x="47245" y="767599"/>
                  </a:lnTo>
                  <a:lnTo>
                    <a:pt x="77355" y="773684"/>
                  </a:lnTo>
                  <a:lnTo>
                    <a:pt x="1815858" y="773684"/>
                  </a:lnTo>
                  <a:lnTo>
                    <a:pt x="1845945" y="767599"/>
                  </a:lnTo>
                  <a:lnTo>
                    <a:pt x="1870532" y="751014"/>
                  </a:lnTo>
                  <a:lnTo>
                    <a:pt x="1887117" y="726428"/>
                  </a:lnTo>
                  <a:lnTo>
                    <a:pt x="1893201" y="696341"/>
                  </a:lnTo>
                  <a:lnTo>
                    <a:pt x="1893201" y="77343"/>
                  </a:lnTo>
                  <a:lnTo>
                    <a:pt x="1887117" y="47255"/>
                  </a:lnTo>
                  <a:lnTo>
                    <a:pt x="1870532" y="22669"/>
                  </a:lnTo>
                  <a:lnTo>
                    <a:pt x="1845945" y="6084"/>
                  </a:lnTo>
                  <a:lnTo>
                    <a:pt x="181585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203693" y="3433317"/>
              <a:ext cx="1893570" cy="774065"/>
            </a:xfrm>
            <a:custGeom>
              <a:avLst/>
              <a:gdLst/>
              <a:ahLst/>
              <a:cxnLst/>
              <a:rect l="l" t="t" r="r" b="b"/>
              <a:pathLst>
                <a:path w="1893570" h="774064">
                  <a:moveTo>
                    <a:pt x="0" y="77343"/>
                  </a:moveTo>
                  <a:lnTo>
                    <a:pt x="6078" y="47255"/>
                  </a:lnTo>
                  <a:lnTo>
                    <a:pt x="22656" y="22669"/>
                  </a:lnTo>
                  <a:lnTo>
                    <a:pt x="47245" y="6084"/>
                  </a:lnTo>
                  <a:lnTo>
                    <a:pt x="77355" y="0"/>
                  </a:lnTo>
                  <a:lnTo>
                    <a:pt x="1815858" y="0"/>
                  </a:lnTo>
                  <a:lnTo>
                    <a:pt x="1845945" y="6084"/>
                  </a:lnTo>
                  <a:lnTo>
                    <a:pt x="1870532" y="22669"/>
                  </a:lnTo>
                  <a:lnTo>
                    <a:pt x="1887117" y="47255"/>
                  </a:lnTo>
                  <a:lnTo>
                    <a:pt x="1893201" y="77343"/>
                  </a:lnTo>
                  <a:lnTo>
                    <a:pt x="1893201" y="696341"/>
                  </a:lnTo>
                  <a:lnTo>
                    <a:pt x="1887117" y="726428"/>
                  </a:lnTo>
                  <a:lnTo>
                    <a:pt x="1870532" y="751014"/>
                  </a:lnTo>
                  <a:lnTo>
                    <a:pt x="1845945" y="767599"/>
                  </a:lnTo>
                  <a:lnTo>
                    <a:pt x="1815858" y="773684"/>
                  </a:lnTo>
                  <a:lnTo>
                    <a:pt x="77355" y="773684"/>
                  </a:lnTo>
                  <a:lnTo>
                    <a:pt x="47245" y="767599"/>
                  </a:lnTo>
                  <a:lnTo>
                    <a:pt x="22656" y="751014"/>
                  </a:lnTo>
                  <a:lnTo>
                    <a:pt x="6078" y="726428"/>
                  </a:lnTo>
                  <a:lnTo>
                    <a:pt x="0" y="696341"/>
                  </a:lnTo>
                  <a:lnTo>
                    <a:pt x="0" y="77343"/>
                  </a:lnTo>
                  <a:close/>
                </a:path>
              </a:pathLst>
            </a:custGeom>
            <a:ln w="12700">
              <a:solidFill>
                <a:srgbClr val="B8B9B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273810" y="3515026"/>
            <a:ext cx="1751330" cy="52387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530"/>
              </a:spcBef>
            </a:pP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FSW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Functional</a:t>
            </a:r>
            <a:r>
              <a:rPr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Standard</a:t>
            </a:r>
            <a:r>
              <a:rPr dirty="0" sz="1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Arial"/>
                <a:cs typeface="Arial"/>
              </a:rPr>
              <a:t>work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196009" y="4646040"/>
            <a:ext cx="1906270" cy="786765"/>
            <a:chOff x="1196009" y="4646040"/>
            <a:chExt cx="1906270" cy="786765"/>
          </a:xfrm>
        </p:grpSpPr>
        <p:sp>
          <p:nvSpPr>
            <p:cNvPr id="13" name="object 13" descr=""/>
            <p:cNvSpPr/>
            <p:nvPr/>
          </p:nvSpPr>
          <p:spPr>
            <a:xfrm>
              <a:off x="1202359" y="4652390"/>
              <a:ext cx="1893570" cy="774065"/>
            </a:xfrm>
            <a:custGeom>
              <a:avLst/>
              <a:gdLst/>
              <a:ahLst/>
              <a:cxnLst/>
              <a:rect l="l" t="t" r="r" b="b"/>
              <a:pathLst>
                <a:path w="1893570" h="774064">
                  <a:moveTo>
                    <a:pt x="1815795" y="0"/>
                  </a:moveTo>
                  <a:lnTo>
                    <a:pt x="77419" y="0"/>
                  </a:lnTo>
                  <a:lnTo>
                    <a:pt x="47277" y="6066"/>
                  </a:lnTo>
                  <a:lnTo>
                    <a:pt x="22669" y="22621"/>
                  </a:lnTo>
                  <a:lnTo>
                    <a:pt x="6081" y="47202"/>
                  </a:lnTo>
                  <a:lnTo>
                    <a:pt x="0" y="77342"/>
                  </a:lnTo>
                  <a:lnTo>
                    <a:pt x="0" y="696340"/>
                  </a:lnTo>
                  <a:lnTo>
                    <a:pt x="6081" y="726428"/>
                  </a:lnTo>
                  <a:lnTo>
                    <a:pt x="22669" y="751014"/>
                  </a:lnTo>
                  <a:lnTo>
                    <a:pt x="47277" y="767599"/>
                  </a:lnTo>
                  <a:lnTo>
                    <a:pt x="77419" y="773683"/>
                  </a:lnTo>
                  <a:lnTo>
                    <a:pt x="1815795" y="773683"/>
                  </a:lnTo>
                  <a:lnTo>
                    <a:pt x="1845935" y="767599"/>
                  </a:lnTo>
                  <a:lnTo>
                    <a:pt x="1870516" y="751014"/>
                  </a:lnTo>
                  <a:lnTo>
                    <a:pt x="1887071" y="726428"/>
                  </a:lnTo>
                  <a:lnTo>
                    <a:pt x="1893138" y="696340"/>
                  </a:lnTo>
                  <a:lnTo>
                    <a:pt x="1893138" y="77342"/>
                  </a:lnTo>
                  <a:lnTo>
                    <a:pt x="1887071" y="47202"/>
                  </a:lnTo>
                  <a:lnTo>
                    <a:pt x="1870516" y="22621"/>
                  </a:lnTo>
                  <a:lnTo>
                    <a:pt x="1845935" y="6066"/>
                  </a:lnTo>
                  <a:lnTo>
                    <a:pt x="181579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202359" y="4652390"/>
              <a:ext cx="1893570" cy="774065"/>
            </a:xfrm>
            <a:custGeom>
              <a:avLst/>
              <a:gdLst/>
              <a:ahLst/>
              <a:cxnLst/>
              <a:rect l="l" t="t" r="r" b="b"/>
              <a:pathLst>
                <a:path w="1893570" h="774064">
                  <a:moveTo>
                    <a:pt x="0" y="77342"/>
                  </a:moveTo>
                  <a:lnTo>
                    <a:pt x="6081" y="47202"/>
                  </a:lnTo>
                  <a:lnTo>
                    <a:pt x="22669" y="22621"/>
                  </a:lnTo>
                  <a:lnTo>
                    <a:pt x="47277" y="6066"/>
                  </a:lnTo>
                  <a:lnTo>
                    <a:pt x="77419" y="0"/>
                  </a:lnTo>
                  <a:lnTo>
                    <a:pt x="1815795" y="0"/>
                  </a:lnTo>
                  <a:lnTo>
                    <a:pt x="1845935" y="6066"/>
                  </a:lnTo>
                  <a:lnTo>
                    <a:pt x="1870516" y="22621"/>
                  </a:lnTo>
                  <a:lnTo>
                    <a:pt x="1887071" y="47202"/>
                  </a:lnTo>
                  <a:lnTo>
                    <a:pt x="1893138" y="77342"/>
                  </a:lnTo>
                  <a:lnTo>
                    <a:pt x="1893138" y="696340"/>
                  </a:lnTo>
                  <a:lnTo>
                    <a:pt x="1887071" y="726428"/>
                  </a:lnTo>
                  <a:lnTo>
                    <a:pt x="1870516" y="751014"/>
                  </a:lnTo>
                  <a:lnTo>
                    <a:pt x="1845935" y="767599"/>
                  </a:lnTo>
                  <a:lnTo>
                    <a:pt x="1815795" y="773683"/>
                  </a:lnTo>
                  <a:lnTo>
                    <a:pt x="77419" y="773683"/>
                  </a:lnTo>
                  <a:lnTo>
                    <a:pt x="47277" y="767599"/>
                  </a:lnTo>
                  <a:lnTo>
                    <a:pt x="22669" y="751014"/>
                  </a:lnTo>
                  <a:lnTo>
                    <a:pt x="6081" y="726428"/>
                  </a:lnTo>
                  <a:lnTo>
                    <a:pt x="0" y="696340"/>
                  </a:lnTo>
                  <a:lnTo>
                    <a:pt x="0" y="77342"/>
                  </a:lnTo>
                  <a:close/>
                </a:path>
              </a:pathLst>
            </a:custGeom>
            <a:ln w="12700">
              <a:solidFill>
                <a:srgbClr val="B8B9B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281175" y="4921122"/>
            <a:ext cx="17354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Recommended</a:t>
            </a:r>
            <a:r>
              <a:rPr dirty="0" sz="12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4645533" y="3259963"/>
            <a:ext cx="1360805" cy="651510"/>
            <a:chOff x="4645533" y="3259963"/>
            <a:chExt cx="1360805" cy="651510"/>
          </a:xfrm>
        </p:grpSpPr>
        <p:sp>
          <p:nvSpPr>
            <p:cNvPr id="17" name="object 17" descr=""/>
            <p:cNvSpPr/>
            <p:nvPr/>
          </p:nvSpPr>
          <p:spPr>
            <a:xfrm>
              <a:off x="4651883" y="3266313"/>
              <a:ext cx="1348105" cy="638810"/>
            </a:xfrm>
            <a:custGeom>
              <a:avLst/>
              <a:gdLst/>
              <a:ahLst/>
              <a:cxnLst/>
              <a:rect l="l" t="t" r="r" b="b"/>
              <a:pathLst>
                <a:path w="1348104" h="638810">
                  <a:moveTo>
                    <a:pt x="1283715" y="0"/>
                  </a:moveTo>
                  <a:lnTo>
                    <a:pt x="63753" y="0"/>
                  </a:lnTo>
                  <a:lnTo>
                    <a:pt x="38951" y="5016"/>
                  </a:lnTo>
                  <a:lnTo>
                    <a:pt x="18684" y="18700"/>
                  </a:lnTo>
                  <a:lnTo>
                    <a:pt x="5014" y="39004"/>
                  </a:lnTo>
                  <a:lnTo>
                    <a:pt x="0" y="63881"/>
                  </a:lnTo>
                  <a:lnTo>
                    <a:pt x="0" y="574801"/>
                  </a:lnTo>
                  <a:lnTo>
                    <a:pt x="5014" y="599624"/>
                  </a:lnTo>
                  <a:lnTo>
                    <a:pt x="18684" y="619934"/>
                  </a:lnTo>
                  <a:lnTo>
                    <a:pt x="38951" y="633648"/>
                  </a:lnTo>
                  <a:lnTo>
                    <a:pt x="63753" y="638682"/>
                  </a:lnTo>
                  <a:lnTo>
                    <a:pt x="1283715" y="638682"/>
                  </a:lnTo>
                  <a:lnTo>
                    <a:pt x="1308592" y="633648"/>
                  </a:lnTo>
                  <a:lnTo>
                    <a:pt x="1328896" y="619934"/>
                  </a:lnTo>
                  <a:lnTo>
                    <a:pt x="1342580" y="599624"/>
                  </a:lnTo>
                  <a:lnTo>
                    <a:pt x="1347596" y="574801"/>
                  </a:lnTo>
                  <a:lnTo>
                    <a:pt x="1347596" y="63881"/>
                  </a:lnTo>
                  <a:lnTo>
                    <a:pt x="1342580" y="39004"/>
                  </a:lnTo>
                  <a:lnTo>
                    <a:pt x="1328896" y="18700"/>
                  </a:lnTo>
                  <a:lnTo>
                    <a:pt x="1308592" y="5016"/>
                  </a:lnTo>
                  <a:lnTo>
                    <a:pt x="1283715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651883" y="3266313"/>
              <a:ext cx="1348105" cy="638810"/>
            </a:xfrm>
            <a:custGeom>
              <a:avLst/>
              <a:gdLst/>
              <a:ahLst/>
              <a:cxnLst/>
              <a:rect l="l" t="t" r="r" b="b"/>
              <a:pathLst>
                <a:path w="1348104" h="638810">
                  <a:moveTo>
                    <a:pt x="0" y="63881"/>
                  </a:moveTo>
                  <a:lnTo>
                    <a:pt x="5014" y="39004"/>
                  </a:lnTo>
                  <a:lnTo>
                    <a:pt x="18684" y="18700"/>
                  </a:lnTo>
                  <a:lnTo>
                    <a:pt x="38951" y="5016"/>
                  </a:lnTo>
                  <a:lnTo>
                    <a:pt x="63753" y="0"/>
                  </a:lnTo>
                  <a:lnTo>
                    <a:pt x="1283715" y="0"/>
                  </a:lnTo>
                  <a:lnTo>
                    <a:pt x="1308592" y="5016"/>
                  </a:lnTo>
                  <a:lnTo>
                    <a:pt x="1328896" y="18700"/>
                  </a:lnTo>
                  <a:lnTo>
                    <a:pt x="1342580" y="39004"/>
                  </a:lnTo>
                  <a:lnTo>
                    <a:pt x="1347596" y="63881"/>
                  </a:lnTo>
                  <a:lnTo>
                    <a:pt x="1347596" y="574801"/>
                  </a:lnTo>
                  <a:lnTo>
                    <a:pt x="1342580" y="599624"/>
                  </a:lnTo>
                  <a:lnTo>
                    <a:pt x="1328896" y="619934"/>
                  </a:lnTo>
                  <a:lnTo>
                    <a:pt x="1308592" y="633648"/>
                  </a:lnTo>
                  <a:lnTo>
                    <a:pt x="1283715" y="638682"/>
                  </a:lnTo>
                  <a:lnTo>
                    <a:pt x="63753" y="638682"/>
                  </a:lnTo>
                  <a:lnTo>
                    <a:pt x="38951" y="633648"/>
                  </a:lnTo>
                  <a:lnTo>
                    <a:pt x="18684" y="619934"/>
                  </a:lnTo>
                  <a:lnTo>
                    <a:pt x="5014" y="599624"/>
                  </a:lnTo>
                  <a:lnTo>
                    <a:pt x="0" y="574801"/>
                  </a:lnTo>
                  <a:lnTo>
                    <a:pt x="0" y="63881"/>
                  </a:lnTo>
                  <a:close/>
                </a:path>
              </a:pathLst>
            </a:custGeom>
            <a:ln w="12700">
              <a:solidFill>
                <a:srgbClr val="B8B9B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5007609" y="3467227"/>
            <a:ext cx="6356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MMP220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4645533" y="2490723"/>
            <a:ext cx="1356995" cy="588645"/>
            <a:chOff x="4645533" y="2490723"/>
            <a:chExt cx="1356995" cy="588645"/>
          </a:xfrm>
        </p:grpSpPr>
        <p:sp>
          <p:nvSpPr>
            <p:cNvPr id="21" name="object 21" descr=""/>
            <p:cNvSpPr/>
            <p:nvPr/>
          </p:nvSpPr>
          <p:spPr>
            <a:xfrm>
              <a:off x="4651883" y="2497073"/>
              <a:ext cx="1344295" cy="575945"/>
            </a:xfrm>
            <a:custGeom>
              <a:avLst/>
              <a:gdLst/>
              <a:ahLst/>
              <a:cxnLst/>
              <a:rect l="l" t="t" r="r" b="b"/>
              <a:pathLst>
                <a:path w="1344295" h="575944">
                  <a:moveTo>
                    <a:pt x="1286382" y="0"/>
                  </a:moveTo>
                  <a:lnTo>
                    <a:pt x="57530" y="0"/>
                  </a:lnTo>
                  <a:lnTo>
                    <a:pt x="35093" y="4524"/>
                  </a:lnTo>
                  <a:lnTo>
                    <a:pt x="16811" y="16859"/>
                  </a:lnTo>
                  <a:lnTo>
                    <a:pt x="4506" y="35147"/>
                  </a:lnTo>
                  <a:lnTo>
                    <a:pt x="0" y="57530"/>
                  </a:lnTo>
                  <a:lnTo>
                    <a:pt x="0" y="518033"/>
                  </a:lnTo>
                  <a:lnTo>
                    <a:pt x="4506" y="540416"/>
                  </a:lnTo>
                  <a:lnTo>
                    <a:pt x="16811" y="558704"/>
                  </a:lnTo>
                  <a:lnTo>
                    <a:pt x="35093" y="571039"/>
                  </a:lnTo>
                  <a:lnTo>
                    <a:pt x="57530" y="575563"/>
                  </a:lnTo>
                  <a:lnTo>
                    <a:pt x="1286382" y="575563"/>
                  </a:lnTo>
                  <a:lnTo>
                    <a:pt x="1308766" y="571039"/>
                  </a:lnTo>
                  <a:lnTo>
                    <a:pt x="1327054" y="558704"/>
                  </a:lnTo>
                  <a:lnTo>
                    <a:pt x="1339389" y="540416"/>
                  </a:lnTo>
                  <a:lnTo>
                    <a:pt x="1343914" y="518033"/>
                  </a:lnTo>
                  <a:lnTo>
                    <a:pt x="1343914" y="57530"/>
                  </a:lnTo>
                  <a:lnTo>
                    <a:pt x="1339389" y="35147"/>
                  </a:lnTo>
                  <a:lnTo>
                    <a:pt x="1327054" y="16859"/>
                  </a:lnTo>
                  <a:lnTo>
                    <a:pt x="1308766" y="4524"/>
                  </a:lnTo>
                  <a:lnTo>
                    <a:pt x="1286382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651883" y="2497073"/>
              <a:ext cx="1344295" cy="575945"/>
            </a:xfrm>
            <a:custGeom>
              <a:avLst/>
              <a:gdLst/>
              <a:ahLst/>
              <a:cxnLst/>
              <a:rect l="l" t="t" r="r" b="b"/>
              <a:pathLst>
                <a:path w="1344295" h="575944">
                  <a:moveTo>
                    <a:pt x="0" y="57530"/>
                  </a:moveTo>
                  <a:lnTo>
                    <a:pt x="4506" y="35147"/>
                  </a:lnTo>
                  <a:lnTo>
                    <a:pt x="16811" y="16859"/>
                  </a:lnTo>
                  <a:lnTo>
                    <a:pt x="35093" y="4524"/>
                  </a:lnTo>
                  <a:lnTo>
                    <a:pt x="57530" y="0"/>
                  </a:lnTo>
                  <a:lnTo>
                    <a:pt x="1286382" y="0"/>
                  </a:lnTo>
                  <a:lnTo>
                    <a:pt x="1308766" y="4524"/>
                  </a:lnTo>
                  <a:lnTo>
                    <a:pt x="1327054" y="16859"/>
                  </a:lnTo>
                  <a:lnTo>
                    <a:pt x="1339389" y="35147"/>
                  </a:lnTo>
                  <a:lnTo>
                    <a:pt x="1343914" y="57530"/>
                  </a:lnTo>
                  <a:lnTo>
                    <a:pt x="1343914" y="518033"/>
                  </a:lnTo>
                  <a:lnTo>
                    <a:pt x="1339389" y="540416"/>
                  </a:lnTo>
                  <a:lnTo>
                    <a:pt x="1327054" y="558704"/>
                  </a:lnTo>
                  <a:lnTo>
                    <a:pt x="1308766" y="571039"/>
                  </a:lnTo>
                  <a:lnTo>
                    <a:pt x="1286382" y="575563"/>
                  </a:lnTo>
                  <a:lnTo>
                    <a:pt x="57530" y="575563"/>
                  </a:lnTo>
                  <a:lnTo>
                    <a:pt x="35093" y="571039"/>
                  </a:lnTo>
                  <a:lnTo>
                    <a:pt x="16811" y="558704"/>
                  </a:lnTo>
                  <a:lnTo>
                    <a:pt x="4506" y="540416"/>
                  </a:lnTo>
                  <a:lnTo>
                    <a:pt x="0" y="518033"/>
                  </a:lnTo>
                  <a:lnTo>
                    <a:pt x="0" y="57530"/>
                  </a:lnTo>
                  <a:close/>
                </a:path>
              </a:pathLst>
            </a:custGeom>
            <a:ln w="12700">
              <a:solidFill>
                <a:srgbClr val="B8B9B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5005578" y="2666491"/>
            <a:ext cx="6356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MMP219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4586859" y="4117847"/>
            <a:ext cx="1481455" cy="559435"/>
            <a:chOff x="4586859" y="4117847"/>
            <a:chExt cx="1481455" cy="559435"/>
          </a:xfrm>
        </p:grpSpPr>
        <p:sp>
          <p:nvSpPr>
            <p:cNvPr id="25" name="object 25" descr=""/>
            <p:cNvSpPr/>
            <p:nvPr/>
          </p:nvSpPr>
          <p:spPr>
            <a:xfrm>
              <a:off x="4593209" y="4124197"/>
              <a:ext cx="1468755" cy="546735"/>
            </a:xfrm>
            <a:custGeom>
              <a:avLst/>
              <a:gdLst/>
              <a:ahLst/>
              <a:cxnLst/>
              <a:rect l="l" t="t" r="r" b="b"/>
              <a:pathLst>
                <a:path w="1468754" h="546735">
                  <a:moveTo>
                    <a:pt x="1413890" y="0"/>
                  </a:moveTo>
                  <a:lnTo>
                    <a:pt x="54610" y="0"/>
                  </a:lnTo>
                  <a:lnTo>
                    <a:pt x="33325" y="4300"/>
                  </a:lnTo>
                  <a:lnTo>
                    <a:pt x="15970" y="16017"/>
                  </a:lnTo>
                  <a:lnTo>
                    <a:pt x="4282" y="33379"/>
                  </a:lnTo>
                  <a:lnTo>
                    <a:pt x="0" y="54609"/>
                  </a:lnTo>
                  <a:lnTo>
                    <a:pt x="0" y="491616"/>
                  </a:lnTo>
                  <a:lnTo>
                    <a:pt x="4282" y="512901"/>
                  </a:lnTo>
                  <a:lnTo>
                    <a:pt x="15970" y="530256"/>
                  </a:lnTo>
                  <a:lnTo>
                    <a:pt x="33325" y="541944"/>
                  </a:lnTo>
                  <a:lnTo>
                    <a:pt x="54610" y="546226"/>
                  </a:lnTo>
                  <a:lnTo>
                    <a:pt x="1413890" y="546226"/>
                  </a:lnTo>
                  <a:lnTo>
                    <a:pt x="1435121" y="541944"/>
                  </a:lnTo>
                  <a:lnTo>
                    <a:pt x="1452483" y="530256"/>
                  </a:lnTo>
                  <a:lnTo>
                    <a:pt x="1464200" y="512901"/>
                  </a:lnTo>
                  <a:lnTo>
                    <a:pt x="1468501" y="491616"/>
                  </a:lnTo>
                  <a:lnTo>
                    <a:pt x="1468501" y="54609"/>
                  </a:lnTo>
                  <a:lnTo>
                    <a:pt x="1464200" y="33379"/>
                  </a:lnTo>
                  <a:lnTo>
                    <a:pt x="1452483" y="16017"/>
                  </a:lnTo>
                  <a:lnTo>
                    <a:pt x="1435121" y="4300"/>
                  </a:lnTo>
                  <a:lnTo>
                    <a:pt x="1413890" y="0"/>
                  </a:lnTo>
                  <a:close/>
                </a:path>
              </a:pathLst>
            </a:custGeom>
            <a:solidFill>
              <a:srgbClr val="FFC000">
                <a:alpha val="6980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593209" y="4124197"/>
              <a:ext cx="1468755" cy="546735"/>
            </a:xfrm>
            <a:custGeom>
              <a:avLst/>
              <a:gdLst/>
              <a:ahLst/>
              <a:cxnLst/>
              <a:rect l="l" t="t" r="r" b="b"/>
              <a:pathLst>
                <a:path w="1468754" h="546735">
                  <a:moveTo>
                    <a:pt x="0" y="54609"/>
                  </a:moveTo>
                  <a:lnTo>
                    <a:pt x="4282" y="33379"/>
                  </a:lnTo>
                  <a:lnTo>
                    <a:pt x="15970" y="16017"/>
                  </a:lnTo>
                  <a:lnTo>
                    <a:pt x="33325" y="4300"/>
                  </a:lnTo>
                  <a:lnTo>
                    <a:pt x="54610" y="0"/>
                  </a:lnTo>
                  <a:lnTo>
                    <a:pt x="1413890" y="0"/>
                  </a:lnTo>
                  <a:lnTo>
                    <a:pt x="1435121" y="4300"/>
                  </a:lnTo>
                  <a:lnTo>
                    <a:pt x="1452483" y="16017"/>
                  </a:lnTo>
                  <a:lnTo>
                    <a:pt x="1464200" y="33379"/>
                  </a:lnTo>
                  <a:lnTo>
                    <a:pt x="1468501" y="54609"/>
                  </a:lnTo>
                  <a:lnTo>
                    <a:pt x="1468501" y="491616"/>
                  </a:lnTo>
                  <a:lnTo>
                    <a:pt x="1464200" y="512901"/>
                  </a:lnTo>
                  <a:lnTo>
                    <a:pt x="1452483" y="530256"/>
                  </a:lnTo>
                  <a:lnTo>
                    <a:pt x="1435121" y="541944"/>
                  </a:lnTo>
                  <a:lnTo>
                    <a:pt x="1413890" y="546226"/>
                  </a:lnTo>
                  <a:lnTo>
                    <a:pt x="54610" y="546226"/>
                  </a:lnTo>
                  <a:lnTo>
                    <a:pt x="33325" y="541944"/>
                  </a:lnTo>
                  <a:lnTo>
                    <a:pt x="15970" y="530256"/>
                  </a:lnTo>
                  <a:lnTo>
                    <a:pt x="4282" y="512901"/>
                  </a:lnTo>
                  <a:lnTo>
                    <a:pt x="0" y="491616"/>
                  </a:lnTo>
                  <a:lnTo>
                    <a:pt x="0" y="54609"/>
                  </a:lnTo>
                  <a:close/>
                </a:path>
              </a:pathLst>
            </a:custGeom>
            <a:ln w="12700">
              <a:solidFill>
                <a:srgbClr val="B8B9B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4601700" y="4214876"/>
            <a:ext cx="1405890" cy="339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9695">
              <a:lnSpc>
                <a:spcPts val="1230"/>
              </a:lnSpc>
              <a:spcBef>
                <a:spcPts val="100"/>
              </a:spcBef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Identify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L2</a:t>
            </a:r>
            <a:r>
              <a:rPr dirty="0" sz="11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(CS-</a:t>
            </a:r>
            <a:endParaRPr sz="1100">
              <a:latin typeface="Arial"/>
              <a:cs typeface="Arial"/>
            </a:endParaRPr>
          </a:p>
          <a:p>
            <a:pPr marL="57150">
              <a:lnSpc>
                <a:spcPts val="1230"/>
              </a:lnSpc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OP,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EOP,..)</a:t>
            </a:r>
            <a:r>
              <a:rPr dirty="0" sz="11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Changes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4586859" y="4843907"/>
            <a:ext cx="1529080" cy="559435"/>
            <a:chOff x="4586859" y="4843907"/>
            <a:chExt cx="1529080" cy="559435"/>
          </a:xfrm>
        </p:grpSpPr>
        <p:sp>
          <p:nvSpPr>
            <p:cNvPr id="29" name="object 29" descr=""/>
            <p:cNvSpPr/>
            <p:nvPr/>
          </p:nvSpPr>
          <p:spPr>
            <a:xfrm>
              <a:off x="4593209" y="4850257"/>
              <a:ext cx="1516380" cy="546735"/>
            </a:xfrm>
            <a:custGeom>
              <a:avLst/>
              <a:gdLst/>
              <a:ahLst/>
              <a:cxnLst/>
              <a:rect l="l" t="t" r="r" b="b"/>
              <a:pathLst>
                <a:path w="1516379" h="546735">
                  <a:moveTo>
                    <a:pt x="1461262" y="0"/>
                  </a:moveTo>
                  <a:lnTo>
                    <a:pt x="54610" y="0"/>
                  </a:lnTo>
                  <a:lnTo>
                    <a:pt x="33325" y="4302"/>
                  </a:lnTo>
                  <a:lnTo>
                    <a:pt x="15970" y="16033"/>
                  </a:lnTo>
                  <a:lnTo>
                    <a:pt x="4282" y="33432"/>
                  </a:lnTo>
                  <a:lnTo>
                    <a:pt x="0" y="54737"/>
                  </a:lnTo>
                  <a:lnTo>
                    <a:pt x="0" y="491617"/>
                  </a:lnTo>
                  <a:lnTo>
                    <a:pt x="4282" y="512921"/>
                  </a:lnTo>
                  <a:lnTo>
                    <a:pt x="15970" y="530320"/>
                  </a:lnTo>
                  <a:lnTo>
                    <a:pt x="33325" y="542051"/>
                  </a:lnTo>
                  <a:lnTo>
                    <a:pt x="54610" y="546354"/>
                  </a:lnTo>
                  <a:lnTo>
                    <a:pt x="1461262" y="546354"/>
                  </a:lnTo>
                  <a:lnTo>
                    <a:pt x="1482546" y="542051"/>
                  </a:lnTo>
                  <a:lnTo>
                    <a:pt x="1499901" y="530320"/>
                  </a:lnTo>
                  <a:lnTo>
                    <a:pt x="1511589" y="512921"/>
                  </a:lnTo>
                  <a:lnTo>
                    <a:pt x="1515871" y="491617"/>
                  </a:lnTo>
                  <a:lnTo>
                    <a:pt x="1515871" y="54737"/>
                  </a:lnTo>
                  <a:lnTo>
                    <a:pt x="1511589" y="33432"/>
                  </a:lnTo>
                  <a:lnTo>
                    <a:pt x="1499901" y="16033"/>
                  </a:lnTo>
                  <a:lnTo>
                    <a:pt x="1482546" y="4302"/>
                  </a:lnTo>
                  <a:lnTo>
                    <a:pt x="1461262" y="0"/>
                  </a:lnTo>
                  <a:close/>
                </a:path>
              </a:pathLst>
            </a:custGeom>
            <a:solidFill>
              <a:srgbClr val="FFC000">
                <a:alpha val="6980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593209" y="4850257"/>
              <a:ext cx="1516380" cy="546735"/>
            </a:xfrm>
            <a:custGeom>
              <a:avLst/>
              <a:gdLst/>
              <a:ahLst/>
              <a:cxnLst/>
              <a:rect l="l" t="t" r="r" b="b"/>
              <a:pathLst>
                <a:path w="1516379" h="546735">
                  <a:moveTo>
                    <a:pt x="0" y="54737"/>
                  </a:moveTo>
                  <a:lnTo>
                    <a:pt x="4282" y="33432"/>
                  </a:lnTo>
                  <a:lnTo>
                    <a:pt x="15970" y="16033"/>
                  </a:lnTo>
                  <a:lnTo>
                    <a:pt x="33325" y="4302"/>
                  </a:lnTo>
                  <a:lnTo>
                    <a:pt x="54610" y="0"/>
                  </a:lnTo>
                  <a:lnTo>
                    <a:pt x="1461262" y="0"/>
                  </a:lnTo>
                  <a:lnTo>
                    <a:pt x="1482546" y="4302"/>
                  </a:lnTo>
                  <a:lnTo>
                    <a:pt x="1499901" y="16033"/>
                  </a:lnTo>
                  <a:lnTo>
                    <a:pt x="1511589" y="33432"/>
                  </a:lnTo>
                  <a:lnTo>
                    <a:pt x="1515871" y="54737"/>
                  </a:lnTo>
                  <a:lnTo>
                    <a:pt x="1515871" y="491617"/>
                  </a:lnTo>
                  <a:lnTo>
                    <a:pt x="1511589" y="512921"/>
                  </a:lnTo>
                  <a:lnTo>
                    <a:pt x="1499901" y="530320"/>
                  </a:lnTo>
                  <a:lnTo>
                    <a:pt x="1482546" y="542051"/>
                  </a:lnTo>
                  <a:lnTo>
                    <a:pt x="1461262" y="546354"/>
                  </a:lnTo>
                  <a:lnTo>
                    <a:pt x="54610" y="546354"/>
                  </a:lnTo>
                  <a:lnTo>
                    <a:pt x="33325" y="542051"/>
                  </a:lnTo>
                  <a:lnTo>
                    <a:pt x="15970" y="530320"/>
                  </a:lnTo>
                  <a:lnTo>
                    <a:pt x="4282" y="512921"/>
                  </a:lnTo>
                  <a:lnTo>
                    <a:pt x="0" y="491617"/>
                  </a:lnTo>
                  <a:lnTo>
                    <a:pt x="0" y="54737"/>
                  </a:lnTo>
                  <a:close/>
                </a:path>
              </a:pathLst>
            </a:custGeom>
            <a:ln w="12700">
              <a:solidFill>
                <a:srgbClr val="B8B9B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4705858" y="4941189"/>
            <a:ext cx="1290955" cy="33845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46685" marR="5080" indent="-134620">
              <a:lnSpc>
                <a:spcPts val="1140"/>
              </a:lnSpc>
              <a:spcBef>
                <a:spcPts val="290"/>
              </a:spcBef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Plans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;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Ownership</a:t>
            </a:r>
            <a:r>
              <a:rPr dirty="0" sz="11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FFFFFF"/>
                </a:solidFill>
                <a:latin typeface="Arial"/>
                <a:cs typeface="Arial"/>
              </a:rPr>
              <a:t>&amp;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L2</a:t>
            </a:r>
            <a:r>
              <a:rPr dirty="0" sz="11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doc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mapping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7168388" y="3301619"/>
            <a:ext cx="1002665" cy="544830"/>
          </a:xfrm>
          <a:custGeom>
            <a:avLst/>
            <a:gdLst/>
            <a:ahLst/>
            <a:cxnLst/>
            <a:rect l="l" t="t" r="r" b="b"/>
            <a:pathLst>
              <a:path w="1002665" h="544829">
                <a:moveTo>
                  <a:pt x="947927" y="0"/>
                </a:moveTo>
                <a:lnTo>
                  <a:pt x="54482" y="0"/>
                </a:lnTo>
                <a:lnTo>
                  <a:pt x="33272" y="4278"/>
                </a:lnTo>
                <a:lnTo>
                  <a:pt x="15954" y="15938"/>
                </a:lnTo>
                <a:lnTo>
                  <a:pt x="4280" y="33218"/>
                </a:lnTo>
                <a:lnTo>
                  <a:pt x="0" y="54355"/>
                </a:lnTo>
                <a:lnTo>
                  <a:pt x="0" y="489838"/>
                </a:lnTo>
                <a:lnTo>
                  <a:pt x="4280" y="511049"/>
                </a:lnTo>
                <a:lnTo>
                  <a:pt x="15954" y="528367"/>
                </a:lnTo>
                <a:lnTo>
                  <a:pt x="33272" y="540041"/>
                </a:lnTo>
                <a:lnTo>
                  <a:pt x="54482" y="544321"/>
                </a:lnTo>
                <a:lnTo>
                  <a:pt x="947927" y="544321"/>
                </a:lnTo>
                <a:lnTo>
                  <a:pt x="969138" y="540041"/>
                </a:lnTo>
                <a:lnTo>
                  <a:pt x="986456" y="528367"/>
                </a:lnTo>
                <a:lnTo>
                  <a:pt x="998130" y="511049"/>
                </a:lnTo>
                <a:lnTo>
                  <a:pt x="1002410" y="489838"/>
                </a:lnTo>
                <a:lnTo>
                  <a:pt x="1002410" y="54355"/>
                </a:lnTo>
                <a:lnTo>
                  <a:pt x="998130" y="33218"/>
                </a:lnTo>
                <a:lnTo>
                  <a:pt x="986456" y="15938"/>
                </a:lnTo>
                <a:lnTo>
                  <a:pt x="969138" y="4278"/>
                </a:lnTo>
                <a:lnTo>
                  <a:pt x="947927" y="0"/>
                </a:lnTo>
                <a:close/>
              </a:path>
            </a:pathLst>
          </a:custGeom>
          <a:solidFill>
            <a:srgbClr val="00AFEF">
              <a:alpha val="2588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7352538" y="3454984"/>
            <a:ext cx="6356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MMP220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7142860" y="2519426"/>
            <a:ext cx="1055370" cy="584200"/>
          </a:xfrm>
          <a:custGeom>
            <a:avLst/>
            <a:gdLst/>
            <a:ahLst/>
            <a:cxnLst/>
            <a:rect l="l" t="t" r="r" b="b"/>
            <a:pathLst>
              <a:path w="1055370" h="584200">
                <a:moveTo>
                  <a:pt x="996696" y="0"/>
                </a:moveTo>
                <a:lnTo>
                  <a:pt x="58293" y="0"/>
                </a:lnTo>
                <a:lnTo>
                  <a:pt x="35575" y="4589"/>
                </a:lnTo>
                <a:lnTo>
                  <a:pt x="17049" y="17097"/>
                </a:lnTo>
                <a:lnTo>
                  <a:pt x="4572" y="35629"/>
                </a:lnTo>
                <a:lnTo>
                  <a:pt x="0" y="58293"/>
                </a:lnTo>
                <a:lnTo>
                  <a:pt x="0" y="525399"/>
                </a:lnTo>
                <a:lnTo>
                  <a:pt x="4572" y="548135"/>
                </a:lnTo>
                <a:lnTo>
                  <a:pt x="17049" y="566705"/>
                </a:lnTo>
                <a:lnTo>
                  <a:pt x="35575" y="579227"/>
                </a:lnTo>
                <a:lnTo>
                  <a:pt x="58293" y="583819"/>
                </a:lnTo>
                <a:lnTo>
                  <a:pt x="996696" y="583819"/>
                </a:lnTo>
                <a:lnTo>
                  <a:pt x="1019432" y="579227"/>
                </a:lnTo>
                <a:lnTo>
                  <a:pt x="1038002" y="566705"/>
                </a:lnTo>
                <a:lnTo>
                  <a:pt x="1050524" y="548135"/>
                </a:lnTo>
                <a:lnTo>
                  <a:pt x="1055116" y="525399"/>
                </a:lnTo>
                <a:lnTo>
                  <a:pt x="1055116" y="58293"/>
                </a:lnTo>
                <a:lnTo>
                  <a:pt x="1050524" y="35629"/>
                </a:lnTo>
                <a:lnTo>
                  <a:pt x="1038002" y="17097"/>
                </a:lnTo>
                <a:lnTo>
                  <a:pt x="1019432" y="4589"/>
                </a:lnTo>
                <a:lnTo>
                  <a:pt x="996696" y="0"/>
                </a:lnTo>
                <a:close/>
              </a:path>
            </a:pathLst>
          </a:custGeom>
          <a:solidFill>
            <a:srgbClr val="00AFEF">
              <a:alpha val="2588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7352538" y="2692653"/>
            <a:ext cx="6356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MMP219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6989318" y="4132071"/>
            <a:ext cx="1360805" cy="549910"/>
            <a:chOff x="6989318" y="4132071"/>
            <a:chExt cx="1360805" cy="549910"/>
          </a:xfrm>
        </p:grpSpPr>
        <p:sp>
          <p:nvSpPr>
            <p:cNvPr id="37" name="object 37" descr=""/>
            <p:cNvSpPr/>
            <p:nvPr/>
          </p:nvSpPr>
          <p:spPr>
            <a:xfrm>
              <a:off x="6995668" y="4138421"/>
              <a:ext cx="1348105" cy="537210"/>
            </a:xfrm>
            <a:custGeom>
              <a:avLst/>
              <a:gdLst/>
              <a:ahLst/>
              <a:cxnLst/>
              <a:rect l="l" t="t" r="r" b="b"/>
              <a:pathLst>
                <a:path w="1348104" h="537210">
                  <a:moveTo>
                    <a:pt x="1294129" y="0"/>
                  </a:moveTo>
                  <a:lnTo>
                    <a:pt x="53721" y="0"/>
                  </a:lnTo>
                  <a:lnTo>
                    <a:pt x="32789" y="4214"/>
                  </a:lnTo>
                  <a:lnTo>
                    <a:pt x="15716" y="15716"/>
                  </a:lnTo>
                  <a:lnTo>
                    <a:pt x="4214" y="32789"/>
                  </a:lnTo>
                  <a:lnTo>
                    <a:pt x="0" y="53720"/>
                  </a:lnTo>
                  <a:lnTo>
                    <a:pt x="0" y="483107"/>
                  </a:lnTo>
                  <a:lnTo>
                    <a:pt x="4214" y="503965"/>
                  </a:lnTo>
                  <a:lnTo>
                    <a:pt x="15716" y="521001"/>
                  </a:lnTo>
                  <a:lnTo>
                    <a:pt x="32789" y="532489"/>
                  </a:lnTo>
                  <a:lnTo>
                    <a:pt x="53721" y="536701"/>
                  </a:lnTo>
                  <a:lnTo>
                    <a:pt x="1294129" y="536701"/>
                  </a:lnTo>
                  <a:lnTo>
                    <a:pt x="1315061" y="532489"/>
                  </a:lnTo>
                  <a:lnTo>
                    <a:pt x="1332134" y="521001"/>
                  </a:lnTo>
                  <a:lnTo>
                    <a:pt x="1343636" y="503965"/>
                  </a:lnTo>
                  <a:lnTo>
                    <a:pt x="1347851" y="483107"/>
                  </a:lnTo>
                  <a:lnTo>
                    <a:pt x="1347851" y="53720"/>
                  </a:lnTo>
                  <a:lnTo>
                    <a:pt x="1343636" y="32789"/>
                  </a:lnTo>
                  <a:lnTo>
                    <a:pt x="1332134" y="15716"/>
                  </a:lnTo>
                  <a:lnTo>
                    <a:pt x="1315061" y="4214"/>
                  </a:lnTo>
                  <a:lnTo>
                    <a:pt x="129412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995668" y="4138421"/>
              <a:ext cx="1348105" cy="537210"/>
            </a:xfrm>
            <a:custGeom>
              <a:avLst/>
              <a:gdLst/>
              <a:ahLst/>
              <a:cxnLst/>
              <a:rect l="l" t="t" r="r" b="b"/>
              <a:pathLst>
                <a:path w="1348104" h="537210">
                  <a:moveTo>
                    <a:pt x="0" y="53720"/>
                  </a:moveTo>
                  <a:lnTo>
                    <a:pt x="4214" y="32789"/>
                  </a:lnTo>
                  <a:lnTo>
                    <a:pt x="15716" y="15716"/>
                  </a:lnTo>
                  <a:lnTo>
                    <a:pt x="32789" y="4214"/>
                  </a:lnTo>
                  <a:lnTo>
                    <a:pt x="53721" y="0"/>
                  </a:lnTo>
                  <a:lnTo>
                    <a:pt x="1294129" y="0"/>
                  </a:lnTo>
                  <a:lnTo>
                    <a:pt x="1315061" y="4214"/>
                  </a:lnTo>
                  <a:lnTo>
                    <a:pt x="1332134" y="15716"/>
                  </a:lnTo>
                  <a:lnTo>
                    <a:pt x="1343636" y="32789"/>
                  </a:lnTo>
                  <a:lnTo>
                    <a:pt x="1347851" y="53720"/>
                  </a:lnTo>
                  <a:lnTo>
                    <a:pt x="1347851" y="483107"/>
                  </a:lnTo>
                  <a:lnTo>
                    <a:pt x="1343636" y="503965"/>
                  </a:lnTo>
                  <a:lnTo>
                    <a:pt x="1332134" y="521001"/>
                  </a:lnTo>
                  <a:lnTo>
                    <a:pt x="1315061" y="532489"/>
                  </a:lnTo>
                  <a:lnTo>
                    <a:pt x="1294129" y="536701"/>
                  </a:lnTo>
                  <a:lnTo>
                    <a:pt x="53721" y="536701"/>
                  </a:lnTo>
                  <a:lnTo>
                    <a:pt x="32789" y="532489"/>
                  </a:lnTo>
                  <a:lnTo>
                    <a:pt x="15716" y="521001"/>
                  </a:lnTo>
                  <a:lnTo>
                    <a:pt x="4214" y="503965"/>
                  </a:lnTo>
                  <a:lnTo>
                    <a:pt x="0" y="483107"/>
                  </a:lnTo>
                  <a:lnTo>
                    <a:pt x="0" y="53720"/>
                  </a:lnTo>
                  <a:close/>
                </a:path>
              </a:pathLst>
            </a:custGeom>
            <a:ln w="12700">
              <a:solidFill>
                <a:srgbClr val="B8B9B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7004125" y="4223969"/>
            <a:ext cx="1330960" cy="339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905">
              <a:lnSpc>
                <a:spcPts val="1230"/>
              </a:lnSpc>
              <a:spcBef>
                <a:spcPts val="105"/>
              </a:spcBef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Release</a:t>
            </a:r>
            <a:r>
              <a:rPr dirty="0" sz="11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dirty="0" sz="11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L2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ts val="1230"/>
              </a:lnSpc>
            </a:pP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docs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6971538" y="4862576"/>
            <a:ext cx="1396365" cy="615315"/>
            <a:chOff x="6971538" y="4862576"/>
            <a:chExt cx="1396365" cy="615315"/>
          </a:xfrm>
        </p:grpSpPr>
        <p:sp>
          <p:nvSpPr>
            <p:cNvPr id="41" name="object 41" descr=""/>
            <p:cNvSpPr/>
            <p:nvPr/>
          </p:nvSpPr>
          <p:spPr>
            <a:xfrm>
              <a:off x="6977888" y="4868926"/>
              <a:ext cx="1383665" cy="602615"/>
            </a:xfrm>
            <a:custGeom>
              <a:avLst/>
              <a:gdLst/>
              <a:ahLst/>
              <a:cxnLst/>
              <a:rect l="l" t="t" r="r" b="b"/>
              <a:pathLst>
                <a:path w="1383665" h="602614">
                  <a:moveTo>
                    <a:pt x="1323085" y="0"/>
                  </a:moveTo>
                  <a:lnTo>
                    <a:pt x="60325" y="0"/>
                  </a:lnTo>
                  <a:lnTo>
                    <a:pt x="36861" y="4726"/>
                  </a:lnTo>
                  <a:lnTo>
                    <a:pt x="17684" y="17621"/>
                  </a:lnTo>
                  <a:lnTo>
                    <a:pt x="4746" y="36754"/>
                  </a:lnTo>
                  <a:lnTo>
                    <a:pt x="0" y="60198"/>
                  </a:lnTo>
                  <a:lnTo>
                    <a:pt x="0" y="542417"/>
                  </a:lnTo>
                  <a:lnTo>
                    <a:pt x="4746" y="565860"/>
                  </a:lnTo>
                  <a:lnTo>
                    <a:pt x="17684" y="584993"/>
                  </a:lnTo>
                  <a:lnTo>
                    <a:pt x="36861" y="597888"/>
                  </a:lnTo>
                  <a:lnTo>
                    <a:pt x="60325" y="602615"/>
                  </a:lnTo>
                  <a:lnTo>
                    <a:pt x="1323085" y="602615"/>
                  </a:lnTo>
                  <a:lnTo>
                    <a:pt x="1346549" y="597888"/>
                  </a:lnTo>
                  <a:lnTo>
                    <a:pt x="1365726" y="584993"/>
                  </a:lnTo>
                  <a:lnTo>
                    <a:pt x="1378664" y="565860"/>
                  </a:lnTo>
                  <a:lnTo>
                    <a:pt x="1383410" y="542417"/>
                  </a:lnTo>
                  <a:lnTo>
                    <a:pt x="1383410" y="60198"/>
                  </a:lnTo>
                  <a:lnTo>
                    <a:pt x="1378664" y="36754"/>
                  </a:lnTo>
                  <a:lnTo>
                    <a:pt x="1365726" y="17621"/>
                  </a:lnTo>
                  <a:lnTo>
                    <a:pt x="1346549" y="4726"/>
                  </a:lnTo>
                  <a:lnTo>
                    <a:pt x="132308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977888" y="4868926"/>
              <a:ext cx="1383665" cy="602615"/>
            </a:xfrm>
            <a:custGeom>
              <a:avLst/>
              <a:gdLst/>
              <a:ahLst/>
              <a:cxnLst/>
              <a:rect l="l" t="t" r="r" b="b"/>
              <a:pathLst>
                <a:path w="1383665" h="602614">
                  <a:moveTo>
                    <a:pt x="0" y="60198"/>
                  </a:moveTo>
                  <a:lnTo>
                    <a:pt x="4746" y="36754"/>
                  </a:lnTo>
                  <a:lnTo>
                    <a:pt x="17684" y="17621"/>
                  </a:lnTo>
                  <a:lnTo>
                    <a:pt x="36861" y="4726"/>
                  </a:lnTo>
                  <a:lnTo>
                    <a:pt x="60325" y="0"/>
                  </a:lnTo>
                  <a:lnTo>
                    <a:pt x="1323085" y="0"/>
                  </a:lnTo>
                  <a:lnTo>
                    <a:pt x="1346549" y="4726"/>
                  </a:lnTo>
                  <a:lnTo>
                    <a:pt x="1365726" y="17621"/>
                  </a:lnTo>
                  <a:lnTo>
                    <a:pt x="1378664" y="36754"/>
                  </a:lnTo>
                  <a:lnTo>
                    <a:pt x="1383410" y="60198"/>
                  </a:lnTo>
                  <a:lnTo>
                    <a:pt x="1383410" y="542417"/>
                  </a:lnTo>
                  <a:lnTo>
                    <a:pt x="1378664" y="565860"/>
                  </a:lnTo>
                  <a:lnTo>
                    <a:pt x="1365726" y="584993"/>
                  </a:lnTo>
                  <a:lnTo>
                    <a:pt x="1346549" y="597888"/>
                  </a:lnTo>
                  <a:lnTo>
                    <a:pt x="1323085" y="602615"/>
                  </a:lnTo>
                  <a:lnTo>
                    <a:pt x="60325" y="602615"/>
                  </a:lnTo>
                  <a:lnTo>
                    <a:pt x="36861" y="597888"/>
                  </a:lnTo>
                  <a:lnTo>
                    <a:pt x="17684" y="584993"/>
                  </a:lnTo>
                  <a:lnTo>
                    <a:pt x="4746" y="565860"/>
                  </a:lnTo>
                  <a:lnTo>
                    <a:pt x="0" y="542417"/>
                  </a:lnTo>
                  <a:lnTo>
                    <a:pt x="0" y="60198"/>
                  </a:lnTo>
                  <a:close/>
                </a:path>
              </a:pathLst>
            </a:custGeom>
            <a:ln w="12700">
              <a:solidFill>
                <a:srgbClr val="B8B9B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7194550" y="4915357"/>
            <a:ext cx="952500" cy="48387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algn="ctr" marL="12700" marR="5080">
              <a:lnSpc>
                <a:spcPct val="86400"/>
              </a:lnSpc>
              <a:spcBef>
                <a:spcPts val="285"/>
              </a:spcBef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Plans</a:t>
            </a:r>
            <a:r>
              <a:rPr dirty="0" sz="11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template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issued</a:t>
            </a:r>
            <a:r>
              <a:rPr dirty="0" sz="11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1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L2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released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9545701" y="4159758"/>
            <a:ext cx="1534160" cy="748030"/>
            <a:chOff x="9545701" y="4159758"/>
            <a:chExt cx="1534160" cy="748030"/>
          </a:xfrm>
        </p:grpSpPr>
        <p:sp>
          <p:nvSpPr>
            <p:cNvPr id="45" name="object 45" descr=""/>
            <p:cNvSpPr/>
            <p:nvPr/>
          </p:nvSpPr>
          <p:spPr>
            <a:xfrm>
              <a:off x="9552051" y="4166108"/>
              <a:ext cx="1521460" cy="735330"/>
            </a:xfrm>
            <a:custGeom>
              <a:avLst/>
              <a:gdLst/>
              <a:ahLst/>
              <a:cxnLst/>
              <a:rect l="l" t="t" r="r" b="b"/>
              <a:pathLst>
                <a:path w="1521459" h="735329">
                  <a:moveTo>
                    <a:pt x="1447546" y="0"/>
                  </a:moveTo>
                  <a:lnTo>
                    <a:pt x="73532" y="0"/>
                  </a:lnTo>
                  <a:lnTo>
                    <a:pt x="44898" y="5774"/>
                  </a:lnTo>
                  <a:lnTo>
                    <a:pt x="21526" y="21526"/>
                  </a:lnTo>
                  <a:lnTo>
                    <a:pt x="5774" y="44898"/>
                  </a:lnTo>
                  <a:lnTo>
                    <a:pt x="0" y="73533"/>
                  </a:lnTo>
                  <a:lnTo>
                    <a:pt x="0" y="661797"/>
                  </a:lnTo>
                  <a:lnTo>
                    <a:pt x="5774" y="690431"/>
                  </a:lnTo>
                  <a:lnTo>
                    <a:pt x="21526" y="713803"/>
                  </a:lnTo>
                  <a:lnTo>
                    <a:pt x="44898" y="729555"/>
                  </a:lnTo>
                  <a:lnTo>
                    <a:pt x="73532" y="735330"/>
                  </a:lnTo>
                  <a:lnTo>
                    <a:pt x="1447546" y="735330"/>
                  </a:lnTo>
                  <a:lnTo>
                    <a:pt x="1476200" y="729555"/>
                  </a:lnTo>
                  <a:lnTo>
                    <a:pt x="1499616" y="713803"/>
                  </a:lnTo>
                  <a:lnTo>
                    <a:pt x="1515411" y="690431"/>
                  </a:lnTo>
                  <a:lnTo>
                    <a:pt x="1521205" y="661797"/>
                  </a:lnTo>
                  <a:lnTo>
                    <a:pt x="1521205" y="73533"/>
                  </a:lnTo>
                  <a:lnTo>
                    <a:pt x="1515411" y="44898"/>
                  </a:lnTo>
                  <a:lnTo>
                    <a:pt x="1499615" y="21526"/>
                  </a:lnTo>
                  <a:lnTo>
                    <a:pt x="1476200" y="5774"/>
                  </a:lnTo>
                  <a:lnTo>
                    <a:pt x="144754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9552051" y="4166108"/>
              <a:ext cx="1521460" cy="735330"/>
            </a:xfrm>
            <a:custGeom>
              <a:avLst/>
              <a:gdLst/>
              <a:ahLst/>
              <a:cxnLst/>
              <a:rect l="l" t="t" r="r" b="b"/>
              <a:pathLst>
                <a:path w="1521459" h="735329">
                  <a:moveTo>
                    <a:pt x="0" y="73533"/>
                  </a:moveTo>
                  <a:lnTo>
                    <a:pt x="5774" y="44898"/>
                  </a:lnTo>
                  <a:lnTo>
                    <a:pt x="21526" y="21526"/>
                  </a:lnTo>
                  <a:lnTo>
                    <a:pt x="44898" y="5774"/>
                  </a:lnTo>
                  <a:lnTo>
                    <a:pt x="73532" y="0"/>
                  </a:lnTo>
                  <a:lnTo>
                    <a:pt x="1447546" y="0"/>
                  </a:lnTo>
                  <a:lnTo>
                    <a:pt x="1476200" y="5774"/>
                  </a:lnTo>
                  <a:lnTo>
                    <a:pt x="1499615" y="21526"/>
                  </a:lnTo>
                  <a:lnTo>
                    <a:pt x="1515411" y="44898"/>
                  </a:lnTo>
                  <a:lnTo>
                    <a:pt x="1521205" y="73533"/>
                  </a:lnTo>
                  <a:lnTo>
                    <a:pt x="1521205" y="661797"/>
                  </a:lnTo>
                  <a:lnTo>
                    <a:pt x="1515411" y="690431"/>
                  </a:lnTo>
                  <a:lnTo>
                    <a:pt x="1499616" y="713803"/>
                  </a:lnTo>
                  <a:lnTo>
                    <a:pt x="1476200" y="729555"/>
                  </a:lnTo>
                  <a:lnTo>
                    <a:pt x="1447546" y="735330"/>
                  </a:lnTo>
                  <a:lnTo>
                    <a:pt x="73532" y="735330"/>
                  </a:lnTo>
                  <a:lnTo>
                    <a:pt x="44898" y="729555"/>
                  </a:lnTo>
                  <a:lnTo>
                    <a:pt x="21526" y="713803"/>
                  </a:lnTo>
                  <a:lnTo>
                    <a:pt x="5774" y="690431"/>
                  </a:lnTo>
                  <a:lnTo>
                    <a:pt x="0" y="661797"/>
                  </a:lnTo>
                  <a:lnTo>
                    <a:pt x="0" y="73533"/>
                  </a:lnTo>
                  <a:close/>
                </a:path>
              </a:pathLst>
            </a:custGeom>
            <a:ln w="12700">
              <a:solidFill>
                <a:srgbClr val="B8B9B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9620504" y="4279138"/>
            <a:ext cx="1386840" cy="483234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algn="ctr" marL="12700" marR="5080">
              <a:lnSpc>
                <a:spcPts val="1140"/>
              </a:lnSpc>
              <a:spcBef>
                <a:spcPts val="290"/>
              </a:spcBef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L2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mapping</a:t>
            </a:r>
            <a:r>
              <a:rPr dirty="0" sz="11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change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r>
              <a:rPr dirty="0" sz="11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plan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par BU</a:t>
            </a:r>
            <a:endParaRPr sz="1100">
              <a:latin typeface="Arial"/>
              <a:cs typeface="Arial"/>
            </a:endParaRPr>
          </a:p>
        </p:txBody>
      </p:sp>
      <p:sp>
        <p:nvSpPr>
          <p:cNvPr id="48" name="object 48" descr=""/>
          <p:cNvSpPr/>
          <p:nvPr/>
        </p:nvSpPr>
        <p:spPr>
          <a:xfrm>
            <a:off x="9593706" y="5020945"/>
            <a:ext cx="1479550" cy="546100"/>
          </a:xfrm>
          <a:custGeom>
            <a:avLst/>
            <a:gdLst/>
            <a:ahLst/>
            <a:cxnLst/>
            <a:rect l="l" t="t" r="r" b="b"/>
            <a:pathLst>
              <a:path w="1479550" h="546100">
                <a:moveTo>
                  <a:pt x="1424940" y="0"/>
                </a:moveTo>
                <a:lnTo>
                  <a:pt x="54610" y="0"/>
                </a:lnTo>
                <a:lnTo>
                  <a:pt x="33325" y="4282"/>
                </a:lnTo>
                <a:lnTo>
                  <a:pt x="15970" y="15970"/>
                </a:lnTo>
                <a:lnTo>
                  <a:pt x="4282" y="33325"/>
                </a:lnTo>
                <a:lnTo>
                  <a:pt x="0" y="54609"/>
                </a:lnTo>
                <a:lnTo>
                  <a:pt x="0" y="491108"/>
                </a:lnTo>
                <a:lnTo>
                  <a:pt x="4282" y="512339"/>
                </a:lnTo>
                <a:lnTo>
                  <a:pt x="15970" y="529701"/>
                </a:lnTo>
                <a:lnTo>
                  <a:pt x="33325" y="541418"/>
                </a:lnTo>
                <a:lnTo>
                  <a:pt x="54610" y="545718"/>
                </a:lnTo>
                <a:lnTo>
                  <a:pt x="1424940" y="545718"/>
                </a:lnTo>
                <a:lnTo>
                  <a:pt x="1446150" y="541418"/>
                </a:lnTo>
                <a:lnTo>
                  <a:pt x="1463468" y="529701"/>
                </a:lnTo>
                <a:lnTo>
                  <a:pt x="1475142" y="512339"/>
                </a:lnTo>
                <a:lnTo>
                  <a:pt x="1479423" y="491108"/>
                </a:lnTo>
                <a:lnTo>
                  <a:pt x="1479423" y="54609"/>
                </a:lnTo>
                <a:lnTo>
                  <a:pt x="1475142" y="33325"/>
                </a:lnTo>
                <a:lnTo>
                  <a:pt x="1463468" y="15970"/>
                </a:lnTo>
                <a:lnTo>
                  <a:pt x="1446150" y="4282"/>
                </a:lnTo>
                <a:lnTo>
                  <a:pt x="1424940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9593706" y="5020945"/>
            <a:ext cx="1479550" cy="546100"/>
          </a:xfrm>
          <a:custGeom>
            <a:avLst/>
            <a:gdLst/>
            <a:ahLst/>
            <a:cxnLst/>
            <a:rect l="l" t="t" r="r" b="b"/>
            <a:pathLst>
              <a:path w="1479550" h="546100">
                <a:moveTo>
                  <a:pt x="0" y="54609"/>
                </a:moveTo>
                <a:lnTo>
                  <a:pt x="4282" y="33325"/>
                </a:lnTo>
                <a:lnTo>
                  <a:pt x="15970" y="15970"/>
                </a:lnTo>
                <a:lnTo>
                  <a:pt x="33325" y="4282"/>
                </a:lnTo>
                <a:lnTo>
                  <a:pt x="54610" y="0"/>
                </a:lnTo>
                <a:lnTo>
                  <a:pt x="1424940" y="0"/>
                </a:lnTo>
                <a:lnTo>
                  <a:pt x="1446150" y="4282"/>
                </a:lnTo>
                <a:lnTo>
                  <a:pt x="1463468" y="15970"/>
                </a:lnTo>
                <a:lnTo>
                  <a:pt x="1475142" y="33325"/>
                </a:lnTo>
                <a:lnTo>
                  <a:pt x="1479423" y="54609"/>
                </a:lnTo>
                <a:lnTo>
                  <a:pt x="1479423" y="491108"/>
                </a:lnTo>
                <a:lnTo>
                  <a:pt x="1475142" y="512339"/>
                </a:lnTo>
                <a:lnTo>
                  <a:pt x="1463468" y="529701"/>
                </a:lnTo>
                <a:lnTo>
                  <a:pt x="1446150" y="541418"/>
                </a:lnTo>
                <a:lnTo>
                  <a:pt x="1424940" y="545718"/>
                </a:lnTo>
                <a:lnTo>
                  <a:pt x="54610" y="545718"/>
                </a:lnTo>
                <a:lnTo>
                  <a:pt x="33325" y="541418"/>
                </a:lnTo>
                <a:lnTo>
                  <a:pt x="15970" y="529701"/>
                </a:lnTo>
                <a:lnTo>
                  <a:pt x="4282" y="512339"/>
                </a:lnTo>
                <a:lnTo>
                  <a:pt x="0" y="491108"/>
                </a:lnTo>
                <a:lnTo>
                  <a:pt x="0" y="54609"/>
                </a:lnTo>
                <a:close/>
              </a:path>
            </a:pathLst>
          </a:custGeom>
          <a:ln w="12700">
            <a:solidFill>
              <a:srgbClr val="B8B9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 txBox="1"/>
          <p:nvPr/>
        </p:nvSpPr>
        <p:spPr>
          <a:xfrm>
            <a:off x="9641585" y="5039359"/>
            <a:ext cx="1384935" cy="483234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algn="ctr" marL="12700" marR="5080" indent="1905">
              <a:lnSpc>
                <a:spcPts val="1140"/>
              </a:lnSpc>
              <a:spcBef>
                <a:spcPts val="290"/>
              </a:spcBef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L3</a:t>
            </a:r>
            <a:r>
              <a:rPr dirty="0" sz="1100" spc="-10">
                <a:solidFill>
                  <a:srgbClr val="FFFFFF"/>
                </a:solidFill>
                <a:latin typeface="Arial"/>
                <a:cs typeface="Arial"/>
              </a:rPr>
              <a:t> change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r>
              <a:rPr dirty="0" sz="11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plan</a:t>
            </a:r>
            <a:r>
              <a:rPr dirty="0" sz="11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Arial"/>
                <a:cs typeface="Arial"/>
              </a:rPr>
              <a:t>par BU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1288541" y="1165225"/>
            <a:ext cx="9941560" cy="240029"/>
            <a:chOff x="1288541" y="1165225"/>
            <a:chExt cx="9941560" cy="240029"/>
          </a:xfrm>
        </p:grpSpPr>
        <p:sp>
          <p:nvSpPr>
            <p:cNvPr id="52" name="object 52" descr=""/>
            <p:cNvSpPr/>
            <p:nvPr/>
          </p:nvSpPr>
          <p:spPr>
            <a:xfrm>
              <a:off x="1288541" y="1165225"/>
              <a:ext cx="9941560" cy="85725"/>
            </a:xfrm>
            <a:custGeom>
              <a:avLst/>
              <a:gdLst/>
              <a:ahLst/>
              <a:cxnLst/>
              <a:rect l="l" t="t" r="r" b="b"/>
              <a:pathLst>
                <a:path w="9941560" h="85725">
                  <a:moveTo>
                    <a:pt x="9855454" y="0"/>
                  </a:moveTo>
                  <a:lnTo>
                    <a:pt x="9855327" y="85725"/>
                  </a:lnTo>
                  <a:lnTo>
                    <a:pt x="9912477" y="57150"/>
                  </a:lnTo>
                  <a:lnTo>
                    <a:pt x="9869805" y="57150"/>
                  </a:lnTo>
                  <a:lnTo>
                    <a:pt x="9869805" y="28575"/>
                  </a:lnTo>
                  <a:lnTo>
                    <a:pt x="9912688" y="28575"/>
                  </a:lnTo>
                  <a:lnTo>
                    <a:pt x="9855454" y="0"/>
                  </a:lnTo>
                  <a:close/>
                </a:path>
                <a:path w="9941560" h="85725">
                  <a:moveTo>
                    <a:pt x="9855411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9855369" y="57150"/>
                  </a:lnTo>
                  <a:lnTo>
                    <a:pt x="9855411" y="28575"/>
                  </a:lnTo>
                  <a:close/>
                </a:path>
                <a:path w="9941560" h="85725">
                  <a:moveTo>
                    <a:pt x="9912688" y="28575"/>
                  </a:moveTo>
                  <a:lnTo>
                    <a:pt x="9869805" y="28575"/>
                  </a:lnTo>
                  <a:lnTo>
                    <a:pt x="9869805" y="57150"/>
                  </a:lnTo>
                  <a:lnTo>
                    <a:pt x="9912477" y="57150"/>
                  </a:lnTo>
                  <a:lnTo>
                    <a:pt x="9941179" y="42799"/>
                  </a:lnTo>
                  <a:lnTo>
                    <a:pt x="9912688" y="28575"/>
                  </a:lnTo>
                  <a:close/>
                </a:path>
              </a:pathLst>
            </a:custGeom>
            <a:solidFill>
              <a:srgbClr val="B8B8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5164963" y="1204213"/>
              <a:ext cx="5189855" cy="191770"/>
            </a:xfrm>
            <a:custGeom>
              <a:avLst/>
              <a:gdLst/>
              <a:ahLst/>
              <a:cxnLst/>
              <a:rect l="l" t="t" r="r" b="b"/>
              <a:pathLst>
                <a:path w="5189855" h="191769">
                  <a:moveTo>
                    <a:pt x="0" y="3810"/>
                  </a:moveTo>
                  <a:lnTo>
                    <a:pt x="0" y="191388"/>
                  </a:lnTo>
                </a:path>
                <a:path w="5189855" h="191769">
                  <a:moveTo>
                    <a:pt x="5189346" y="0"/>
                  </a:moveTo>
                  <a:lnTo>
                    <a:pt x="5189346" y="187451"/>
                  </a:lnTo>
                </a:path>
              </a:pathLst>
            </a:custGeom>
            <a:ln w="19050">
              <a:solidFill>
                <a:srgbClr val="B8B8B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4855717" y="1440307"/>
            <a:ext cx="62166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3333FF"/>
                </a:solidFill>
                <a:latin typeface="Arial"/>
                <a:cs typeface="Arial"/>
              </a:rPr>
              <a:t>01</a:t>
            </a:r>
            <a:r>
              <a:rPr dirty="0" baseline="27777" sz="1050">
                <a:solidFill>
                  <a:srgbClr val="3333FF"/>
                </a:solidFill>
                <a:latin typeface="Arial"/>
                <a:cs typeface="Arial"/>
              </a:rPr>
              <a:t>st</a:t>
            </a:r>
            <a:r>
              <a:rPr dirty="0" baseline="27777" sz="1050" spc="150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3333FF"/>
                </a:solidFill>
                <a:latin typeface="Arial"/>
                <a:cs typeface="Arial"/>
              </a:rPr>
              <a:t>April</a:t>
            </a:r>
            <a:endParaRPr sz="1100">
              <a:latin typeface="Arial"/>
              <a:cs typeface="Arial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7444867" y="1438147"/>
            <a:ext cx="62484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3333FF"/>
                </a:solidFill>
                <a:latin typeface="Arial"/>
                <a:cs typeface="Arial"/>
              </a:rPr>
              <a:t>July</a:t>
            </a:r>
            <a:r>
              <a:rPr dirty="0" sz="1100" spc="-35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3333FF"/>
                </a:solidFill>
                <a:latin typeface="Arial"/>
                <a:cs typeface="Arial"/>
              </a:rPr>
              <a:t>2025</a:t>
            </a:r>
            <a:endParaRPr sz="1100">
              <a:latin typeface="Arial"/>
              <a:cs typeface="Arial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10187178" y="1434845"/>
            <a:ext cx="33655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0">
                <a:solidFill>
                  <a:srgbClr val="3333FF"/>
                </a:solidFill>
                <a:latin typeface="Arial"/>
                <a:cs typeface="Arial"/>
              </a:rPr>
              <a:t>2026</a:t>
            </a:r>
            <a:endParaRPr sz="1100">
              <a:latin typeface="Arial"/>
              <a:cs typeface="Arial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3234689" y="948944"/>
            <a:ext cx="6007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7E7E7E"/>
                </a:solidFill>
                <a:latin typeface="Arial"/>
                <a:cs typeface="Arial"/>
              </a:rPr>
              <a:t>Phase</a:t>
            </a:r>
            <a:r>
              <a:rPr dirty="0" sz="1200" spc="-25" b="1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200" spc="-50" b="1">
                <a:solidFill>
                  <a:srgbClr val="7E7E7E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1872233" y="1449070"/>
            <a:ext cx="60071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3333FF"/>
                </a:solidFill>
                <a:latin typeface="Arial"/>
                <a:cs typeface="Arial"/>
              </a:rPr>
              <a:t>Jan</a:t>
            </a:r>
            <a:r>
              <a:rPr dirty="0" sz="1100" spc="-20">
                <a:solidFill>
                  <a:srgbClr val="3333FF"/>
                </a:solidFill>
                <a:latin typeface="Arial"/>
                <a:cs typeface="Arial"/>
              </a:rPr>
              <a:t> 2025</a:t>
            </a:r>
            <a:endParaRPr sz="1100">
              <a:latin typeface="Arial"/>
              <a:cs typeface="Arial"/>
            </a:endParaRPr>
          </a:p>
        </p:txBody>
      </p:sp>
      <p:sp>
        <p:nvSpPr>
          <p:cNvPr id="59" name="object 59" descr=""/>
          <p:cNvSpPr/>
          <p:nvPr/>
        </p:nvSpPr>
        <p:spPr>
          <a:xfrm>
            <a:off x="2171573" y="1237996"/>
            <a:ext cx="0" cy="187960"/>
          </a:xfrm>
          <a:custGeom>
            <a:avLst/>
            <a:gdLst/>
            <a:ahLst/>
            <a:cxnLst/>
            <a:rect l="l" t="t" r="r" b="b"/>
            <a:pathLst>
              <a:path w="0" h="187959">
                <a:moveTo>
                  <a:pt x="0" y="0"/>
                </a:moveTo>
                <a:lnTo>
                  <a:pt x="0" y="187578"/>
                </a:lnTo>
              </a:path>
            </a:pathLst>
          </a:custGeom>
          <a:ln w="19050">
            <a:solidFill>
              <a:srgbClr val="B8B8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 txBox="1"/>
          <p:nvPr/>
        </p:nvSpPr>
        <p:spPr>
          <a:xfrm>
            <a:off x="6159500" y="936497"/>
            <a:ext cx="3215005" cy="523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26995" algn="l"/>
              </a:tabLst>
            </a:pPr>
            <a:r>
              <a:rPr dirty="0" sz="1200" b="1">
                <a:solidFill>
                  <a:srgbClr val="7E7E7E"/>
                </a:solidFill>
                <a:latin typeface="Arial"/>
                <a:cs typeface="Arial"/>
              </a:rPr>
              <a:t>Phase</a:t>
            </a:r>
            <a:r>
              <a:rPr dirty="0" sz="1200" spc="-25" b="1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200" spc="-50" b="1">
                <a:solidFill>
                  <a:srgbClr val="7E7E7E"/>
                </a:solidFill>
                <a:latin typeface="Arial"/>
                <a:cs typeface="Arial"/>
              </a:rPr>
              <a:t>2</a:t>
            </a:r>
            <a:r>
              <a:rPr dirty="0" sz="1200" b="1">
                <a:solidFill>
                  <a:srgbClr val="7E7E7E"/>
                </a:solidFill>
                <a:latin typeface="Arial"/>
                <a:cs typeface="Arial"/>
              </a:rPr>
              <a:t>	</a:t>
            </a:r>
            <a:r>
              <a:rPr dirty="0" baseline="2314" sz="1800" b="1">
                <a:solidFill>
                  <a:srgbClr val="7E7E7E"/>
                </a:solidFill>
                <a:latin typeface="Arial"/>
                <a:cs typeface="Arial"/>
              </a:rPr>
              <a:t>Phase</a:t>
            </a:r>
            <a:r>
              <a:rPr dirty="0" baseline="2314" sz="1800" spc="-37" b="1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baseline="2314" sz="1800" spc="-75" b="1">
                <a:solidFill>
                  <a:srgbClr val="7E7E7E"/>
                </a:solidFill>
                <a:latin typeface="Arial"/>
                <a:cs typeface="Arial"/>
              </a:rPr>
              <a:t>3</a:t>
            </a:r>
            <a:endParaRPr baseline="2314" sz="1800">
              <a:latin typeface="Arial"/>
              <a:cs typeface="Arial"/>
            </a:endParaRPr>
          </a:p>
          <a:p>
            <a:pPr marL="60960">
              <a:lnSpc>
                <a:spcPct val="100000"/>
              </a:lnSpc>
              <a:spcBef>
                <a:spcPts val="1160"/>
              </a:spcBef>
            </a:pPr>
            <a:r>
              <a:rPr dirty="0" sz="1100">
                <a:solidFill>
                  <a:srgbClr val="7E7E7E"/>
                </a:solidFill>
                <a:latin typeface="Arial"/>
                <a:cs typeface="Arial"/>
              </a:rPr>
              <a:t>90</a:t>
            </a:r>
            <a:r>
              <a:rPr dirty="0" sz="1100" spc="-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7E7E7E"/>
                </a:solidFill>
                <a:latin typeface="Arial"/>
                <a:cs typeface="Arial"/>
              </a:rPr>
              <a:t>days</a:t>
            </a:r>
            <a:endParaRPr sz="1100">
              <a:latin typeface="Arial"/>
              <a:cs typeface="Arial"/>
            </a:endParaRPr>
          </a:p>
        </p:txBody>
      </p:sp>
      <p:sp>
        <p:nvSpPr>
          <p:cNvPr id="61" name="object 61" descr=""/>
          <p:cNvSpPr/>
          <p:nvPr/>
        </p:nvSpPr>
        <p:spPr>
          <a:xfrm>
            <a:off x="7796403" y="5694591"/>
            <a:ext cx="2963545" cy="261620"/>
          </a:xfrm>
          <a:custGeom>
            <a:avLst/>
            <a:gdLst/>
            <a:ahLst/>
            <a:cxnLst/>
            <a:rect l="l" t="t" r="r" b="b"/>
            <a:pathLst>
              <a:path w="2963545" h="261620">
                <a:moveTo>
                  <a:pt x="0" y="261607"/>
                </a:moveTo>
                <a:lnTo>
                  <a:pt x="2963418" y="261607"/>
                </a:lnTo>
                <a:lnTo>
                  <a:pt x="2963418" y="0"/>
                </a:lnTo>
                <a:lnTo>
                  <a:pt x="0" y="0"/>
                </a:lnTo>
                <a:lnTo>
                  <a:pt x="0" y="261607"/>
                </a:lnTo>
                <a:close/>
              </a:path>
            </a:pathLst>
          </a:custGeom>
          <a:ln w="952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 txBox="1"/>
          <p:nvPr/>
        </p:nvSpPr>
        <p:spPr>
          <a:xfrm>
            <a:off x="7797641" y="5724245"/>
            <a:ext cx="295783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7E7E7E"/>
                </a:solidFill>
                <a:latin typeface="Arial"/>
                <a:cs typeface="Arial"/>
              </a:rPr>
              <a:t>Gates</a:t>
            </a:r>
            <a:r>
              <a:rPr dirty="0" sz="11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7E7E7E"/>
                </a:solidFill>
                <a:latin typeface="Arial"/>
                <a:cs typeface="Arial"/>
              </a:rPr>
              <a:t>(RLPM)</a:t>
            </a:r>
            <a:endParaRPr sz="1100">
              <a:latin typeface="Arial"/>
              <a:cs typeface="Arial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1518158" y="5695835"/>
            <a:ext cx="6228715" cy="261620"/>
          </a:xfrm>
          <a:prstGeom prst="rect">
            <a:avLst/>
          </a:prstGeom>
          <a:ln w="9525">
            <a:solidFill>
              <a:srgbClr val="A6A6A6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335"/>
              </a:spcBef>
            </a:pPr>
            <a:r>
              <a:rPr dirty="0" sz="1100" spc="-10">
                <a:solidFill>
                  <a:srgbClr val="7E7E7E"/>
                </a:solidFill>
                <a:latin typeface="Arial"/>
                <a:cs typeface="Arial"/>
              </a:rPr>
              <a:t>Passports</a:t>
            </a:r>
            <a:endParaRPr sz="1100">
              <a:latin typeface="Arial"/>
              <a:cs typeface="Arial"/>
            </a:endParaRPr>
          </a:p>
        </p:txBody>
      </p:sp>
      <p:sp>
        <p:nvSpPr>
          <p:cNvPr id="64" name="object 64" descr=""/>
          <p:cNvSpPr/>
          <p:nvPr/>
        </p:nvSpPr>
        <p:spPr>
          <a:xfrm>
            <a:off x="7755763" y="938149"/>
            <a:ext cx="0" cy="471805"/>
          </a:xfrm>
          <a:custGeom>
            <a:avLst/>
            <a:gdLst/>
            <a:ahLst/>
            <a:cxnLst/>
            <a:rect l="l" t="t" r="r" b="b"/>
            <a:pathLst>
              <a:path w="0" h="471805">
                <a:moveTo>
                  <a:pt x="0" y="0"/>
                </a:moveTo>
                <a:lnTo>
                  <a:pt x="0" y="471297"/>
                </a:lnTo>
              </a:path>
            </a:pathLst>
          </a:custGeom>
          <a:ln w="19050">
            <a:solidFill>
              <a:srgbClr val="B8B8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3091179" y="2557526"/>
            <a:ext cx="1560830" cy="170815"/>
          </a:xfrm>
          <a:custGeom>
            <a:avLst/>
            <a:gdLst/>
            <a:ahLst/>
            <a:cxnLst/>
            <a:rect l="l" t="t" r="r" b="b"/>
            <a:pathLst>
              <a:path w="1560829" h="170814">
                <a:moveTo>
                  <a:pt x="271144" y="164464"/>
                </a:moveTo>
                <a:lnTo>
                  <a:pt x="0" y="164464"/>
                </a:lnTo>
                <a:lnTo>
                  <a:pt x="0" y="170814"/>
                </a:lnTo>
                <a:lnTo>
                  <a:pt x="277494" y="170814"/>
                </a:lnTo>
                <a:lnTo>
                  <a:pt x="277494" y="167639"/>
                </a:lnTo>
                <a:lnTo>
                  <a:pt x="271144" y="167639"/>
                </a:lnTo>
                <a:lnTo>
                  <a:pt x="271144" y="164464"/>
                </a:lnTo>
                <a:close/>
              </a:path>
              <a:path w="1560829" h="170814">
                <a:moveTo>
                  <a:pt x="1484503" y="34925"/>
                </a:moveTo>
                <a:lnTo>
                  <a:pt x="271144" y="34925"/>
                </a:lnTo>
                <a:lnTo>
                  <a:pt x="271144" y="167639"/>
                </a:lnTo>
                <a:lnTo>
                  <a:pt x="274319" y="164464"/>
                </a:lnTo>
                <a:lnTo>
                  <a:pt x="277494" y="164464"/>
                </a:lnTo>
                <a:lnTo>
                  <a:pt x="277494" y="41275"/>
                </a:lnTo>
                <a:lnTo>
                  <a:pt x="274319" y="41275"/>
                </a:lnTo>
                <a:lnTo>
                  <a:pt x="277494" y="38100"/>
                </a:lnTo>
                <a:lnTo>
                  <a:pt x="1484503" y="38100"/>
                </a:lnTo>
                <a:lnTo>
                  <a:pt x="1484503" y="34925"/>
                </a:lnTo>
                <a:close/>
              </a:path>
              <a:path w="1560829" h="170814">
                <a:moveTo>
                  <a:pt x="277494" y="164464"/>
                </a:moveTo>
                <a:lnTo>
                  <a:pt x="274319" y="164464"/>
                </a:lnTo>
                <a:lnTo>
                  <a:pt x="271144" y="167639"/>
                </a:lnTo>
                <a:lnTo>
                  <a:pt x="277494" y="167639"/>
                </a:lnTo>
                <a:lnTo>
                  <a:pt x="277494" y="164464"/>
                </a:lnTo>
                <a:close/>
              </a:path>
              <a:path w="1560829" h="170814">
                <a:moveTo>
                  <a:pt x="1484503" y="0"/>
                </a:moveTo>
                <a:lnTo>
                  <a:pt x="1484503" y="76200"/>
                </a:lnTo>
                <a:lnTo>
                  <a:pt x="1554353" y="41275"/>
                </a:lnTo>
                <a:lnTo>
                  <a:pt x="1497203" y="41275"/>
                </a:lnTo>
                <a:lnTo>
                  <a:pt x="1497203" y="34925"/>
                </a:lnTo>
                <a:lnTo>
                  <a:pt x="1554353" y="34925"/>
                </a:lnTo>
                <a:lnTo>
                  <a:pt x="1484503" y="0"/>
                </a:lnTo>
                <a:close/>
              </a:path>
              <a:path w="1560829" h="170814">
                <a:moveTo>
                  <a:pt x="277494" y="38100"/>
                </a:moveTo>
                <a:lnTo>
                  <a:pt x="274319" y="41275"/>
                </a:lnTo>
                <a:lnTo>
                  <a:pt x="277494" y="41275"/>
                </a:lnTo>
                <a:lnTo>
                  <a:pt x="277494" y="38100"/>
                </a:lnTo>
                <a:close/>
              </a:path>
              <a:path w="1560829" h="170814">
                <a:moveTo>
                  <a:pt x="1484503" y="38100"/>
                </a:moveTo>
                <a:lnTo>
                  <a:pt x="277494" y="38100"/>
                </a:lnTo>
                <a:lnTo>
                  <a:pt x="277494" y="41275"/>
                </a:lnTo>
                <a:lnTo>
                  <a:pt x="1484503" y="41275"/>
                </a:lnTo>
                <a:lnTo>
                  <a:pt x="1484503" y="38100"/>
                </a:lnTo>
                <a:close/>
              </a:path>
              <a:path w="1560829" h="170814">
                <a:moveTo>
                  <a:pt x="1554353" y="34925"/>
                </a:moveTo>
                <a:lnTo>
                  <a:pt x="1497203" y="34925"/>
                </a:lnTo>
                <a:lnTo>
                  <a:pt x="1497203" y="41275"/>
                </a:lnTo>
                <a:lnTo>
                  <a:pt x="1554353" y="41275"/>
                </a:lnTo>
                <a:lnTo>
                  <a:pt x="1560703" y="38100"/>
                </a:lnTo>
                <a:lnTo>
                  <a:pt x="1554353" y="34925"/>
                </a:lnTo>
                <a:close/>
              </a:path>
            </a:pathLst>
          </a:custGeom>
          <a:solidFill>
            <a:srgbClr val="1F2A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 txBox="1"/>
          <p:nvPr/>
        </p:nvSpPr>
        <p:spPr>
          <a:xfrm>
            <a:off x="3451097" y="2258948"/>
            <a:ext cx="110998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9695" indent="-86995">
              <a:lnSpc>
                <a:spcPct val="100000"/>
              </a:lnSpc>
              <a:spcBef>
                <a:spcPts val="95"/>
              </a:spcBef>
              <a:buChar char="•"/>
              <a:tabLst>
                <a:tab pos="99695" algn="l"/>
              </a:tabLst>
            </a:pP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Nomenclature</a:t>
            </a:r>
            <a:endParaRPr sz="1000">
              <a:latin typeface="Arial"/>
              <a:cs typeface="Arial"/>
            </a:endParaRPr>
          </a:p>
          <a:p>
            <a:pPr marL="99695" indent="-86995">
              <a:lnSpc>
                <a:spcPct val="100000"/>
              </a:lnSpc>
              <a:buChar char="•"/>
              <a:tabLst>
                <a:tab pos="99695" algn="l"/>
              </a:tabLst>
            </a:pPr>
            <a:r>
              <a:rPr dirty="0" sz="1000">
                <a:solidFill>
                  <a:srgbClr val="7E7E7E"/>
                </a:solidFill>
                <a:latin typeface="Arial"/>
                <a:cs typeface="Arial"/>
              </a:rPr>
              <a:t>PMT</a:t>
            </a:r>
            <a:r>
              <a:rPr dirty="0" sz="1000" spc="-10">
                <a:solidFill>
                  <a:srgbClr val="7E7E7E"/>
                </a:solidFill>
                <a:latin typeface="Arial"/>
                <a:cs typeface="Arial"/>
              </a:rPr>
              <a:t> Deliverables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 descr=""/>
          <p:cNvSpPr/>
          <p:nvPr/>
        </p:nvSpPr>
        <p:spPr>
          <a:xfrm>
            <a:off x="3091179" y="2718435"/>
            <a:ext cx="1560830" cy="862965"/>
          </a:xfrm>
          <a:custGeom>
            <a:avLst/>
            <a:gdLst/>
            <a:ahLst/>
            <a:cxnLst/>
            <a:rect l="l" t="t" r="r" b="b"/>
            <a:pathLst>
              <a:path w="1560829" h="862964">
                <a:moveTo>
                  <a:pt x="1484503" y="786511"/>
                </a:moveTo>
                <a:lnTo>
                  <a:pt x="1484503" y="862711"/>
                </a:lnTo>
                <a:lnTo>
                  <a:pt x="1554353" y="827786"/>
                </a:lnTo>
                <a:lnTo>
                  <a:pt x="1497203" y="827786"/>
                </a:lnTo>
                <a:lnTo>
                  <a:pt x="1497203" y="821436"/>
                </a:lnTo>
                <a:lnTo>
                  <a:pt x="1554353" y="821436"/>
                </a:lnTo>
                <a:lnTo>
                  <a:pt x="1484503" y="786511"/>
                </a:lnTo>
                <a:close/>
              </a:path>
              <a:path w="1560829" h="862964">
                <a:moveTo>
                  <a:pt x="280034" y="3175"/>
                </a:moveTo>
                <a:lnTo>
                  <a:pt x="280034" y="827786"/>
                </a:lnTo>
                <a:lnTo>
                  <a:pt x="1484503" y="827786"/>
                </a:lnTo>
                <a:lnTo>
                  <a:pt x="1484503" y="824611"/>
                </a:lnTo>
                <a:lnTo>
                  <a:pt x="286384" y="824611"/>
                </a:lnTo>
                <a:lnTo>
                  <a:pt x="283209" y="821436"/>
                </a:lnTo>
                <a:lnTo>
                  <a:pt x="286384" y="821436"/>
                </a:lnTo>
                <a:lnTo>
                  <a:pt x="286384" y="6350"/>
                </a:lnTo>
                <a:lnTo>
                  <a:pt x="283209" y="6350"/>
                </a:lnTo>
                <a:lnTo>
                  <a:pt x="280034" y="3175"/>
                </a:lnTo>
                <a:close/>
              </a:path>
              <a:path w="1560829" h="862964">
                <a:moveTo>
                  <a:pt x="1554353" y="821436"/>
                </a:moveTo>
                <a:lnTo>
                  <a:pt x="1497203" y="821436"/>
                </a:lnTo>
                <a:lnTo>
                  <a:pt x="1497203" y="827786"/>
                </a:lnTo>
                <a:lnTo>
                  <a:pt x="1554353" y="827786"/>
                </a:lnTo>
                <a:lnTo>
                  <a:pt x="1560703" y="824611"/>
                </a:lnTo>
                <a:lnTo>
                  <a:pt x="1554353" y="821436"/>
                </a:lnTo>
                <a:close/>
              </a:path>
              <a:path w="1560829" h="862964">
                <a:moveTo>
                  <a:pt x="286384" y="821436"/>
                </a:moveTo>
                <a:lnTo>
                  <a:pt x="283209" y="821436"/>
                </a:lnTo>
                <a:lnTo>
                  <a:pt x="286384" y="824611"/>
                </a:lnTo>
                <a:lnTo>
                  <a:pt x="286384" y="821436"/>
                </a:lnTo>
                <a:close/>
              </a:path>
              <a:path w="1560829" h="862964">
                <a:moveTo>
                  <a:pt x="1484503" y="821436"/>
                </a:moveTo>
                <a:lnTo>
                  <a:pt x="286384" y="821436"/>
                </a:lnTo>
                <a:lnTo>
                  <a:pt x="286384" y="824611"/>
                </a:lnTo>
                <a:lnTo>
                  <a:pt x="1484503" y="824611"/>
                </a:lnTo>
                <a:lnTo>
                  <a:pt x="1484503" y="821436"/>
                </a:lnTo>
                <a:close/>
              </a:path>
              <a:path w="1560829" h="862964">
                <a:moveTo>
                  <a:pt x="286384" y="0"/>
                </a:moveTo>
                <a:lnTo>
                  <a:pt x="0" y="0"/>
                </a:lnTo>
                <a:lnTo>
                  <a:pt x="0" y="6350"/>
                </a:lnTo>
                <a:lnTo>
                  <a:pt x="280034" y="6350"/>
                </a:lnTo>
                <a:lnTo>
                  <a:pt x="280034" y="3175"/>
                </a:lnTo>
                <a:lnTo>
                  <a:pt x="286384" y="3175"/>
                </a:lnTo>
                <a:lnTo>
                  <a:pt x="286384" y="0"/>
                </a:lnTo>
                <a:close/>
              </a:path>
              <a:path w="1560829" h="862964">
                <a:moveTo>
                  <a:pt x="286384" y="3175"/>
                </a:moveTo>
                <a:lnTo>
                  <a:pt x="280034" y="3175"/>
                </a:lnTo>
                <a:lnTo>
                  <a:pt x="283209" y="6350"/>
                </a:lnTo>
                <a:lnTo>
                  <a:pt x="286384" y="6350"/>
                </a:lnTo>
                <a:lnTo>
                  <a:pt x="286384" y="3175"/>
                </a:lnTo>
                <a:close/>
              </a:path>
            </a:pathLst>
          </a:custGeom>
          <a:solidFill>
            <a:srgbClr val="1F2A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 txBox="1"/>
          <p:nvPr/>
        </p:nvSpPr>
        <p:spPr>
          <a:xfrm>
            <a:off x="3468115" y="2932303"/>
            <a:ext cx="102870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0965" indent="-88265">
              <a:lnSpc>
                <a:spcPct val="100000"/>
              </a:lnSpc>
              <a:spcBef>
                <a:spcPts val="100"/>
              </a:spcBef>
              <a:buChar char="•"/>
              <a:tabLst>
                <a:tab pos="100965" algn="l"/>
              </a:tabLst>
            </a:pPr>
            <a:r>
              <a:rPr dirty="0" sz="900">
                <a:solidFill>
                  <a:srgbClr val="7E7E7E"/>
                </a:solidFill>
                <a:latin typeface="Arial"/>
                <a:cs typeface="Arial"/>
              </a:rPr>
              <a:t>Plans</a:t>
            </a:r>
            <a:r>
              <a:rPr dirty="0" sz="9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7E7E7E"/>
                </a:solidFill>
                <a:latin typeface="Arial"/>
                <a:cs typeface="Arial"/>
              </a:rPr>
              <a:t>usage</a:t>
            </a:r>
            <a:endParaRPr sz="900">
              <a:latin typeface="Arial"/>
              <a:cs typeface="Arial"/>
            </a:endParaRPr>
          </a:p>
          <a:p>
            <a:pPr marL="100965" indent="-88265">
              <a:lnSpc>
                <a:spcPct val="100000"/>
              </a:lnSpc>
              <a:buChar char="•"/>
              <a:tabLst>
                <a:tab pos="100965" algn="l"/>
              </a:tabLst>
            </a:pPr>
            <a:r>
              <a:rPr dirty="0" sz="900">
                <a:solidFill>
                  <a:srgbClr val="7E7E7E"/>
                </a:solidFill>
                <a:latin typeface="Arial"/>
                <a:cs typeface="Arial"/>
              </a:rPr>
              <a:t>Passport</a:t>
            </a:r>
            <a:r>
              <a:rPr dirty="0" sz="9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7E7E7E"/>
                </a:solidFill>
                <a:latin typeface="Arial"/>
                <a:cs typeface="Arial"/>
              </a:rPr>
              <a:t>to</a:t>
            </a:r>
            <a:r>
              <a:rPr dirty="0" sz="900" spc="-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7E7E7E"/>
                </a:solidFill>
                <a:latin typeface="Arial"/>
                <a:cs typeface="Arial"/>
              </a:rPr>
              <a:t>Gates</a:t>
            </a:r>
            <a:endParaRPr sz="900">
              <a:latin typeface="Arial"/>
              <a:cs typeface="Arial"/>
            </a:endParaRPr>
          </a:p>
          <a:p>
            <a:pPr marL="100965" indent="-88265">
              <a:lnSpc>
                <a:spcPct val="100000"/>
              </a:lnSpc>
              <a:buChar char="•"/>
              <a:tabLst>
                <a:tab pos="100965" algn="l"/>
              </a:tabLst>
            </a:pPr>
            <a:r>
              <a:rPr dirty="0" sz="900" spc="-10">
                <a:solidFill>
                  <a:srgbClr val="7E7E7E"/>
                </a:solidFill>
                <a:latin typeface="Arial"/>
                <a:cs typeface="Arial"/>
              </a:rPr>
              <a:t>Archetypes</a:t>
            </a:r>
            <a:endParaRPr sz="900">
              <a:latin typeface="Arial"/>
              <a:cs typeface="Arial"/>
            </a:endParaRPr>
          </a:p>
          <a:p>
            <a:pPr marL="100965" indent="-88265">
              <a:lnSpc>
                <a:spcPct val="100000"/>
              </a:lnSpc>
              <a:buChar char="•"/>
              <a:tabLst>
                <a:tab pos="100965" algn="l"/>
              </a:tabLst>
            </a:pPr>
            <a:r>
              <a:rPr dirty="0" sz="900" spc="-10">
                <a:solidFill>
                  <a:srgbClr val="7E7E7E"/>
                </a:solidFill>
                <a:latin typeface="Arial"/>
                <a:cs typeface="Arial"/>
              </a:rPr>
              <a:t>Tailoring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69" name="object 69" descr=""/>
          <p:cNvSpPr/>
          <p:nvPr/>
        </p:nvSpPr>
        <p:spPr>
          <a:xfrm>
            <a:off x="3091179" y="3595115"/>
            <a:ext cx="1560830" cy="282575"/>
          </a:xfrm>
          <a:custGeom>
            <a:avLst/>
            <a:gdLst/>
            <a:ahLst/>
            <a:cxnLst/>
            <a:rect l="l" t="t" r="r" b="b"/>
            <a:pathLst>
              <a:path w="1560829" h="282575">
                <a:moveTo>
                  <a:pt x="288924" y="275717"/>
                </a:moveTo>
                <a:lnTo>
                  <a:pt x="0" y="275717"/>
                </a:lnTo>
                <a:lnTo>
                  <a:pt x="0" y="282067"/>
                </a:lnTo>
                <a:lnTo>
                  <a:pt x="295274" y="282067"/>
                </a:lnTo>
                <a:lnTo>
                  <a:pt x="295274" y="278892"/>
                </a:lnTo>
                <a:lnTo>
                  <a:pt x="288924" y="278892"/>
                </a:lnTo>
                <a:lnTo>
                  <a:pt x="288924" y="275717"/>
                </a:lnTo>
                <a:close/>
              </a:path>
              <a:path w="1560829" h="282575">
                <a:moveTo>
                  <a:pt x="1484503" y="34925"/>
                </a:moveTo>
                <a:lnTo>
                  <a:pt x="288924" y="34925"/>
                </a:lnTo>
                <a:lnTo>
                  <a:pt x="288924" y="278892"/>
                </a:lnTo>
                <a:lnTo>
                  <a:pt x="292099" y="275717"/>
                </a:lnTo>
                <a:lnTo>
                  <a:pt x="295274" y="275717"/>
                </a:lnTo>
                <a:lnTo>
                  <a:pt x="295274" y="41275"/>
                </a:lnTo>
                <a:lnTo>
                  <a:pt x="292099" y="41275"/>
                </a:lnTo>
                <a:lnTo>
                  <a:pt x="295274" y="38100"/>
                </a:lnTo>
                <a:lnTo>
                  <a:pt x="1484503" y="38100"/>
                </a:lnTo>
                <a:lnTo>
                  <a:pt x="1484503" y="34925"/>
                </a:lnTo>
                <a:close/>
              </a:path>
              <a:path w="1560829" h="282575">
                <a:moveTo>
                  <a:pt x="295274" y="275717"/>
                </a:moveTo>
                <a:lnTo>
                  <a:pt x="292099" y="275717"/>
                </a:lnTo>
                <a:lnTo>
                  <a:pt x="288924" y="278892"/>
                </a:lnTo>
                <a:lnTo>
                  <a:pt x="295274" y="278892"/>
                </a:lnTo>
                <a:lnTo>
                  <a:pt x="295274" y="275717"/>
                </a:lnTo>
                <a:close/>
              </a:path>
              <a:path w="1560829" h="282575">
                <a:moveTo>
                  <a:pt x="1484503" y="0"/>
                </a:moveTo>
                <a:lnTo>
                  <a:pt x="1484503" y="76200"/>
                </a:lnTo>
                <a:lnTo>
                  <a:pt x="1554353" y="41275"/>
                </a:lnTo>
                <a:lnTo>
                  <a:pt x="1497203" y="41275"/>
                </a:lnTo>
                <a:lnTo>
                  <a:pt x="1497203" y="34925"/>
                </a:lnTo>
                <a:lnTo>
                  <a:pt x="1554353" y="34925"/>
                </a:lnTo>
                <a:lnTo>
                  <a:pt x="1484503" y="0"/>
                </a:lnTo>
                <a:close/>
              </a:path>
              <a:path w="1560829" h="282575">
                <a:moveTo>
                  <a:pt x="295274" y="38100"/>
                </a:moveTo>
                <a:lnTo>
                  <a:pt x="292099" y="41275"/>
                </a:lnTo>
                <a:lnTo>
                  <a:pt x="295274" y="41275"/>
                </a:lnTo>
                <a:lnTo>
                  <a:pt x="295274" y="38100"/>
                </a:lnTo>
                <a:close/>
              </a:path>
              <a:path w="1560829" h="282575">
                <a:moveTo>
                  <a:pt x="1484503" y="38100"/>
                </a:moveTo>
                <a:lnTo>
                  <a:pt x="295274" y="38100"/>
                </a:lnTo>
                <a:lnTo>
                  <a:pt x="295274" y="41275"/>
                </a:lnTo>
                <a:lnTo>
                  <a:pt x="1484503" y="41275"/>
                </a:lnTo>
                <a:lnTo>
                  <a:pt x="1484503" y="38100"/>
                </a:lnTo>
                <a:close/>
              </a:path>
              <a:path w="1560829" h="282575">
                <a:moveTo>
                  <a:pt x="1554353" y="34925"/>
                </a:moveTo>
                <a:lnTo>
                  <a:pt x="1497203" y="34925"/>
                </a:lnTo>
                <a:lnTo>
                  <a:pt x="1497203" y="41275"/>
                </a:lnTo>
                <a:lnTo>
                  <a:pt x="1554353" y="41275"/>
                </a:lnTo>
                <a:lnTo>
                  <a:pt x="1560703" y="38100"/>
                </a:lnTo>
                <a:lnTo>
                  <a:pt x="1554353" y="34925"/>
                </a:lnTo>
                <a:close/>
              </a:path>
            </a:pathLst>
          </a:custGeom>
          <a:solidFill>
            <a:srgbClr val="1F2A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 txBox="1"/>
          <p:nvPr/>
        </p:nvSpPr>
        <p:spPr>
          <a:xfrm>
            <a:off x="3468115" y="3654297"/>
            <a:ext cx="100456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0965" indent="-88265">
              <a:lnSpc>
                <a:spcPct val="100000"/>
              </a:lnSpc>
              <a:spcBef>
                <a:spcPts val="100"/>
              </a:spcBef>
              <a:buChar char="•"/>
              <a:tabLst>
                <a:tab pos="100965" algn="l"/>
              </a:tabLst>
            </a:pPr>
            <a:r>
              <a:rPr dirty="0" sz="900">
                <a:solidFill>
                  <a:srgbClr val="7E7E7E"/>
                </a:solidFill>
                <a:latin typeface="Arial"/>
                <a:cs typeface="Arial"/>
              </a:rPr>
              <a:t>Entry/Exit</a:t>
            </a:r>
            <a:r>
              <a:rPr dirty="0" sz="9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7E7E7E"/>
                </a:solidFill>
                <a:latin typeface="Arial"/>
                <a:cs typeface="Arial"/>
              </a:rPr>
              <a:t>Criteria</a:t>
            </a:r>
            <a:endParaRPr sz="900">
              <a:latin typeface="Arial"/>
              <a:cs typeface="Arial"/>
            </a:endParaRPr>
          </a:p>
        </p:txBody>
      </p:sp>
      <p:sp>
        <p:nvSpPr>
          <p:cNvPr id="71" name="object 71" descr=""/>
          <p:cNvSpPr/>
          <p:nvPr/>
        </p:nvSpPr>
        <p:spPr>
          <a:xfrm>
            <a:off x="3091179" y="3881628"/>
            <a:ext cx="1502410" cy="596900"/>
          </a:xfrm>
          <a:custGeom>
            <a:avLst/>
            <a:gdLst/>
            <a:ahLst/>
            <a:cxnLst/>
            <a:rect l="l" t="t" r="r" b="b"/>
            <a:pathLst>
              <a:path w="1502410" h="596900">
                <a:moveTo>
                  <a:pt x="1425829" y="520700"/>
                </a:moveTo>
                <a:lnTo>
                  <a:pt x="1425829" y="596900"/>
                </a:lnTo>
                <a:lnTo>
                  <a:pt x="1495679" y="561975"/>
                </a:lnTo>
                <a:lnTo>
                  <a:pt x="1438529" y="561975"/>
                </a:lnTo>
                <a:lnTo>
                  <a:pt x="1438529" y="555625"/>
                </a:lnTo>
                <a:lnTo>
                  <a:pt x="1495679" y="555625"/>
                </a:lnTo>
                <a:lnTo>
                  <a:pt x="1425829" y="520700"/>
                </a:lnTo>
                <a:close/>
              </a:path>
              <a:path w="1502410" h="596900">
                <a:moveTo>
                  <a:pt x="286257" y="3175"/>
                </a:moveTo>
                <a:lnTo>
                  <a:pt x="286257" y="561975"/>
                </a:lnTo>
                <a:lnTo>
                  <a:pt x="1425829" y="561975"/>
                </a:lnTo>
                <a:lnTo>
                  <a:pt x="1425829" y="558800"/>
                </a:lnTo>
                <a:lnTo>
                  <a:pt x="292607" y="558800"/>
                </a:lnTo>
                <a:lnTo>
                  <a:pt x="289432" y="555625"/>
                </a:lnTo>
                <a:lnTo>
                  <a:pt x="292607" y="555625"/>
                </a:lnTo>
                <a:lnTo>
                  <a:pt x="292607" y="6350"/>
                </a:lnTo>
                <a:lnTo>
                  <a:pt x="289432" y="6350"/>
                </a:lnTo>
                <a:lnTo>
                  <a:pt x="286257" y="3175"/>
                </a:lnTo>
                <a:close/>
              </a:path>
              <a:path w="1502410" h="596900">
                <a:moveTo>
                  <a:pt x="1495679" y="555625"/>
                </a:moveTo>
                <a:lnTo>
                  <a:pt x="1438529" y="555625"/>
                </a:lnTo>
                <a:lnTo>
                  <a:pt x="1438529" y="561975"/>
                </a:lnTo>
                <a:lnTo>
                  <a:pt x="1495679" y="561975"/>
                </a:lnTo>
                <a:lnTo>
                  <a:pt x="1502029" y="558800"/>
                </a:lnTo>
                <a:lnTo>
                  <a:pt x="1495679" y="555625"/>
                </a:lnTo>
                <a:close/>
              </a:path>
              <a:path w="1502410" h="596900">
                <a:moveTo>
                  <a:pt x="292607" y="555625"/>
                </a:moveTo>
                <a:lnTo>
                  <a:pt x="289432" y="555625"/>
                </a:lnTo>
                <a:lnTo>
                  <a:pt x="292607" y="558800"/>
                </a:lnTo>
                <a:lnTo>
                  <a:pt x="292607" y="555625"/>
                </a:lnTo>
                <a:close/>
              </a:path>
              <a:path w="1502410" h="596900">
                <a:moveTo>
                  <a:pt x="1425829" y="555625"/>
                </a:moveTo>
                <a:lnTo>
                  <a:pt x="292607" y="555625"/>
                </a:lnTo>
                <a:lnTo>
                  <a:pt x="292607" y="558800"/>
                </a:lnTo>
                <a:lnTo>
                  <a:pt x="1425829" y="558800"/>
                </a:lnTo>
                <a:lnTo>
                  <a:pt x="1425829" y="555625"/>
                </a:lnTo>
                <a:close/>
              </a:path>
              <a:path w="1502410" h="596900">
                <a:moveTo>
                  <a:pt x="292607" y="0"/>
                </a:moveTo>
                <a:lnTo>
                  <a:pt x="0" y="0"/>
                </a:lnTo>
                <a:lnTo>
                  <a:pt x="0" y="6350"/>
                </a:lnTo>
                <a:lnTo>
                  <a:pt x="286257" y="6350"/>
                </a:lnTo>
                <a:lnTo>
                  <a:pt x="286257" y="3175"/>
                </a:lnTo>
                <a:lnTo>
                  <a:pt x="292607" y="3175"/>
                </a:lnTo>
                <a:lnTo>
                  <a:pt x="292607" y="0"/>
                </a:lnTo>
                <a:close/>
              </a:path>
              <a:path w="1502410" h="596900">
                <a:moveTo>
                  <a:pt x="292607" y="3175"/>
                </a:moveTo>
                <a:lnTo>
                  <a:pt x="286257" y="3175"/>
                </a:lnTo>
                <a:lnTo>
                  <a:pt x="289432" y="6350"/>
                </a:lnTo>
                <a:lnTo>
                  <a:pt x="292607" y="6350"/>
                </a:lnTo>
                <a:lnTo>
                  <a:pt x="292607" y="3175"/>
                </a:lnTo>
                <a:close/>
              </a:path>
            </a:pathLst>
          </a:custGeom>
          <a:solidFill>
            <a:srgbClr val="1F2A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 txBox="1"/>
          <p:nvPr/>
        </p:nvSpPr>
        <p:spPr>
          <a:xfrm>
            <a:off x="3468115" y="4111879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0965" indent="-88265">
              <a:lnSpc>
                <a:spcPct val="100000"/>
              </a:lnSpc>
              <a:spcBef>
                <a:spcPts val="100"/>
              </a:spcBef>
              <a:buChar char="•"/>
              <a:tabLst>
                <a:tab pos="100965" algn="l"/>
              </a:tabLst>
            </a:pPr>
            <a:r>
              <a:rPr dirty="0" sz="900" spc="-10">
                <a:solidFill>
                  <a:srgbClr val="7E7E7E"/>
                </a:solidFill>
                <a:latin typeface="Arial"/>
                <a:cs typeface="Arial"/>
              </a:rPr>
              <a:t>Milestones</a:t>
            </a:r>
            <a:endParaRPr sz="900">
              <a:latin typeface="Arial"/>
              <a:cs typeface="Arial"/>
            </a:endParaRPr>
          </a:p>
          <a:p>
            <a:pPr marL="100965" indent="-88265">
              <a:lnSpc>
                <a:spcPct val="100000"/>
              </a:lnSpc>
              <a:buChar char="•"/>
              <a:tabLst>
                <a:tab pos="100965" algn="l"/>
              </a:tabLst>
            </a:pPr>
            <a:r>
              <a:rPr dirty="0" sz="900">
                <a:solidFill>
                  <a:srgbClr val="7E7E7E"/>
                </a:solidFill>
                <a:latin typeface="Arial"/>
                <a:cs typeface="Arial"/>
              </a:rPr>
              <a:t>Other</a:t>
            </a:r>
            <a:r>
              <a:rPr dirty="0" sz="900" spc="-1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7E7E7E"/>
                </a:solidFill>
                <a:latin typeface="Arial"/>
                <a:cs typeface="Arial"/>
              </a:rPr>
              <a:t>phase</a:t>
            </a:r>
            <a:r>
              <a:rPr dirty="0" sz="900" spc="-25" i="1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7E7E7E"/>
                </a:solidFill>
                <a:latin typeface="Arial"/>
                <a:cs typeface="Arial"/>
              </a:rPr>
              <a:t>req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3" name="object 73" descr=""/>
          <p:cNvGrpSpPr/>
          <p:nvPr/>
        </p:nvGrpSpPr>
        <p:grpSpPr>
          <a:xfrm>
            <a:off x="2101976" y="1678558"/>
            <a:ext cx="5581650" cy="3938270"/>
            <a:chOff x="2101976" y="1678558"/>
            <a:chExt cx="5581650" cy="3938270"/>
          </a:xfrm>
        </p:grpSpPr>
        <p:sp>
          <p:nvSpPr>
            <p:cNvPr id="74" name="object 74" descr=""/>
            <p:cNvSpPr/>
            <p:nvPr/>
          </p:nvSpPr>
          <p:spPr>
            <a:xfrm>
              <a:off x="2101976" y="5400548"/>
              <a:ext cx="5581650" cy="216535"/>
            </a:xfrm>
            <a:custGeom>
              <a:avLst/>
              <a:gdLst/>
              <a:ahLst/>
              <a:cxnLst/>
              <a:rect l="l" t="t" r="r" b="b"/>
              <a:pathLst>
                <a:path w="5581650" h="216535">
                  <a:moveTo>
                    <a:pt x="6350" y="0"/>
                  </a:moveTo>
                  <a:lnTo>
                    <a:pt x="0" y="0"/>
                  </a:lnTo>
                  <a:lnTo>
                    <a:pt x="0" y="216179"/>
                  </a:lnTo>
                  <a:lnTo>
                    <a:pt x="5546217" y="216179"/>
                  </a:lnTo>
                  <a:lnTo>
                    <a:pt x="5546217" y="213004"/>
                  </a:lnTo>
                  <a:lnTo>
                    <a:pt x="6350" y="213004"/>
                  </a:lnTo>
                  <a:lnTo>
                    <a:pt x="3175" y="209829"/>
                  </a:lnTo>
                  <a:lnTo>
                    <a:pt x="6350" y="209829"/>
                  </a:lnTo>
                  <a:lnTo>
                    <a:pt x="6350" y="0"/>
                  </a:lnTo>
                  <a:close/>
                </a:path>
                <a:path w="5581650" h="216535">
                  <a:moveTo>
                    <a:pt x="6350" y="209829"/>
                  </a:moveTo>
                  <a:lnTo>
                    <a:pt x="3175" y="209829"/>
                  </a:lnTo>
                  <a:lnTo>
                    <a:pt x="6350" y="213004"/>
                  </a:lnTo>
                  <a:lnTo>
                    <a:pt x="6350" y="209829"/>
                  </a:lnTo>
                  <a:close/>
                </a:path>
                <a:path w="5581650" h="216535">
                  <a:moveTo>
                    <a:pt x="5539867" y="209829"/>
                  </a:moveTo>
                  <a:lnTo>
                    <a:pt x="6350" y="209829"/>
                  </a:lnTo>
                  <a:lnTo>
                    <a:pt x="6350" y="213004"/>
                  </a:lnTo>
                  <a:lnTo>
                    <a:pt x="5539867" y="213004"/>
                  </a:lnTo>
                  <a:lnTo>
                    <a:pt x="5539867" y="209829"/>
                  </a:lnTo>
                  <a:close/>
                </a:path>
                <a:path w="5581650" h="216535">
                  <a:moveTo>
                    <a:pt x="5546217" y="130174"/>
                  </a:moveTo>
                  <a:lnTo>
                    <a:pt x="5539867" y="130174"/>
                  </a:lnTo>
                  <a:lnTo>
                    <a:pt x="5539867" y="213004"/>
                  </a:lnTo>
                  <a:lnTo>
                    <a:pt x="5543042" y="209829"/>
                  </a:lnTo>
                  <a:lnTo>
                    <a:pt x="5546217" y="209829"/>
                  </a:lnTo>
                  <a:lnTo>
                    <a:pt x="5546217" y="130174"/>
                  </a:lnTo>
                  <a:close/>
                </a:path>
                <a:path w="5581650" h="216535">
                  <a:moveTo>
                    <a:pt x="5546217" y="209829"/>
                  </a:moveTo>
                  <a:lnTo>
                    <a:pt x="5543042" y="209829"/>
                  </a:lnTo>
                  <a:lnTo>
                    <a:pt x="5539867" y="213004"/>
                  </a:lnTo>
                  <a:lnTo>
                    <a:pt x="5546217" y="213004"/>
                  </a:lnTo>
                  <a:lnTo>
                    <a:pt x="5546217" y="209829"/>
                  </a:lnTo>
                  <a:close/>
                </a:path>
                <a:path w="5581650" h="216535">
                  <a:moveTo>
                    <a:pt x="5543042" y="66674"/>
                  </a:moveTo>
                  <a:lnTo>
                    <a:pt x="5504942" y="142874"/>
                  </a:lnTo>
                  <a:lnTo>
                    <a:pt x="5539867" y="142874"/>
                  </a:lnTo>
                  <a:lnTo>
                    <a:pt x="5539867" y="130174"/>
                  </a:lnTo>
                  <a:lnTo>
                    <a:pt x="5574792" y="130174"/>
                  </a:lnTo>
                  <a:lnTo>
                    <a:pt x="5543042" y="66674"/>
                  </a:lnTo>
                  <a:close/>
                </a:path>
                <a:path w="5581650" h="216535">
                  <a:moveTo>
                    <a:pt x="5574792" y="130174"/>
                  </a:moveTo>
                  <a:lnTo>
                    <a:pt x="5546217" y="130174"/>
                  </a:lnTo>
                  <a:lnTo>
                    <a:pt x="5546217" y="142874"/>
                  </a:lnTo>
                  <a:lnTo>
                    <a:pt x="5581142" y="142874"/>
                  </a:lnTo>
                  <a:lnTo>
                    <a:pt x="5574792" y="130174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5795518" y="2582278"/>
              <a:ext cx="203200" cy="1056005"/>
            </a:xfrm>
            <a:custGeom>
              <a:avLst/>
              <a:gdLst/>
              <a:ahLst/>
              <a:cxnLst/>
              <a:rect l="l" t="t" r="r" b="b"/>
              <a:pathLst>
                <a:path w="203200" h="1056004">
                  <a:moveTo>
                    <a:pt x="202793" y="926211"/>
                  </a:moveTo>
                  <a:lnTo>
                    <a:pt x="0" y="926211"/>
                  </a:lnTo>
                  <a:lnTo>
                    <a:pt x="0" y="1055763"/>
                  </a:lnTo>
                  <a:lnTo>
                    <a:pt x="202793" y="1055763"/>
                  </a:lnTo>
                  <a:lnTo>
                    <a:pt x="202793" y="926211"/>
                  </a:lnTo>
                  <a:close/>
                </a:path>
                <a:path w="203200" h="1056004">
                  <a:moveTo>
                    <a:pt x="202793" y="0"/>
                  </a:moveTo>
                  <a:lnTo>
                    <a:pt x="0" y="0"/>
                  </a:lnTo>
                  <a:lnTo>
                    <a:pt x="0" y="129552"/>
                  </a:lnTo>
                  <a:lnTo>
                    <a:pt x="202793" y="129552"/>
                  </a:lnTo>
                  <a:lnTo>
                    <a:pt x="202793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5998337" y="2643885"/>
              <a:ext cx="333375" cy="2630805"/>
            </a:xfrm>
            <a:custGeom>
              <a:avLst/>
              <a:gdLst/>
              <a:ahLst/>
              <a:cxnLst/>
              <a:rect l="l" t="t" r="r" b="b"/>
              <a:pathLst>
                <a:path w="333375" h="2630804">
                  <a:moveTo>
                    <a:pt x="333121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326771" y="6350"/>
                  </a:lnTo>
                  <a:lnTo>
                    <a:pt x="326771" y="926096"/>
                  </a:lnTo>
                  <a:lnTo>
                    <a:pt x="0" y="926096"/>
                  </a:lnTo>
                  <a:lnTo>
                    <a:pt x="0" y="932446"/>
                  </a:lnTo>
                  <a:lnTo>
                    <a:pt x="326771" y="932446"/>
                  </a:lnTo>
                  <a:lnTo>
                    <a:pt x="326771" y="2589022"/>
                  </a:lnTo>
                  <a:lnTo>
                    <a:pt x="177546" y="2589022"/>
                  </a:lnTo>
                  <a:lnTo>
                    <a:pt x="177546" y="2554097"/>
                  </a:lnTo>
                  <a:lnTo>
                    <a:pt x="101346" y="2592197"/>
                  </a:lnTo>
                  <a:lnTo>
                    <a:pt x="177546" y="2630297"/>
                  </a:lnTo>
                  <a:lnTo>
                    <a:pt x="177546" y="2595372"/>
                  </a:lnTo>
                  <a:lnTo>
                    <a:pt x="333121" y="2595384"/>
                  </a:lnTo>
                  <a:lnTo>
                    <a:pt x="333121" y="3175"/>
                  </a:lnTo>
                  <a:lnTo>
                    <a:pt x="333121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4651882" y="1688083"/>
              <a:ext cx="1344930" cy="590550"/>
            </a:xfrm>
            <a:custGeom>
              <a:avLst/>
              <a:gdLst/>
              <a:ahLst/>
              <a:cxnLst/>
              <a:rect l="l" t="t" r="r" b="b"/>
              <a:pathLst>
                <a:path w="1344929" h="590550">
                  <a:moveTo>
                    <a:pt x="1245996" y="0"/>
                  </a:moveTo>
                  <a:lnTo>
                    <a:pt x="98297" y="0"/>
                  </a:lnTo>
                  <a:lnTo>
                    <a:pt x="60007" y="7735"/>
                  </a:lnTo>
                  <a:lnTo>
                    <a:pt x="28765" y="28828"/>
                  </a:lnTo>
                  <a:lnTo>
                    <a:pt x="7715" y="60114"/>
                  </a:lnTo>
                  <a:lnTo>
                    <a:pt x="0" y="98425"/>
                  </a:lnTo>
                  <a:lnTo>
                    <a:pt x="0" y="492125"/>
                  </a:lnTo>
                  <a:lnTo>
                    <a:pt x="7715" y="530361"/>
                  </a:lnTo>
                  <a:lnTo>
                    <a:pt x="28765" y="561609"/>
                  </a:lnTo>
                  <a:lnTo>
                    <a:pt x="60007" y="582689"/>
                  </a:lnTo>
                  <a:lnTo>
                    <a:pt x="98297" y="590423"/>
                  </a:lnTo>
                  <a:lnTo>
                    <a:pt x="1245996" y="590423"/>
                  </a:lnTo>
                  <a:lnTo>
                    <a:pt x="1284307" y="582689"/>
                  </a:lnTo>
                  <a:lnTo>
                    <a:pt x="1315592" y="561609"/>
                  </a:lnTo>
                  <a:lnTo>
                    <a:pt x="1336686" y="530361"/>
                  </a:lnTo>
                  <a:lnTo>
                    <a:pt x="1344421" y="492125"/>
                  </a:lnTo>
                  <a:lnTo>
                    <a:pt x="1344421" y="98425"/>
                  </a:lnTo>
                  <a:lnTo>
                    <a:pt x="1336686" y="60114"/>
                  </a:lnTo>
                  <a:lnTo>
                    <a:pt x="1315592" y="28828"/>
                  </a:lnTo>
                  <a:lnTo>
                    <a:pt x="1284307" y="7735"/>
                  </a:lnTo>
                  <a:lnTo>
                    <a:pt x="124599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4651882" y="1688083"/>
              <a:ext cx="1344930" cy="590550"/>
            </a:xfrm>
            <a:custGeom>
              <a:avLst/>
              <a:gdLst/>
              <a:ahLst/>
              <a:cxnLst/>
              <a:rect l="l" t="t" r="r" b="b"/>
              <a:pathLst>
                <a:path w="1344929" h="590550">
                  <a:moveTo>
                    <a:pt x="0" y="98425"/>
                  </a:moveTo>
                  <a:lnTo>
                    <a:pt x="7715" y="60114"/>
                  </a:lnTo>
                  <a:lnTo>
                    <a:pt x="28765" y="28828"/>
                  </a:lnTo>
                  <a:lnTo>
                    <a:pt x="60007" y="7735"/>
                  </a:lnTo>
                  <a:lnTo>
                    <a:pt x="98297" y="0"/>
                  </a:lnTo>
                  <a:lnTo>
                    <a:pt x="1245996" y="0"/>
                  </a:lnTo>
                  <a:lnTo>
                    <a:pt x="1284307" y="7735"/>
                  </a:lnTo>
                  <a:lnTo>
                    <a:pt x="1315592" y="28828"/>
                  </a:lnTo>
                  <a:lnTo>
                    <a:pt x="1336686" y="60114"/>
                  </a:lnTo>
                  <a:lnTo>
                    <a:pt x="1344421" y="98425"/>
                  </a:lnTo>
                  <a:lnTo>
                    <a:pt x="1344421" y="492125"/>
                  </a:lnTo>
                  <a:lnTo>
                    <a:pt x="1336686" y="530361"/>
                  </a:lnTo>
                  <a:lnTo>
                    <a:pt x="1315592" y="561609"/>
                  </a:lnTo>
                  <a:lnTo>
                    <a:pt x="1284307" y="582689"/>
                  </a:lnTo>
                  <a:lnTo>
                    <a:pt x="1245996" y="590423"/>
                  </a:lnTo>
                  <a:lnTo>
                    <a:pt x="98297" y="590423"/>
                  </a:lnTo>
                  <a:lnTo>
                    <a:pt x="60007" y="582689"/>
                  </a:lnTo>
                  <a:lnTo>
                    <a:pt x="28765" y="561609"/>
                  </a:lnTo>
                  <a:lnTo>
                    <a:pt x="7715" y="530361"/>
                  </a:lnTo>
                  <a:lnTo>
                    <a:pt x="0" y="492125"/>
                  </a:lnTo>
                  <a:lnTo>
                    <a:pt x="0" y="9842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 descr=""/>
          <p:cNvSpPr txBox="1"/>
          <p:nvPr/>
        </p:nvSpPr>
        <p:spPr>
          <a:xfrm>
            <a:off x="252475" y="5618784"/>
            <a:ext cx="857885" cy="453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7E7E7E"/>
                </a:solidFill>
                <a:latin typeface="Arial"/>
                <a:cs typeface="Arial"/>
              </a:rPr>
              <a:t>PWC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-10" b="1">
                <a:solidFill>
                  <a:srgbClr val="7E7E7E"/>
                </a:solidFill>
                <a:latin typeface="Arial"/>
                <a:cs typeface="Arial"/>
              </a:rPr>
              <a:t>Programs</a:t>
            </a:r>
            <a:endParaRPr sz="1400">
              <a:latin typeface="Arial"/>
              <a:cs typeface="Arial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317398" y="1024889"/>
            <a:ext cx="74676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7E7E7E"/>
                </a:solidFill>
                <a:latin typeface="Arial"/>
                <a:cs typeface="Arial"/>
              </a:rPr>
              <a:t>Change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solidFill>
                  <a:srgbClr val="7E7E7E"/>
                </a:solidFill>
                <a:latin typeface="Arial"/>
                <a:cs typeface="Arial"/>
              </a:rPr>
              <a:t>Timeline</a:t>
            </a:r>
            <a:endParaRPr sz="1400">
              <a:latin typeface="Arial"/>
              <a:cs typeface="Arial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252475" y="3595242"/>
            <a:ext cx="67691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7E7E7E"/>
                </a:solidFill>
                <a:latin typeface="Arial"/>
                <a:cs typeface="Arial"/>
              </a:rPr>
              <a:t>Change Scope</a:t>
            </a:r>
            <a:endParaRPr sz="1400">
              <a:latin typeface="Arial"/>
              <a:cs typeface="Arial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8377173" y="2615946"/>
            <a:ext cx="5549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7E7E7E"/>
                </a:solidFill>
                <a:latin typeface="Arial"/>
                <a:cs typeface="Arial"/>
              </a:rPr>
              <a:t>No</a:t>
            </a:r>
            <a:r>
              <a:rPr dirty="0" sz="900" spc="-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7E7E7E"/>
                </a:solidFill>
                <a:latin typeface="Arial"/>
                <a:cs typeface="Arial"/>
              </a:rPr>
              <a:t>update expected</a:t>
            </a:r>
            <a:endParaRPr sz="900">
              <a:latin typeface="Arial"/>
              <a:cs typeface="Arial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8353806" y="3402838"/>
            <a:ext cx="929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7E7E7E"/>
                </a:solidFill>
                <a:latin typeface="Arial"/>
                <a:cs typeface="Arial"/>
              </a:rPr>
              <a:t>Forms</a:t>
            </a:r>
            <a:r>
              <a:rPr dirty="0" sz="9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7E7E7E"/>
                </a:solidFill>
                <a:latin typeface="Arial"/>
                <a:cs typeface="Arial"/>
              </a:rPr>
              <a:t>&amp;</a:t>
            </a:r>
            <a:r>
              <a:rPr dirty="0" sz="900" spc="-10">
                <a:solidFill>
                  <a:srgbClr val="7E7E7E"/>
                </a:solidFill>
                <a:latin typeface="Arial"/>
                <a:cs typeface="Arial"/>
              </a:rPr>
              <a:t> template </a:t>
            </a:r>
            <a:r>
              <a:rPr dirty="0" sz="900">
                <a:solidFill>
                  <a:srgbClr val="7E7E7E"/>
                </a:solidFill>
                <a:latin typeface="Arial"/>
                <a:cs typeface="Arial"/>
              </a:rPr>
              <a:t>update</a:t>
            </a:r>
            <a:r>
              <a:rPr dirty="0" sz="9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7E7E7E"/>
                </a:solidFill>
                <a:latin typeface="Arial"/>
                <a:cs typeface="Arial"/>
              </a:rPr>
              <a:t>only</a:t>
            </a:r>
            <a:endParaRPr sz="900">
              <a:latin typeface="Arial"/>
              <a:cs typeface="Arial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8425969" y="4372736"/>
            <a:ext cx="175260" cy="911860"/>
          </a:xfrm>
          <a:prstGeom prst="rect">
            <a:avLst/>
          </a:prstGeom>
        </p:spPr>
        <p:txBody>
          <a:bodyPr wrap="square" lIns="0" tIns="63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>
                <a:solidFill>
                  <a:srgbClr val="7E7E7E"/>
                </a:solidFill>
                <a:latin typeface="Arial"/>
                <a:cs typeface="Arial"/>
              </a:rPr>
              <a:t>BU</a:t>
            </a:r>
            <a:r>
              <a:rPr dirty="0" sz="105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7E7E7E"/>
                </a:solidFill>
                <a:latin typeface="Arial"/>
                <a:cs typeface="Arial"/>
              </a:rPr>
              <a:t>Leadership</a:t>
            </a:r>
            <a:endParaRPr sz="1050">
              <a:latin typeface="Arial"/>
              <a:cs typeface="Arial"/>
            </a:endParaRPr>
          </a:p>
        </p:txBody>
      </p:sp>
      <p:sp>
        <p:nvSpPr>
          <p:cNvPr id="85" name="object 85" descr=""/>
          <p:cNvSpPr/>
          <p:nvPr/>
        </p:nvSpPr>
        <p:spPr>
          <a:xfrm>
            <a:off x="11232260" y="1582927"/>
            <a:ext cx="692785" cy="379730"/>
          </a:xfrm>
          <a:custGeom>
            <a:avLst/>
            <a:gdLst/>
            <a:ahLst/>
            <a:cxnLst/>
            <a:rect l="l" t="t" r="r" b="b"/>
            <a:pathLst>
              <a:path w="692784" h="379730">
                <a:moveTo>
                  <a:pt x="629539" y="0"/>
                </a:moveTo>
                <a:lnTo>
                  <a:pt x="63246" y="0"/>
                </a:lnTo>
                <a:lnTo>
                  <a:pt x="38629" y="4970"/>
                </a:lnTo>
                <a:lnTo>
                  <a:pt x="18526" y="18526"/>
                </a:lnTo>
                <a:lnTo>
                  <a:pt x="4970" y="38629"/>
                </a:lnTo>
                <a:lnTo>
                  <a:pt x="0" y="63246"/>
                </a:lnTo>
                <a:lnTo>
                  <a:pt x="0" y="316102"/>
                </a:lnTo>
                <a:lnTo>
                  <a:pt x="4970" y="340719"/>
                </a:lnTo>
                <a:lnTo>
                  <a:pt x="18526" y="360822"/>
                </a:lnTo>
                <a:lnTo>
                  <a:pt x="38629" y="374378"/>
                </a:lnTo>
                <a:lnTo>
                  <a:pt x="63246" y="379349"/>
                </a:lnTo>
                <a:lnTo>
                  <a:pt x="629539" y="379349"/>
                </a:lnTo>
                <a:lnTo>
                  <a:pt x="654155" y="374378"/>
                </a:lnTo>
                <a:lnTo>
                  <a:pt x="674258" y="360822"/>
                </a:lnTo>
                <a:lnTo>
                  <a:pt x="687814" y="340719"/>
                </a:lnTo>
                <a:lnTo>
                  <a:pt x="692785" y="316102"/>
                </a:lnTo>
                <a:lnTo>
                  <a:pt x="692785" y="63246"/>
                </a:lnTo>
                <a:lnTo>
                  <a:pt x="687814" y="38629"/>
                </a:lnTo>
                <a:lnTo>
                  <a:pt x="674258" y="18526"/>
                </a:lnTo>
                <a:lnTo>
                  <a:pt x="654155" y="4970"/>
                </a:lnTo>
                <a:lnTo>
                  <a:pt x="62953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 txBox="1"/>
          <p:nvPr/>
        </p:nvSpPr>
        <p:spPr>
          <a:xfrm>
            <a:off x="11415521" y="1664334"/>
            <a:ext cx="3282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RTX</a:t>
            </a:r>
            <a:endParaRPr sz="1200">
              <a:latin typeface="Arial"/>
              <a:cs typeface="Arial"/>
            </a:endParaRPr>
          </a:p>
        </p:txBody>
      </p:sp>
      <p:sp>
        <p:nvSpPr>
          <p:cNvPr id="87" name="object 87" descr=""/>
          <p:cNvSpPr/>
          <p:nvPr/>
        </p:nvSpPr>
        <p:spPr>
          <a:xfrm>
            <a:off x="11229720" y="2004822"/>
            <a:ext cx="702310" cy="379730"/>
          </a:xfrm>
          <a:custGeom>
            <a:avLst/>
            <a:gdLst/>
            <a:ahLst/>
            <a:cxnLst/>
            <a:rect l="l" t="t" r="r" b="b"/>
            <a:pathLst>
              <a:path w="702309" h="379730">
                <a:moveTo>
                  <a:pt x="639063" y="0"/>
                </a:moveTo>
                <a:lnTo>
                  <a:pt x="63119" y="0"/>
                </a:lnTo>
                <a:lnTo>
                  <a:pt x="38522" y="4970"/>
                </a:lnTo>
                <a:lnTo>
                  <a:pt x="18462" y="18526"/>
                </a:lnTo>
                <a:lnTo>
                  <a:pt x="4951" y="38629"/>
                </a:lnTo>
                <a:lnTo>
                  <a:pt x="0" y="63245"/>
                </a:lnTo>
                <a:lnTo>
                  <a:pt x="0" y="316102"/>
                </a:lnTo>
                <a:lnTo>
                  <a:pt x="4951" y="340719"/>
                </a:lnTo>
                <a:lnTo>
                  <a:pt x="18462" y="360822"/>
                </a:lnTo>
                <a:lnTo>
                  <a:pt x="38522" y="374378"/>
                </a:lnTo>
                <a:lnTo>
                  <a:pt x="63119" y="379349"/>
                </a:lnTo>
                <a:lnTo>
                  <a:pt x="639063" y="379349"/>
                </a:lnTo>
                <a:lnTo>
                  <a:pt x="663680" y="374378"/>
                </a:lnTo>
                <a:lnTo>
                  <a:pt x="683783" y="360822"/>
                </a:lnTo>
                <a:lnTo>
                  <a:pt x="697339" y="340719"/>
                </a:lnTo>
                <a:lnTo>
                  <a:pt x="702309" y="316102"/>
                </a:lnTo>
                <a:lnTo>
                  <a:pt x="702309" y="63245"/>
                </a:lnTo>
                <a:lnTo>
                  <a:pt x="697339" y="38629"/>
                </a:lnTo>
                <a:lnTo>
                  <a:pt x="683783" y="18526"/>
                </a:lnTo>
                <a:lnTo>
                  <a:pt x="663680" y="4970"/>
                </a:lnTo>
                <a:lnTo>
                  <a:pt x="63906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 txBox="1"/>
          <p:nvPr/>
        </p:nvSpPr>
        <p:spPr>
          <a:xfrm>
            <a:off x="11333733" y="2102866"/>
            <a:ext cx="4984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PWC</a:t>
            </a:r>
            <a:r>
              <a:rPr dirty="0" sz="10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L1</a:t>
            </a:r>
            <a:endParaRPr sz="1000">
              <a:latin typeface="Arial"/>
              <a:cs typeface="Arial"/>
            </a:endParaRPr>
          </a:p>
        </p:txBody>
      </p:sp>
      <p:sp>
        <p:nvSpPr>
          <p:cNvPr id="89" name="object 89" descr=""/>
          <p:cNvSpPr/>
          <p:nvPr/>
        </p:nvSpPr>
        <p:spPr>
          <a:xfrm>
            <a:off x="11229720" y="2403982"/>
            <a:ext cx="702310" cy="379730"/>
          </a:xfrm>
          <a:custGeom>
            <a:avLst/>
            <a:gdLst/>
            <a:ahLst/>
            <a:cxnLst/>
            <a:rect l="l" t="t" r="r" b="b"/>
            <a:pathLst>
              <a:path w="702309" h="379730">
                <a:moveTo>
                  <a:pt x="639063" y="0"/>
                </a:moveTo>
                <a:lnTo>
                  <a:pt x="63119" y="0"/>
                </a:lnTo>
                <a:lnTo>
                  <a:pt x="38522" y="4951"/>
                </a:lnTo>
                <a:lnTo>
                  <a:pt x="18462" y="18462"/>
                </a:lnTo>
                <a:lnTo>
                  <a:pt x="4951" y="38522"/>
                </a:lnTo>
                <a:lnTo>
                  <a:pt x="0" y="63118"/>
                </a:lnTo>
                <a:lnTo>
                  <a:pt x="0" y="315975"/>
                </a:lnTo>
                <a:lnTo>
                  <a:pt x="4951" y="340592"/>
                </a:lnTo>
                <a:lnTo>
                  <a:pt x="18462" y="360695"/>
                </a:lnTo>
                <a:lnTo>
                  <a:pt x="38522" y="374251"/>
                </a:lnTo>
                <a:lnTo>
                  <a:pt x="63119" y="379221"/>
                </a:lnTo>
                <a:lnTo>
                  <a:pt x="639063" y="379221"/>
                </a:lnTo>
                <a:lnTo>
                  <a:pt x="663680" y="374251"/>
                </a:lnTo>
                <a:lnTo>
                  <a:pt x="683783" y="360695"/>
                </a:lnTo>
                <a:lnTo>
                  <a:pt x="697339" y="340592"/>
                </a:lnTo>
                <a:lnTo>
                  <a:pt x="702309" y="315975"/>
                </a:lnTo>
                <a:lnTo>
                  <a:pt x="702309" y="63118"/>
                </a:lnTo>
                <a:lnTo>
                  <a:pt x="697339" y="38522"/>
                </a:lnTo>
                <a:lnTo>
                  <a:pt x="683783" y="18462"/>
                </a:lnTo>
                <a:lnTo>
                  <a:pt x="663680" y="4951"/>
                </a:lnTo>
                <a:lnTo>
                  <a:pt x="63906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 descr=""/>
          <p:cNvSpPr txBox="1"/>
          <p:nvPr/>
        </p:nvSpPr>
        <p:spPr>
          <a:xfrm>
            <a:off x="11333733" y="2502154"/>
            <a:ext cx="4984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PWC</a:t>
            </a:r>
            <a:r>
              <a:rPr dirty="0" sz="10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L2</a:t>
            </a:r>
            <a:endParaRPr sz="1000">
              <a:latin typeface="Arial"/>
              <a:cs typeface="Arial"/>
            </a:endParaRPr>
          </a:p>
        </p:txBody>
      </p:sp>
      <p:sp>
        <p:nvSpPr>
          <p:cNvPr id="91" name="object 91" descr=""/>
          <p:cNvSpPr/>
          <p:nvPr/>
        </p:nvSpPr>
        <p:spPr>
          <a:xfrm>
            <a:off x="11229720" y="2816479"/>
            <a:ext cx="702310" cy="379730"/>
          </a:xfrm>
          <a:custGeom>
            <a:avLst/>
            <a:gdLst/>
            <a:ahLst/>
            <a:cxnLst/>
            <a:rect l="l" t="t" r="r" b="b"/>
            <a:pathLst>
              <a:path w="702309" h="379730">
                <a:moveTo>
                  <a:pt x="639063" y="0"/>
                </a:moveTo>
                <a:lnTo>
                  <a:pt x="63119" y="0"/>
                </a:lnTo>
                <a:lnTo>
                  <a:pt x="38522" y="4970"/>
                </a:lnTo>
                <a:lnTo>
                  <a:pt x="18462" y="18526"/>
                </a:lnTo>
                <a:lnTo>
                  <a:pt x="4951" y="38629"/>
                </a:lnTo>
                <a:lnTo>
                  <a:pt x="0" y="63246"/>
                </a:lnTo>
                <a:lnTo>
                  <a:pt x="0" y="316103"/>
                </a:lnTo>
                <a:lnTo>
                  <a:pt x="4951" y="340719"/>
                </a:lnTo>
                <a:lnTo>
                  <a:pt x="18462" y="360822"/>
                </a:lnTo>
                <a:lnTo>
                  <a:pt x="38522" y="374378"/>
                </a:lnTo>
                <a:lnTo>
                  <a:pt x="63119" y="379349"/>
                </a:lnTo>
                <a:lnTo>
                  <a:pt x="639063" y="379349"/>
                </a:lnTo>
                <a:lnTo>
                  <a:pt x="663680" y="374378"/>
                </a:lnTo>
                <a:lnTo>
                  <a:pt x="683783" y="360822"/>
                </a:lnTo>
                <a:lnTo>
                  <a:pt x="697339" y="340719"/>
                </a:lnTo>
                <a:lnTo>
                  <a:pt x="702309" y="316103"/>
                </a:lnTo>
                <a:lnTo>
                  <a:pt x="702309" y="63246"/>
                </a:lnTo>
                <a:lnTo>
                  <a:pt x="697339" y="38629"/>
                </a:lnTo>
                <a:lnTo>
                  <a:pt x="683783" y="18526"/>
                </a:lnTo>
                <a:lnTo>
                  <a:pt x="663680" y="4970"/>
                </a:lnTo>
                <a:lnTo>
                  <a:pt x="639063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 descr=""/>
          <p:cNvSpPr txBox="1"/>
          <p:nvPr/>
        </p:nvSpPr>
        <p:spPr>
          <a:xfrm>
            <a:off x="11333733" y="2914904"/>
            <a:ext cx="4984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Arial"/>
                <a:cs typeface="Arial"/>
              </a:rPr>
              <a:t>PWC</a:t>
            </a:r>
            <a:r>
              <a:rPr dirty="0" sz="10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L3</a:t>
            </a:r>
            <a:endParaRPr sz="1000">
              <a:latin typeface="Arial"/>
              <a:cs typeface="Arial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11198633" y="4495038"/>
            <a:ext cx="175260" cy="911860"/>
          </a:xfrm>
          <a:prstGeom prst="rect">
            <a:avLst/>
          </a:prstGeom>
        </p:spPr>
        <p:txBody>
          <a:bodyPr wrap="square" lIns="0" tIns="63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>
                <a:solidFill>
                  <a:srgbClr val="7E7E7E"/>
                </a:solidFill>
                <a:latin typeface="Arial"/>
                <a:cs typeface="Arial"/>
              </a:rPr>
              <a:t>BU</a:t>
            </a:r>
            <a:r>
              <a:rPr dirty="0" sz="1050" spc="-3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7E7E7E"/>
                </a:solidFill>
                <a:latin typeface="Arial"/>
                <a:cs typeface="Arial"/>
              </a:rPr>
              <a:t>Leadership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94" name="object 94" descr=""/>
          <p:cNvGrpSpPr/>
          <p:nvPr/>
        </p:nvGrpSpPr>
        <p:grpSpPr>
          <a:xfrm>
            <a:off x="7737347" y="5954267"/>
            <a:ext cx="949960" cy="488315"/>
            <a:chOff x="7737347" y="5954267"/>
            <a:chExt cx="949960" cy="488315"/>
          </a:xfrm>
        </p:grpSpPr>
        <p:pic>
          <p:nvPicPr>
            <p:cNvPr id="95" name="object 9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37347" y="5954267"/>
              <a:ext cx="949439" cy="487692"/>
            </a:xfrm>
            <a:prstGeom prst="rect">
              <a:avLst/>
            </a:prstGeom>
          </p:spPr>
        </p:pic>
        <p:sp>
          <p:nvSpPr>
            <p:cNvPr id="96" name="object 96" descr=""/>
            <p:cNvSpPr/>
            <p:nvPr/>
          </p:nvSpPr>
          <p:spPr>
            <a:xfrm>
              <a:off x="7796402" y="5995339"/>
              <a:ext cx="835025" cy="373380"/>
            </a:xfrm>
            <a:custGeom>
              <a:avLst/>
              <a:gdLst/>
              <a:ahLst/>
              <a:cxnLst/>
              <a:rect l="l" t="t" r="r" b="b"/>
              <a:pathLst>
                <a:path w="835025" h="373379">
                  <a:moveTo>
                    <a:pt x="648335" y="0"/>
                  </a:moveTo>
                  <a:lnTo>
                    <a:pt x="648335" y="93281"/>
                  </a:lnTo>
                  <a:lnTo>
                    <a:pt x="0" y="93281"/>
                  </a:lnTo>
                  <a:lnTo>
                    <a:pt x="0" y="279844"/>
                  </a:lnTo>
                  <a:lnTo>
                    <a:pt x="648335" y="279844"/>
                  </a:lnTo>
                  <a:lnTo>
                    <a:pt x="648335" y="373125"/>
                  </a:lnTo>
                  <a:lnTo>
                    <a:pt x="834898" y="186562"/>
                  </a:lnTo>
                  <a:lnTo>
                    <a:pt x="648335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7" name="object 97" descr=""/>
          <p:cNvSpPr txBox="1"/>
          <p:nvPr/>
        </p:nvSpPr>
        <p:spPr>
          <a:xfrm>
            <a:off x="8709406" y="6071412"/>
            <a:ext cx="24441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7E7E7E"/>
                </a:solidFill>
                <a:latin typeface="Arial"/>
                <a:cs typeface="Arial"/>
              </a:rPr>
              <a:t>Effective</a:t>
            </a:r>
            <a:r>
              <a:rPr dirty="0" sz="1400" spc="-65" b="1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7E7E7E"/>
                </a:solidFill>
                <a:latin typeface="Arial"/>
                <a:cs typeface="Arial"/>
              </a:rPr>
              <a:t>Program</a:t>
            </a:r>
            <a:r>
              <a:rPr dirty="0" sz="1400" spc="-55" b="1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7E7E7E"/>
                </a:solidFill>
                <a:latin typeface="Arial"/>
                <a:cs typeface="Arial"/>
              </a:rPr>
              <a:t>Transition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98" name="object 98" descr=""/>
          <p:cNvSpPr/>
          <p:nvPr/>
        </p:nvSpPr>
        <p:spPr>
          <a:xfrm>
            <a:off x="7784592" y="5718289"/>
            <a:ext cx="0" cy="471805"/>
          </a:xfrm>
          <a:custGeom>
            <a:avLst/>
            <a:gdLst/>
            <a:ahLst/>
            <a:cxnLst/>
            <a:rect l="l" t="t" r="r" b="b"/>
            <a:pathLst>
              <a:path w="0" h="471804">
                <a:moveTo>
                  <a:pt x="0" y="0"/>
                </a:moveTo>
                <a:lnTo>
                  <a:pt x="0" y="471360"/>
                </a:lnTo>
              </a:path>
            </a:pathLst>
          </a:custGeom>
          <a:ln w="19050">
            <a:solidFill>
              <a:srgbClr val="B8B8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 descr=""/>
          <p:cNvSpPr/>
          <p:nvPr/>
        </p:nvSpPr>
        <p:spPr>
          <a:xfrm>
            <a:off x="11222608" y="3235832"/>
            <a:ext cx="702945" cy="379730"/>
          </a:xfrm>
          <a:custGeom>
            <a:avLst/>
            <a:gdLst/>
            <a:ahLst/>
            <a:cxnLst/>
            <a:rect l="l" t="t" r="r" b="b"/>
            <a:pathLst>
              <a:path w="702945" h="379729">
                <a:moveTo>
                  <a:pt x="639191" y="0"/>
                </a:moveTo>
                <a:lnTo>
                  <a:pt x="63246" y="0"/>
                </a:lnTo>
                <a:lnTo>
                  <a:pt x="38629" y="4970"/>
                </a:lnTo>
                <a:lnTo>
                  <a:pt x="18526" y="18526"/>
                </a:lnTo>
                <a:lnTo>
                  <a:pt x="4970" y="38629"/>
                </a:lnTo>
                <a:lnTo>
                  <a:pt x="0" y="63245"/>
                </a:lnTo>
                <a:lnTo>
                  <a:pt x="0" y="316102"/>
                </a:lnTo>
                <a:lnTo>
                  <a:pt x="4970" y="340719"/>
                </a:lnTo>
                <a:lnTo>
                  <a:pt x="18526" y="360822"/>
                </a:lnTo>
                <a:lnTo>
                  <a:pt x="38629" y="374378"/>
                </a:lnTo>
                <a:lnTo>
                  <a:pt x="63246" y="379348"/>
                </a:lnTo>
                <a:lnTo>
                  <a:pt x="639191" y="379348"/>
                </a:lnTo>
                <a:lnTo>
                  <a:pt x="663807" y="374378"/>
                </a:lnTo>
                <a:lnTo>
                  <a:pt x="683910" y="360822"/>
                </a:lnTo>
                <a:lnTo>
                  <a:pt x="697466" y="340719"/>
                </a:lnTo>
                <a:lnTo>
                  <a:pt x="702437" y="316102"/>
                </a:lnTo>
                <a:lnTo>
                  <a:pt x="702437" y="63245"/>
                </a:lnTo>
                <a:lnTo>
                  <a:pt x="697466" y="38629"/>
                </a:lnTo>
                <a:lnTo>
                  <a:pt x="683910" y="18526"/>
                </a:lnTo>
                <a:lnTo>
                  <a:pt x="663807" y="4970"/>
                </a:lnTo>
                <a:lnTo>
                  <a:pt x="63919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 descr=""/>
          <p:cNvSpPr txBox="1"/>
          <p:nvPr/>
        </p:nvSpPr>
        <p:spPr>
          <a:xfrm>
            <a:off x="11457813" y="3334258"/>
            <a:ext cx="2286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PW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4" name="object 104" descr=""/>
          <p:cNvSpPr txBox="1"/>
          <p:nvPr/>
        </p:nvSpPr>
        <p:spPr>
          <a:xfrm>
            <a:off x="1934336" y="6483682"/>
            <a:ext cx="2901950" cy="14287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EXPORT</a:t>
            </a:r>
            <a:r>
              <a:rPr dirty="0" sz="800" spc="-3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MARKING:</a:t>
            </a:r>
            <a:r>
              <a:rPr dirty="0" sz="800" spc="-25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(TO</a:t>
            </a:r>
            <a:r>
              <a:rPr dirty="0" sz="800" spc="-15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CHANGE</a:t>
            </a:r>
            <a:r>
              <a:rPr dirty="0" sz="800" spc="-3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GO</a:t>
            </a:r>
            <a:r>
              <a:rPr dirty="0" sz="800" spc="5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TO</a:t>
            </a:r>
            <a:r>
              <a:rPr dirty="0" sz="800" spc="-2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INSERT</a:t>
            </a:r>
            <a:r>
              <a:rPr dirty="0" sz="800" spc="-15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&gt; HEADER</a:t>
            </a:r>
            <a:r>
              <a:rPr dirty="0" sz="800" spc="-3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&amp; </a:t>
            </a:r>
            <a:r>
              <a:rPr dirty="0" sz="800" spc="-10">
                <a:solidFill>
                  <a:srgbClr val="DFE0DD"/>
                </a:solidFill>
                <a:latin typeface="Arial Narrow"/>
                <a:cs typeface="Arial Narrow"/>
              </a:rPr>
              <a:t>FOOTER)</a:t>
            </a:r>
            <a:endParaRPr sz="800">
              <a:latin typeface="Arial Narrow"/>
              <a:cs typeface="Arial Narrow"/>
            </a:endParaRPr>
          </a:p>
        </p:txBody>
      </p:sp>
      <p:sp>
        <p:nvSpPr>
          <p:cNvPr id="105" name="object 105" descr=""/>
          <p:cNvSpPr txBox="1"/>
          <p:nvPr/>
        </p:nvSpPr>
        <p:spPr>
          <a:xfrm>
            <a:off x="7289672" y="6483682"/>
            <a:ext cx="3733800" cy="14287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PRATT</a:t>
            </a:r>
            <a:r>
              <a:rPr dirty="0" sz="800" spc="-3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&amp; WHITNEY</a:t>
            </a:r>
            <a:r>
              <a:rPr dirty="0" sz="800" spc="-2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CANADA</a:t>
            </a:r>
            <a:r>
              <a:rPr dirty="0" sz="800" spc="-4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PROPRIETARY</a:t>
            </a:r>
            <a:r>
              <a:rPr dirty="0" sz="800" spc="265">
                <a:solidFill>
                  <a:srgbClr val="DFE0DD"/>
                </a:solidFill>
                <a:latin typeface="Arial Narrow"/>
                <a:cs typeface="Arial Narrow"/>
              </a:rPr>
              <a:t> 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|</a:t>
            </a:r>
            <a:r>
              <a:rPr dirty="0" sz="800" spc="190">
                <a:solidFill>
                  <a:srgbClr val="DFE0DD"/>
                </a:solidFill>
                <a:latin typeface="Arial Narrow"/>
                <a:cs typeface="Arial Narrow"/>
              </a:rPr>
              <a:t> 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©</a:t>
            </a:r>
            <a:r>
              <a:rPr dirty="0" sz="800" spc="45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2025</a:t>
            </a:r>
            <a:r>
              <a:rPr dirty="0" sz="800" spc="-1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PRATT</a:t>
            </a:r>
            <a:r>
              <a:rPr dirty="0" sz="800" spc="-1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&amp;</a:t>
            </a:r>
            <a:r>
              <a:rPr dirty="0" sz="800" spc="-3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WHITNEY</a:t>
            </a:r>
            <a:r>
              <a:rPr dirty="0" sz="800" spc="-15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CANADA</a:t>
            </a:r>
            <a:r>
              <a:rPr dirty="0" sz="800" spc="-4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 spc="-10">
                <a:solidFill>
                  <a:srgbClr val="DFE0DD"/>
                </a:solidFill>
                <a:latin typeface="Arial Narrow"/>
                <a:cs typeface="Arial Narrow"/>
              </a:rPr>
              <a:t>CORP.</a:t>
            </a:r>
            <a:endParaRPr sz="800">
              <a:latin typeface="Arial Narrow"/>
              <a:cs typeface="Arial Narrow"/>
            </a:endParaRPr>
          </a:p>
        </p:txBody>
      </p:sp>
      <p:sp>
        <p:nvSpPr>
          <p:cNvPr id="106" name="object 10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11271" rIns="0" bIns="0" rtlCol="0" vert="horz">
            <a:spAutoFit/>
          </a:bodyPr>
          <a:lstStyle/>
          <a:p>
            <a:pPr marL="449453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z="800" spc="-50">
                <a:solidFill>
                  <a:srgbClr val="DFE0DD"/>
                </a:solidFill>
                <a:latin typeface="Arial Narrow"/>
                <a:cs typeface="Arial Narrow"/>
              </a:rPr>
              <a:t>8</a:t>
            </a:fld>
            <a:endParaRPr sz="800">
              <a:latin typeface="Arial Narrow"/>
              <a:cs typeface="Arial Narrow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5062220" y="1874901"/>
            <a:ext cx="524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WP</a:t>
            </a:r>
            <a:r>
              <a:rPr dirty="0" sz="12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1.5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2" name="object 102" descr=""/>
          <p:cNvSpPr txBox="1"/>
          <p:nvPr/>
        </p:nvSpPr>
        <p:spPr>
          <a:xfrm>
            <a:off x="5164963" y="6017602"/>
            <a:ext cx="2578735" cy="287655"/>
          </a:xfrm>
          <a:prstGeom prst="rect">
            <a:avLst/>
          </a:prstGeom>
          <a:ln w="12700">
            <a:solidFill>
              <a:srgbClr val="B8B9B0"/>
            </a:solidFill>
          </a:ln>
        </p:spPr>
        <p:txBody>
          <a:bodyPr wrap="square" lIns="0" tIns="56515" rIns="0" bIns="0" rtlCol="0" vert="horz">
            <a:spAutoFit/>
          </a:bodyPr>
          <a:lstStyle/>
          <a:p>
            <a:pPr marL="733425">
              <a:lnSpc>
                <a:spcPct val="100000"/>
              </a:lnSpc>
              <a:spcBef>
                <a:spcPts val="445"/>
              </a:spcBef>
            </a:pPr>
            <a:r>
              <a:rPr dirty="0" sz="1100">
                <a:solidFill>
                  <a:srgbClr val="7E7E7E"/>
                </a:solidFill>
                <a:latin typeface="Arial"/>
                <a:cs typeface="Arial"/>
              </a:rPr>
              <a:t>RLPM</a:t>
            </a:r>
            <a:r>
              <a:rPr dirty="0" sz="11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7E7E7E"/>
                </a:solidFill>
                <a:latin typeface="Arial"/>
                <a:cs typeface="Arial"/>
              </a:rPr>
              <a:t>considered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3" name="object 103" descr=""/>
          <p:cNvSpPr txBox="1"/>
          <p:nvPr/>
        </p:nvSpPr>
        <p:spPr>
          <a:xfrm>
            <a:off x="9675114" y="3831463"/>
            <a:ext cx="13188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7E7E7E"/>
                </a:solidFill>
                <a:latin typeface="Arial"/>
                <a:cs typeface="Arial"/>
              </a:rPr>
              <a:t>~50-100</a:t>
            </a:r>
            <a:r>
              <a:rPr dirty="0" sz="9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7E7E7E"/>
                </a:solidFill>
                <a:latin typeface="Arial"/>
                <a:cs typeface="Arial"/>
              </a:rPr>
              <a:t>Knowledge</a:t>
            </a:r>
            <a:r>
              <a:rPr dirty="0" sz="9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7E7E7E"/>
                </a:solidFill>
                <a:latin typeface="Arial"/>
                <a:cs typeface="Arial"/>
              </a:rPr>
              <a:t>docs </a:t>
            </a:r>
            <a:r>
              <a:rPr dirty="0" sz="900">
                <a:solidFill>
                  <a:srgbClr val="7E7E7E"/>
                </a:solidFill>
                <a:latin typeface="Arial"/>
                <a:cs typeface="Arial"/>
              </a:rPr>
              <a:t>impacted</a:t>
            </a:r>
            <a:r>
              <a:rPr dirty="0" sz="900" spc="-3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7E7E7E"/>
                </a:solidFill>
                <a:latin typeface="Arial"/>
                <a:cs typeface="Arial"/>
              </a:rPr>
              <a:t>across</a:t>
            </a:r>
            <a:r>
              <a:rPr dirty="0" sz="900" spc="-2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7E7E7E"/>
                </a:solidFill>
                <a:latin typeface="Arial"/>
                <a:cs typeface="Arial"/>
              </a:rPr>
              <a:t>PWC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94944" y="-889"/>
            <a:ext cx="10820400" cy="254000"/>
          </a:xfrm>
          <a:custGeom>
            <a:avLst/>
            <a:gdLst/>
            <a:ahLst/>
            <a:cxnLst/>
            <a:rect l="l" t="t" r="r" b="b"/>
            <a:pathLst>
              <a:path w="10820400" h="254000">
                <a:moveTo>
                  <a:pt x="0" y="254000"/>
                </a:moveTo>
                <a:lnTo>
                  <a:pt x="10820400" y="254000"/>
                </a:lnTo>
                <a:lnTo>
                  <a:pt x="10820400" y="0"/>
                </a:lnTo>
                <a:lnTo>
                  <a:pt x="0" y="0"/>
                </a:lnTo>
                <a:lnTo>
                  <a:pt x="0" y="254000"/>
                </a:lnTo>
                <a:close/>
              </a:path>
            </a:pathLst>
          </a:custGeom>
          <a:solidFill>
            <a:srgbClr val="CE11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539" y="6347879"/>
            <a:ext cx="770763" cy="29537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8577" y="6638896"/>
            <a:ext cx="7220938" cy="200048"/>
          </a:xfrm>
          <a:prstGeom prst="rect">
            <a:avLst/>
          </a:prstGeom>
        </p:spPr>
      </p:pic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6912609" y="1697101"/>
          <a:ext cx="4371975" cy="1812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8510"/>
                <a:gridCol w="2247265"/>
              </a:tblGrid>
              <a:tr h="362585">
                <a:tc>
                  <a:txBody>
                    <a:bodyPr/>
                    <a:lstStyle/>
                    <a:p>
                      <a:pPr algn="ctr" marR="1517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Current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536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Future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algn="ctr" marR="1504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Passport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530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RLPM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Process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19999"/>
                      </a:srgbClr>
                    </a:solidFill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algn="ctr" marR="1536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Passport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Office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algn="ctr" marR="1536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RLPM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Office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0640"/>
                </a:tc>
              </a:tr>
              <a:tr h="362585">
                <a:tc>
                  <a:txBody>
                    <a:bodyPr/>
                    <a:lstStyle/>
                    <a:p>
                      <a:pPr algn="ctr" marR="1504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400" spc="-10">
                          <a:latin typeface="Arial"/>
                          <a:cs typeface="Arial"/>
                        </a:rPr>
                        <a:t>Passport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524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400" spc="-20">
                          <a:latin typeface="Arial"/>
                          <a:cs typeface="Arial"/>
                        </a:rPr>
                        <a:t>Gate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solidFill>
                      <a:srgbClr val="000000">
                        <a:alpha val="19999"/>
                      </a:srgbClr>
                    </a:solidFill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algn="ctr" marR="1504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Trigger</a:t>
                      </a:r>
                      <a:r>
                        <a:rPr dirty="0" sz="1400" spc="-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Passport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517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Delta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Gate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7602" rIns="0" bIns="0" rtlCol="0" vert="horz">
            <a:spAutoFit/>
          </a:bodyPr>
          <a:lstStyle/>
          <a:p>
            <a:pPr marL="21082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RLPM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major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changes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285101" y="1221105"/>
            <a:ext cx="322961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Arial"/>
                <a:cs typeface="Arial"/>
              </a:rPr>
              <a:t>Nomenclature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Cheat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sheet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667893" y="1704975"/>
            <a:ext cx="5412105" cy="0"/>
          </a:xfrm>
          <a:custGeom>
            <a:avLst/>
            <a:gdLst/>
            <a:ahLst/>
            <a:cxnLst/>
            <a:rect l="l" t="t" r="r" b="b"/>
            <a:pathLst>
              <a:path w="5412105" h="0">
                <a:moveTo>
                  <a:pt x="0" y="0"/>
                </a:moveTo>
                <a:lnTo>
                  <a:pt x="5411597" y="0"/>
                </a:lnTo>
              </a:path>
            </a:pathLst>
          </a:custGeom>
          <a:ln w="12700">
            <a:solidFill>
              <a:srgbClr val="60626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724001" y="1720088"/>
            <a:ext cx="92519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06FC0"/>
                </a:solidFill>
                <a:latin typeface="Arial"/>
                <a:cs typeface="Arial"/>
              </a:rPr>
              <a:t>Remains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872233" y="1734438"/>
            <a:ext cx="205803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Arial"/>
                <a:cs typeface="Arial"/>
              </a:rPr>
              <a:t>P&amp;WC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IPMP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Governance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750186" y="2133854"/>
            <a:ext cx="4329430" cy="0"/>
          </a:xfrm>
          <a:custGeom>
            <a:avLst/>
            <a:gdLst/>
            <a:ahLst/>
            <a:cxnLst/>
            <a:rect l="l" t="t" r="r" b="b"/>
            <a:pathLst>
              <a:path w="4329430" h="0">
                <a:moveTo>
                  <a:pt x="0" y="0"/>
                </a:moveTo>
                <a:lnTo>
                  <a:pt x="4329303" y="0"/>
                </a:lnTo>
              </a:path>
            </a:pathLst>
          </a:custGeom>
          <a:ln w="12700">
            <a:solidFill>
              <a:srgbClr val="C5C5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750186" y="2562605"/>
            <a:ext cx="4329430" cy="0"/>
          </a:xfrm>
          <a:custGeom>
            <a:avLst/>
            <a:gdLst/>
            <a:ahLst/>
            <a:cxnLst/>
            <a:rect l="l" t="t" r="r" b="b"/>
            <a:pathLst>
              <a:path w="4329430" h="0">
                <a:moveTo>
                  <a:pt x="0" y="0"/>
                </a:moveTo>
                <a:lnTo>
                  <a:pt x="4329303" y="0"/>
                </a:lnTo>
              </a:path>
            </a:pathLst>
          </a:custGeom>
          <a:ln w="12700">
            <a:solidFill>
              <a:srgbClr val="C5C5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750186" y="2991485"/>
            <a:ext cx="4329430" cy="0"/>
          </a:xfrm>
          <a:custGeom>
            <a:avLst/>
            <a:gdLst/>
            <a:ahLst/>
            <a:cxnLst/>
            <a:rect l="l" t="t" r="r" b="b"/>
            <a:pathLst>
              <a:path w="4329430" h="0">
                <a:moveTo>
                  <a:pt x="0" y="0"/>
                </a:moveTo>
                <a:lnTo>
                  <a:pt x="4329303" y="0"/>
                </a:lnTo>
              </a:path>
            </a:pathLst>
          </a:custGeom>
          <a:ln w="12700">
            <a:solidFill>
              <a:srgbClr val="C5C5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750186" y="3420364"/>
            <a:ext cx="4329430" cy="0"/>
          </a:xfrm>
          <a:custGeom>
            <a:avLst/>
            <a:gdLst/>
            <a:ahLst/>
            <a:cxnLst/>
            <a:rect l="l" t="t" r="r" b="b"/>
            <a:pathLst>
              <a:path w="4329430" h="0">
                <a:moveTo>
                  <a:pt x="0" y="0"/>
                </a:moveTo>
                <a:lnTo>
                  <a:pt x="4329303" y="0"/>
                </a:lnTo>
              </a:path>
            </a:pathLst>
          </a:custGeom>
          <a:ln w="12700">
            <a:solidFill>
              <a:srgbClr val="C5C5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872233" y="2163318"/>
            <a:ext cx="3119755" cy="15265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Arial"/>
                <a:cs typeface="Arial"/>
              </a:rPr>
              <a:t>MMP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515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(AR)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unchanged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Gated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Process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200999"/>
              </a:lnSpc>
            </a:pPr>
            <a:r>
              <a:rPr dirty="0" sz="1400">
                <a:latin typeface="Arial"/>
                <a:cs typeface="Arial"/>
              </a:rPr>
              <a:t>Standardisation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templates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forms </a:t>
            </a:r>
            <a:r>
              <a:rPr dirty="0" sz="1400">
                <a:latin typeface="Arial"/>
                <a:cs typeface="Arial"/>
              </a:rPr>
              <a:t>Waiver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process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67893" y="3842765"/>
            <a:ext cx="5412105" cy="35560"/>
            <a:chOff x="667893" y="3842765"/>
            <a:chExt cx="5412105" cy="35560"/>
          </a:xfrm>
        </p:grpSpPr>
        <p:sp>
          <p:nvSpPr>
            <p:cNvPr id="17" name="object 17" descr=""/>
            <p:cNvSpPr/>
            <p:nvPr/>
          </p:nvSpPr>
          <p:spPr>
            <a:xfrm>
              <a:off x="1750187" y="3849115"/>
              <a:ext cx="4329430" cy="0"/>
            </a:xfrm>
            <a:custGeom>
              <a:avLst/>
              <a:gdLst/>
              <a:ahLst/>
              <a:cxnLst/>
              <a:rect l="l" t="t" r="r" b="b"/>
              <a:pathLst>
                <a:path w="4329430" h="0">
                  <a:moveTo>
                    <a:pt x="0" y="0"/>
                  </a:moveTo>
                  <a:lnTo>
                    <a:pt x="4329303" y="0"/>
                  </a:lnTo>
                </a:path>
              </a:pathLst>
            </a:custGeom>
            <a:ln w="12700">
              <a:solidFill>
                <a:srgbClr val="C5C5C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67893" y="3871848"/>
              <a:ext cx="5412105" cy="0"/>
            </a:xfrm>
            <a:custGeom>
              <a:avLst/>
              <a:gdLst/>
              <a:ahLst/>
              <a:cxnLst/>
              <a:rect l="l" t="t" r="r" b="b"/>
              <a:pathLst>
                <a:path w="5412105" h="0">
                  <a:moveTo>
                    <a:pt x="0" y="0"/>
                  </a:moveTo>
                  <a:lnTo>
                    <a:pt x="5411597" y="0"/>
                  </a:lnTo>
                </a:path>
              </a:pathLst>
            </a:custGeom>
            <a:ln w="12700">
              <a:solidFill>
                <a:srgbClr val="60626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24001" y="3887470"/>
            <a:ext cx="9372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C00000"/>
                </a:solidFill>
                <a:latin typeface="Arial"/>
                <a:cs typeface="Arial"/>
              </a:rPr>
              <a:t>Changes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872233" y="3896105"/>
            <a:ext cx="173608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Plans;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align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&amp;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commit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1750186" y="4179061"/>
            <a:ext cx="4329430" cy="0"/>
          </a:xfrm>
          <a:custGeom>
            <a:avLst/>
            <a:gdLst/>
            <a:ahLst/>
            <a:cxnLst/>
            <a:rect l="l" t="t" r="r" b="b"/>
            <a:pathLst>
              <a:path w="4329430" h="0">
                <a:moveTo>
                  <a:pt x="0" y="0"/>
                </a:moveTo>
                <a:lnTo>
                  <a:pt x="4329303" y="0"/>
                </a:lnTo>
              </a:path>
            </a:pathLst>
          </a:custGeom>
          <a:ln w="12700">
            <a:solidFill>
              <a:srgbClr val="C5C5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872233" y="4203319"/>
            <a:ext cx="16243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Archetypes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Tailoring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1750186" y="4486275"/>
            <a:ext cx="4329430" cy="0"/>
          </a:xfrm>
          <a:custGeom>
            <a:avLst/>
            <a:gdLst/>
            <a:ahLst/>
            <a:cxnLst/>
            <a:rect l="l" t="t" r="r" b="b"/>
            <a:pathLst>
              <a:path w="4329430" h="0">
                <a:moveTo>
                  <a:pt x="0" y="0"/>
                </a:moveTo>
                <a:lnTo>
                  <a:pt x="4329303" y="0"/>
                </a:lnTo>
              </a:path>
            </a:pathLst>
          </a:custGeom>
          <a:ln w="12700">
            <a:solidFill>
              <a:srgbClr val="C5C5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872233" y="4510532"/>
            <a:ext cx="2275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OVR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formalised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MMP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444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1750186" y="4793488"/>
            <a:ext cx="4329430" cy="0"/>
          </a:xfrm>
          <a:custGeom>
            <a:avLst/>
            <a:gdLst/>
            <a:ahLst/>
            <a:cxnLst/>
            <a:rect l="l" t="t" r="r" b="b"/>
            <a:pathLst>
              <a:path w="4329430" h="0">
                <a:moveTo>
                  <a:pt x="0" y="0"/>
                </a:moveTo>
                <a:lnTo>
                  <a:pt x="4329303" y="0"/>
                </a:lnTo>
              </a:path>
            </a:pathLst>
          </a:custGeom>
          <a:ln w="12700">
            <a:solidFill>
              <a:srgbClr val="C5C5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1872233" y="4817745"/>
            <a:ext cx="354837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MRL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&amp;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TRL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Funded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Maturation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explicit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plans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1750186" y="5100701"/>
            <a:ext cx="4329430" cy="0"/>
          </a:xfrm>
          <a:custGeom>
            <a:avLst/>
            <a:gdLst/>
            <a:ahLst/>
            <a:cxnLst/>
            <a:rect l="l" t="t" r="r" b="b"/>
            <a:pathLst>
              <a:path w="4329430" h="0">
                <a:moveTo>
                  <a:pt x="0" y="0"/>
                </a:moveTo>
                <a:lnTo>
                  <a:pt x="4329303" y="0"/>
                </a:lnTo>
              </a:path>
            </a:pathLst>
          </a:custGeom>
          <a:ln w="12700">
            <a:solidFill>
              <a:srgbClr val="C5C5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1872233" y="5124958"/>
            <a:ext cx="18351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Gate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 –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new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Early</a:t>
            </a:r>
            <a:r>
              <a:rPr dirty="0" sz="1400" spc="-15" i="1">
                <a:latin typeface="Arial"/>
                <a:cs typeface="Arial"/>
              </a:rPr>
              <a:t> </a:t>
            </a:r>
            <a:r>
              <a:rPr dirty="0" sz="1400" spc="-35" i="1">
                <a:latin typeface="Arial"/>
                <a:cs typeface="Arial"/>
              </a:rPr>
              <a:t>P2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1750186" y="5407786"/>
            <a:ext cx="4329430" cy="0"/>
          </a:xfrm>
          <a:custGeom>
            <a:avLst/>
            <a:gdLst/>
            <a:ahLst/>
            <a:cxnLst/>
            <a:rect l="l" t="t" r="r" b="b"/>
            <a:pathLst>
              <a:path w="4329430" h="0">
                <a:moveTo>
                  <a:pt x="0" y="0"/>
                </a:moveTo>
                <a:lnTo>
                  <a:pt x="4329303" y="0"/>
                </a:lnTo>
              </a:path>
            </a:pathLst>
          </a:custGeom>
          <a:ln w="12700">
            <a:solidFill>
              <a:srgbClr val="C5C5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750186" y="5715025"/>
            <a:ext cx="4329430" cy="0"/>
          </a:xfrm>
          <a:custGeom>
            <a:avLst/>
            <a:gdLst/>
            <a:ahLst/>
            <a:cxnLst/>
            <a:rect l="l" t="t" r="r" b="b"/>
            <a:pathLst>
              <a:path w="4329430" h="0">
                <a:moveTo>
                  <a:pt x="0" y="0"/>
                </a:moveTo>
                <a:lnTo>
                  <a:pt x="4329303" y="0"/>
                </a:lnTo>
              </a:path>
            </a:pathLst>
          </a:custGeom>
          <a:ln w="12700">
            <a:solidFill>
              <a:srgbClr val="C5C5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1872233" y="5338978"/>
            <a:ext cx="3377565" cy="640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4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Additional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Gate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Discontinuity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Program </a:t>
            </a:r>
            <a:r>
              <a:rPr dirty="0" sz="1400">
                <a:latin typeface="Arial"/>
                <a:cs typeface="Arial"/>
              </a:rPr>
              <a:t>Gate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Trigger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Criteria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optimised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1750186" y="6022213"/>
            <a:ext cx="4329430" cy="0"/>
          </a:xfrm>
          <a:custGeom>
            <a:avLst/>
            <a:gdLst/>
            <a:ahLst/>
            <a:cxnLst/>
            <a:rect l="l" t="t" r="r" b="b"/>
            <a:pathLst>
              <a:path w="4329430" h="0">
                <a:moveTo>
                  <a:pt x="0" y="0"/>
                </a:moveTo>
                <a:lnTo>
                  <a:pt x="4329303" y="0"/>
                </a:lnTo>
              </a:path>
            </a:pathLst>
          </a:custGeom>
          <a:ln w="12700">
            <a:solidFill>
              <a:srgbClr val="C5C5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719429" y="1223518"/>
            <a:ext cx="169418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Arial"/>
                <a:cs typeface="Arial"/>
              </a:rPr>
              <a:t>Key</a:t>
            </a:r>
            <a:r>
              <a:rPr dirty="0" sz="2000" spc="-5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takeaway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34" name="object 3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16875" y="3712336"/>
            <a:ext cx="3011043" cy="2758008"/>
          </a:xfrm>
          <a:prstGeom prst="rect">
            <a:avLst/>
          </a:prstGeom>
        </p:spPr>
      </p:pic>
      <p:sp>
        <p:nvSpPr>
          <p:cNvPr id="35" name="object 35" descr=""/>
          <p:cNvSpPr txBox="1"/>
          <p:nvPr/>
        </p:nvSpPr>
        <p:spPr>
          <a:xfrm>
            <a:off x="7187945" y="3711397"/>
            <a:ext cx="760095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B7A99A"/>
                </a:solidFill>
                <a:latin typeface="Arial"/>
                <a:cs typeface="Arial"/>
              </a:rPr>
              <a:t>All</a:t>
            </a:r>
            <a:r>
              <a:rPr dirty="0" sz="1100" spc="-20">
                <a:solidFill>
                  <a:srgbClr val="B7A99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B7A99A"/>
                </a:solidFill>
                <a:latin typeface="Arial"/>
                <a:cs typeface="Arial"/>
              </a:rPr>
              <a:t>Program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spc="-10">
                <a:solidFill>
                  <a:srgbClr val="B7A99A"/>
                </a:solidFill>
                <a:latin typeface="Arial"/>
                <a:cs typeface="Arial"/>
              </a:rPr>
              <a:t>Archetypes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934336" y="6483682"/>
            <a:ext cx="2901950" cy="14287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EXPORT</a:t>
            </a:r>
            <a:r>
              <a:rPr dirty="0" sz="800" spc="-3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MARKING:</a:t>
            </a:r>
            <a:r>
              <a:rPr dirty="0" sz="800" spc="-25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(TO</a:t>
            </a:r>
            <a:r>
              <a:rPr dirty="0" sz="800" spc="-15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CHANGE</a:t>
            </a:r>
            <a:r>
              <a:rPr dirty="0" sz="800" spc="-3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GO</a:t>
            </a:r>
            <a:r>
              <a:rPr dirty="0" sz="800" spc="5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TO</a:t>
            </a:r>
            <a:r>
              <a:rPr dirty="0" sz="800" spc="-2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INSERT</a:t>
            </a:r>
            <a:r>
              <a:rPr dirty="0" sz="800" spc="-15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&gt; HEADER</a:t>
            </a:r>
            <a:r>
              <a:rPr dirty="0" sz="800" spc="-3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&amp; </a:t>
            </a:r>
            <a:r>
              <a:rPr dirty="0" sz="800" spc="-10">
                <a:solidFill>
                  <a:srgbClr val="DFE0DD"/>
                </a:solidFill>
                <a:latin typeface="Arial Narrow"/>
                <a:cs typeface="Arial Narrow"/>
              </a:rPr>
              <a:t>FOOTER)</a:t>
            </a:r>
            <a:endParaRPr sz="800">
              <a:latin typeface="Arial Narrow"/>
              <a:cs typeface="Arial Narrow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7289672" y="6483682"/>
            <a:ext cx="3733800" cy="14287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PRATT</a:t>
            </a:r>
            <a:r>
              <a:rPr dirty="0" sz="800" spc="-3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&amp; WHITNEY</a:t>
            </a:r>
            <a:r>
              <a:rPr dirty="0" sz="800" spc="-2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CANADA</a:t>
            </a:r>
            <a:r>
              <a:rPr dirty="0" sz="800" spc="-4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PROPRIETARY</a:t>
            </a:r>
            <a:r>
              <a:rPr dirty="0" sz="800" spc="265">
                <a:solidFill>
                  <a:srgbClr val="DFE0DD"/>
                </a:solidFill>
                <a:latin typeface="Arial Narrow"/>
                <a:cs typeface="Arial Narrow"/>
              </a:rPr>
              <a:t> 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|</a:t>
            </a:r>
            <a:r>
              <a:rPr dirty="0" sz="800" spc="190">
                <a:solidFill>
                  <a:srgbClr val="DFE0DD"/>
                </a:solidFill>
                <a:latin typeface="Arial Narrow"/>
                <a:cs typeface="Arial Narrow"/>
              </a:rPr>
              <a:t> 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©</a:t>
            </a:r>
            <a:r>
              <a:rPr dirty="0" sz="800" spc="45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2025</a:t>
            </a:r>
            <a:r>
              <a:rPr dirty="0" sz="800" spc="-1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PRATT</a:t>
            </a:r>
            <a:r>
              <a:rPr dirty="0" sz="800" spc="-1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&amp;</a:t>
            </a:r>
            <a:r>
              <a:rPr dirty="0" sz="800" spc="-3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WHITNEY</a:t>
            </a:r>
            <a:r>
              <a:rPr dirty="0" sz="800" spc="-15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CANADA</a:t>
            </a:r>
            <a:r>
              <a:rPr dirty="0" sz="800" spc="-4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 spc="-10">
                <a:solidFill>
                  <a:srgbClr val="DFE0DD"/>
                </a:solidFill>
                <a:latin typeface="Arial Narrow"/>
                <a:cs typeface="Arial Narrow"/>
              </a:rPr>
              <a:t>CORP.</a:t>
            </a:r>
            <a:endParaRPr sz="800">
              <a:latin typeface="Arial Narrow"/>
              <a:cs typeface="Arial Narrow"/>
            </a:endParaRPr>
          </a:p>
        </p:txBody>
      </p:sp>
      <p:sp>
        <p:nvSpPr>
          <p:cNvPr id="41" name="object 4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11271" rIns="0" bIns="0" rtlCol="0" vert="horz">
            <a:spAutoFit/>
          </a:bodyPr>
          <a:lstStyle/>
          <a:p>
            <a:pPr marL="449453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z="800" spc="-50">
                <a:solidFill>
                  <a:srgbClr val="DFE0DD"/>
                </a:solidFill>
                <a:latin typeface="Arial Narrow"/>
                <a:cs typeface="Arial Narrow"/>
              </a:rPr>
              <a:t>8</a:t>
            </a:fld>
            <a:endParaRPr sz="800">
              <a:latin typeface="Arial Narrow"/>
              <a:cs typeface="Arial Narrow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7037578" y="4438015"/>
            <a:ext cx="1019175" cy="361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669900"/>
                </a:solidFill>
                <a:latin typeface="Arial"/>
                <a:cs typeface="Arial"/>
              </a:rPr>
              <a:t>MMP</a:t>
            </a:r>
            <a:r>
              <a:rPr dirty="0" sz="1100" spc="-30">
                <a:solidFill>
                  <a:srgbClr val="66990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669900"/>
                </a:solidFill>
                <a:latin typeface="Arial"/>
                <a:cs typeface="Arial"/>
              </a:rPr>
              <a:t>Archetype Tailoring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9541509" y="4743653"/>
            <a:ext cx="798195" cy="4832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Program</a:t>
            </a:r>
            <a:r>
              <a:rPr dirty="0" sz="1000" spc="-50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Plan </a:t>
            </a:r>
            <a:r>
              <a:rPr dirty="0" sz="1000" spc="-10">
                <a:latin typeface="Arial"/>
                <a:cs typeface="Arial"/>
              </a:rPr>
              <a:t>Tailoring (Check-list)</a:t>
            </a:r>
            <a:endParaRPr sz="1000">
              <a:latin typeface="Arial"/>
              <a:cs typeface="Aria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0455020" y="5000371"/>
            <a:ext cx="42290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"/>
                <a:cs typeface="Arial"/>
              </a:rPr>
              <a:t>Waiver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206705"/>
            <a:ext cx="415607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RLPM</a:t>
            </a:r>
            <a:r>
              <a:rPr dirty="0" spc="-55"/>
              <a:t> </a:t>
            </a:r>
            <a:r>
              <a:rPr dirty="0"/>
              <a:t>major</a:t>
            </a:r>
            <a:r>
              <a:rPr dirty="0" spc="-15"/>
              <a:t> </a:t>
            </a:r>
            <a:r>
              <a:rPr dirty="0" spc="-10"/>
              <a:t>changes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347707" y="502691"/>
            <a:ext cx="137541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593090" algn="l"/>
                <a:tab pos="877569" algn="l"/>
                <a:tab pos="1160780" algn="l"/>
              </a:tabLst>
            </a:pPr>
            <a:r>
              <a:rPr dirty="0" sz="1600" spc="-10" b="1">
                <a:latin typeface="Arial"/>
                <a:cs typeface="Arial"/>
              </a:rPr>
              <a:t>Nomenclature </a:t>
            </a:r>
            <a:r>
              <a:rPr dirty="0" sz="1600" spc="-25" b="1">
                <a:solidFill>
                  <a:srgbClr val="006FC0"/>
                </a:solidFill>
                <a:latin typeface="Arial"/>
                <a:cs typeface="Arial"/>
              </a:rPr>
              <a:t>Was</a:t>
            </a:r>
            <a:r>
              <a:rPr dirty="0" sz="1600" b="1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dirty="0" sz="1600" spc="-50" b="1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dirty="0" sz="1600" b="1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dirty="0" sz="1600" spc="-50" b="1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dirty="0" sz="1600" b="1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dirty="0" sz="1600" spc="-50" b="1">
                <a:solidFill>
                  <a:srgbClr val="006FC0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347707" y="1111482"/>
            <a:ext cx="2470785" cy="2388870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  <a:tabLst>
                <a:tab pos="857250" algn="l"/>
              </a:tabLst>
            </a:pPr>
            <a:r>
              <a:rPr dirty="0" sz="1600" b="1">
                <a:solidFill>
                  <a:srgbClr val="FFC000"/>
                </a:solidFill>
                <a:latin typeface="Arial"/>
                <a:cs typeface="Arial"/>
              </a:rPr>
              <a:t>Now</a:t>
            </a:r>
            <a:r>
              <a:rPr dirty="0" sz="1600" spc="375" b="1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dirty="0" sz="1600" spc="-50" b="1">
                <a:solidFill>
                  <a:srgbClr val="FFC000"/>
                </a:solidFill>
                <a:latin typeface="Arial"/>
                <a:cs typeface="Arial"/>
              </a:rPr>
              <a:t>A</a:t>
            </a:r>
            <a:r>
              <a:rPr dirty="0" sz="1600" b="1">
                <a:solidFill>
                  <a:srgbClr val="FFC000"/>
                </a:solidFill>
                <a:latin typeface="Arial"/>
                <a:cs typeface="Arial"/>
              </a:rPr>
              <a:t>	B</a:t>
            </a:r>
            <a:r>
              <a:rPr dirty="0" sz="1600" spc="445" b="1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dirty="0" sz="1600" spc="-50" b="1">
                <a:solidFill>
                  <a:srgbClr val="FFC000"/>
                </a:solidFill>
                <a:latin typeface="Arial"/>
                <a:cs typeface="Arial"/>
              </a:rPr>
              <a:t>C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1600" spc="-10" b="1">
                <a:latin typeface="Arial"/>
                <a:cs typeface="Arial"/>
              </a:rPr>
              <a:t>Framework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1400">
                <a:latin typeface="Arial"/>
                <a:cs typeface="Arial"/>
              </a:rPr>
              <a:t>RTX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-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6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formal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Gates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dirty="0" sz="1400">
                <a:latin typeface="Arial"/>
                <a:cs typeface="Arial"/>
              </a:rPr>
              <a:t>MMP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+2</a:t>
            </a:r>
            <a:r>
              <a:rPr dirty="0" sz="1400" spc="-10">
                <a:latin typeface="Arial"/>
                <a:cs typeface="Arial"/>
              </a:rPr>
              <a:t> sub-</a:t>
            </a:r>
            <a:r>
              <a:rPr dirty="0" sz="1400">
                <a:latin typeface="Arial"/>
                <a:cs typeface="Arial"/>
              </a:rPr>
              <a:t>gates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from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D </a:t>
            </a:r>
            <a:r>
              <a:rPr dirty="0" sz="1400" spc="-10">
                <a:latin typeface="Arial"/>
                <a:cs typeface="Arial"/>
              </a:rPr>
              <a:t>(PDR/CDR)</a:t>
            </a:r>
            <a:endParaRPr sz="1400">
              <a:latin typeface="Arial"/>
              <a:cs typeface="Arial"/>
            </a:endParaRPr>
          </a:p>
          <a:p>
            <a:pPr marL="12700" marR="38735">
              <a:lnSpc>
                <a:spcPct val="100000"/>
              </a:lnSpc>
              <a:spcBef>
                <a:spcPts val="600"/>
              </a:spcBef>
            </a:pPr>
            <a:r>
              <a:rPr dirty="0" sz="1400">
                <a:latin typeface="Arial"/>
                <a:cs typeface="Arial"/>
              </a:rPr>
              <a:t>Gate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effective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new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gate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at </a:t>
            </a:r>
            <a:r>
              <a:rPr dirty="0" sz="1400">
                <a:latin typeface="Arial"/>
                <a:cs typeface="Arial"/>
              </a:rPr>
              <a:t>Program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launch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400" spc="-20">
                <a:latin typeface="Arial"/>
                <a:cs typeface="Arial"/>
              </a:rPr>
              <a:t>Tailoring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concept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347707" y="4197221"/>
            <a:ext cx="2686685" cy="216979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600" spc="-10" b="1">
                <a:latin typeface="Arial"/>
                <a:cs typeface="Arial"/>
              </a:rPr>
              <a:t>Plans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1400" spc="-20">
                <a:latin typeface="Arial"/>
                <a:cs typeface="Arial"/>
              </a:rPr>
              <a:t>Templates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BU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L2</a:t>
            </a:r>
            <a:r>
              <a:rPr dirty="0" sz="1400" spc="-20">
                <a:latin typeface="Arial"/>
                <a:cs typeface="Arial"/>
              </a:rPr>
              <a:t> docs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dirty="0" sz="1400">
                <a:latin typeface="Arial"/>
                <a:cs typeface="Arial"/>
              </a:rPr>
              <a:t>MMP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Drives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Plan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accountability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&amp; </a:t>
            </a:r>
            <a:r>
              <a:rPr dirty="0" sz="1400" spc="-10">
                <a:latin typeface="Arial"/>
                <a:cs typeface="Arial"/>
              </a:rPr>
              <a:t>PMMT</a:t>
            </a:r>
            <a:r>
              <a:rPr dirty="0" sz="1400" spc="-10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Approval</a:t>
            </a:r>
            <a:endParaRPr sz="1400">
              <a:latin typeface="Arial"/>
              <a:cs typeface="Arial"/>
            </a:endParaRPr>
          </a:p>
          <a:p>
            <a:pPr marL="277495" marR="97155">
              <a:lnSpc>
                <a:spcPct val="106900"/>
              </a:lnSpc>
              <a:spcBef>
                <a:spcPts val="355"/>
              </a:spcBef>
            </a:pPr>
            <a:r>
              <a:rPr dirty="0" sz="1200" b="1">
                <a:latin typeface="Arial"/>
                <a:cs typeface="Arial"/>
              </a:rPr>
              <a:t>Business</a:t>
            </a:r>
            <a:r>
              <a:rPr dirty="0" sz="1200" spc="2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Marketing/SFV </a:t>
            </a:r>
            <a:r>
              <a:rPr dirty="0" sz="1200" b="1">
                <a:latin typeface="Arial"/>
                <a:cs typeface="Arial"/>
              </a:rPr>
              <a:t>Program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PMMT </a:t>
            </a:r>
            <a:r>
              <a:rPr dirty="0" sz="1200" spc="-10" b="1">
                <a:latin typeface="Arial"/>
                <a:cs typeface="Arial"/>
              </a:rPr>
              <a:t>Development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 </a:t>
            </a:r>
            <a:r>
              <a:rPr dirty="0" sz="1200" spc="-10">
                <a:latin typeface="Arial"/>
                <a:cs typeface="Arial"/>
              </a:rPr>
              <a:t>Engineering </a:t>
            </a:r>
            <a:r>
              <a:rPr dirty="0" sz="1200" b="1">
                <a:latin typeface="Arial"/>
                <a:cs typeface="Arial"/>
              </a:rPr>
              <a:t>Production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</a:t>
            </a:r>
            <a:r>
              <a:rPr dirty="0" sz="1200" spc="-25">
                <a:latin typeface="Arial"/>
                <a:cs typeface="Arial"/>
              </a:rPr>
              <a:t> OPS </a:t>
            </a:r>
            <a:r>
              <a:rPr dirty="0" sz="1200" b="1">
                <a:latin typeface="Arial"/>
                <a:cs typeface="Arial"/>
              </a:rPr>
              <a:t>Sustainment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–</a:t>
            </a:r>
            <a:r>
              <a:rPr dirty="0" sz="1200" spc="-7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Aftermarket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4969509" y="842644"/>
            <a:ext cx="932180" cy="459740"/>
            <a:chOff x="4969509" y="842644"/>
            <a:chExt cx="932180" cy="459740"/>
          </a:xfrm>
        </p:grpSpPr>
        <p:sp>
          <p:nvSpPr>
            <p:cNvPr id="7" name="object 7" descr=""/>
            <p:cNvSpPr/>
            <p:nvPr/>
          </p:nvSpPr>
          <p:spPr>
            <a:xfrm>
              <a:off x="5629909" y="848994"/>
              <a:ext cx="265430" cy="436880"/>
            </a:xfrm>
            <a:custGeom>
              <a:avLst/>
              <a:gdLst/>
              <a:ahLst/>
              <a:cxnLst/>
              <a:rect l="l" t="t" r="r" b="b"/>
              <a:pathLst>
                <a:path w="265429" h="436880">
                  <a:moveTo>
                    <a:pt x="132587" y="0"/>
                  </a:moveTo>
                  <a:lnTo>
                    <a:pt x="0" y="218439"/>
                  </a:lnTo>
                  <a:lnTo>
                    <a:pt x="132587" y="436879"/>
                  </a:lnTo>
                  <a:lnTo>
                    <a:pt x="265175" y="218439"/>
                  </a:lnTo>
                  <a:lnTo>
                    <a:pt x="132587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629909" y="848994"/>
              <a:ext cx="265430" cy="436880"/>
            </a:xfrm>
            <a:custGeom>
              <a:avLst/>
              <a:gdLst/>
              <a:ahLst/>
              <a:cxnLst/>
              <a:rect l="l" t="t" r="r" b="b"/>
              <a:pathLst>
                <a:path w="265429" h="436880">
                  <a:moveTo>
                    <a:pt x="0" y="218439"/>
                  </a:moveTo>
                  <a:lnTo>
                    <a:pt x="132587" y="0"/>
                  </a:lnTo>
                  <a:lnTo>
                    <a:pt x="265175" y="218439"/>
                  </a:lnTo>
                  <a:lnTo>
                    <a:pt x="132587" y="436879"/>
                  </a:lnTo>
                  <a:lnTo>
                    <a:pt x="0" y="218439"/>
                  </a:lnTo>
                  <a:close/>
                </a:path>
              </a:pathLst>
            </a:custGeom>
            <a:ln w="12700">
              <a:solidFill>
                <a:srgbClr val="070A1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975859" y="859027"/>
              <a:ext cx="265430" cy="436880"/>
            </a:xfrm>
            <a:custGeom>
              <a:avLst/>
              <a:gdLst/>
              <a:ahLst/>
              <a:cxnLst/>
              <a:rect l="l" t="t" r="r" b="b"/>
              <a:pathLst>
                <a:path w="265429" h="436880">
                  <a:moveTo>
                    <a:pt x="132587" y="0"/>
                  </a:moveTo>
                  <a:lnTo>
                    <a:pt x="0" y="218439"/>
                  </a:lnTo>
                  <a:lnTo>
                    <a:pt x="132587" y="436752"/>
                  </a:lnTo>
                  <a:lnTo>
                    <a:pt x="265175" y="218439"/>
                  </a:lnTo>
                  <a:lnTo>
                    <a:pt x="132587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75859" y="859027"/>
              <a:ext cx="265430" cy="436880"/>
            </a:xfrm>
            <a:custGeom>
              <a:avLst/>
              <a:gdLst/>
              <a:ahLst/>
              <a:cxnLst/>
              <a:rect l="l" t="t" r="r" b="b"/>
              <a:pathLst>
                <a:path w="265429" h="436880">
                  <a:moveTo>
                    <a:pt x="0" y="218439"/>
                  </a:moveTo>
                  <a:lnTo>
                    <a:pt x="132587" y="0"/>
                  </a:lnTo>
                  <a:lnTo>
                    <a:pt x="265175" y="218439"/>
                  </a:lnTo>
                  <a:lnTo>
                    <a:pt x="132587" y="436752"/>
                  </a:lnTo>
                  <a:lnTo>
                    <a:pt x="0" y="218439"/>
                  </a:lnTo>
                  <a:close/>
                </a:path>
              </a:pathLst>
            </a:custGeom>
            <a:ln w="12700">
              <a:solidFill>
                <a:srgbClr val="070A1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5028691" y="978788"/>
            <a:ext cx="1790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P2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673597" y="971804"/>
            <a:ext cx="1790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P3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001645" y="807847"/>
            <a:ext cx="381635" cy="511809"/>
            <a:chOff x="3001645" y="807847"/>
            <a:chExt cx="381635" cy="511809"/>
          </a:xfrm>
        </p:grpSpPr>
        <p:sp>
          <p:nvSpPr>
            <p:cNvPr id="14" name="object 14" descr=""/>
            <p:cNvSpPr/>
            <p:nvPr/>
          </p:nvSpPr>
          <p:spPr>
            <a:xfrm>
              <a:off x="3007995" y="814197"/>
              <a:ext cx="368935" cy="499109"/>
            </a:xfrm>
            <a:custGeom>
              <a:avLst/>
              <a:gdLst/>
              <a:ahLst/>
              <a:cxnLst/>
              <a:rect l="l" t="t" r="r" b="b"/>
              <a:pathLst>
                <a:path w="368935" h="499109">
                  <a:moveTo>
                    <a:pt x="184277" y="0"/>
                  </a:moveTo>
                  <a:lnTo>
                    <a:pt x="0" y="249554"/>
                  </a:lnTo>
                  <a:lnTo>
                    <a:pt x="184277" y="499110"/>
                  </a:lnTo>
                  <a:lnTo>
                    <a:pt x="368554" y="249554"/>
                  </a:lnTo>
                  <a:lnTo>
                    <a:pt x="184277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007995" y="814197"/>
              <a:ext cx="368935" cy="499109"/>
            </a:xfrm>
            <a:custGeom>
              <a:avLst/>
              <a:gdLst/>
              <a:ahLst/>
              <a:cxnLst/>
              <a:rect l="l" t="t" r="r" b="b"/>
              <a:pathLst>
                <a:path w="368935" h="499109">
                  <a:moveTo>
                    <a:pt x="0" y="249554"/>
                  </a:moveTo>
                  <a:lnTo>
                    <a:pt x="184277" y="0"/>
                  </a:lnTo>
                  <a:lnTo>
                    <a:pt x="368554" y="249554"/>
                  </a:lnTo>
                  <a:lnTo>
                    <a:pt x="184277" y="499110"/>
                  </a:lnTo>
                  <a:lnTo>
                    <a:pt x="0" y="249554"/>
                  </a:lnTo>
                  <a:close/>
                </a:path>
              </a:pathLst>
            </a:custGeom>
            <a:ln w="12700">
              <a:solidFill>
                <a:srgbClr val="070A1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3087116" y="973328"/>
            <a:ext cx="1790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P1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967864" y="811402"/>
            <a:ext cx="331470" cy="514350"/>
            <a:chOff x="1967864" y="811402"/>
            <a:chExt cx="331470" cy="514350"/>
          </a:xfrm>
        </p:grpSpPr>
        <p:sp>
          <p:nvSpPr>
            <p:cNvPr id="18" name="object 18" descr=""/>
            <p:cNvSpPr/>
            <p:nvPr/>
          </p:nvSpPr>
          <p:spPr>
            <a:xfrm>
              <a:off x="1974214" y="817752"/>
              <a:ext cx="318770" cy="501650"/>
            </a:xfrm>
            <a:custGeom>
              <a:avLst/>
              <a:gdLst/>
              <a:ahLst/>
              <a:cxnLst/>
              <a:rect l="l" t="t" r="r" b="b"/>
              <a:pathLst>
                <a:path w="318769" h="501650">
                  <a:moveTo>
                    <a:pt x="159131" y="0"/>
                  </a:moveTo>
                  <a:lnTo>
                    <a:pt x="0" y="250825"/>
                  </a:lnTo>
                  <a:lnTo>
                    <a:pt x="159131" y="501650"/>
                  </a:lnTo>
                  <a:lnTo>
                    <a:pt x="318389" y="250825"/>
                  </a:lnTo>
                  <a:lnTo>
                    <a:pt x="159131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974214" y="817752"/>
              <a:ext cx="318770" cy="501650"/>
            </a:xfrm>
            <a:custGeom>
              <a:avLst/>
              <a:gdLst/>
              <a:ahLst/>
              <a:cxnLst/>
              <a:rect l="l" t="t" r="r" b="b"/>
              <a:pathLst>
                <a:path w="318769" h="501650">
                  <a:moveTo>
                    <a:pt x="0" y="250825"/>
                  </a:moveTo>
                  <a:lnTo>
                    <a:pt x="159131" y="0"/>
                  </a:lnTo>
                  <a:lnTo>
                    <a:pt x="318389" y="250825"/>
                  </a:lnTo>
                  <a:lnTo>
                    <a:pt x="159131" y="501650"/>
                  </a:lnTo>
                  <a:lnTo>
                    <a:pt x="0" y="250825"/>
                  </a:lnTo>
                  <a:close/>
                </a:path>
              </a:pathLst>
            </a:custGeom>
            <a:ln w="12700">
              <a:solidFill>
                <a:srgbClr val="070A1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2055114" y="973328"/>
            <a:ext cx="1790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solidFill>
                  <a:srgbClr val="FFFFFF"/>
                </a:solidFill>
                <a:latin typeface="Arial"/>
                <a:cs typeface="Arial"/>
              </a:rPr>
              <a:t>P0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7294753" y="795147"/>
            <a:ext cx="342265" cy="493395"/>
            <a:chOff x="7294753" y="795147"/>
            <a:chExt cx="342265" cy="493395"/>
          </a:xfrm>
        </p:grpSpPr>
        <p:sp>
          <p:nvSpPr>
            <p:cNvPr id="22" name="object 22" descr=""/>
            <p:cNvSpPr/>
            <p:nvPr/>
          </p:nvSpPr>
          <p:spPr>
            <a:xfrm>
              <a:off x="7301103" y="801497"/>
              <a:ext cx="329565" cy="480695"/>
            </a:xfrm>
            <a:custGeom>
              <a:avLst/>
              <a:gdLst/>
              <a:ahLst/>
              <a:cxnLst/>
              <a:rect l="l" t="t" r="r" b="b"/>
              <a:pathLst>
                <a:path w="329565" h="480694">
                  <a:moveTo>
                    <a:pt x="164719" y="0"/>
                  </a:moveTo>
                  <a:lnTo>
                    <a:pt x="0" y="240156"/>
                  </a:lnTo>
                  <a:lnTo>
                    <a:pt x="164719" y="480440"/>
                  </a:lnTo>
                  <a:lnTo>
                    <a:pt x="329438" y="240156"/>
                  </a:lnTo>
                  <a:lnTo>
                    <a:pt x="164719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301103" y="801497"/>
              <a:ext cx="329565" cy="480695"/>
            </a:xfrm>
            <a:custGeom>
              <a:avLst/>
              <a:gdLst/>
              <a:ahLst/>
              <a:cxnLst/>
              <a:rect l="l" t="t" r="r" b="b"/>
              <a:pathLst>
                <a:path w="329565" h="480694">
                  <a:moveTo>
                    <a:pt x="0" y="240156"/>
                  </a:moveTo>
                  <a:lnTo>
                    <a:pt x="164719" y="0"/>
                  </a:lnTo>
                  <a:lnTo>
                    <a:pt x="329438" y="240156"/>
                  </a:lnTo>
                  <a:lnTo>
                    <a:pt x="164719" y="480440"/>
                  </a:lnTo>
                  <a:lnTo>
                    <a:pt x="0" y="240156"/>
                  </a:lnTo>
                  <a:close/>
                </a:path>
              </a:pathLst>
            </a:custGeom>
            <a:ln w="12700">
              <a:solidFill>
                <a:srgbClr val="070A1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7372857" y="911098"/>
            <a:ext cx="1790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P5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6520053" y="843788"/>
            <a:ext cx="278130" cy="449580"/>
            <a:chOff x="6520053" y="843788"/>
            <a:chExt cx="278130" cy="449580"/>
          </a:xfrm>
        </p:grpSpPr>
        <p:sp>
          <p:nvSpPr>
            <p:cNvPr id="26" name="object 26" descr=""/>
            <p:cNvSpPr/>
            <p:nvPr/>
          </p:nvSpPr>
          <p:spPr>
            <a:xfrm>
              <a:off x="6526403" y="850138"/>
              <a:ext cx="265430" cy="436880"/>
            </a:xfrm>
            <a:custGeom>
              <a:avLst/>
              <a:gdLst/>
              <a:ahLst/>
              <a:cxnLst/>
              <a:rect l="l" t="t" r="r" b="b"/>
              <a:pathLst>
                <a:path w="265429" h="436880">
                  <a:moveTo>
                    <a:pt x="132588" y="0"/>
                  </a:moveTo>
                  <a:lnTo>
                    <a:pt x="0" y="218439"/>
                  </a:lnTo>
                  <a:lnTo>
                    <a:pt x="132588" y="436879"/>
                  </a:lnTo>
                  <a:lnTo>
                    <a:pt x="265175" y="218439"/>
                  </a:lnTo>
                  <a:lnTo>
                    <a:pt x="132588" y="0"/>
                  </a:lnTo>
                  <a:close/>
                </a:path>
              </a:pathLst>
            </a:custGeom>
            <a:solidFill>
              <a:srgbClr val="006FC0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526403" y="850138"/>
              <a:ext cx="265430" cy="436880"/>
            </a:xfrm>
            <a:custGeom>
              <a:avLst/>
              <a:gdLst/>
              <a:ahLst/>
              <a:cxnLst/>
              <a:rect l="l" t="t" r="r" b="b"/>
              <a:pathLst>
                <a:path w="265429" h="436880">
                  <a:moveTo>
                    <a:pt x="0" y="218439"/>
                  </a:moveTo>
                  <a:lnTo>
                    <a:pt x="132588" y="0"/>
                  </a:lnTo>
                  <a:lnTo>
                    <a:pt x="265175" y="218439"/>
                  </a:lnTo>
                  <a:lnTo>
                    <a:pt x="132588" y="436879"/>
                  </a:lnTo>
                  <a:lnTo>
                    <a:pt x="0" y="218439"/>
                  </a:lnTo>
                  <a:close/>
                </a:path>
              </a:pathLst>
            </a:custGeom>
            <a:ln w="12700">
              <a:solidFill>
                <a:srgbClr val="070A1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6568567" y="951992"/>
            <a:ext cx="1790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P4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5997575" y="803020"/>
            <a:ext cx="342265" cy="495934"/>
            <a:chOff x="5997575" y="803020"/>
            <a:chExt cx="342265" cy="495934"/>
          </a:xfrm>
        </p:grpSpPr>
        <p:sp>
          <p:nvSpPr>
            <p:cNvPr id="30" name="object 30" descr=""/>
            <p:cNvSpPr/>
            <p:nvPr/>
          </p:nvSpPr>
          <p:spPr>
            <a:xfrm>
              <a:off x="6003925" y="809370"/>
              <a:ext cx="329565" cy="483234"/>
            </a:xfrm>
            <a:custGeom>
              <a:avLst/>
              <a:gdLst/>
              <a:ahLst/>
              <a:cxnLst/>
              <a:rect l="l" t="t" r="r" b="b"/>
              <a:pathLst>
                <a:path w="329564" h="483234">
                  <a:moveTo>
                    <a:pt x="164719" y="0"/>
                  </a:moveTo>
                  <a:lnTo>
                    <a:pt x="0" y="241680"/>
                  </a:lnTo>
                  <a:lnTo>
                    <a:pt x="164719" y="483234"/>
                  </a:lnTo>
                  <a:lnTo>
                    <a:pt x="329438" y="241680"/>
                  </a:lnTo>
                  <a:lnTo>
                    <a:pt x="164719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003925" y="809370"/>
              <a:ext cx="329565" cy="483234"/>
            </a:xfrm>
            <a:custGeom>
              <a:avLst/>
              <a:gdLst/>
              <a:ahLst/>
              <a:cxnLst/>
              <a:rect l="l" t="t" r="r" b="b"/>
              <a:pathLst>
                <a:path w="329564" h="483234">
                  <a:moveTo>
                    <a:pt x="0" y="241680"/>
                  </a:moveTo>
                  <a:lnTo>
                    <a:pt x="164719" y="0"/>
                  </a:lnTo>
                  <a:lnTo>
                    <a:pt x="329438" y="241680"/>
                  </a:lnTo>
                  <a:lnTo>
                    <a:pt x="164719" y="483234"/>
                  </a:lnTo>
                  <a:lnTo>
                    <a:pt x="0" y="241680"/>
                  </a:lnTo>
                  <a:close/>
                </a:path>
              </a:pathLst>
            </a:custGeom>
            <a:ln w="12700">
              <a:solidFill>
                <a:srgbClr val="070A1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6073266" y="990346"/>
            <a:ext cx="1790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Arial"/>
                <a:cs typeface="Arial"/>
              </a:rPr>
              <a:t>P4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38100" y="1257553"/>
            <a:ext cx="9467850" cy="5076825"/>
            <a:chOff x="38100" y="1257553"/>
            <a:chExt cx="9467850" cy="5076825"/>
          </a:xfrm>
        </p:grpSpPr>
        <p:pic>
          <p:nvPicPr>
            <p:cNvPr id="34" name="object 3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" y="1319402"/>
              <a:ext cx="9346565" cy="5014722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6171438" y="1257553"/>
              <a:ext cx="444500" cy="76200"/>
            </a:xfrm>
            <a:custGeom>
              <a:avLst/>
              <a:gdLst/>
              <a:ahLst/>
              <a:cxnLst/>
              <a:rect l="l" t="t" r="r" b="b"/>
              <a:pathLst>
                <a:path w="444500" h="76200">
                  <a:moveTo>
                    <a:pt x="75946" y="0"/>
                  </a:moveTo>
                  <a:lnTo>
                    <a:pt x="0" y="38608"/>
                  </a:lnTo>
                  <a:lnTo>
                    <a:pt x="76326" y="76200"/>
                  </a:lnTo>
                  <a:lnTo>
                    <a:pt x="76184" y="47751"/>
                  </a:lnTo>
                  <a:lnTo>
                    <a:pt x="63500" y="47751"/>
                  </a:lnTo>
                  <a:lnTo>
                    <a:pt x="63373" y="28701"/>
                  </a:lnTo>
                  <a:lnTo>
                    <a:pt x="76089" y="28701"/>
                  </a:lnTo>
                  <a:lnTo>
                    <a:pt x="75946" y="0"/>
                  </a:lnTo>
                  <a:close/>
                </a:path>
                <a:path w="444500" h="76200">
                  <a:moveTo>
                    <a:pt x="443864" y="26543"/>
                  </a:moveTo>
                  <a:lnTo>
                    <a:pt x="63373" y="28701"/>
                  </a:lnTo>
                  <a:lnTo>
                    <a:pt x="63500" y="47751"/>
                  </a:lnTo>
                  <a:lnTo>
                    <a:pt x="76184" y="47751"/>
                  </a:lnTo>
                  <a:lnTo>
                    <a:pt x="76089" y="28701"/>
                  </a:lnTo>
                  <a:lnTo>
                    <a:pt x="443879" y="28701"/>
                  </a:lnTo>
                  <a:lnTo>
                    <a:pt x="443864" y="26543"/>
                  </a:lnTo>
                  <a:close/>
                </a:path>
                <a:path w="444500" h="76200">
                  <a:moveTo>
                    <a:pt x="443879" y="28701"/>
                  </a:moveTo>
                  <a:lnTo>
                    <a:pt x="76089" y="28701"/>
                  </a:lnTo>
                  <a:lnTo>
                    <a:pt x="76184" y="47751"/>
                  </a:lnTo>
                  <a:lnTo>
                    <a:pt x="63500" y="47751"/>
                  </a:lnTo>
                  <a:lnTo>
                    <a:pt x="443991" y="45593"/>
                  </a:lnTo>
                  <a:lnTo>
                    <a:pt x="443879" y="2870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29725" y="5456046"/>
              <a:ext cx="247650" cy="76200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48775" y="5627484"/>
              <a:ext cx="247650" cy="76200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48775" y="5808459"/>
              <a:ext cx="247650" cy="76200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8300" y="5998959"/>
              <a:ext cx="247650" cy="76200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8300" y="6198984"/>
              <a:ext cx="247650" cy="76200"/>
            </a:xfrm>
            <a:prstGeom prst="rect">
              <a:avLst/>
            </a:prstGeom>
          </p:spPr>
        </p:pic>
      </p:grpSp>
      <p:sp>
        <p:nvSpPr>
          <p:cNvPr id="41" name="object 4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35864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2" name="object 42" descr=""/>
          <p:cNvSpPr txBox="1"/>
          <p:nvPr/>
        </p:nvSpPr>
        <p:spPr>
          <a:xfrm>
            <a:off x="1719452" y="6560535"/>
            <a:ext cx="8753475" cy="26162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800">
                <a:latin typeface="Arial"/>
                <a:cs typeface="Arial"/>
              </a:rPr>
              <a:t>RTX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Corporation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(Corporate)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-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Proprietary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800">
                <a:latin typeface="Arial"/>
                <a:cs typeface="Arial"/>
              </a:rPr>
              <a:t>Technical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Material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not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controlled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under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local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export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regulations.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This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document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is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not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controlled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under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U.S.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regulations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but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may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contain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Technical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Material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that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is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controlled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by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other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jurisdictions.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672" rIns="0" bIns="0" rtlCol="0" vert="horz">
            <a:spAutoFit/>
          </a:bodyPr>
          <a:lstStyle/>
          <a:p>
            <a:pPr marL="27940">
              <a:lnSpc>
                <a:spcPct val="100000"/>
              </a:lnSpc>
              <a:spcBef>
                <a:spcPts val="105"/>
              </a:spcBef>
            </a:pPr>
            <a:r>
              <a:rPr dirty="0"/>
              <a:t>RLPM-</a:t>
            </a:r>
            <a:r>
              <a:rPr dirty="0" spc="-30"/>
              <a:t> </a:t>
            </a:r>
            <a:r>
              <a:rPr dirty="0"/>
              <a:t>Defined</a:t>
            </a:r>
            <a:r>
              <a:rPr dirty="0" spc="-165"/>
              <a:t> </a:t>
            </a:r>
            <a:r>
              <a:rPr dirty="0" spc="-10"/>
              <a:t>Archetypes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56740" y="1006944"/>
            <a:ext cx="11081385" cy="3986529"/>
            <a:chOff x="556740" y="1006944"/>
            <a:chExt cx="11081385" cy="3986529"/>
          </a:xfrm>
        </p:grpSpPr>
        <p:sp>
          <p:nvSpPr>
            <p:cNvPr id="4" name="object 4" descr=""/>
            <p:cNvSpPr/>
            <p:nvPr/>
          </p:nvSpPr>
          <p:spPr>
            <a:xfrm>
              <a:off x="556740" y="1006944"/>
              <a:ext cx="9196705" cy="374650"/>
            </a:xfrm>
            <a:custGeom>
              <a:avLst/>
              <a:gdLst/>
              <a:ahLst/>
              <a:cxnLst/>
              <a:rect l="l" t="t" r="r" b="b"/>
              <a:pathLst>
                <a:path w="9196705" h="374650">
                  <a:moveTo>
                    <a:pt x="0" y="374408"/>
                  </a:moveTo>
                  <a:lnTo>
                    <a:pt x="9196318" y="374408"/>
                  </a:lnTo>
                  <a:lnTo>
                    <a:pt x="9196318" y="0"/>
                  </a:lnTo>
                  <a:lnTo>
                    <a:pt x="0" y="0"/>
                  </a:lnTo>
                  <a:lnTo>
                    <a:pt x="0" y="374408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750529" y="1006944"/>
              <a:ext cx="1887220" cy="374650"/>
            </a:xfrm>
            <a:custGeom>
              <a:avLst/>
              <a:gdLst/>
              <a:ahLst/>
              <a:cxnLst/>
              <a:rect l="l" t="t" r="r" b="b"/>
              <a:pathLst>
                <a:path w="1887220" h="374650">
                  <a:moveTo>
                    <a:pt x="1887007" y="0"/>
                  </a:moveTo>
                  <a:lnTo>
                    <a:pt x="0" y="0"/>
                  </a:lnTo>
                  <a:lnTo>
                    <a:pt x="0" y="374408"/>
                  </a:lnTo>
                  <a:lnTo>
                    <a:pt x="1887010" y="374408"/>
                  </a:lnTo>
                  <a:lnTo>
                    <a:pt x="1887007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212956" y="1378824"/>
              <a:ext cx="3771900" cy="905510"/>
            </a:xfrm>
            <a:custGeom>
              <a:avLst/>
              <a:gdLst/>
              <a:ahLst/>
              <a:cxnLst/>
              <a:rect l="l" t="t" r="r" b="b"/>
              <a:pathLst>
                <a:path w="3771900" h="905510">
                  <a:moveTo>
                    <a:pt x="3771350" y="0"/>
                  </a:moveTo>
                  <a:lnTo>
                    <a:pt x="0" y="0"/>
                  </a:lnTo>
                  <a:lnTo>
                    <a:pt x="0" y="905394"/>
                  </a:lnTo>
                  <a:lnTo>
                    <a:pt x="3771350" y="905394"/>
                  </a:lnTo>
                  <a:lnTo>
                    <a:pt x="3771350" y="0"/>
                  </a:lnTo>
                  <a:close/>
                </a:path>
              </a:pathLst>
            </a:custGeom>
            <a:solidFill>
              <a:srgbClr val="8ED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981708" y="1378824"/>
              <a:ext cx="3771900" cy="905510"/>
            </a:xfrm>
            <a:custGeom>
              <a:avLst/>
              <a:gdLst/>
              <a:ahLst/>
              <a:cxnLst/>
              <a:rect l="l" t="t" r="r" b="b"/>
              <a:pathLst>
                <a:path w="3771900" h="905510">
                  <a:moveTo>
                    <a:pt x="3771350" y="0"/>
                  </a:moveTo>
                  <a:lnTo>
                    <a:pt x="0" y="0"/>
                  </a:lnTo>
                  <a:lnTo>
                    <a:pt x="0" y="905394"/>
                  </a:lnTo>
                  <a:lnTo>
                    <a:pt x="3771350" y="905394"/>
                  </a:lnTo>
                  <a:lnTo>
                    <a:pt x="3771350" y="0"/>
                  </a:lnTo>
                  <a:close/>
                </a:path>
              </a:pathLst>
            </a:custGeom>
            <a:solidFill>
              <a:srgbClr val="A6C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750529" y="1378824"/>
              <a:ext cx="1887220" cy="905510"/>
            </a:xfrm>
            <a:custGeom>
              <a:avLst/>
              <a:gdLst/>
              <a:ahLst/>
              <a:cxnLst/>
              <a:rect l="l" t="t" r="r" b="b"/>
              <a:pathLst>
                <a:path w="1887220" h="905510">
                  <a:moveTo>
                    <a:pt x="1887007" y="0"/>
                  </a:moveTo>
                  <a:lnTo>
                    <a:pt x="0" y="0"/>
                  </a:lnTo>
                  <a:lnTo>
                    <a:pt x="0" y="905394"/>
                  </a:lnTo>
                  <a:lnTo>
                    <a:pt x="1887007" y="905394"/>
                  </a:lnTo>
                  <a:lnTo>
                    <a:pt x="1887007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212956" y="2281620"/>
              <a:ext cx="5655945" cy="906144"/>
            </a:xfrm>
            <a:custGeom>
              <a:avLst/>
              <a:gdLst/>
              <a:ahLst/>
              <a:cxnLst/>
              <a:rect l="l" t="t" r="r" b="b"/>
              <a:pathLst>
                <a:path w="5655945" h="906144">
                  <a:moveTo>
                    <a:pt x="5655828" y="0"/>
                  </a:moveTo>
                  <a:lnTo>
                    <a:pt x="0" y="0"/>
                  </a:lnTo>
                  <a:lnTo>
                    <a:pt x="0" y="905599"/>
                  </a:lnTo>
                  <a:lnTo>
                    <a:pt x="5655828" y="905599"/>
                  </a:lnTo>
                  <a:lnTo>
                    <a:pt x="5655828" y="0"/>
                  </a:lnTo>
                  <a:close/>
                </a:path>
              </a:pathLst>
            </a:custGeom>
            <a:solidFill>
              <a:srgbClr val="8ED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866187" y="2281620"/>
              <a:ext cx="1887220" cy="906144"/>
            </a:xfrm>
            <a:custGeom>
              <a:avLst/>
              <a:gdLst/>
              <a:ahLst/>
              <a:cxnLst/>
              <a:rect l="l" t="t" r="r" b="b"/>
              <a:pathLst>
                <a:path w="1887220" h="906144">
                  <a:moveTo>
                    <a:pt x="1886871" y="0"/>
                  </a:moveTo>
                  <a:lnTo>
                    <a:pt x="0" y="0"/>
                  </a:lnTo>
                  <a:lnTo>
                    <a:pt x="0" y="905599"/>
                  </a:lnTo>
                  <a:lnTo>
                    <a:pt x="1886871" y="905599"/>
                  </a:lnTo>
                  <a:lnTo>
                    <a:pt x="1886871" y="0"/>
                  </a:lnTo>
                  <a:close/>
                </a:path>
              </a:pathLst>
            </a:custGeom>
            <a:solidFill>
              <a:srgbClr val="A6C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750529" y="2281620"/>
              <a:ext cx="1887220" cy="906144"/>
            </a:xfrm>
            <a:custGeom>
              <a:avLst/>
              <a:gdLst/>
              <a:ahLst/>
              <a:cxnLst/>
              <a:rect l="l" t="t" r="r" b="b"/>
              <a:pathLst>
                <a:path w="1887220" h="906144">
                  <a:moveTo>
                    <a:pt x="1887007" y="0"/>
                  </a:moveTo>
                  <a:lnTo>
                    <a:pt x="0" y="0"/>
                  </a:lnTo>
                  <a:lnTo>
                    <a:pt x="0" y="905599"/>
                  </a:lnTo>
                  <a:lnTo>
                    <a:pt x="1887007" y="905599"/>
                  </a:lnTo>
                  <a:lnTo>
                    <a:pt x="1887007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212956" y="3184622"/>
              <a:ext cx="3771900" cy="905510"/>
            </a:xfrm>
            <a:custGeom>
              <a:avLst/>
              <a:gdLst/>
              <a:ahLst/>
              <a:cxnLst/>
              <a:rect l="l" t="t" r="r" b="b"/>
              <a:pathLst>
                <a:path w="3771900" h="905510">
                  <a:moveTo>
                    <a:pt x="3771350" y="0"/>
                  </a:moveTo>
                  <a:lnTo>
                    <a:pt x="0" y="0"/>
                  </a:lnTo>
                  <a:lnTo>
                    <a:pt x="0" y="905394"/>
                  </a:lnTo>
                  <a:lnTo>
                    <a:pt x="3771350" y="905394"/>
                  </a:lnTo>
                  <a:lnTo>
                    <a:pt x="3771350" y="0"/>
                  </a:lnTo>
                  <a:close/>
                </a:path>
              </a:pathLst>
            </a:custGeom>
            <a:solidFill>
              <a:srgbClr val="8ED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981708" y="3184622"/>
              <a:ext cx="3771900" cy="905510"/>
            </a:xfrm>
            <a:custGeom>
              <a:avLst/>
              <a:gdLst/>
              <a:ahLst/>
              <a:cxnLst/>
              <a:rect l="l" t="t" r="r" b="b"/>
              <a:pathLst>
                <a:path w="3771900" h="905510">
                  <a:moveTo>
                    <a:pt x="3771350" y="0"/>
                  </a:moveTo>
                  <a:lnTo>
                    <a:pt x="0" y="0"/>
                  </a:lnTo>
                  <a:lnTo>
                    <a:pt x="0" y="905394"/>
                  </a:lnTo>
                  <a:lnTo>
                    <a:pt x="3771350" y="905394"/>
                  </a:lnTo>
                  <a:lnTo>
                    <a:pt x="3771350" y="0"/>
                  </a:lnTo>
                  <a:close/>
                </a:path>
              </a:pathLst>
            </a:custGeom>
            <a:solidFill>
              <a:srgbClr val="A6C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750529" y="3184622"/>
              <a:ext cx="1887220" cy="905510"/>
            </a:xfrm>
            <a:custGeom>
              <a:avLst/>
              <a:gdLst/>
              <a:ahLst/>
              <a:cxnLst/>
              <a:rect l="l" t="t" r="r" b="b"/>
              <a:pathLst>
                <a:path w="1887220" h="905510">
                  <a:moveTo>
                    <a:pt x="1887007" y="0"/>
                  </a:moveTo>
                  <a:lnTo>
                    <a:pt x="0" y="0"/>
                  </a:lnTo>
                  <a:lnTo>
                    <a:pt x="0" y="905394"/>
                  </a:lnTo>
                  <a:lnTo>
                    <a:pt x="1887007" y="905394"/>
                  </a:lnTo>
                  <a:lnTo>
                    <a:pt x="1887007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212956" y="4087473"/>
              <a:ext cx="3771900" cy="905510"/>
            </a:xfrm>
            <a:custGeom>
              <a:avLst/>
              <a:gdLst/>
              <a:ahLst/>
              <a:cxnLst/>
              <a:rect l="l" t="t" r="r" b="b"/>
              <a:pathLst>
                <a:path w="3771900" h="905510">
                  <a:moveTo>
                    <a:pt x="3771350" y="0"/>
                  </a:moveTo>
                  <a:lnTo>
                    <a:pt x="0" y="0"/>
                  </a:lnTo>
                  <a:lnTo>
                    <a:pt x="0" y="905394"/>
                  </a:lnTo>
                  <a:lnTo>
                    <a:pt x="3771350" y="905394"/>
                  </a:lnTo>
                  <a:lnTo>
                    <a:pt x="3771350" y="0"/>
                  </a:lnTo>
                  <a:close/>
                </a:path>
              </a:pathLst>
            </a:custGeom>
            <a:solidFill>
              <a:srgbClr val="8ED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981708" y="4087473"/>
              <a:ext cx="1887220" cy="905510"/>
            </a:xfrm>
            <a:custGeom>
              <a:avLst/>
              <a:gdLst/>
              <a:ahLst/>
              <a:cxnLst/>
              <a:rect l="l" t="t" r="r" b="b"/>
              <a:pathLst>
                <a:path w="1887220" h="905510">
                  <a:moveTo>
                    <a:pt x="1887076" y="0"/>
                  </a:moveTo>
                  <a:lnTo>
                    <a:pt x="0" y="0"/>
                  </a:lnTo>
                  <a:lnTo>
                    <a:pt x="0" y="905394"/>
                  </a:lnTo>
                  <a:lnTo>
                    <a:pt x="1887076" y="905394"/>
                  </a:lnTo>
                  <a:lnTo>
                    <a:pt x="1887076" y="0"/>
                  </a:lnTo>
                  <a:close/>
                </a:path>
              </a:pathLst>
            </a:custGeom>
            <a:solidFill>
              <a:srgbClr val="A6C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866187" y="4087473"/>
              <a:ext cx="1887220" cy="905510"/>
            </a:xfrm>
            <a:custGeom>
              <a:avLst/>
              <a:gdLst/>
              <a:ahLst/>
              <a:cxnLst/>
              <a:rect l="l" t="t" r="r" b="b"/>
              <a:pathLst>
                <a:path w="1887220" h="905510">
                  <a:moveTo>
                    <a:pt x="1886871" y="0"/>
                  </a:moveTo>
                  <a:lnTo>
                    <a:pt x="0" y="0"/>
                  </a:lnTo>
                  <a:lnTo>
                    <a:pt x="0" y="905394"/>
                  </a:lnTo>
                  <a:lnTo>
                    <a:pt x="1886871" y="905394"/>
                  </a:lnTo>
                  <a:lnTo>
                    <a:pt x="1886871" y="0"/>
                  </a:lnTo>
                  <a:close/>
                </a:path>
              </a:pathLst>
            </a:custGeom>
            <a:solidFill>
              <a:srgbClr val="8ED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750529" y="4087473"/>
              <a:ext cx="1887220" cy="905510"/>
            </a:xfrm>
            <a:custGeom>
              <a:avLst/>
              <a:gdLst/>
              <a:ahLst/>
              <a:cxnLst/>
              <a:rect l="l" t="t" r="r" b="b"/>
              <a:pathLst>
                <a:path w="1887220" h="905510">
                  <a:moveTo>
                    <a:pt x="1887007" y="0"/>
                  </a:moveTo>
                  <a:lnTo>
                    <a:pt x="0" y="0"/>
                  </a:lnTo>
                  <a:lnTo>
                    <a:pt x="0" y="905394"/>
                  </a:lnTo>
                  <a:lnTo>
                    <a:pt x="1887007" y="905394"/>
                  </a:lnTo>
                  <a:lnTo>
                    <a:pt x="1887007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554177" y="5164783"/>
            <a:ext cx="633730" cy="280035"/>
            <a:chOff x="554177" y="5164783"/>
            <a:chExt cx="633730" cy="280035"/>
          </a:xfrm>
        </p:grpSpPr>
        <p:sp>
          <p:nvSpPr>
            <p:cNvPr id="20" name="object 20" descr=""/>
            <p:cNvSpPr/>
            <p:nvPr/>
          </p:nvSpPr>
          <p:spPr>
            <a:xfrm>
              <a:off x="556740" y="5164786"/>
              <a:ext cx="631190" cy="138430"/>
            </a:xfrm>
            <a:custGeom>
              <a:avLst/>
              <a:gdLst/>
              <a:ahLst/>
              <a:cxnLst/>
              <a:rect l="l" t="t" r="r" b="b"/>
              <a:pathLst>
                <a:path w="631190" h="138429">
                  <a:moveTo>
                    <a:pt x="0" y="138422"/>
                  </a:moveTo>
                  <a:lnTo>
                    <a:pt x="630722" y="138422"/>
                  </a:lnTo>
                  <a:lnTo>
                    <a:pt x="630722" y="0"/>
                  </a:lnTo>
                  <a:lnTo>
                    <a:pt x="0" y="0"/>
                  </a:lnTo>
                  <a:lnTo>
                    <a:pt x="0" y="138422"/>
                  </a:lnTo>
                  <a:close/>
                </a:path>
              </a:pathLst>
            </a:custGeom>
            <a:solidFill>
              <a:srgbClr val="8ED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56740" y="5303209"/>
              <a:ext cx="631190" cy="140970"/>
            </a:xfrm>
            <a:custGeom>
              <a:avLst/>
              <a:gdLst/>
              <a:ahLst/>
              <a:cxnLst/>
              <a:rect l="l" t="t" r="r" b="b"/>
              <a:pathLst>
                <a:path w="631190" h="140970">
                  <a:moveTo>
                    <a:pt x="630722" y="140899"/>
                  </a:moveTo>
                  <a:lnTo>
                    <a:pt x="630722" y="0"/>
                  </a:lnTo>
                  <a:lnTo>
                    <a:pt x="0" y="0"/>
                  </a:lnTo>
                  <a:lnTo>
                    <a:pt x="0" y="140899"/>
                  </a:lnTo>
                  <a:lnTo>
                    <a:pt x="630722" y="140899"/>
                  </a:lnTo>
                  <a:close/>
                </a:path>
              </a:pathLst>
            </a:custGeom>
            <a:solidFill>
              <a:srgbClr val="A6C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55458" y="5166065"/>
              <a:ext cx="0" cy="276860"/>
            </a:xfrm>
            <a:custGeom>
              <a:avLst/>
              <a:gdLst/>
              <a:ahLst/>
              <a:cxnLst/>
              <a:rect l="l" t="t" r="r" b="b"/>
              <a:pathLst>
                <a:path w="0" h="276860">
                  <a:moveTo>
                    <a:pt x="0" y="0"/>
                  </a:moveTo>
                  <a:lnTo>
                    <a:pt x="0" y="2768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54177" y="5164785"/>
              <a:ext cx="3175" cy="280035"/>
            </a:xfrm>
            <a:custGeom>
              <a:avLst/>
              <a:gdLst/>
              <a:ahLst/>
              <a:cxnLst/>
              <a:rect l="l" t="t" r="r" b="b"/>
              <a:pathLst>
                <a:path w="3175" h="280035">
                  <a:moveTo>
                    <a:pt x="2563" y="0"/>
                  </a:moveTo>
                  <a:lnTo>
                    <a:pt x="0" y="0"/>
                  </a:lnTo>
                  <a:lnTo>
                    <a:pt x="0" y="279581"/>
                  </a:lnTo>
                  <a:lnTo>
                    <a:pt x="2563" y="279581"/>
                  </a:lnTo>
                  <a:lnTo>
                    <a:pt x="2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186185" y="5168628"/>
              <a:ext cx="0" cy="274320"/>
            </a:xfrm>
            <a:custGeom>
              <a:avLst/>
              <a:gdLst/>
              <a:ahLst/>
              <a:cxnLst/>
              <a:rect l="l" t="t" r="r" b="b"/>
              <a:pathLst>
                <a:path w="0" h="274320">
                  <a:moveTo>
                    <a:pt x="0" y="0"/>
                  </a:moveTo>
                  <a:lnTo>
                    <a:pt x="0" y="2742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184900" y="5167348"/>
              <a:ext cx="3175" cy="277495"/>
            </a:xfrm>
            <a:custGeom>
              <a:avLst/>
              <a:gdLst/>
              <a:ahLst/>
              <a:cxnLst/>
              <a:rect l="l" t="t" r="r" b="b"/>
              <a:pathLst>
                <a:path w="3175" h="277495">
                  <a:moveTo>
                    <a:pt x="2563" y="0"/>
                  </a:moveTo>
                  <a:lnTo>
                    <a:pt x="0" y="0"/>
                  </a:lnTo>
                  <a:lnTo>
                    <a:pt x="0" y="277018"/>
                  </a:lnTo>
                  <a:lnTo>
                    <a:pt x="2563" y="277018"/>
                  </a:lnTo>
                  <a:lnTo>
                    <a:pt x="2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58022" y="5166065"/>
              <a:ext cx="628650" cy="0"/>
            </a:xfrm>
            <a:custGeom>
              <a:avLst/>
              <a:gdLst/>
              <a:ahLst/>
              <a:cxnLst/>
              <a:rect l="l" t="t" r="r" b="b"/>
              <a:pathLst>
                <a:path w="628650" h="0">
                  <a:moveTo>
                    <a:pt x="0" y="0"/>
                  </a:moveTo>
                  <a:lnTo>
                    <a:pt x="6281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56740" y="5164787"/>
              <a:ext cx="631190" cy="3175"/>
            </a:xfrm>
            <a:custGeom>
              <a:avLst/>
              <a:gdLst/>
              <a:ahLst/>
              <a:cxnLst/>
              <a:rect l="l" t="t" r="r" b="b"/>
              <a:pathLst>
                <a:path w="631190" h="3175">
                  <a:moveTo>
                    <a:pt x="630722" y="0"/>
                  </a:moveTo>
                  <a:lnTo>
                    <a:pt x="0" y="0"/>
                  </a:lnTo>
                  <a:lnTo>
                    <a:pt x="0" y="2563"/>
                  </a:lnTo>
                  <a:lnTo>
                    <a:pt x="630722" y="2563"/>
                  </a:lnTo>
                  <a:lnTo>
                    <a:pt x="6307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58022" y="5304489"/>
              <a:ext cx="628650" cy="0"/>
            </a:xfrm>
            <a:custGeom>
              <a:avLst/>
              <a:gdLst/>
              <a:ahLst/>
              <a:cxnLst/>
              <a:rect l="l" t="t" r="r" b="b"/>
              <a:pathLst>
                <a:path w="628650" h="0">
                  <a:moveTo>
                    <a:pt x="0" y="0"/>
                  </a:moveTo>
                  <a:lnTo>
                    <a:pt x="6281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56740" y="5303210"/>
              <a:ext cx="631190" cy="3175"/>
            </a:xfrm>
            <a:custGeom>
              <a:avLst/>
              <a:gdLst/>
              <a:ahLst/>
              <a:cxnLst/>
              <a:rect l="l" t="t" r="r" b="b"/>
              <a:pathLst>
                <a:path w="631190" h="3175">
                  <a:moveTo>
                    <a:pt x="630722" y="0"/>
                  </a:moveTo>
                  <a:lnTo>
                    <a:pt x="0" y="0"/>
                  </a:lnTo>
                  <a:lnTo>
                    <a:pt x="0" y="2563"/>
                  </a:lnTo>
                  <a:lnTo>
                    <a:pt x="630722" y="2563"/>
                  </a:lnTo>
                  <a:lnTo>
                    <a:pt x="6307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58022" y="5442914"/>
              <a:ext cx="628650" cy="0"/>
            </a:xfrm>
            <a:custGeom>
              <a:avLst/>
              <a:gdLst/>
              <a:ahLst/>
              <a:cxnLst/>
              <a:rect l="l" t="t" r="r" b="b"/>
              <a:pathLst>
                <a:path w="628650" h="0">
                  <a:moveTo>
                    <a:pt x="0" y="0"/>
                  </a:moveTo>
                  <a:lnTo>
                    <a:pt x="6281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56740" y="5441632"/>
              <a:ext cx="631190" cy="3175"/>
            </a:xfrm>
            <a:custGeom>
              <a:avLst/>
              <a:gdLst/>
              <a:ahLst/>
              <a:cxnLst/>
              <a:rect l="l" t="t" r="r" b="b"/>
              <a:pathLst>
                <a:path w="631190" h="3175">
                  <a:moveTo>
                    <a:pt x="630722" y="0"/>
                  </a:moveTo>
                  <a:lnTo>
                    <a:pt x="0" y="0"/>
                  </a:lnTo>
                  <a:lnTo>
                    <a:pt x="0" y="2734"/>
                  </a:lnTo>
                  <a:lnTo>
                    <a:pt x="630722" y="2734"/>
                  </a:lnTo>
                  <a:lnTo>
                    <a:pt x="6307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633753" y="987458"/>
            <a:ext cx="472440" cy="39497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750" spc="-20" b="1">
                <a:latin typeface="Calibri"/>
                <a:cs typeface="Calibri"/>
              </a:rPr>
              <a:t>Tier</a:t>
            </a:r>
            <a:r>
              <a:rPr dirty="0" sz="750" spc="-15" b="1">
                <a:latin typeface="Calibri"/>
                <a:cs typeface="Calibri"/>
              </a:rPr>
              <a:t> </a:t>
            </a:r>
            <a:r>
              <a:rPr dirty="0" sz="750" spc="-50" b="1">
                <a:latin typeface="Calibri"/>
                <a:cs typeface="Calibri"/>
              </a:rPr>
              <a:t>3</a:t>
            </a:r>
            <a:endParaRPr sz="750">
              <a:latin typeface="Calibri"/>
              <a:cs typeface="Calibri"/>
            </a:endParaRPr>
          </a:p>
          <a:p>
            <a:pPr algn="ctr" marL="55880">
              <a:lnSpc>
                <a:spcPct val="100000"/>
              </a:lnSpc>
              <a:spcBef>
                <a:spcPts val="70"/>
              </a:spcBef>
            </a:pPr>
            <a:r>
              <a:rPr dirty="0" sz="750" spc="-50" b="1">
                <a:latin typeface="Calibri"/>
                <a:cs typeface="Calibri"/>
              </a:rPr>
              <a:t>↓</a:t>
            </a:r>
            <a:endParaRPr sz="7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0"/>
              </a:spcBef>
            </a:pPr>
            <a:r>
              <a:rPr dirty="0" sz="750" spc="-10" b="1">
                <a:latin typeface="Calibri"/>
                <a:cs typeface="Calibri"/>
              </a:rPr>
              <a:t>Complexity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187579" y="984792"/>
            <a:ext cx="872490" cy="39497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750" spc="-20" b="1">
                <a:latin typeface="Calibri"/>
                <a:cs typeface="Calibri"/>
              </a:rPr>
              <a:t>Tier</a:t>
            </a:r>
            <a:r>
              <a:rPr dirty="0" sz="750" spc="-40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1</a:t>
            </a:r>
            <a:r>
              <a:rPr dirty="0" sz="750" spc="-40" b="1">
                <a:latin typeface="Calibri"/>
                <a:cs typeface="Calibri"/>
              </a:rPr>
              <a:t> </a:t>
            </a:r>
            <a:r>
              <a:rPr dirty="0" sz="750" spc="-229" b="1">
                <a:latin typeface="Calibri"/>
                <a:cs typeface="Calibri"/>
              </a:rPr>
              <a:t>→</a:t>
            </a:r>
            <a:r>
              <a:rPr dirty="0" sz="750" spc="-35" b="1">
                <a:latin typeface="Calibri"/>
                <a:cs typeface="Calibri"/>
              </a:rPr>
              <a:t> </a:t>
            </a:r>
            <a:r>
              <a:rPr dirty="0" sz="750" spc="-10" b="1">
                <a:latin typeface="Calibri"/>
                <a:cs typeface="Calibri"/>
              </a:rPr>
              <a:t>Program</a:t>
            </a:r>
            <a:r>
              <a:rPr dirty="0" sz="750" spc="105" b="1">
                <a:latin typeface="Calibri"/>
                <a:cs typeface="Calibri"/>
              </a:rPr>
              <a:t> </a:t>
            </a:r>
            <a:r>
              <a:rPr dirty="0" sz="750" spc="-20" b="1">
                <a:latin typeface="Calibri"/>
                <a:cs typeface="Calibri"/>
              </a:rPr>
              <a:t>Type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750" spc="-20" b="1">
                <a:latin typeface="Calibri"/>
                <a:cs typeface="Calibri"/>
              </a:rPr>
              <a:t>Tier</a:t>
            </a:r>
            <a:r>
              <a:rPr dirty="0" sz="750" spc="-15" b="1">
                <a:latin typeface="Calibri"/>
                <a:cs typeface="Calibri"/>
              </a:rPr>
              <a:t> </a:t>
            </a:r>
            <a:r>
              <a:rPr dirty="0" sz="750" spc="-50" b="1">
                <a:latin typeface="Calibri"/>
                <a:cs typeface="Calibri"/>
              </a:rPr>
              <a:t>2</a:t>
            </a:r>
            <a:endParaRPr sz="750">
              <a:latin typeface="Calibri"/>
              <a:cs typeface="Calibri"/>
            </a:endParaRPr>
          </a:p>
          <a:p>
            <a:pPr marL="66040">
              <a:lnSpc>
                <a:spcPct val="100000"/>
              </a:lnSpc>
              <a:spcBef>
                <a:spcPts val="70"/>
              </a:spcBef>
            </a:pPr>
            <a:r>
              <a:rPr dirty="0" sz="750" spc="-229" b="1">
                <a:latin typeface="Calibri"/>
                <a:cs typeface="Calibri"/>
              </a:rPr>
              <a:t>↓</a:t>
            </a:r>
            <a:r>
              <a:rPr dirty="0" sz="750" spc="-10" b="1">
                <a:latin typeface="Calibri"/>
                <a:cs typeface="Calibri"/>
              </a:rPr>
              <a:t> </a:t>
            </a:r>
            <a:r>
              <a:rPr dirty="0" sz="750" spc="-30" b="1">
                <a:latin typeface="Calibri"/>
                <a:cs typeface="Calibri"/>
              </a:rPr>
              <a:t>Total</a:t>
            </a:r>
            <a:r>
              <a:rPr dirty="0" sz="750" spc="-5" b="1">
                <a:latin typeface="Calibri"/>
                <a:cs typeface="Calibri"/>
              </a:rPr>
              <a:t> </a:t>
            </a:r>
            <a:r>
              <a:rPr dirty="0" sz="750" spc="-25" b="1">
                <a:latin typeface="Calibri"/>
                <a:cs typeface="Calibri"/>
              </a:rPr>
              <a:t>Program</a:t>
            </a:r>
            <a:r>
              <a:rPr dirty="0" sz="750" spc="-5" b="1">
                <a:latin typeface="Calibri"/>
                <a:cs typeface="Calibri"/>
              </a:rPr>
              <a:t> </a:t>
            </a:r>
            <a:r>
              <a:rPr dirty="0" sz="750" spc="-50" b="1">
                <a:latin typeface="Calibri"/>
                <a:cs typeface="Calibri"/>
              </a:rPr>
              <a:t>$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2871956" y="1120003"/>
            <a:ext cx="570230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10" b="1">
                <a:latin typeface="Calibri"/>
                <a:cs typeface="Calibri"/>
              </a:rPr>
              <a:t>Demonstrator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4833331" y="1120003"/>
            <a:ext cx="416559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10" b="1">
                <a:latin typeface="Calibri"/>
                <a:cs typeface="Calibri"/>
              </a:rPr>
              <a:t>Derivative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6402363" y="1120003"/>
            <a:ext cx="104457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20" b="1">
                <a:latin typeface="Calibri"/>
                <a:cs typeface="Calibri"/>
              </a:rPr>
              <a:t>Support/</a:t>
            </a:r>
            <a:r>
              <a:rPr dirty="0" sz="750" spc="-5" b="1">
                <a:latin typeface="Calibri"/>
                <a:cs typeface="Calibri"/>
              </a:rPr>
              <a:t> </a:t>
            </a:r>
            <a:r>
              <a:rPr dirty="0" sz="750" spc="-10" b="1">
                <a:latin typeface="Calibri"/>
                <a:cs typeface="Calibri"/>
              </a:rPr>
              <a:t>Product</a:t>
            </a:r>
            <a:r>
              <a:rPr dirty="0" sz="750" spc="5" b="1">
                <a:latin typeface="Calibri"/>
                <a:cs typeface="Calibri"/>
              </a:rPr>
              <a:t> </a:t>
            </a:r>
            <a:r>
              <a:rPr dirty="0" sz="750" spc="-10" b="1">
                <a:latin typeface="Calibri"/>
                <a:cs typeface="Calibri"/>
              </a:rPr>
              <a:t>Upgrade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8545762" y="1120003"/>
            <a:ext cx="530860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30" b="1">
                <a:latin typeface="Calibri"/>
                <a:cs typeface="Calibri"/>
              </a:rPr>
              <a:t>New</a:t>
            </a:r>
            <a:r>
              <a:rPr dirty="0" sz="750" spc="-15" b="1">
                <a:latin typeface="Calibri"/>
                <a:cs typeface="Calibri"/>
              </a:rPr>
              <a:t> </a:t>
            </a:r>
            <a:r>
              <a:rPr dirty="0" sz="750" spc="-10" b="1">
                <a:latin typeface="Calibri"/>
                <a:cs typeface="Calibri"/>
              </a:rPr>
              <a:t>Offering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0250609" y="1120003"/>
            <a:ext cx="886460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25" b="1">
                <a:latin typeface="Calibri"/>
                <a:cs typeface="Calibri"/>
              </a:rPr>
              <a:t>Non-</a:t>
            </a:r>
            <a:r>
              <a:rPr dirty="0" sz="750" spc="-10" b="1">
                <a:latin typeface="Calibri"/>
                <a:cs typeface="Calibri"/>
              </a:rPr>
              <a:t>Product/Service?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638671" y="1758666"/>
            <a:ext cx="123189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25" b="1">
                <a:latin typeface="Calibri"/>
                <a:cs typeface="Calibri"/>
              </a:rPr>
              <a:t>&lt;5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2215567" y="1368824"/>
            <a:ext cx="102298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25">
                <a:latin typeface="Calibri"/>
                <a:cs typeface="Calibri"/>
              </a:rPr>
              <a:t>Gumdrop</a:t>
            </a:r>
            <a:r>
              <a:rPr dirty="0" sz="750" spc="-1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2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PW545C</a:t>
            </a:r>
            <a:r>
              <a:rPr dirty="0" sz="750" spc="-20">
                <a:latin typeface="Calibri"/>
                <a:cs typeface="Calibri"/>
              </a:rPr>
              <a:t> ($2M)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4100114" y="1368824"/>
            <a:ext cx="1148080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20">
                <a:latin typeface="Calibri"/>
                <a:cs typeface="Calibri"/>
              </a:rPr>
              <a:t>AT502XP</a:t>
            </a:r>
            <a:r>
              <a:rPr dirty="0" sz="750" spc="10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5">
                <a:latin typeface="Calibri"/>
                <a:cs typeface="Calibri"/>
              </a:rPr>
              <a:t> </a:t>
            </a:r>
            <a:r>
              <a:rPr dirty="0" sz="750" spc="-25">
                <a:latin typeface="Calibri"/>
                <a:cs typeface="Calibri"/>
              </a:rPr>
              <a:t>PT6A-</a:t>
            </a:r>
            <a:r>
              <a:rPr dirty="0" sz="750" spc="-10">
                <a:latin typeface="Calibri"/>
                <a:cs typeface="Calibri"/>
              </a:rPr>
              <a:t>140AG</a:t>
            </a:r>
            <a:r>
              <a:rPr dirty="0" sz="750" spc="10">
                <a:latin typeface="Calibri"/>
                <a:cs typeface="Calibri"/>
              </a:rPr>
              <a:t> </a:t>
            </a:r>
            <a:r>
              <a:rPr dirty="0" sz="750" spc="-20">
                <a:latin typeface="Calibri"/>
                <a:cs typeface="Calibri"/>
              </a:rPr>
              <a:t>($4M)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5984387" y="1359595"/>
            <a:ext cx="1453515" cy="39497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750" spc="-10">
                <a:latin typeface="Calibri"/>
                <a:cs typeface="Calibri"/>
              </a:rPr>
              <a:t>STO</a:t>
            </a:r>
            <a:r>
              <a:rPr dirty="0" sz="750" spc="-2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BTL</a:t>
            </a:r>
            <a:r>
              <a:rPr dirty="0" sz="750" spc="125">
                <a:latin typeface="Calibri"/>
                <a:cs typeface="Calibri"/>
              </a:rPr>
              <a:t> </a:t>
            </a:r>
            <a:r>
              <a:rPr dirty="0" sz="750" spc="-20">
                <a:latin typeface="Calibri"/>
                <a:cs typeface="Calibri"/>
              </a:rPr>
              <a:t>Vane</a:t>
            </a:r>
            <a:r>
              <a:rPr dirty="0" sz="750" spc="-30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ressourcing</a:t>
            </a:r>
            <a:r>
              <a:rPr dirty="0" sz="750" spc="-20">
                <a:latin typeface="Calibri"/>
                <a:cs typeface="Calibri"/>
              </a:rPr>
              <a:t> ($1M)</a:t>
            </a:r>
            <a:endParaRPr sz="750">
              <a:latin typeface="Calibri"/>
              <a:cs typeface="Calibri"/>
            </a:endParaRPr>
          </a:p>
          <a:p>
            <a:pPr marL="12700" marR="5080">
              <a:lnSpc>
                <a:spcPts val="969"/>
              </a:lnSpc>
              <a:spcBef>
                <a:spcPts val="40"/>
              </a:spcBef>
            </a:pPr>
            <a:r>
              <a:rPr dirty="0" sz="750" spc="-10">
                <a:latin typeface="Calibri"/>
                <a:cs typeface="Calibri"/>
              </a:rPr>
              <a:t>STO </a:t>
            </a:r>
            <a:r>
              <a:rPr dirty="0" sz="750" spc="-40">
                <a:latin typeface="Calibri"/>
                <a:cs typeface="Calibri"/>
              </a:rPr>
              <a:t>TIMET</a:t>
            </a:r>
            <a:r>
              <a:rPr dirty="0" sz="750" spc="-20">
                <a:latin typeface="Calibri"/>
                <a:cs typeface="Calibri"/>
              </a:rPr>
              <a:t> </a:t>
            </a:r>
            <a:r>
              <a:rPr dirty="0" sz="750" spc="-30">
                <a:latin typeface="Calibri"/>
                <a:cs typeface="Calibri"/>
              </a:rPr>
              <a:t>Ti</a:t>
            </a:r>
            <a:r>
              <a:rPr dirty="0" sz="750" spc="-20">
                <a:latin typeface="Calibri"/>
                <a:cs typeface="Calibri"/>
              </a:rPr>
              <a:t> </a:t>
            </a:r>
            <a:r>
              <a:rPr dirty="0" sz="750" spc="-30">
                <a:latin typeface="Calibri"/>
                <a:cs typeface="Calibri"/>
              </a:rPr>
              <a:t>Mill</a:t>
            </a:r>
            <a:r>
              <a:rPr dirty="0" sz="750" spc="-15">
                <a:latin typeface="Calibri"/>
                <a:cs typeface="Calibri"/>
              </a:rPr>
              <a:t> </a:t>
            </a:r>
            <a:r>
              <a:rPr dirty="0" sz="750" spc="-20">
                <a:latin typeface="Calibri"/>
                <a:cs typeface="Calibri"/>
              </a:rPr>
              <a:t>Fire</a:t>
            </a:r>
            <a:r>
              <a:rPr dirty="0" sz="750" spc="-10">
                <a:latin typeface="Calibri"/>
                <a:cs typeface="Calibri"/>
              </a:rPr>
              <a:t> </a:t>
            </a:r>
            <a:r>
              <a:rPr dirty="0" sz="750" spc="-25">
                <a:latin typeface="Calibri"/>
                <a:cs typeface="Calibri"/>
              </a:rPr>
              <a:t>Shutdown</a:t>
            </a:r>
            <a:r>
              <a:rPr dirty="0" sz="750" spc="-15">
                <a:latin typeface="Calibri"/>
                <a:cs typeface="Calibri"/>
              </a:rPr>
              <a:t> </a:t>
            </a:r>
            <a:r>
              <a:rPr dirty="0" sz="750" spc="-20">
                <a:latin typeface="Calibri"/>
                <a:cs typeface="Calibri"/>
              </a:rPr>
              <a:t>($1M)</a:t>
            </a:r>
            <a:r>
              <a:rPr dirty="0" sz="750" spc="500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STO</a:t>
            </a:r>
            <a:r>
              <a:rPr dirty="0" sz="750" spc="10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DCU</a:t>
            </a:r>
            <a:r>
              <a:rPr dirty="0" sz="750" spc="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Obsolescence</a:t>
            </a:r>
            <a:r>
              <a:rPr dirty="0" sz="750" spc="10">
                <a:latin typeface="Calibri"/>
                <a:cs typeface="Calibri"/>
              </a:rPr>
              <a:t> </a:t>
            </a:r>
            <a:r>
              <a:rPr dirty="0" sz="750" spc="-20">
                <a:latin typeface="Calibri"/>
                <a:cs typeface="Calibri"/>
              </a:rPr>
              <a:t>($3M)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600257" y="2661463"/>
            <a:ext cx="199390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10" b="1">
                <a:latin typeface="Calibri"/>
                <a:cs typeface="Calibri"/>
              </a:rPr>
              <a:t>5-</a:t>
            </a:r>
            <a:r>
              <a:rPr dirty="0" sz="750" spc="-25" b="1">
                <a:latin typeface="Calibri"/>
                <a:cs typeface="Calibri"/>
              </a:rPr>
              <a:t>25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2215567" y="2271689"/>
            <a:ext cx="90995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>
                <a:latin typeface="Calibri"/>
                <a:cs typeface="Calibri"/>
              </a:rPr>
              <a:t>FReSH -</a:t>
            </a:r>
            <a:r>
              <a:rPr dirty="0" sz="750" spc="-10">
                <a:latin typeface="Calibri"/>
                <a:cs typeface="Calibri"/>
              </a:rPr>
              <a:t> PW210S</a:t>
            </a:r>
            <a:r>
              <a:rPr dirty="0" sz="750" spc="-5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($5M)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4100114" y="2262461"/>
            <a:ext cx="1204595" cy="8870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620">
              <a:lnSpc>
                <a:spcPct val="107700"/>
              </a:lnSpc>
              <a:spcBef>
                <a:spcPts val="100"/>
              </a:spcBef>
            </a:pPr>
            <a:r>
              <a:rPr dirty="0" sz="750" spc="-25">
                <a:latin typeface="Calibri"/>
                <a:cs typeface="Calibri"/>
              </a:rPr>
              <a:t>AN-</a:t>
            </a:r>
            <a:r>
              <a:rPr dirty="0" sz="750" spc="-10">
                <a:latin typeface="Calibri"/>
                <a:cs typeface="Calibri"/>
              </a:rPr>
              <a:t>124/178</a:t>
            </a:r>
            <a:r>
              <a:rPr dirty="0" sz="750" spc="-20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30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APS2600N</a:t>
            </a:r>
            <a:r>
              <a:rPr dirty="0" sz="750" spc="-15">
                <a:latin typeface="Calibri"/>
                <a:cs typeface="Calibri"/>
              </a:rPr>
              <a:t> </a:t>
            </a:r>
            <a:r>
              <a:rPr dirty="0" sz="750" spc="-20">
                <a:latin typeface="Calibri"/>
                <a:cs typeface="Calibri"/>
              </a:rPr>
              <a:t>($7M)</a:t>
            </a:r>
            <a:r>
              <a:rPr dirty="0" sz="750" spc="500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EC135</a:t>
            </a:r>
            <a:r>
              <a:rPr dirty="0" sz="750" spc="-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10">
                <a:latin typeface="Calibri"/>
                <a:cs typeface="Calibri"/>
              </a:rPr>
              <a:t> PW206B3</a:t>
            </a:r>
            <a:r>
              <a:rPr dirty="0" sz="750">
                <a:latin typeface="Calibri"/>
                <a:cs typeface="Calibri"/>
              </a:rPr>
              <a:t> </a:t>
            </a:r>
            <a:r>
              <a:rPr dirty="0" sz="750" spc="-20">
                <a:latin typeface="Calibri"/>
                <a:cs typeface="Calibri"/>
              </a:rPr>
              <a:t>($7M)</a:t>
            </a:r>
            <a:r>
              <a:rPr dirty="0" sz="750" spc="500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Hurkus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5">
                <a:latin typeface="Calibri"/>
                <a:cs typeface="Calibri"/>
              </a:rPr>
              <a:t> </a:t>
            </a:r>
            <a:r>
              <a:rPr dirty="0" sz="750" spc="-25">
                <a:latin typeface="Calibri"/>
                <a:cs typeface="Calibri"/>
              </a:rPr>
              <a:t>PT6A-</a:t>
            </a:r>
            <a:r>
              <a:rPr dirty="0" sz="750" spc="-20">
                <a:latin typeface="Calibri"/>
                <a:cs typeface="Calibri"/>
              </a:rPr>
              <a:t>68T</a:t>
            </a:r>
            <a:r>
              <a:rPr dirty="0" sz="750" spc="-5">
                <a:latin typeface="Calibri"/>
                <a:cs typeface="Calibri"/>
              </a:rPr>
              <a:t> </a:t>
            </a:r>
            <a:r>
              <a:rPr dirty="0" sz="750" spc="-20">
                <a:latin typeface="Calibri"/>
                <a:cs typeface="Calibri"/>
              </a:rPr>
              <a:t>($8M)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750" spc="-25">
                <a:latin typeface="Calibri"/>
                <a:cs typeface="Calibri"/>
              </a:rPr>
              <a:t>SMiF</a:t>
            </a:r>
            <a:r>
              <a:rPr dirty="0" sz="750" spc="-20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30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PW307D</a:t>
            </a:r>
            <a:r>
              <a:rPr dirty="0" sz="750" spc="-25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($11M)</a:t>
            </a:r>
            <a:endParaRPr sz="750">
              <a:latin typeface="Calibri"/>
              <a:cs typeface="Calibri"/>
            </a:endParaRPr>
          </a:p>
          <a:p>
            <a:pPr marL="12700" marR="5080">
              <a:lnSpc>
                <a:spcPct val="107600"/>
              </a:lnSpc>
            </a:pPr>
            <a:r>
              <a:rPr dirty="0" sz="750">
                <a:latin typeface="Calibri"/>
                <a:cs typeface="Calibri"/>
              </a:rPr>
              <a:t>Sky</a:t>
            </a:r>
            <a:r>
              <a:rPr dirty="0" sz="750" spc="-20">
                <a:latin typeface="Calibri"/>
                <a:cs typeface="Calibri"/>
              </a:rPr>
              <a:t> Courier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20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PT6A65SC</a:t>
            </a:r>
            <a:r>
              <a:rPr dirty="0" sz="750" spc="-20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($13M)</a:t>
            </a:r>
            <a:r>
              <a:rPr dirty="0" sz="750" spc="500">
                <a:latin typeface="Calibri"/>
                <a:cs typeface="Calibri"/>
              </a:rPr>
              <a:t> </a:t>
            </a:r>
            <a:r>
              <a:rPr dirty="0" sz="750" spc="-20">
                <a:latin typeface="Calibri"/>
                <a:cs typeface="Calibri"/>
              </a:rPr>
              <a:t>Latitude</a:t>
            </a:r>
            <a:r>
              <a:rPr dirty="0" sz="750" spc="-1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20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PW306D1 ($14M)</a:t>
            </a:r>
            <a:r>
              <a:rPr dirty="0" sz="750" spc="500">
                <a:latin typeface="Calibri"/>
                <a:cs typeface="Calibri"/>
              </a:rPr>
              <a:t> </a:t>
            </a:r>
            <a:r>
              <a:rPr dirty="0" sz="750" spc="-30">
                <a:latin typeface="Calibri"/>
                <a:cs typeface="Calibri"/>
              </a:rPr>
              <a:t>ATR</a:t>
            </a:r>
            <a:r>
              <a:rPr dirty="0" sz="750" spc="-2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40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PW127N</a:t>
            </a:r>
            <a:r>
              <a:rPr dirty="0" sz="750" spc="-30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($17M)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5984387" y="2262461"/>
            <a:ext cx="1004569" cy="394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700"/>
              </a:lnSpc>
              <a:spcBef>
                <a:spcPts val="100"/>
              </a:spcBef>
            </a:pPr>
            <a:r>
              <a:rPr dirty="0" sz="750" spc="-25" strike="sngStrike">
                <a:latin typeface="Calibri"/>
                <a:cs typeface="Calibri"/>
              </a:rPr>
              <a:t>Heron</a:t>
            </a:r>
            <a:r>
              <a:rPr dirty="0" sz="750" strike="sngStrike">
                <a:latin typeface="Calibri"/>
                <a:cs typeface="Calibri"/>
              </a:rPr>
              <a:t> -</a:t>
            </a:r>
            <a:r>
              <a:rPr dirty="0" sz="750" spc="-5" strike="sngStrike">
                <a:latin typeface="Calibri"/>
                <a:cs typeface="Calibri"/>
              </a:rPr>
              <a:t> </a:t>
            </a:r>
            <a:r>
              <a:rPr dirty="0" sz="750" strike="sngStrike">
                <a:latin typeface="Calibri"/>
                <a:cs typeface="Calibri"/>
              </a:rPr>
              <a:t>TSC</a:t>
            </a:r>
            <a:r>
              <a:rPr dirty="0" sz="750" spc="-10" strike="sngStrike">
                <a:latin typeface="Calibri"/>
                <a:cs typeface="Calibri"/>
              </a:rPr>
              <a:t> ($8M)</a:t>
            </a:r>
            <a:r>
              <a:rPr dirty="0" sz="750" spc="500" strike="noStrike">
                <a:latin typeface="Calibri"/>
                <a:cs typeface="Calibri"/>
              </a:rPr>
              <a:t> </a:t>
            </a:r>
            <a:r>
              <a:rPr dirty="0" sz="750" strike="sngStrike">
                <a:latin typeface="Calibri"/>
                <a:cs typeface="Calibri"/>
              </a:rPr>
              <a:t>Pelican</a:t>
            </a:r>
            <a:r>
              <a:rPr dirty="0" sz="750" spc="-30" strike="sngStrike">
                <a:latin typeface="Calibri"/>
                <a:cs typeface="Calibri"/>
              </a:rPr>
              <a:t> </a:t>
            </a:r>
            <a:r>
              <a:rPr dirty="0" sz="750" strike="sngStrike">
                <a:latin typeface="Calibri"/>
                <a:cs typeface="Calibri"/>
              </a:rPr>
              <a:t>-</a:t>
            </a:r>
            <a:r>
              <a:rPr dirty="0" sz="750" spc="-35" strike="sngStrike">
                <a:latin typeface="Calibri"/>
                <a:cs typeface="Calibri"/>
              </a:rPr>
              <a:t> </a:t>
            </a:r>
            <a:r>
              <a:rPr dirty="0" sz="750" spc="-10" strike="sngStrike">
                <a:latin typeface="Calibri"/>
                <a:cs typeface="Calibri"/>
              </a:rPr>
              <a:t>XXXX</a:t>
            </a:r>
            <a:r>
              <a:rPr dirty="0" sz="750" spc="-25" strike="sngStrike">
                <a:latin typeface="Calibri"/>
                <a:cs typeface="Calibri"/>
              </a:rPr>
              <a:t> </a:t>
            </a:r>
            <a:r>
              <a:rPr dirty="0" sz="750" spc="-10" strike="sngStrike">
                <a:latin typeface="Calibri"/>
                <a:cs typeface="Calibri"/>
              </a:rPr>
              <a:t>($9M)</a:t>
            </a:r>
            <a:r>
              <a:rPr dirty="0" sz="750" spc="500" strike="noStrike">
                <a:latin typeface="Calibri"/>
                <a:cs typeface="Calibri"/>
              </a:rPr>
              <a:t> </a:t>
            </a:r>
            <a:r>
              <a:rPr dirty="0" sz="750" strike="noStrike">
                <a:latin typeface="Calibri"/>
                <a:cs typeface="Calibri"/>
              </a:rPr>
              <a:t>PT6C-</a:t>
            </a:r>
            <a:r>
              <a:rPr dirty="0" sz="750" spc="-20" strike="noStrike">
                <a:latin typeface="Calibri"/>
                <a:cs typeface="Calibri"/>
              </a:rPr>
              <a:t>67A</a:t>
            </a:r>
            <a:r>
              <a:rPr dirty="0" sz="750" spc="25" strike="noStrike">
                <a:latin typeface="Calibri"/>
                <a:cs typeface="Calibri"/>
              </a:rPr>
              <a:t> </a:t>
            </a:r>
            <a:r>
              <a:rPr dirty="0" sz="750" spc="-35" strike="noStrike">
                <a:latin typeface="Calibri"/>
                <a:cs typeface="Calibri"/>
              </a:rPr>
              <a:t>Tiltrotor</a:t>
            </a:r>
            <a:r>
              <a:rPr dirty="0" sz="750" spc="20" strike="noStrike">
                <a:latin typeface="Calibri"/>
                <a:cs typeface="Calibri"/>
              </a:rPr>
              <a:t> </a:t>
            </a:r>
            <a:r>
              <a:rPr dirty="0" sz="750" spc="-10" strike="noStrike">
                <a:latin typeface="Calibri"/>
                <a:cs typeface="Calibri"/>
              </a:rPr>
              <a:t>($20M)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613107" y="3564328"/>
            <a:ext cx="17208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25" b="1">
                <a:latin typeface="Calibri"/>
                <a:cs typeface="Calibri"/>
              </a:rPr>
              <a:t>25+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2215567" y="3174485"/>
            <a:ext cx="78422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25">
                <a:latin typeface="Calibri"/>
                <a:cs typeface="Calibri"/>
              </a:rPr>
              <a:t>NEMO</a:t>
            </a:r>
            <a:r>
              <a:rPr dirty="0" sz="750" spc="-1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2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HEP</a:t>
            </a:r>
            <a:r>
              <a:rPr dirty="0" sz="750" spc="-10">
                <a:latin typeface="Calibri"/>
                <a:cs typeface="Calibri"/>
              </a:rPr>
              <a:t> ($43M)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4100114" y="3165257"/>
            <a:ext cx="1135380" cy="5181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700"/>
              </a:lnSpc>
              <a:spcBef>
                <a:spcPts val="100"/>
              </a:spcBef>
            </a:pPr>
            <a:r>
              <a:rPr dirty="0" sz="750" spc="-25">
                <a:latin typeface="Calibri"/>
                <a:cs typeface="Calibri"/>
              </a:rPr>
              <a:t>Sovereign</a:t>
            </a:r>
            <a:r>
              <a:rPr dirty="0" sz="750" spc="-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15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PW306D</a:t>
            </a:r>
            <a:r>
              <a:rPr dirty="0" sz="750" spc="-5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($33M)</a:t>
            </a:r>
            <a:r>
              <a:rPr dirty="0" sz="750" spc="500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Caravan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15">
                <a:latin typeface="Calibri"/>
                <a:cs typeface="Calibri"/>
              </a:rPr>
              <a:t> </a:t>
            </a:r>
            <a:r>
              <a:rPr dirty="0" sz="750" spc="-25">
                <a:latin typeface="Calibri"/>
                <a:cs typeface="Calibri"/>
              </a:rPr>
              <a:t>PT6A-</a:t>
            </a:r>
            <a:r>
              <a:rPr dirty="0" sz="750">
                <a:latin typeface="Calibri"/>
                <a:cs typeface="Calibri"/>
              </a:rPr>
              <a:t>140</a:t>
            </a:r>
            <a:r>
              <a:rPr dirty="0" sz="750" spc="-10">
                <a:latin typeface="Calibri"/>
                <a:cs typeface="Calibri"/>
              </a:rPr>
              <a:t> ($35M)</a:t>
            </a:r>
            <a:r>
              <a:rPr dirty="0" sz="750" spc="500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Falcon</a:t>
            </a:r>
            <a:r>
              <a:rPr dirty="0" sz="750" spc="-2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8EX</a:t>
            </a:r>
            <a:r>
              <a:rPr dirty="0" sz="750" spc="-1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30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PW307D</a:t>
            </a:r>
            <a:r>
              <a:rPr dirty="0" sz="750" spc="-25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($40M)</a:t>
            </a:r>
            <a:r>
              <a:rPr dirty="0" sz="750" spc="500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F2000</a:t>
            </a:r>
            <a:r>
              <a:rPr dirty="0" sz="750" spc="-2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3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PW308C+</a:t>
            </a:r>
            <a:r>
              <a:rPr dirty="0" sz="750" spc="-25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($40M)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633753" y="4334853"/>
            <a:ext cx="472440" cy="394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2540">
              <a:lnSpc>
                <a:spcPct val="107700"/>
              </a:lnSpc>
              <a:spcBef>
                <a:spcPts val="100"/>
              </a:spcBef>
            </a:pPr>
            <a:r>
              <a:rPr dirty="0" sz="750" spc="-10" b="1">
                <a:latin typeface="Calibri"/>
                <a:cs typeface="Calibri"/>
              </a:rPr>
              <a:t>Major</a:t>
            </a:r>
            <a:r>
              <a:rPr dirty="0" sz="750" spc="500" b="1">
                <a:latin typeface="Calibri"/>
                <a:cs typeface="Calibri"/>
              </a:rPr>
              <a:t> </a:t>
            </a:r>
            <a:r>
              <a:rPr dirty="0" sz="750" spc="-10" b="1">
                <a:latin typeface="Calibri"/>
                <a:cs typeface="Calibri"/>
              </a:rPr>
              <a:t>Program</a:t>
            </a:r>
            <a:r>
              <a:rPr dirty="0" sz="750" spc="500" b="1">
                <a:latin typeface="Calibri"/>
                <a:cs typeface="Calibri"/>
              </a:rPr>
              <a:t> </a:t>
            </a:r>
            <a:r>
              <a:rPr dirty="0" sz="750" spc="-10" b="1">
                <a:latin typeface="Calibri"/>
                <a:cs typeface="Calibri"/>
              </a:rPr>
              <a:t>Complexity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613107" y="4467125"/>
            <a:ext cx="17208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25" b="1">
                <a:latin typeface="Calibri"/>
                <a:cs typeface="Calibri"/>
              </a:rPr>
              <a:t>25+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2215567" y="4067985"/>
            <a:ext cx="1437640" cy="27178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750">
                <a:latin typeface="Calibri"/>
                <a:cs typeface="Calibri"/>
              </a:rPr>
              <a:t>HEP</a:t>
            </a:r>
            <a:r>
              <a:rPr dirty="0" sz="750" spc="5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($205M)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750" spc="-20">
                <a:latin typeface="Calibri"/>
                <a:cs typeface="Calibri"/>
              </a:rPr>
              <a:t>Large</a:t>
            </a:r>
            <a:r>
              <a:rPr dirty="0" sz="750" spc="-10">
                <a:latin typeface="Calibri"/>
                <a:cs typeface="Calibri"/>
              </a:rPr>
              <a:t> </a:t>
            </a:r>
            <a:r>
              <a:rPr dirty="0" sz="750" spc="-35">
                <a:latin typeface="Calibri"/>
                <a:cs typeface="Calibri"/>
              </a:rPr>
              <a:t>T/fan</a:t>
            </a:r>
            <a:r>
              <a:rPr dirty="0" sz="750" spc="-5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Tech.</a:t>
            </a:r>
            <a:r>
              <a:rPr dirty="0" sz="750">
                <a:latin typeface="Calibri"/>
                <a:cs typeface="Calibri"/>
              </a:rPr>
              <a:t> </a:t>
            </a:r>
            <a:r>
              <a:rPr dirty="0" sz="750" spc="-20">
                <a:latin typeface="Calibri"/>
                <a:cs typeface="Calibri"/>
              </a:rPr>
              <a:t>Demo</a:t>
            </a:r>
            <a:r>
              <a:rPr dirty="0" sz="750">
                <a:latin typeface="Calibri"/>
                <a:cs typeface="Calibri"/>
              </a:rPr>
              <a:t> -</a:t>
            </a:r>
            <a:r>
              <a:rPr dirty="0" sz="750" spc="-15">
                <a:latin typeface="Calibri"/>
                <a:cs typeface="Calibri"/>
              </a:rPr>
              <a:t> </a:t>
            </a:r>
            <a:r>
              <a:rPr dirty="0" sz="750" spc="-20">
                <a:latin typeface="Calibri"/>
                <a:cs typeface="Calibri"/>
              </a:rPr>
              <a:t>LTTD</a:t>
            </a:r>
            <a:r>
              <a:rPr dirty="0" sz="750" spc="-15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($TBD)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4100114" y="4067985"/>
            <a:ext cx="1202055" cy="887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700"/>
              </a:lnSpc>
              <a:spcBef>
                <a:spcPts val="100"/>
              </a:spcBef>
            </a:pPr>
            <a:r>
              <a:rPr dirty="0" sz="750" spc="-25">
                <a:latin typeface="Calibri"/>
                <a:cs typeface="Calibri"/>
              </a:rPr>
              <a:t>D'Artagnan</a:t>
            </a:r>
            <a:r>
              <a:rPr dirty="0" sz="750" spc="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5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PT6E-</a:t>
            </a:r>
            <a:r>
              <a:rPr dirty="0" sz="750" spc="-20">
                <a:latin typeface="Calibri"/>
                <a:cs typeface="Calibri"/>
              </a:rPr>
              <a:t>66XT</a:t>
            </a:r>
            <a:r>
              <a:rPr dirty="0" sz="750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($37M)</a:t>
            </a:r>
            <a:r>
              <a:rPr dirty="0" sz="750" spc="500">
                <a:latin typeface="Calibri"/>
                <a:cs typeface="Calibri"/>
              </a:rPr>
              <a:t> </a:t>
            </a:r>
            <a:r>
              <a:rPr dirty="0" sz="750" spc="-20">
                <a:latin typeface="Calibri"/>
                <a:cs typeface="Calibri"/>
              </a:rPr>
              <a:t>Aspen</a:t>
            </a:r>
            <a:r>
              <a:rPr dirty="0" sz="750" spc="-10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25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PW545D</a:t>
            </a:r>
            <a:r>
              <a:rPr dirty="0" sz="750" spc="-20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($37M)</a:t>
            </a:r>
            <a:r>
              <a:rPr dirty="0" sz="750" spc="500">
                <a:latin typeface="Calibri"/>
                <a:cs typeface="Calibri"/>
              </a:rPr>
              <a:t> </a:t>
            </a:r>
            <a:r>
              <a:rPr dirty="0" sz="750" spc="-20">
                <a:latin typeface="Calibri"/>
                <a:cs typeface="Calibri"/>
              </a:rPr>
              <a:t>Phenom</a:t>
            </a:r>
            <a:r>
              <a:rPr dirty="0" sz="750" spc="-1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300</a:t>
            </a:r>
            <a:r>
              <a:rPr dirty="0" sz="750" spc="-1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25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PW535E</a:t>
            </a:r>
            <a:r>
              <a:rPr dirty="0" sz="750" spc="-15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($47M)</a:t>
            </a:r>
            <a:r>
              <a:rPr dirty="0" sz="750" spc="500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EC175</a:t>
            </a:r>
            <a:r>
              <a:rPr dirty="0" sz="750" spc="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PT6C-67E</a:t>
            </a:r>
            <a:r>
              <a:rPr dirty="0" sz="750" spc="10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($79M)</a:t>
            </a:r>
            <a:r>
              <a:rPr dirty="0" sz="750" spc="500">
                <a:latin typeface="Calibri"/>
                <a:cs typeface="Calibri"/>
              </a:rPr>
              <a:t> </a:t>
            </a:r>
            <a:r>
              <a:rPr dirty="0" sz="750" spc="-25">
                <a:latin typeface="Calibri"/>
                <a:cs typeface="Calibri"/>
              </a:rPr>
              <a:t>AW169</a:t>
            </a:r>
            <a:r>
              <a:rPr dirty="0" sz="750" spc="-1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25">
                <a:latin typeface="Calibri"/>
                <a:cs typeface="Calibri"/>
              </a:rPr>
              <a:t> </a:t>
            </a:r>
            <a:r>
              <a:rPr dirty="0" sz="750" spc="-20">
                <a:latin typeface="Calibri"/>
                <a:cs typeface="Calibri"/>
              </a:rPr>
              <a:t>PW210A</a:t>
            </a:r>
            <a:r>
              <a:rPr dirty="0" sz="750" spc="-10">
                <a:latin typeface="Calibri"/>
                <a:cs typeface="Calibri"/>
              </a:rPr>
              <a:t> ($95M)</a:t>
            </a:r>
            <a:endParaRPr sz="750">
              <a:latin typeface="Calibri"/>
              <a:cs typeface="Calibri"/>
            </a:endParaRPr>
          </a:p>
          <a:p>
            <a:pPr marL="12700" marR="268605">
              <a:lnSpc>
                <a:spcPts val="969"/>
              </a:lnSpc>
              <a:spcBef>
                <a:spcPts val="40"/>
              </a:spcBef>
            </a:pPr>
            <a:r>
              <a:rPr dirty="0" sz="750" spc="-30">
                <a:latin typeface="Calibri"/>
                <a:cs typeface="Calibri"/>
              </a:rPr>
              <a:t>ATR</a:t>
            </a:r>
            <a:r>
              <a:rPr dirty="0" sz="750" spc="-10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25">
                <a:latin typeface="Calibri"/>
                <a:cs typeface="Calibri"/>
              </a:rPr>
              <a:t> </a:t>
            </a:r>
            <a:r>
              <a:rPr dirty="0" sz="750" spc="-20">
                <a:latin typeface="Calibri"/>
                <a:cs typeface="Calibri"/>
              </a:rPr>
              <a:t>PW127XT </a:t>
            </a:r>
            <a:r>
              <a:rPr dirty="0" sz="750" spc="-10">
                <a:latin typeface="Calibri"/>
                <a:cs typeface="Calibri"/>
              </a:rPr>
              <a:t>($112M)</a:t>
            </a:r>
            <a:r>
              <a:rPr dirty="0" sz="750" spc="500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F6X</a:t>
            </a:r>
            <a:r>
              <a:rPr dirty="0" sz="750" spc="-2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35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PW812D</a:t>
            </a:r>
            <a:r>
              <a:rPr dirty="0" sz="750" spc="-35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($231M)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5984387" y="4067985"/>
            <a:ext cx="1468120" cy="271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800"/>
              </a:lnSpc>
              <a:spcBef>
                <a:spcPts val="100"/>
              </a:spcBef>
            </a:pPr>
            <a:r>
              <a:rPr dirty="0" sz="750" spc="-20" strike="sngStrike">
                <a:solidFill>
                  <a:srgbClr val="FF0000"/>
                </a:solidFill>
                <a:latin typeface="Calibri"/>
                <a:cs typeface="Calibri"/>
              </a:rPr>
              <a:t>PW814/5</a:t>
            </a:r>
            <a:r>
              <a:rPr dirty="0" sz="750" spc="-10" strike="sngStrike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750" spc="-25" strike="sngStrike">
                <a:solidFill>
                  <a:srgbClr val="FF0000"/>
                </a:solidFill>
                <a:latin typeface="Calibri"/>
                <a:cs typeface="Calibri"/>
              </a:rPr>
              <a:t>Front</a:t>
            </a:r>
            <a:r>
              <a:rPr dirty="0" sz="750" spc="-5" strike="sngStrike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750" spc="-10" strike="sngStrike">
                <a:solidFill>
                  <a:srgbClr val="FF0000"/>
                </a:solidFill>
                <a:latin typeface="Calibri"/>
                <a:cs typeface="Calibri"/>
              </a:rPr>
              <a:t>Hub</a:t>
            </a:r>
            <a:r>
              <a:rPr dirty="0" sz="750" spc="-5" strike="sngStrike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750" spc="-10" strike="sngStrike">
                <a:solidFill>
                  <a:srgbClr val="FF0000"/>
                </a:solidFill>
                <a:latin typeface="Calibri"/>
                <a:cs typeface="Calibri"/>
              </a:rPr>
              <a:t>Campaign</a:t>
            </a:r>
            <a:r>
              <a:rPr dirty="0" sz="750" spc="-5" strike="sngStrike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750" spc="-10" strike="sngStrike">
                <a:solidFill>
                  <a:srgbClr val="FF0000"/>
                </a:solidFill>
                <a:latin typeface="Calibri"/>
                <a:cs typeface="Calibri"/>
              </a:rPr>
              <a:t>($44M)</a:t>
            </a:r>
            <a:r>
              <a:rPr dirty="0" sz="750" spc="500" strike="noStrike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750" spc="-25" strike="sngStrike">
                <a:latin typeface="Calibri"/>
                <a:cs typeface="Calibri"/>
              </a:rPr>
              <a:t>Boomerang</a:t>
            </a:r>
            <a:r>
              <a:rPr dirty="0" sz="750" spc="10" strike="sngStrike">
                <a:latin typeface="Calibri"/>
                <a:cs typeface="Calibri"/>
              </a:rPr>
              <a:t> </a:t>
            </a:r>
            <a:r>
              <a:rPr dirty="0" sz="750" strike="sngStrike">
                <a:latin typeface="Calibri"/>
                <a:cs typeface="Calibri"/>
              </a:rPr>
              <a:t>- </a:t>
            </a:r>
            <a:r>
              <a:rPr dirty="0" sz="750" spc="-20" strike="sngStrike">
                <a:latin typeface="Calibri"/>
                <a:cs typeface="Calibri"/>
              </a:rPr>
              <a:t>Vane</a:t>
            </a:r>
            <a:r>
              <a:rPr dirty="0" sz="750" spc="5" strike="sngStrike">
                <a:latin typeface="Calibri"/>
                <a:cs typeface="Calibri"/>
              </a:rPr>
              <a:t> </a:t>
            </a:r>
            <a:r>
              <a:rPr dirty="0" sz="750" spc="-20" strike="sngStrike">
                <a:latin typeface="Calibri"/>
                <a:cs typeface="Calibri"/>
              </a:rPr>
              <a:t>machining</a:t>
            </a:r>
            <a:r>
              <a:rPr dirty="0" sz="750" spc="15" strike="sngStrike">
                <a:latin typeface="Calibri"/>
                <a:cs typeface="Calibri"/>
              </a:rPr>
              <a:t> </a:t>
            </a:r>
            <a:r>
              <a:rPr dirty="0" sz="750" spc="-10" strike="sngStrike">
                <a:latin typeface="Calibri"/>
                <a:cs typeface="Calibri"/>
              </a:rPr>
              <a:t>($70M)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7868866" y="4067985"/>
            <a:ext cx="1419860" cy="887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43840">
              <a:lnSpc>
                <a:spcPct val="107800"/>
              </a:lnSpc>
              <a:spcBef>
                <a:spcPts val="100"/>
              </a:spcBef>
            </a:pPr>
            <a:r>
              <a:rPr dirty="0" sz="750" spc="-20">
                <a:latin typeface="Calibri"/>
                <a:cs typeface="Calibri"/>
              </a:rPr>
              <a:t>Phoenix</a:t>
            </a:r>
            <a:r>
              <a:rPr dirty="0" sz="750" spc="-1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25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PT6E-</a:t>
            </a:r>
            <a:r>
              <a:rPr dirty="0" sz="750">
                <a:latin typeface="Calibri"/>
                <a:cs typeface="Calibri"/>
              </a:rPr>
              <a:t>67XP</a:t>
            </a:r>
            <a:r>
              <a:rPr dirty="0" sz="750" spc="-5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($83M)</a:t>
            </a:r>
            <a:r>
              <a:rPr dirty="0" sz="750" spc="500">
                <a:latin typeface="Calibri"/>
                <a:cs typeface="Calibri"/>
              </a:rPr>
              <a:t> </a:t>
            </a:r>
            <a:r>
              <a:rPr dirty="0" sz="750" spc="-20">
                <a:latin typeface="Calibri"/>
                <a:cs typeface="Calibri"/>
              </a:rPr>
              <a:t>Phenom </a:t>
            </a:r>
            <a:r>
              <a:rPr dirty="0" sz="750">
                <a:latin typeface="Calibri"/>
                <a:cs typeface="Calibri"/>
              </a:rPr>
              <a:t>100</a:t>
            </a:r>
            <a:r>
              <a:rPr dirty="0" sz="750" spc="-1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25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PW617F</a:t>
            </a:r>
            <a:r>
              <a:rPr dirty="0" sz="750" spc="-15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($90M)</a:t>
            </a:r>
            <a:endParaRPr sz="750">
              <a:latin typeface="Calibri"/>
              <a:cs typeface="Calibri"/>
            </a:endParaRPr>
          </a:p>
          <a:p>
            <a:pPr marL="12700" marR="297180">
              <a:lnSpc>
                <a:spcPct val="107700"/>
              </a:lnSpc>
            </a:pPr>
            <a:r>
              <a:rPr dirty="0" sz="750" spc="-25">
                <a:latin typeface="Calibri"/>
                <a:cs typeface="Calibri"/>
              </a:rPr>
              <a:t>Mustang</a:t>
            </a:r>
            <a:r>
              <a:rPr dirty="0" sz="750" spc="-1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25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PW615F</a:t>
            </a:r>
            <a:r>
              <a:rPr dirty="0" sz="750" spc="-20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($103M)</a:t>
            </a:r>
            <a:r>
              <a:rPr dirty="0" sz="750" spc="500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Falcon</a:t>
            </a:r>
            <a:r>
              <a:rPr dirty="0" sz="750" spc="-2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7X</a:t>
            </a:r>
            <a:r>
              <a:rPr dirty="0" sz="750" spc="-15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30">
                <a:latin typeface="Calibri"/>
                <a:cs typeface="Calibri"/>
              </a:rPr>
              <a:t> </a:t>
            </a:r>
            <a:r>
              <a:rPr dirty="0" sz="750" spc="-20">
                <a:latin typeface="Calibri"/>
                <a:cs typeface="Calibri"/>
              </a:rPr>
              <a:t>PW307A </a:t>
            </a:r>
            <a:r>
              <a:rPr dirty="0" sz="750" spc="-10">
                <a:latin typeface="Calibri"/>
                <a:cs typeface="Calibri"/>
              </a:rPr>
              <a:t>($179M)</a:t>
            </a:r>
            <a:r>
              <a:rPr dirty="0" sz="750" spc="500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S76D</a:t>
            </a:r>
            <a:r>
              <a:rPr dirty="0" sz="750" spc="-10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15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PW210S ($180M)</a:t>
            </a:r>
            <a:endParaRPr sz="750">
              <a:latin typeface="Calibri"/>
              <a:cs typeface="Calibri"/>
            </a:endParaRPr>
          </a:p>
          <a:p>
            <a:pPr marL="12700" marR="5080">
              <a:lnSpc>
                <a:spcPts val="969"/>
              </a:lnSpc>
              <a:spcBef>
                <a:spcPts val="40"/>
              </a:spcBef>
            </a:pPr>
            <a:r>
              <a:rPr dirty="0" sz="750" spc="-20">
                <a:latin typeface="Calibri"/>
                <a:cs typeface="Calibri"/>
              </a:rPr>
              <a:t>Elevate</a:t>
            </a:r>
            <a:r>
              <a:rPr dirty="0" sz="750">
                <a:latin typeface="Calibri"/>
                <a:cs typeface="Calibri"/>
              </a:rPr>
              <a:t> -</a:t>
            </a:r>
            <a:r>
              <a:rPr dirty="0" sz="750" spc="-10">
                <a:latin typeface="Calibri"/>
                <a:cs typeface="Calibri"/>
              </a:rPr>
              <a:t> </a:t>
            </a:r>
            <a:r>
              <a:rPr dirty="0" sz="750" spc="-25">
                <a:latin typeface="Calibri"/>
                <a:cs typeface="Calibri"/>
              </a:rPr>
              <a:t>Tremblant</a:t>
            </a:r>
            <a:r>
              <a:rPr dirty="0" sz="750" spc="5">
                <a:latin typeface="Calibri"/>
                <a:cs typeface="Calibri"/>
              </a:rPr>
              <a:t> </a:t>
            </a:r>
            <a:r>
              <a:rPr dirty="0" sz="750" spc="-85">
                <a:latin typeface="Calibri"/>
                <a:cs typeface="Calibri"/>
              </a:rPr>
              <a:t>&amp;</a:t>
            </a:r>
            <a:r>
              <a:rPr dirty="0" sz="750" spc="5">
                <a:latin typeface="Calibri"/>
                <a:cs typeface="Calibri"/>
              </a:rPr>
              <a:t> </a:t>
            </a:r>
            <a:r>
              <a:rPr dirty="0" sz="750" spc="-20">
                <a:latin typeface="Calibri"/>
                <a:cs typeface="Calibri"/>
              </a:rPr>
              <a:t>Jasper</a:t>
            </a:r>
            <a:r>
              <a:rPr dirty="0" sz="750" spc="-10">
                <a:latin typeface="Calibri"/>
                <a:cs typeface="Calibri"/>
              </a:rPr>
              <a:t> ($757M)</a:t>
            </a:r>
            <a:r>
              <a:rPr dirty="0" sz="750" spc="500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G500/600/400</a:t>
            </a:r>
            <a:r>
              <a:rPr dirty="0" sz="750" spc="-20">
                <a:latin typeface="Calibri"/>
                <a:cs typeface="Calibri"/>
              </a:rPr>
              <a:t> </a:t>
            </a:r>
            <a:r>
              <a:rPr dirty="0" sz="750">
                <a:latin typeface="Calibri"/>
                <a:cs typeface="Calibri"/>
              </a:rPr>
              <a:t>-</a:t>
            </a:r>
            <a:r>
              <a:rPr dirty="0" sz="750" spc="-30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PW800</a:t>
            </a:r>
            <a:r>
              <a:rPr dirty="0" sz="750" spc="-20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($1,454M)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9753209" y="4077351"/>
            <a:ext cx="79692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35">
                <a:latin typeface="Calibri"/>
                <a:cs typeface="Calibri"/>
              </a:rPr>
              <a:t>PW</a:t>
            </a:r>
            <a:r>
              <a:rPr dirty="0" sz="750" spc="-10">
                <a:latin typeface="Calibri"/>
                <a:cs typeface="Calibri"/>
              </a:rPr>
              <a:t> </a:t>
            </a:r>
            <a:r>
              <a:rPr dirty="0" sz="750" spc="-20">
                <a:latin typeface="Calibri"/>
                <a:cs typeface="Calibri"/>
              </a:rPr>
              <a:t>Morocco</a:t>
            </a:r>
            <a:r>
              <a:rPr dirty="0" sz="750" spc="-5">
                <a:latin typeface="Calibri"/>
                <a:cs typeface="Calibri"/>
              </a:rPr>
              <a:t> </a:t>
            </a:r>
            <a:r>
              <a:rPr dirty="0" sz="750" spc="-10">
                <a:latin typeface="Calibri"/>
                <a:cs typeface="Calibri"/>
              </a:rPr>
              <a:t>($71M)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9753209" y="4200531"/>
            <a:ext cx="121221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20" strike="sngStrike">
                <a:latin typeface="Calibri"/>
                <a:cs typeface="Calibri"/>
              </a:rPr>
              <a:t>Optimus</a:t>
            </a:r>
            <a:r>
              <a:rPr dirty="0" sz="750" spc="10" strike="sngStrike">
                <a:latin typeface="Calibri"/>
                <a:cs typeface="Calibri"/>
              </a:rPr>
              <a:t> </a:t>
            </a:r>
            <a:r>
              <a:rPr dirty="0" sz="750" strike="sngStrike">
                <a:latin typeface="Calibri"/>
                <a:cs typeface="Calibri"/>
              </a:rPr>
              <a:t>-</a:t>
            </a:r>
            <a:r>
              <a:rPr dirty="0" sz="750" spc="10" strike="sngStrike">
                <a:latin typeface="Calibri"/>
                <a:cs typeface="Calibri"/>
              </a:rPr>
              <a:t> </a:t>
            </a:r>
            <a:r>
              <a:rPr dirty="0" sz="750" spc="-35" strike="sngStrike">
                <a:latin typeface="Calibri"/>
                <a:cs typeface="Calibri"/>
              </a:rPr>
              <a:t>Turbine</a:t>
            </a:r>
            <a:r>
              <a:rPr dirty="0" sz="750" spc="30" strike="sngStrike">
                <a:latin typeface="Calibri"/>
                <a:cs typeface="Calibri"/>
              </a:rPr>
              <a:t> </a:t>
            </a:r>
            <a:r>
              <a:rPr dirty="0" sz="750" strike="sngStrike">
                <a:latin typeface="Calibri"/>
                <a:cs typeface="Calibri"/>
              </a:rPr>
              <a:t>Discs</a:t>
            </a:r>
            <a:r>
              <a:rPr dirty="0" sz="750" spc="10" strike="sngStrike">
                <a:latin typeface="Calibri"/>
                <a:cs typeface="Calibri"/>
              </a:rPr>
              <a:t> </a:t>
            </a:r>
            <a:r>
              <a:rPr dirty="0" sz="750" spc="-10" strike="sngStrike">
                <a:latin typeface="Calibri"/>
                <a:cs typeface="Calibri"/>
              </a:rPr>
              <a:t>($86M)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554293" y="5036562"/>
            <a:ext cx="138430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sng" sz="550" spc="-2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Key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1210586" y="5125941"/>
            <a:ext cx="715645" cy="3022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65100"/>
              </a:lnSpc>
              <a:spcBef>
                <a:spcPts val="90"/>
              </a:spcBef>
            </a:pPr>
            <a:r>
              <a:rPr dirty="0" sz="550" spc="10" b="1">
                <a:latin typeface="Calibri"/>
                <a:cs typeface="Calibri"/>
              </a:rPr>
              <a:t>Propopsed</a:t>
            </a:r>
            <a:r>
              <a:rPr dirty="0" sz="550" spc="-35" b="1">
                <a:latin typeface="Calibri"/>
                <a:cs typeface="Calibri"/>
              </a:rPr>
              <a:t> </a:t>
            </a:r>
            <a:r>
              <a:rPr dirty="0" sz="550" spc="-10" b="1">
                <a:latin typeface="Calibri"/>
                <a:cs typeface="Calibri"/>
              </a:rPr>
              <a:t>Archetypes</a:t>
            </a:r>
            <a:r>
              <a:rPr dirty="0" sz="550" spc="500" b="1">
                <a:latin typeface="Calibri"/>
                <a:cs typeface="Calibri"/>
              </a:rPr>
              <a:t> </a:t>
            </a:r>
            <a:r>
              <a:rPr dirty="0" sz="550" b="1">
                <a:latin typeface="Calibri"/>
                <a:cs typeface="Calibri"/>
              </a:rPr>
              <a:t>No</a:t>
            </a:r>
            <a:r>
              <a:rPr dirty="0" sz="550" spc="20" b="1">
                <a:latin typeface="Calibri"/>
                <a:cs typeface="Calibri"/>
              </a:rPr>
              <a:t> </a:t>
            </a:r>
            <a:r>
              <a:rPr dirty="0" sz="550" b="1">
                <a:latin typeface="Calibri"/>
                <a:cs typeface="Calibri"/>
              </a:rPr>
              <a:t>archetype</a:t>
            </a:r>
            <a:r>
              <a:rPr dirty="0" sz="550" spc="35" b="1">
                <a:latin typeface="Calibri"/>
                <a:cs typeface="Calibri"/>
              </a:rPr>
              <a:t> </a:t>
            </a:r>
            <a:r>
              <a:rPr dirty="0" sz="550" spc="-10" b="1">
                <a:latin typeface="Calibri"/>
                <a:cs typeface="Calibri"/>
              </a:rPr>
              <a:t>required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633753" y="2526662"/>
            <a:ext cx="472440" cy="394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7700"/>
              </a:lnSpc>
              <a:spcBef>
                <a:spcPts val="100"/>
              </a:spcBef>
            </a:pPr>
            <a:r>
              <a:rPr dirty="0" sz="750" spc="-10" b="1">
                <a:latin typeface="Calibri"/>
                <a:cs typeface="Calibri"/>
              </a:rPr>
              <a:t>Minor</a:t>
            </a:r>
            <a:r>
              <a:rPr dirty="0" sz="750" spc="500" b="1">
                <a:latin typeface="Calibri"/>
                <a:cs typeface="Calibri"/>
              </a:rPr>
              <a:t> </a:t>
            </a:r>
            <a:r>
              <a:rPr dirty="0" sz="750" spc="-10" b="1">
                <a:latin typeface="Calibri"/>
                <a:cs typeface="Calibri"/>
              </a:rPr>
              <a:t>Program</a:t>
            </a:r>
            <a:r>
              <a:rPr dirty="0" sz="750" spc="500" b="1">
                <a:latin typeface="Calibri"/>
                <a:cs typeface="Calibri"/>
              </a:rPr>
              <a:t> </a:t>
            </a:r>
            <a:r>
              <a:rPr dirty="0" sz="750" spc="-10" b="1">
                <a:latin typeface="Calibri"/>
                <a:cs typeface="Calibri"/>
              </a:rPr>
              <a:t>Complexity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553871" y="1004073"/>
            <a:ext cx="11084560" cy="3989704"/>
            <a:chOff x="553871" y="1004073"/>
            <a:chExt cx="11084560" cy="3989704"/>
          </a:xfrm>
        </p:grpSpPr>
        <p:sp>
          <p:nvSpPr>
            <p:cNvPr id="62" name="object 62" descr=""/>
            <p:cNvSpPr/>
            <p:nvPr/>
          </p:nvSpPr>
          <p:spPr>
            <a:xfrm>
              <a:off x="555458" y="1005661"/>
              <a:ext cx="0" cy="3986529"/>
            </a:xfrm>
            <a:custGeom>
              <a:avLst/>
              <a:gdLst/>
              <a:ahLst/>
              <a:cxnLst/>
              <a:rect l="l" t="t" r="r" b="b"/>
              <a:pathLst>
                <a:path w="0" h="3986529">
                  <a:moveTo>
                    <a:pt x="0" y="0"/>
                  </a:moveTo>
                  <a:lnTo>
                    <a:pt x="0" y="39859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554177" y="1004348"/>
              <a:ext cx="3175" cy="3989070"/>
            </a:xfrm>
            <a:custGeom>
              <a:avLst/>
              <a:gdLst/>
              <a:ahLst/>
              <a:cxnLst/>
              <a:rect l="l" t="t" r="r" b="b"/>
              <a:pathLst>
                <a:path w="3175" h="3989070">
                  <a:moveTo>
                    <a:pt x="2563" y="0"/>
                  </a:moveTo>
                  <a:lnTo>
                    <a:pt x="0" y="0"/>
                  </a:lnTo>
                  <a:lnTo>
                    <a:pt x="0" y="3988519"/>
                  </a:lnTo>
                  <a:lnTo>
                    <a:pt x="2563" y="3988519"/>
                  </a:lnTo>
                  <a:lnTo>
                    <a:pt x="2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186185" y="1008258"/>
              <a:ext cx="0" cy="3983354"/>
            </a:xfrm>
            <a:custGeom>
              <a:avLst/>
              <a:gdLst/>
              <a:ahLst/>
              <a:cxnLst/>
              <a:rect l="l" t="t" r="r" b="b"/>
              <a:pathLst>
                <a:path w="0" h="3983354">
                  <a:moveTo>
                    <a:pt x="0" y="0"/>
                  </a:moveTo>
                  <a:lnTo>
                    <a:pt x="0" y="39833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184900" y="1006946"/>
              <a:ext cx="3175" cy="3986529"/>
            </a:xfrm>
            <a:custGeom>
              <a:avLst/>
              <a:gdLst/>
              <a:ahLst/>
              <a:cxnLst/>
              <a:rect l="l" t="t" r="r" b="b"/>
              <a:pathLst>
                <a:path w="3175" h="3986529">
                  <a:moveTo>
                    <a:pt x="2563" y="0"/>
                  </a:moveTo>
                  <a:lnTo>
                    <a:pt x="0" y="0"/>
                  </a:lnTo>
                  <a:lnTo>
                    <a:pt x="0" y="3985921"/>
                  </a:lnTo>
                  <a:lnTo>
                    <a:pt x="2563" y="3985921"/>
                  </a:lnTo>
                  <a:lnTo>
                    <a:pt x="2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2214186" y="1008258"/>
              <a:ext cx="0" cy="3983354"/>
            </a:xfrm>
            <a:custGeom>
              <a:avLst/>
              <a:gdLst/>
              <a:ahLst/>
              <a:cxnLst/>
              <a:rect l="l" t="t" r="r" b="b"/>
              <a:pathLst>
                <a:path w="0" h="3983354">
                  <a:moveTo>
                    <a:pt x="0" y="0"/>
                  </a:moveTo>
                  <a:lnTo>
                    <a:pt x="0" y="39833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212956" y="1006946"/>
              <a:ext cx="3175" cy="3986529"/>
            </a:xfrm>
            <a:custGeom>
              <a:avLst/>
              <a:gdLst/>
              <a:ahLst/>
              <a:cxnLst/>
              <a:rect l="l" t="t" r="r" b="b"/>
              <a:pathLst>
                <a:path w="3175" h="3986529">
                  <a:moveTo>
                    <a:pt x="2563" y="0"/>
                  </a:moveTo>
                  <a:lnTo>
                    <a:pt x="0" y="0"/>
                  </a:lnTo>
                  <a:lnTo>
                    <a:pt x="0" y="3985921"/>
                  </a:lnTo>
                  <a:lnTo>
                    <a:pt x="2563" y="3985921"/>
                  </a:lnTo>
                  <a:lnTo>
                    <a:pt x="2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4098665" y="1008258"/>
              <a:ext cx="0" cy="3983354"/>
            </a:xfrm>
            <a:custGeom>
              <a:avLst/>
              <a:gdLst/>
              <a:ahLst/>
              <a:cxnLst/>
              <a:rect l="l" t="t" r="r" b="b"/>
              <a:pathLst>
                <a:path w="0" h="3983354">
                  <a:moveTo>
                    <a:pt x="0" y="0"/>
                  </a:moveTo>
                  <a:lnTo>
                    <a:pt x="0" y="39833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4097434" y="1006946"/>
              <a:ext cx="3175" cy="3986529"/>
            </a:xfrm>
            <a:custGeom>
              <a:avLst/>
              <a:gdLst/>
              <a:ahLst/>
              <a:cxnLst/>
              <a:rect l="l" t="t" r="r" b="b"/>
              <a:pathLst>
                <a:path w="3175" h="3986529">
                  <a:moveTo>
                    <a:pt x="2563" y="0"/>
                  </a:moveTo>
                  <a:lnTo>
                    <a:pt x="0" y="0"/>
                  </a:lnTo>
                  <a:lnTo>
                    <a:pt x="0" y="3985921"/>
                  </a:lnTo>
                  <a:lnTo>
                    <a:pt x="2563" y="3985921"/>
                  </a:lnTo>
                  <a:lnTo>
                    <a:pt x="2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5983007" y="1008258"/>
              <a:ext cx="0" cy="3983354"/>
            </a:xfrm>
            <a:custGeom>
              <a:avLst/>
              <a:gdLst/>
              <a:ahLst/>
              <a:cxnLst/>
              <a:rect l="l" t="t" r="r" b="b"/>
              <a:pathLst>
                <a:path w="0" h="3983354">
                  <a:moveTo>
                    <a:pt x="0" y="0"/>
                  </a:moveTo>
                  <a:lnTo>
                    <a:pt x="0" y="39833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5981708" y="1006946"/>
              <a:ext cx="3175" cy="3986529"/>
            </a:xfrm>
            <a:custGeom>
              <a:avLst/>
              <a:gdLst/>
              <a:ahLst/>
              <a:cxnLst/>
              <a:rect l="l" t="t" r="r" b="b"/>
              <a:pathLst>
                <a:path w="3175" h="3986529">
                  <a:moveTo>
                    <a:pt x="2563" y="0"/>
                  </a:moveTo>
                  <a:lnTo>
                    <a:pt x="0" y="0"/>
                  </a:lnTo>
                  <a:lnTo>
                    <a:pt x="0" y="3985921"/>
                  </a:lnTo>
                  <a:lnTo>
                    <a:pt x="2563" y="3985921"/>
                  </a:lnTo>
                  <a:lnTo>
                    <a:pt x="2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7867486" y="1008258"/>
              <a:ext cx="0" cy="3983354"/>
            </a:xfrm>
            <a:custGeom>
              <a:avLst/>
              <a:gdLst/>
              <a:ahLst/>
              <a:cxnLst/>
              <a:rect l="l" t="t" r="r" b="b"/>
              <a:pathLst>
                <a:path w="0" h="3983354">
                  <a:moveTo>
                    <a:pt x="0" y="0"/>
                  </a:moveTo>
                  <a:lnTo>
                    <a:pt x="0" y="39833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7866187" y="1006946"/>
              <a:ext cx="3175" cy="3986529"/>
            </a:xfrm>
            <a:custGeom>
              <a:avLst/>
              <a:gdLst/>
              <a:ahLst/>
              <a:cxnLst/>
              <a:rect l="l" t="t" r="r" b="b"/>
              <a:pathLst>
                <a:path w="3175" h="3986529">
                  <a:moveTo>
                    <a:pt x="2563" y="0"/>
                  </a:moveTo>
                  <a:lnTo>
                    <a:pt x="0" y="0"/>
                  </a:lnTo>
                  <a:lnTo>
                    <a:pt x="0" y="3985921"/>
                  </a:lnTo>
                  <a:lnTo>
                    <a:pt x="2563" y="3985921"/>
                  </a:lnTo>
                  <a:lnTo>
                    <a:pt x="2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9751760" y="1008258"/>
              <a:ext cx="0" cy="3983354"/>
            </a:xfrm>
            <a:custGeom>
              <a:avLst/>
              <a:gdLst/>
              <a:ahLst/>
              <a:cxnLst/>
              <a:rect l="l" t="t" r="r" b="b"/>
              <a:pathLst>
                <a:path w="0" h="3983354">
                  <a:moveTo>
                    <a:pt x="0" y="0"/>
                  </a:moveTo>
                  <a:lnTo>
                    <a:pt x="0" y="39833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9750529" y="1006946"/>
              <a:ext cx="3175" cy="3986529"/>
            </a:xfrm>
            <a:custGeom>
              <a:avLst/>
              <a:gdLst/>
              <a:ahLst/>
              <a:cxnLst/>
              <a:rect l="l" t="t" r="r" b="b"/>
              <a:pathLst>
                <a:path w="3175" h="3986529">
                  <a:moveTo>
                    <a:pt x="2563" y="0"/>
                  </a:moveTo>
                  <a:lnTo>
                    <a:pt x="0" y="0"/>
                  </a:lnTo>
                  <a:lnTo>
                    <a:pt x="0" y="3985921"/>
                  </a:lnTo>
                  <a:lnTo>
                    <a:pt x="2563" y="3985921"/>
                  </a:lnTo>
                  <a:lnTo>
                    <a:pt x="2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1636239" y="1008258"/>
              <a:ext cx="0" cy="3983354"/>
            </a:xfrm>
            <a:custGeom>
              <a:avLst/>
              <a:gdLst/>
              <a:ahLst/>
              <a:cxnLst/>
              <a:rect l="l" t="t" r="r" b="b"/>
              <a:pathLst>
                <a:path w="0" h="3983354">
                  <a:moveTo>
                    <a:pt x="0" y="0"/>
                  </a:moveTo>
                  <a:lnTo>
                    <a:pt x="0" y="39833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1635008" y="1006946"/>
              <a:ext cx="3175" cy="3986529"/>
            </a:xfrm>
            <a:custGeom>
              <a:avLst/>
              <a:gdLst/>
              <a:ahLst/>
              <a:cxnLst/>
              <a:rect l="l" t="t" r="r" b="b"/>
              <a:pathLst>
                <a:path w="3175" h="3986529">
                  <a:moveTo>
                    <a:pt x="2563" y="0"/>
                  </a:moveTo>
                  <a:lnTo>
                    <a:pt x="0" y="0"/>
                  </a:lnTo>
                  <a:lnTo>
                    <a:pt x="0" y="3985921"/>
                  </a:lnTo>
                  <a:lnTo>
                    <a:pt x="2563" y="3985921"/>
                  </a:lnTo>
                  <a:lnTo>
                    <a:pt x="2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558022" y="1005661"/>
              <a:ext cx="11078845" cy="0"/>
            </a:xfrm>
            <a:custGeom>
              <a:avLst/>
              <a:gdLst/>
              <a:ahLst/>
              <a:cxnLst/>
              <a:rect l="l" t="t" r="r" b="b"/>
              <a:pathLst>
                <a:path w="11078845" h="0">
                  <a:moveTo>
                    <a:pt x="0" y="0"/>
                  </a:moveTo>
                  <a:lnTo>
                    <a:pt x="110782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556740" y="1004396"/>
              <a:ext cx="11081385" cy="3175"/>
            </a:xfrm>
            <a:custGeom>
              <a:avLst/>
              <a:gdLst/>
              <a:ahLst/>
              <a:cxnLst/>
              <a:rect l="l" t="t" r="r" b="b"/>
              <a:pathLst>
                <a:path w="11081385" h="3175">
                  <a:moveTo>
                    <a:pt x="11080831" y="0"/>
                  </a:moveTo>
                  <a:lnTo>
                    <a:pt x="0" y="0"/>
                  </a:lnTo>
                  <a:lnTo>
                    <a:pt x="0" y="2563"/>
                  </a:lnTo>
                  <a:lnTo>
                    <a:pt x="11080831" y="2563"/>
                  </a:lnTo>
                  <a:lnTo>
                    <a:pt x="110808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558022" y="1380123"/>
              <a:ext cx="11078845" cy="0"/>
            </a:xfrm>
            <a:custGeom>
              <a:avLst/>
              <a:gdLst/>
              <a:ahLst/>
              <a:cxnLst/>
              <a:rect l="l" t="t" r="r" b="b"/>
              <a:pathLst>
                <a:path w="11078845" h="0">
                  <a:moveTo>
                    <a:pt x="0" y="0"/>
                  </a:moveTo>
                  <a:lnTo>
                    <a:pt x="110782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556740" y="1378790"/>
              <a:ext cx="11081385" cy="3175"/>
            </a:xfrm>
            <a:custGeom>
              <a:avLst/>
              <a:gdLst/>
              <a:ahLst/>
              <a:cxnLst/>
              <a:rect l="l" t="t" r="r" b="b"/>
              <a:pathLst>
                <a:path w="11081385" h="3175">
                  <a:moveTo>
                    <a:pt x="11080831" y="0"/>
                  </a:moveTo>
                  <a:lnTo>
                    <a:pt x="0" y="0"/>
                  </a:lnTo>
                  <a:lnTo>
                    <a:pt x="0" y="2563"/>
                  </a:lnTo>
                  <a:lnTo>
                    <a:pt x="11080831" y="2563"/>
                  </a:lnTo>
                  <a:lnTo>
                    <a:pt x="110808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188748" y="2282919"/>
              <a:ext cx="10447655" cy="0"/>
            </a:xfrm>
            <a:custGeom>
              <a:avLst/>
              <a:gdLst/>
              <a:ahLst/>
              <a:cxnLst/>
              <a:rect l="l" t="t" r="r" b="b"/>
              <a:pathLst>
                <a:path w="10447655" h="0">
                  <a:moveTo>
                    <a:pt x="0" y="0"/>
                  </a:moveTo>
                  <a:lnTo>
                    <a:pt x="1044749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187463" y="2281655"/>
              <a:ext cx="10450195" cy="3175"/>
            </a:xfrm>
            <a:custGeom>
              <a:avLst/>
              <a:gdLst/>
              <a:ahLst/>
              <a:cxnLst/>
              <a:rect l="l" t="t" r="r" b="b"/>
              <a:pathLst>
                <a:path w="10450195" h="3175">
                  <a:moveTo>
                    <a:pt x="10450074" y="0"/>
                  </a:moveTo>
                  <a:lnTo>
                    <a:pt x="0" y="0"/>
                  </a:lnTo>
                  <a:lnTo>
                    <a:pt x="0" y="2563"/>
                  </a:lnTo>
                  <a:lnTo>
                    <a:pt x="10450074" y="2563"/>
                  </a:lnTo>
                  <a:lnTo>
                    <a:pt x="104500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188748" y="3185921"/>
              <a:ext cx="10447655" cy="0"/>
            </a:xfrm>
            <a:custGeom>
              <a:avLst/>
              <a:gdLst/>
              <a:ahLst/>
              <a:cxnLst/>
              <a:rect l="l" t="t" r="r" b="b"/>
              <a:pathLst>
                <a:path w="10447655" h="0">
                  <a:moveTo>
                    <a:pt x="0" y="0"/>
                  </a:moveTo>
                  <a:lnTo>
                    <a:pt x="1044749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187463" y="3184656"/>
              <a:ext cx="10450195" cy="3175"/>
            </a:xfrm>
            <a:custGeom>
              <a:avLst/>
              <a:gdLst/>
              <a:ahLst/>
              <a:cxnLst/>
              <a:rect l="l" t="t" r="r" b="b"/>
              <a:pathLst>
                <a:path w="10450195" h="3175">
                  <a:moveTo>
                    <a:pt x="10450074" y="0"/>
                  </a:moveTo>
                  <a:lnTo>
                    <a:pt x="0" y="0"/>
                  </a:lnTo>
                  <a:lnTo>
                    <a:pt x="0" y="2563"/>
                  </a:lnTo>
                  <a:lnTo>
                    <a:pt x="10450074" y="2563"/>
                  </a:lnTo>
                  <a:lnTo>
                    <a:pt x="104500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558022" y="4088786"/>
              <a:ext cx="11078845" cy="0"/>
            </a:xfrm>
            <a:custGeom>
              <a:avLst/>
              <a:gdLst/>
              <a:ahLst/>
              <a:cxnLst/>
              <a:rect l="l" t="t" r="r" b="b"/>
              <a:pathLst>
                <a:path w="11078845" h="0">
                  <a:moveTo>
                    <a:pt x="0" y="0"/>
                  </a:moveTo>
                  <a:lnTo>
                    <a:pt x="110782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556740" y="4087453"/>
              <a:ext cx="11081385" cy="3175"/>
            </a:xfrm>
            <a:custGeom>
              <a:avLst/>
              <a:gdLst/>
              <a:ahLst/>
              <a:cxnLst/>
              <a:rect l="l" t="t" r="r" b="b"/>
              <a:pathLst>
                <a:path w="11081385" h="3175">
                  <a:moveTo>
                    <a:pt x="11080831" y="0"/>
                  </a:moveTo>
                  <a:lnTo>
                    <a:pt x="0" y="0"/>
                  </a:lnTo>
                  <a:lnTo>
                    <a:pt x="0" y="2563"/>
                  </a:lnTo>
                  <a:lnTo>
                    <a:pt x="11080831" y="2563"/>
                  </a:lnTo>
                  <a:lnTo>
                    <a:pt x="110808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558022" y="4991583"/>
              <a:ext cx="11078845" cy="0"/>
            </a:xfrm>
            <a:custGeom>
              <a:avLst/>
              <a:gdLst/>
              <a:ahLst/>
              <a:cxnLst/>
              <a:rect l="l" t="t" r="r" b="b"/>
              <a:pathLst>
                <a:path w="11078845" h="0">
                  <a:moveTo>
                    <a:pt x="0" y="0"/>
                  </a:moveTo>
                  <a:lnTo>
                    <a:pt x="110782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556740" y="4990304"/>
              <a:ext cx="11081385" cy="3175"/>
            </a:xfrm>
            <a:custGeom>
              <a:avLst/>
              <a:gdLst/>
              <a:ahLst/>
              <a:cxnLst/>
              <a:rect l="l" t="t" r="r" b="b"/>
              <a:pathLst>
                <a:path w="11081385" h="3175">
                  <a:moveTo>
                    <a:pt x="11080831" y="0"/>
                  </a:moveTo>
                  <a:lnTo>
                    <a:pt x="0" y="0"/>
                  </a:lnTo>
                  <a:lnTo>
                    <a:pt x="0" y="2563"/>
                  </a:lnTo>
                  <a:lnTo>
                    <a:pt x="11080831" y="2563"/>
                  </a:lnTo>
                  <a:lnTo>
                    <a:pt x="110808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8994" y="2325848"/>
              <a:ext cx="199931" cy="205072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5576" y="2322430"/>
              <a:ext cx="206766" cy="211907"/>
            </a:xfrm>
            <a:prstGeom prst="rect">
              <a:avLst/>
            </a:prstGeom>
          </p:spPr>
        </p:pic>
      </p:grpSp>
      <p:sp>
        <p:nvSpPr>
          <p:cNvPr id="92" name="object 92" descr=""/>
          <p:cNvSpPr txBox="1"/>
          <p:nvPr/>
        </p:nvSpPr>
        <p:spPr>
          <a:xfrm>
            <a:off x="3804284" y="2363288"/>
            <a:ext cx="67310" cy="124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2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93" name="object 93" descr=""/>
          <p:cNvGrpSpPr/>
          <p:nvPr/>
        </p:nvGrpSpPr>
        <p:grpSpPr>
          <a:xfrm>
            <a:off x="3722726" y="3232404"/>
            <a:ext cx="212090" cy="212090"/>
            <a:chOff x="3722726" y="3232404"/>
            <a:chExt cx="212090" cy="212090"/>
          </a:xfrm>
        </p:grpSpPr>
        <p:pic>
          <p:nvPicPr>
            <p:cNvPr id="94" name="object 9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26144" y="3235822"/>
              <a:ext cx="205057" cy="205072"/>
            </a:xfrm>
            <a:prstGeom prst="rect">
              <a:avLst/>
            </a:prstGeom>
          </p:spPr>
        </p:pic>
        <p:pic>
          <p:nvPicPr>
            <p:cNvPr id="95" name="object 9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22726" y="3232404"/>
              <a:ext cx="211893" cy="211907"/>
            </a:xfrm>
            <a:prstGeom prst="rect">
              <a:avLst/>
            </a:prstGeom>
          </p:spPr>
        </p:pic>
      </p:grpSp>
      <p:sp>
        <p:nvSpPr>
          <p:cNvPr id="96" name="object 96" descr=""/>
          <p:cNvSpPr txBox="1"/>
          <p:nvPr/>
        </p:nvSpPr>
        <p:spPr>
          <a:xfrm>
            <a:off x="3792185" y="3272749"/>
            <a:ext cx="67310" cy="124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3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97" name="object 97" descr=""/>
          <p:cNvGrpSpPr/>
          <p:nvPr/>
        </p:nvGrpSpPr>
        <p:grpSpPr>
          <a:xfrm>
            <a:off x="3735576" y="4121939"/>
            <a:ext cx="207010" cy="212090"/>
            <a:chOff x="3735576" y="4121939"/>
            <a:chExt cx="207010" cy="212090"/>
          </a:xfrm>
        </p:grpSpPr>
        <p:pic>
          <p:nvPicPr>
            <p:cNvPr id="98" name="object 9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38994" y="4125357"/>
              <a:ext cx="199931" cy="205072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35576" y="4121939"/>
              <a:ext cx="206766" cy="211907"/>
            </a:xfrm>
            <a:prstGeom prst="rect">
              <a:avLst/>
            </a:prstGeom>
          </p:spPr>
        </p:pic>
      </p:grpSp>
      <p:sp>
        <p:nvSpPr>
          <p:cNvPr id="100" name="object 100" descr=""/>
          <p:cNvSpPr txBox="1"/>
          <p:nvPr/>
        </p:nvSpPr>
        <p:spPr>
          <a:xfrm>
            <a:off x="3804284" y="4162763"/>
            <a:ext cx="67310" cy="124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4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01" name="object 101" descr=""/>
          <p:cNvGrpSpPr/>
          <p:nvPr/>
        </p:nvGrpSpPr>
        <p:grpSpPr>
          <a:xfrm>
            <a:off x="5619508" y="2322430"/>
            <a:ext cx="212090" cy="212090"/>
            <a:chOff x="5619508" y="2322430"/>
            <a:chExt cx="212090" cy="212090"/>
          </a:xfrm>
        </p:grpSpPr>
        <p:pic>
          <p:nvPicPr>
            <p:cNvPr id="102" name="object 10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22926" y="2325848"/>
              <a:ext cx="205057" cy="205072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19508" y="2322430"/>
              <a:ext cx="211893" cy="211907"/>
            </a:xfrm>
            <a:prstGeom prst="rect">
              <a:avLst/>
            </a:prstGeom>
          </p:spPr>
        </p:pic>
      </p:grpSp>
      <p:sp>
        <p:nvSpPr>
          <p:cNvPr id="104" name="object 104" descr=""/>
          <p:cNvSpPr txBox="1"/>
          <p:nvPr/>
        </p:nvSpPr>
        <p:spPr>
          <a:xfrm>
            <a:off x="5689446" y="2362228"/>
            <a:ext cx="67310" cy="124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6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05" name="object 105" descr=""/>
          <p:cNvGrpSpPr/>
          <p:nvPr/>
        </p:nvGrpSpPr>
        <p:grpSpPr>
          <a:xfrm>
            <a:off x="5606726" y="3232404"/>
            <a:ext cx="212090" cy="212090"/>
            <a:chOff x="5606726" y="3232404"/>
            <a:chExt cx="212090" cy="212090"/>
          </a:xfrm>
        </p:grpSpPr>
        <p:pic>
          <p:nvPicPr>
            <p:cNvPr id="106" name="object 10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10144" y="3235822"/>
              <a:ext cx="205057" cy="205072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06726" y="3232404"/>
              <a:ext cx="211893" cy="211907"/>
            </a:xfrm>
            <a:prstGeom prst="rect">
              <a:avLst/>
            </a:prstGeom>
          </p:spPr>
        </p:pic>
      </p:grpSp>
      <p:sp>
        <p:nvSpPr>
          <p:cNvPr id="108" name="object 108" descr=""/>
          <p:cNvSpPr txBox="1"/>
          <p:nvPr/>
        </p:nvSpPr>
        <p:spPr>
          <a:xfrm>
            <a:off x="5676596" y="3271587"/>
            <a:ext cx="67310" cy="124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7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09" name="object 109" descr=""/>
          <p:cNvGrpSpPr/>
          <p:nvPr/>
        </p:nvGrpSpPr>
        <p:grpSpPr>
          <a:xfrm>
            <a:off x="5619508" y="4119341"/>
            <a:ext cx="212090" cy="212090"/>
            <a:chOff x="5619508" y="4119341"/>
            <a:chExt cx="212090" cy="212090"/>
          </a:xfrm>
        </p:grpSpPr>
        <p:pic>
          <p:nvPicPr>
            <p:cNvPr id="110" name="object 11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22926" y="4122759"/>
              <a:ext cx="205057" cy="205072"/>
            </a:xfrm>
            <a:prstGeom prst="rect">
              <a:avLst/>
            </a:prstGeom>
          </p:spPr>
        </p:pic>
        <p:pic>
          <p:nvPicPr>
            <p:cNvPr id="111" name="object 1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19508" y="4119341"/>
              <a:ext cx="211893" cy="211907"/>
            </a:xfrm>
            <a:prstGeom prst="rect">
              <a:avLst/>
            </a:prstGeom>
          </p:spPr>
        </p:pic>
      </p:grpSp>
      <p:sp>
        <p:nvSpPr>
          <p:cNvPr id="112" name="object 112" descr=""/>
          <p:cNvSpPr txBox="1"/>
          <p:nvPr/>
        </p:nvSpPr>
        <p:spPr>
          <a:xfrm>
            <a:off x="5689446" y="4161601"/>
            <a:ext cx="67310" cy="124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8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13" name="object 113" descr=""/>
          <p:cNvGrpSpPr/>
          <p:nvPr/>
        </p:nvGrpSpPr>
        <p:grpSpPr>
          <a:xfrm>
            <a:off x="5611853" y="1430365"/>
            <a:ext cx="212090" cy="212090"/>
            <a:chOff x="5611853" y="1430365"/>
            <a:chExt cx="212090" cy="212090"/>
          </a:xfrm>
        </p:grpSpPr>
        <p:pic>
          <p:nvPicPr>
            <p:cNvPr id="114" name="object 11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15270" y="1433783"/>
              <a:ext cx="205057" cy="205072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11853" y="1430365"/>
              <a:ext cx="211893" cy="211907"/>
            </a:xfrm>
            <a:prstGeom prst="rect">
              <a:avLst/>
            </a:prstGeom>
          </p:spPr>
        </p:pic>
      </p:grpSp>
      <p:sp>
        <p:nvSpPr>
          <p:cNvPr id="116" name="object 116" descr=""/>
          <p:cNvSpPr txBox="1"/>
          <p:nvPr/>
        </p:nvSpPr>
        <p:spPr>
          <a:xfrm>
            <a:off x="5681791" y="1470848"/>
            <a:ext cx="67310" cy="124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5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17" name="object 117" descr=""/>
          <p:cNvGrpSpPr/>
          <p:nvPr/>
        </p:nvGrpSpPr>
        <p:grpSpPr>
          <a:xfrm>
            <a:off x="7503508" y="2327557"/>
            <a:ext cx="212090" cy="212090"/>
            <a:chOff x="7503508" y="2327557"/>
            <a:chExt cx="212090" cy="212090"/>
          </a:xfrm>
        </p:grpSpPr>
        <p:pic>
          <p:nvPicPr>
            <p:cNvPr id="118" name="object 11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506926" y="2330975"/>
              <a:ext cx="205057" cy="205072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503508" y="2327557"/>
              <a:ext cx="211893" cy="211907"/>
            </a:xfrm>
            <a:prstGeom prst="rect">
              <a:avLst/>
            </a:prstGeom>
          </p:spPr>
        </p:pic>
      </p:grpSp>
      <p:sp>
        <p:nvSpPr>
          <p:cNvPr id="120" name="object 120" descr=""/>
          <p:cNvSpPr txBox="1"/>
          <p:nvPr/>
        </p:nvSpPr>
        <p:spPr>
          <a:xfrm>
            <a:off x="7573447" y="2365817"/>
            <a:ext cx="67310" cy="124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9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21" name="object 121" descr=""/>
          <p:cNvGrpSpPr/>
          <p:nvPr/>
        </p:nvGrpSpPr>
        <p:grpSpPr>
          <a:xfrm>
            <a:off x="9377188" y="4129595"/>
            <a:ext cx="212090" cy="212090"/>
            <a:chOff x="9377188" y="4129595"/>
            <a:chExt cx="212090" cy="212090"/>
          </a:xfrm>
        </p:grpSpPr>
        <p:pic>
          <p:nvPicPr>
            <p:cNvPr id="122" name="object 12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80605" y="4133013"/>
              <a:ext cx="205057" cy="205072"/>
            </a:xfrm>
            <a:prstGeom prst="rect">
              <a:avLst/>
            </a:prstGeom>
          </p:spPr>
        </p:pic>
        <p:pic>
          <p:nvPicPr>
            <p:cNvPr id="123" name="object 12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377188" y="4129595"/>
              <a:ext cx="211893" cy="211907"/>
            </a:xfrm>
            <a:prstGeom prst="rect">
              <a:avLst/>
            </a:prstGeom>
          </p:spPr>
        </p:pic>
      </p:grpSp>
      <p:sp>
        <p:nvSpPr>
          <p:cNvPr id="124" name="object 124" descr=""/>
          <p:cNvSpPr txBox="1"/>
          <p:nvPr/>
        </p:nvSpPr>
        <p:spPr>
          <a:xfrm>
            <a:off x="9428329" y="4169257"/>
            <a:ext cx="107950" cy="124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25">
                <a:latin typeface="Calibri"/>
                <a:cs typeface="Calibri"/>
              </a:rPr>
              <a:t>10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25" name="object 125" descr=""/>
          <p:cNvGrpSpPr/>
          <p:nvPr/>
        </p:nvGrpSpPr>
        <p:grpSpPr>
          <a:xfrm>
            <a:off x="2241185" y="5149830"/>
            <a:ext cx="212090" cy="207010"/>
            <a:chOff x="2241185" y="5149830"/>
            <a:chExt cx="212090" cy="207010"/>
          </a:xfrm>
        </p:grpSpPr>
        <p:pic>
          <p:nvPicPr>
            <p:cNvPr id="126" name="object 12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244603" y="5153247"/>
              <a:ext cx="205057" cy="199945"/>
            </a:xfrm>
            <a:prstGeom prst="rect">
              <a:avLst/>
            </a:prstGeom>
          </p:spPr>
        </p:pic>
        <p:pic>
          <p:nvPicPr>
            <p:cNvPr id="127" name="object 127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241185" y="5149830"/>
              <a:ext cx="211893" cy="206780"/>
            </a:xfrm>
            <a:prstGeom prst="rect">
              <a:avLst/>
            </a:prstGeom>
          </p:spPr>
        </p:pic>
      </p:grpSp>
      <p:sp>
        <p:nvSpPr>
          <p:cNvPr id="128" name="object 128" descr=""/>
          <p:cNvSpPr txBox="1"/>
          <p:nvPr/>
        </p:nvSpPr>
        <p:spPr>
          <a:xfrm>
            <a:off x="2312832" y="5198228"/>
            <a:ext cx="676275" cy="11493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181610" algn="l"/>
              </a:tabLst>
            </a:pPr>
            <a:r>
              <a:rPr dirty="0" sz="650" spc="-50">
                <a:latin typeface="Calibri"/>
                <a:cs typeface="Calibri"/>
              </a:rPr>
              <a:t>X</a:t>
            </a:r>
            <a:r>
              <a:rPr dirty="0" sz="650">
                <a:latin typeface="Calibri"/>
                <a:cs typeface="Calibri"/>
              </a:rPr>
              <a:t>	</a:t>
            </a:r>
            <a:r>
              <a:rPr dirty="0" sz="550" b="1">
                <a:latin typeface="Calibri"/>
                <a:cs typeface="Calibri"/>
              </a:rPr>
              <a:t>Archetype</a:t>
            </a:r>
            <a:r>
              <a:rPr dirty="0" sz="550" spc="35" b="1">
                <a:latin typeface="Calibri"/>
                <a:cs typeface="Calibri"/>
              </a:rPr>
              <a:t> </a:t>
            </a:r>
            <a:r>
              <a:rPr dirty="0" sz="550" spc="-10" b="1">
                <a:latin typeface="Calibri"/>
                <a:cs typeface="Calibri"/>
              </a:rPr>
              <a:t>ident</a:t>
            </a:r>
            <a:endParaRPr sz="550">
              <a:latin typeface="Calibri"/>
              <a:cs typeface="Calibri"/>
            </a:endParaRPr>
          </a:p>
        </p:txBody>
      </p:sp>
      <p:grpSp>
        <p:nvGrpSpPr>
          <p:cNvPr id="129" name="object 129" descr=""/>
          <p:cNvGrpSpPr/>
          <p:nvPr/>
        </p:nvGrpSpPr>
        <p:grpSpPr>
          <a:xfrm>
            <a:off x="3738105" y="1399605"/>
            <a:ext cx="7896859" cy="2971165"/>
            <a:chOff x="3738105" y="1399605"/>
            <a:chExt cx="7896859" cy="2971165"/>
          </a:xfrm>
        </p:grpSpPr>
        <p:sp>
          <p:nvSpPr>
            <p:cNvPr id="130" name="object 130" descr=""/>
            <p:cNvSpPr/>
            <p:nvPr/>
          </p:nvSpPr>
          <p:spPr>
            <a:xfrm>
              <a:off x="9747043" y="1617665"/>
              <a:ext cx="1888489" cy="2753360"/>
            </a:xfrm>
            <a:custGeom>
              <a:avLst/>
              <a:gdLst/>
              <a:ahLst/>
              <a:cxnLst/>
              <a:rect l="l" t="t" r="r" b="b"/>
              <a:pathLst>
                <a:path w="1888490" h="2753360">
                  <a:moveTo>
                    <a:pt x="1343810" y="0"/>
                  </a:moveTo>
                  <a:lnTo>
                    <a:pt x="0" y="2415341"/>
                  </a:lnTo>
                  <a:lnTo>
                    <a:pt x="606491" y="2752822"/>
                  </a:lnTo>
                  <a:lnTo>
                    <a:pt x="1887896" y="449647"/>
                  </a:lnTo>
                  <a:lnTo>
                    <a:pt x="1887896" y="302755"/>
                  </a:lnTo>
                  <a:lnTo>
                    <a:pt x="13438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1" name="object 13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822983" y="1804615"/>
              <a:ext cx="1589742" cy="2444059"/>
            </a:xfrm>
            <a:prstGeom prst="rect">
              <a:avLst/>
            </a:prstGeom>
          </p:spPr>
        </p:pic>
        <p:pic>
          <p:nvPicPr>
            <p:cNvPr id="132" name="object 13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741523" y="1403022"/>
              <a:ext cx="199931" cy="205072"/>
            </a:xfrm>
            <a:prstGeom prst="rect">
              <a:avLst/>
            </a:prstGeom>
          </p:spPr>
        </p:pic>
        <p:pic>
          <p:nvPicPr>
            <p:cNvPr id="133" name="object 13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738105" y="1399605"/>
              <a:ext cx="206766" cy="211907"/>
            </a:xfrm>
            <a:prstGeom prst="rect">
              <a:avLst/>
            </a:prstGeom>
          </p:spPr>
        </p:pic>
      </p:grpSp>
      <p:sp>
        <p:nvSpPr>
          <p:cNvPr id="134" name="object 134" descr=""/>
          <p:cNvSpPr txBox="1"/>
          <p:nvPr/>
        </p:nvSpPr>
        <p:spPr>
          <a:xfrm>
            <a:off x="3806881" y="1440087"/>
            <a:ext cx="67310" cy="124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1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35" name="object 135" descr=""/>
          <p:cNvSpPr/>
          <p:nvPr/>
        </p:nvSpPr>
        <p:spPr>
          <a:xfrm>
            <a:off x="107182" y="5883427"/>
            <a:ext cx="11978005" cy="311150"/>
          </a:xfrm>
          <a:custGeom>
            <a:avLst/>
            <a:gdLst/>
            <a:ahLst/>
            <a:cxnLst/>
            <a:rect l="l" t="t" r="r" b="b"/>
            <a:pathLst>
              <a:path w="11978005" h="311150">
                <a:moveTo>
                  <a:pt x="11977624" y="0"/>
                </a:moveTo>
                <a:lnTo>
                  <a:pt x="0" y="0"/>
                </a:lnTo>
                <a:lnTo>
                  <a:pt x="0" y="310832"/>
                </a:lnTo>
                <a:lnTo>
                  <a:pt x="11977624" y="310832"/>
                </a:lnTo>
                <a:lnTo>
                  <a:pt x="11977624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 descr=""/>
          <p:cNvSpPr txBox="1"/>
          <p:nvPr/>
        </p:nvSpPr>
        <p:spPr>
          <a:xfrm>
            <a:off x="2881376" y="5836411"/>
            <a:ext cx="643255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RLPM</a:t>
            </a:r>
            <a:r>
              <a:rPr dirty="0" sz="2400" spc="-1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Archetypes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Defined-</a:t>
            </a:r>
            <a:r>
              <a:rPr dirty="0" sz="24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Program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Centric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7" name="object 13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35864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38" name="object 138" descr=""/>
          <p:cNvSpPr txBox="1"/>
          <p:nvPr/>
        </p:nvSpPr>
        <p:spPr>
          <a:xfrm>
            <a:off x="1719452" y="6560535"/>
            <a:ext cx="8753475" cy="26162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800">
                <a:latin typeface="Arial"/>
                <a:cs typeface="Arial"/>
              </a:rPr>
              <a:t>RTX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Corporation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(Corporate)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-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Proprietary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800">
                <a:latin typeface="Arial"/>
                <a:cs typeface="Arial"/>
              </a:rPr>
              <a:t>Technical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Material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not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controlled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under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local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export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regulations.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This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document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is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not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controlled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under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U.S.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regulations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but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may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contain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Technical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Material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that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is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controlled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by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other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jurisdictions.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206705"/>
            <a:ext cx="498983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RLPM</a:t>
            </a:r>
            <a:r>
              <a:rPr dirty="0" spc="-170"/>
              <a:t> </a:t>
            </a:r>
            <a:r>
              <a:rPr dirty="0"/>
              <a:t>Agility</a:t>
            </a:r>
            <a:r>
              <a:rPr dirty="0" spc="-35"/>
              <a:t> </a:t>
            </a:r>
            <a:r>
              <a:rPr dirty="0"/>
              <a:t>via</a:t>
            </a:r>
            <a:r>
              <a:rPr dirty="0" spc="-20"/>
              <a:t> </a:t>
            </a:r>
            <a:r>
              <a:rPr dirty="0" spc="-10"/>
              <a:t>Tailoring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306564" y="1612138"/>
            <a:ext cx="4725035" cy="2908935"/>
            <a:chOff x="7306564" y="1612138"/>
            <a:chExt cx="4725035" cy="290893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68037" y="1624838"/>
              <a:ext cx="4650861" cy="285494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7312914" y="1618488"/>
              <a:ext cx="4712335" cy="2896235"/>
            </a:xfrm>
            <a:custGeom>
              <a:avLst/>
              <a:gdLst/>
              <a:ahLst/>
              <a:cxnLst/>
              <a:rect l="l" t="t" r="r" b="b"/>
              <a:pathLst>
                <a:path w="4712334" h="2896235">
                  <a:moveTo>
                    <a:pt x="0" y="2895981"/>
                  </a:moveTo>
                  <a:lnTo>
                    <a:pt x="4712335" y="2895981"/>
                  </a:lnTo>
                  <a:lnTo>
                    <a:pt x="4712335" y="0"/>
                  </a:lnTo>
                  <a:lnTo>
                    <a:pt x="0" y="0"/>
                  </a:lnTo>
                  <a:lnTo>
                    <a:pt x="0" y="289598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1057411" y="1908220"/>
            <a:ext cx="5038725" cy="2275840"/>
            <a:chOff x="1057411" y="1908220"/>
            <a:chExt cx="5038725" cy="2275840"/>
          </a:xfrm>
        </p:grpSpPr>
        <p:sp>
          <p:nvSpPr>
            <p:cNvPr id="7" name="object 7" descr=""/>
            <p:cNvSpPr/>
            <p:nvPr/>
          </p:nvSpPr>
          <p:spPr>
            <a:xfrm>
              <a:off x="1057411" y="1908220"/>
              <a:ext cx="2016760" cy="570230"/>
            </a:xfrm>
            <a:custGeom>
              <a:avLst/>
              <a:gdLst/>
              <a:ahLst/>
              <a:cxnLst/>
              <a:rect l="l" t="t" r="r" b="b"/>
              <a:pathLst>
                <a:path w="2016760" h="570230">
                  <a:moveTo>
                    <a:pt x="2016230" y="0"/>
                  </a:moveTo>
                  <a:lnTo>
                    <a:pt x="0" y="0"/>
                  </a:lnTo>
                  <a:lnTo>
                    <a:pt x="0" y="570123"/>
                  </a:lnTo>
                  <a:lnTo>
                    <a:pt x="2016230" y="570123"/>
                  </a:lnTo>
                  <a:lnTo>
                    <a:pt x="2016230" y="0"/>
                  </a:lnTo>
                  <a:close/>
                </a:path>
              </a:pathLst>
            </a:custGeom>
            <a:solidFill>
              <a:srgbClr val="8ED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087130" y="1908220"/>
              <a:ext cx="1009015" cy="570230"/>
            </a:xfrm>
            <a:custGeom>
              <a:avLst/>
              <a:gdLst/>
              <a:ahLst/>
              <a:cxnLst/>
              <a:rect l="l" t="t" r="r" b="b"/>
              <a:pathLst>
                <a:path w="1009014" h="570230">
                  <a:moveTo>
                    <a:pt x="1008827" y="0"/>
                  </a:moveTo>
                  <a:lnTo>
                    <a:pt x="0" y="0"/>
                  </a:lnTo>
                  <a:lnTo>
                    <a:pt x="0" y="570123"/>
                  </a:lnTo>
                  <a:lnTo>
                    <a:pt x="1008827" y="570123"/>
                  </a:lnTo>
                  <a:lnTo>
                    <a:pt x="1008827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57411" y="2476707"/>
              <a:ext cx="3023870" cy="570865"/>
            </a:xfrm>
            <a:custGeom>
              <a:avLst/>
              <a:gdLst/>
              <a:ahLst/>
              <a:cxnLst/>
              <a:rect l="l" t="t" r="r" b="b"/>
              <a:pathLst>
                <a:path w="3023870" h="570864">
                  <a:moveTo>
                    <a:pt x="3023705" y="0"/>
                  </a:moveTo>
                  <a:lnTo>
                    <a:pt x="0" y="0"/>
                  </a:lnTo>
                  <a:lnTo>
                    <a:pt x="0" y="570252"/>
                  </a:lnTo>
                  <a:lnTo>
                    <a:pt x="3023705" y="570252"/>
                  </a:lnTo>
                  <a:lnTo>
                    <a:pt x="3023705" y="0"/>
                  </a:lnTo>
                  <a:close/>
                </a:path>
              </a:pathLst>
            </a:custGeom>
            <a:solidFill>
              <a:srgbClr val="8ED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087130" y="2476707"/>
              <a:ext cx="1009015" cy="570865"/>
            </a:xfrm>
            <a:custGeom>
              <a:avLst/>
              <a:gdLst/>
              <a:ahLst/>
              <a:cxnLst/>
              <a:rect l="l" t="t" r="r" b="b"/>
              <a:pathLst>
                <a:path w="1009014" h="570864">
                  <a:moveTo>
                    <a:pt x="1008827" y="0"/>
                  </a:moveTo>
                  <a:lnTo>
                    <a:pt x="0" y="0"/>
                  </a:lnTo>
                  <a:lnTo>
                    <a:pt x="0" y="570252"/>
                  </a:lnTo>
                  <a:lnTo>
                    <a:pt x="1008827" y="570252"/>
                  </a:lnTo>
                  <a:lnTo>
                    <a:pt x="1008827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57411" y="3045324"/>
              <a:ext cx="2016760" cy="570230"/>
            </a:xfrm>
            <a:custGeom>
              <a:avLst/>
              <a:gdLst/>
              <a:ahLst/>
              <a:cxnLst/>
              <a:rect l="l" t="t" r="r" b="b"/>
              <a:pathLst>
                <a:path w="2016760" h="570229">
                  <a:moveTo>
                    <a:pt x="2016230" y="0"/>
                  </a:moveTo>
                  <a:lnTo>
                    <a:pt x="0" y="0"/>
                  </a:lnTo>
                  <a:lnTo>
                    <a:pt x="0" y="570123"/>
                  </a:lnTo>
                  <a:lnTo>
                    <a:pt x="2016230" y="570123"/>
                  </a:lnTo>
                  <a:lnTo>
                    <a:pt x="2016230" y="0"/>
                  </a:lnTo>
                  <a:close/>
                </a:path>
              </a:pathLst>
            </a:custGeom>
            <a:solidFill>
              <a:srgbClr val="8ED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087130" y="3045324"/>
              <a:ext cx="1009015" cy="570230"/>
            </a:xfrm>
            <a:custGeom>
              <a:avLst/>
              <a:gdLst/>
              <a:ahLst/>
              <a:cxnLst/>
              <a:rect l="l" t="t" r="r" b="b"/>
              <a:pathLst>
                <a:path w="1009014" h="570229">
                  <a:moveTo>
                    <a:pt x="1008827" y="0"/>
                  </a:moveTo>
                  <a:lnTo>
                    <a:pt x="0" y="0"/>
                  </a:lnTo>
                  <a:lnTo>
                    <a:pt x="0" y="570123"/>
                  </a:lnTo>
                  <a:lnTo>
                    <a:pt x="1008827" y="570123"/>
                  </a:lnTo>
                  <a:lnTo>
                    <a:pt x="1008827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057402" y="3613848"/>
              <a:ext cx="4031615" cy="570230"/>
            </a:xfrm>
            <a:custGeom>
              <a:avLst/>
              <a:gdLst/>
              <a:ahLst/>
              <a:cxnLst/>
              <a:rect l="l" t="t" r="r" b="b"/>
              <a:pathLst>
                <a:path w="4031615" h="570229">
                  <a:moveTo>
                    <a:pt x="2016239" y="0"/>
                  </a:moveTo>
                  <a:lnTo>
                    <a:pt x="0" y="0"/>
                  </a:lnTo>
                  <a:lnTo>
                    <a:pt x="0" y="570128"/>
                  </a:lnTo>
                  <a:lnTo>
                    <a:pt x="2016239" y="570128"/>
                  </a:lnTo>
                  <a:lnTo>
                    <a:pt x="2016239" y="0"/>
                  </a:lnTo>
                  <a:close/>
                </a:path>
                <a:path w="4031615" h="570229">
                  <a:moveTo>
                    <a:pt x="4031069" y="0"/>
                  </a:moveTo>
                  <a:lnTo>
                    <a:pt x="3022320" y="0"/>
                  </a:lnTo>
                  <a:lnTo>
                    <a:pt x="3022320" y="570128"/>
                  </a:lnTo>
                  <a:lnTo>
                    <a:pt x="4031069" y="570128"/>
                  </a:lnTo>
                  <a:lnTo>
                    <a:pt x="4031069" y="0"/>
                  </a:lnTo>
                  <a:close/>
                </a:path>
              </a:pathLst>
            </a:custGeom>
            <a:solidFill>
              <a:srgbClr val="8ED97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3258" y="2504557"/>
              <a:ext cx="106886" cy="129133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71272" y="2502572"/>
              <a:ext cx="110857" cy="13310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66388" y="3077564"/>
              <a:ext cx="109627" cy="129133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64398" y="3075574"/>
              <a:ext cx="113606" cy="133112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73258" y="3637701"/>
              <a:ext cx="106886" cy="129133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71272" y="3635715"/>
              <a:ext cx="110857" cy="13310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80441" y="2504557"/>
              <a:ext cx="109627" cy="129133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78451" y="2502567"/>
              <a:ext cx="113606" cy="133112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73608" y="3077564"/>
              <a:ext cx="109627" cy="129133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71618" y="3075574"/>
              <a:ext cx="113606" cy="133112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80441" y="3636065"/>
              <a:ext cx="109627" cy="129133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78451" y="3634076"/>
              <a:ext cx="113606" cy="133112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76348" y="1942828"/>
              <a:ext cx="109627" cy="129133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74359" y="1940838"/>
              <a:ext cx="113606" cy="133112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87661" y="2507785"/>
              <a:ext cx="109627" cy="129133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885671" y="2505796"/>
              <a:ext cx="113606" cy="133112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89363" y="3642522"/>
              <a:ext cx="109627" cy="129133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87373" y="3640532"/>
              <a:ext cx="113606" cy="133112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085267" y="2058617"/>
              <a:ext cx="1009302" cy="1733441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874610" y="1923458"/>
              <a:ext cx="106886" cy="129133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872624" y="1921472"/>
              <a:ext cx="110857" cy="133104"/>
            </a:xfrm>
            <a:prstGeom prst="rect">
              <a:avLst/>
            </a:prstGeom>
          </p:spPr>
        </p:pic>
      </p:grpSp>
      <p:grpSp>
        <p:nvGrpSpPr>
          <p:cNvPr id="35" name="object 35" descr=""/>
          <p:cNvGrpSpPr/>
          <p:nvPr/>
        </p:nvGrpSpPr>
        <p:grpSpPr>
          <a:xfrm>
            <a:off x="1072336" y="4282966"/>
            <a:ext cx="113664" cy="130175"/>
            <a:chOff x="1072336" y="4282966"/>
            <a:chExt cx="113664" cy="130175"/>
          </a:xfrm>
        </p:grpSpPr>
        <p:pic>
          <p:nvPicPr>
            <p:cNvPr id="36" name="object 3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74330" y="4284960"/>
              <a:ext cx="109627" cy="125904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72336" y="4282966"/>
              <a:ext cx="113614" cy="129892"/>
            </a:xfrm>
            <a:prstGeom prst="rect">
              <a:avLst/>
            </a:prstGeom>
          </p:spPr>
        </p:pic>
      </p:grpSp>
      <p:graphicFrame>
        <p:nvGraphicFramePr>
          <p:cNvPr id="38" name="object 38" descr=""/>
          <p:cNvGraphicFramePr>
            <a:graphicFrameLocks noGrp="1"/>
          </p:cNvGraphicFramePr>
          <p:nvPr/>
        </p:nvGraphicFramePr>
        <p:xfrm>
          <a:off x="157854" y="1659763"/>
          <a:ext cx="6027420" cy="2806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535"/>
                <a:gridCol w="549275"/>
                <a:gridCol w="805815"/>
                <a:gridCol w="200660"/>
                <a:gridCol w="743585"/>
                <a:gridCol w="262889"/>
                <a:gridCol w="693420"/>
                <a:gridCol w="313054"/>
                <a:gridCol w="796925"/>
                <a:gridCol w="210185"/>
                <a:gridCol w="1013460"/>
              </a:tblGrid>
              <a:tr h="241935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450" spc="-35" b="1">
                          <a:latin typeface="Calibri"/>
                          <a:cs typeface="Calibri"/>
                        </a:rPr>
                        <a:t>Tier</a:t>
                      </a:r>
                      <a:r>
                        <a:rPr dirty="0" sz="45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50" b="1">
                          <a:latin typeface="Calibri"/>
                          <a:cs typeface="Calibri"/>
                        </a:rPr>
                        <a:t>3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algn="ctr" marL="3492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 spc="-50" b="1">
                          <a:latin typeface="Calibri"/>
                          <a:cs typeface="Calibri"/>
                        </a:rPr>
                        <a:t>↓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algn="ctr" marL="5080">
                        <a:lnSpc>
                          <a:spcPts val="495"/>
                        </a:lnSpc>
                        <a:spcBef>
                          <a:spcPts val="70"/>
                        </a:spcBef>
                      </a:pPr>
                      <a:r>
                        <a:rPr dirty="0" sz="450" spc="-10" b="1">
                          <a:latin typeface="Calibri"/>
                          <a:cs typeface="Calibri"/>
                        </a:rPr>
                        <a:t>Complexity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1143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450" spc="-35" b="1">
                          <a:latin typeface="Calibri"/>
                          <a:cs typeface="Calibri"/>
                        </a:rPr>
                        <a:t>Tier </a:t>
                      </a:r>
                      <a:r>
                        <a:rPr dirty="0" sz="450" spc="-30" b="1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45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80" b="1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45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 b="1">
                          <a:latin typeface="Calibri"/>
                          <a:cs typeface="Calibri"/>
                        </a:rPr>
                        <a:t>Program</a:t>
                      </a:r>
                      <a:r>
                        <a:rPr dirty="0" sz="450" spc="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0" b="1">
                          <a:latin typeface="Calibri"/>
                          <a:cs typeface="Calibri"/>
                        </a:rPr>
                        <a:t>Type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69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 spc="-35" b="1">
                          <a:latin typeface="Calibri"/>
                          <a:cs typeface="Calibri"/>
                        </a:rPr>
                        <a:t>Tier</a:t>
                      </a:r>
                      <a:r>
                        <a:rPr dirty="0" sz="45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50" b="1">
                          <a:latin typeface="Calibri"/>
                          <a:cs typeface="Calibri"/>
                        </a:rPr>
                        <a:t>2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35560">
                        <a:lnSpc>
                          <a:spcPts val="509"/>
                        </a:lnSpc>
                        <a:spcBef>
                          <a:spcPts val="70"/>
                        </a:spcBef>
                      </a:pPr>
                      <a:r>
                        <a:rPr dirty="0" sz="450" spc="-180" b="1">
                          <a:latin typeface="Calibri"/>
                          <a:cs typeface="Calibri"/>
                        </a:rPr>
                        <a:t>↓</a:t>
                      </a:r>
                      <a:r>
                        <a:rPr dirty="0" sz="45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0" b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4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5" b="1">
                          <a:latin typeface="Calibri"/>
                          <a:cs typeface="Calibri"/>
                        </a:rPr>
                        <a:t>Program</a:t>
                      </a:r>
                      <a:r>
                        <a:rPr dirty="0" sz="450" spc="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50" b="1">
                          <a:latin typeface="Calibri"/>
                          <a:cs typeface="Calibri"/>
                        </a:rPr>
                        <a:t>$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450" spc="-10" b="1">
                          <a:latin typeface="Calibri"/>
                          <a:cs typeface="Calibri"/>
                        </a:rPr>
                        <a:t>Demonstrator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450" spc="-10" b="1">
                          <a:latin typeface="Calibri"/>
                          <a:cs typeface="Calibri"/>
                        </a:rPr>
                        <a:t>Derivative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230504">
                        <a:lnSpc>
                          <a:spcPct val="100000"/>
                        </a:lnSpc>
                      </a:pPr>
                      <a:r>
                        <a:rPr dirty="0" sz="450" spc="-35" b="1">
                          <a:latin typeface="Calibri"/>
                          <a:cs typeface="Calibri"/>
                        </a:rPr>
                        <a:t>Support/</a:t>
                      </a:r>
                      <a:r>
                        <a:rPr dirty="0" sz="450" spc="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 b="1">
                          <a:latin typeface="Calibri"/>
                          <a:cs typeface="Calibri"/>
                        </a:rPr>
                        <a:t>Product</a:t>
                      </a:r>
                      <a:r>
                        <a:rPr dirty="0" sz="450" spc="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 b="1">
                          <a:latin typeface="Calibri"/>
                          <a:cs typeface="Calibri"/>
                        </a:rPr>
                        <a:t>Upgrade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450" spc="-55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45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 b="1">
                          <a:latin typeface="Calibri"/>
                          <a:cs typeface="Calibri"/>
                        </a:rPr>
                        <a:t>Offering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273050">
                        <a:lnSpc>
                          <a:spcPct val="100000"/>
                        </a:lnSpc>
                      </a:pPr>
                      <a:r>
                        <a:rPr dirty="0" sz="450" spc="-45" b="1">
                          <a:latin typeface="Calibri"/>
                          <a:cs typeface="Calibri"/>
                        </a:rPr>
                        <a:t>Non-</a:t>
                      </a:r>
                      <a:r>
                        <a:rPr dirty="0" sz="450" spc="-10" b="1">
                          <a:latin typeface="Calibri"/>
                          <a:cs typeface="Calibri"/>
                        </a:rPr>
                        <a:t>Product/Service?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</a:tr>
              <a:tr h="56832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algn="ctr" marL="54610" marR="41910">
                        <a:lnSpc>
                          <a:spcPct val="112999"/>
                        </a:lnSpc>
                      </a:pPr>
                      <a:r>
                        <a:rPr dirty="0" sz="450" spc="-10" b="1">
                          <a:latin typeface="Calibri"/>
                          <a:cs typeface="Calibri"/>
                        </a:rPr>
                        <a:t>Minor</a:t>
                      </a:r>
                      <a:r>
                        <a:rPr dirty="0" sz="450" spc="50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 b="1">
                          <a:latin typeface="Calibri"/>
                          <a:cs typeface="Calibri"/>
                        </a:rPr>
                        <a:t>Program</a:t>
                      </a:r>
                      <a:r>
                        <a:rPr dirty="0" sz="450" spc="50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 b="1">
                          <a:latin typeface="Calibri"/>
                          <a:cs typeface="Calibri"/>
                        </a:rPr>
                        <a:t>Complexity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450" spc="-25" b="1">
                          <a:latin typeface="Calibri"/>
                          <a:cs typeface="Calibri"/>
                        </a:rPr>
                        <a:t>&lt;5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857885" algn="l"/>
                        </a:tabLst>
                      </a:pPr>
                      <a:r>
                        <a:rPr dirty="0" sz="450" spc="-45">
                          <a:latin typeface="Calibri"/>
                          <a:cs typeface="Calibri"/>
                        </a:rPr>
                        <a:t>Gumdrop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>
                          <a:latin typeface="Calibri"/>
                          <a:cs typeface="Calibri"/>
                        </a:rPr>
                        <a:t>PW545C</a:t>
                      </a:r>
                      <a:r>
                        <a:rPr dirty="0" sz="4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($2M)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41666" sz="600" spc="-75">
                          <a:latin typeface="Calibri"/>
                          <a:cs typeface="Calibri"/>
                        </a:rPr>
                        <a:t>1</a:t>
                      </a:r>
                      <a:endParaRPr baseline="-41666" sz="6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985">
                        <a:lnSpc>
                          <a:spcPts val="515"/>
                        </a:lnSpc>
                        <a:spcBef>
                          <a:spcPts val="25"/>
                        </a:spcBef>
                      </a:pPr>
                      <a:r>
                        <a:rPr dirty="0" sz="450" spc="-45">
                          <a:latin typeface="Calibri"/>
                          <a:cs typeface="Calibri"/>
                        </a:rPr>
                        <a:t>AT502XP</a:t>
                      </a:r>
                      <a:r>
                        <a:rPr dirty="0" sz="4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5">
                          <a:latin typeface="Calibri"/>
                          <a:cs typeface="Calibri"/>
                        </a:rPr>
                        <a:t>PT6A-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140AG</a:t>
                      </a:r>
                      <a:r>
                        <a:rPr dirty="0" sz="4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($4M)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algn="r" marR="123825">
                        <a:lnSpc>
                          <a:spcPts val="455"/>
                        </a:lnSpc>
                      </a:pPr>
                      <a:r>
                        <a:rPr dirty="0" sz="400" spc="-50">
                          <a:latin typeface="Calibri"/>
                          <a:cs typeface="Calibri"/>
                        </a:rPr>
                        <a:t>5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450" spc="-40">
                          <a:latin typeface="Calibri"/>
                          <a:cs typeface="Calibri"/>
                        </a:rPr>
                        <a:t>STO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BTL</a:t>
                      </a:r>
                      <a:r>
                        <a:rPr dirty="0" sz="4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Vane</a:t>
                      </a:r>
                      <a:r>
                        <a:rPr dirty="0" sz="4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>
                          <a:latin typeface="Calibri"/>
                          <a:cs typeface="Calibri"/>
                        </a:rPr>
                        <a:t>ressourcing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($1M)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6985" marR="228600">
                        <a:lnSpc>
                          <a:spcPts val="610"/>
                        </a:lnSpc>
                        <a:spcBef>
                          <a:spcPts val="35"/>
                        </a:spcBef>
                      </a:pPr>
                      <a:r>
                        <a:rPr dirty="0" sz="450" spc="-40">
                          <a:latin typeface="Calibri"/>
                          <a:cs typeface="Calibri"/>
                        </a:rPr>
                        <a:t>STO</a:t>
                      </a:r>
                      <a:r>
                        <a:rPr dirty="0" sz="4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60">
                          <a:latin typeface="Calibri"/>
                          <a:cs typeface="Calibri"/>
                        </a:rPr>
                        <a:t>TIMET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Ti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Mill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>
                          <a:latin typeface="Calibri"/>
                          <a:cs typeface="Calibri"/>
                        </a:rPr>
                        <a:t>Fire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5">
                          <a:latin typeface="Calibri"/>
                          <a:cs typeface="Calibri"/>
                        </a:rPr>
                        <a:t>Shutdown</a:t>
                      </a:r>
                      <a:r>
                        <a:rPr dirty="0" sz="4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0">
                          <a:latin typeface="Calibri"/>
                          <a:cs typeface="Calibri"/>
                        </a:rPr>
                        <a:t>($1M)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STO</a:t>
                      </a:r>
                      <a:r>
                        <a:rPr dirty="0" sz="4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0">
                          <a:latin typeface="Calibri"/>
                          <a:cs typeface="Calibri"/>
                        </a:rPr>
                        <a:t>DCU</a:t>
                      </a:r>
                      <a:r>
                        <a:rPr dirty="0" sz="4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0">
                          <a:latin typeface="Calibri"/>
                          <a:cs typeface="Calibri"/>
                        </a:rPr>
                        <a:t>Obsolescence</a:t>
                      </a:r>
                      <a:r>
                        <a:rPr dirty="0" sz="4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($3M)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A6C8E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A6C8E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6832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450" spc="-30" b="1">
                          <a:latin typeface="Calibri"/>
                          <a:cs typeface="Calibri"/>
                        </a:rPr>
                        <a:t>5-</a:t>
                      </a:r>
                      <a:r>
                        <a:rPr dirty="0" sz="450" spc="-25" b="1">
                          <a:latin typeface="Calibri"/>
                          <a:cs typeface="Calibri"/>
                        </a:rPr>
                        <a:t>25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985">
                        <a:lnSpc>
                          <a:spcPts val="490"/>
                        </a:lnSpc>
                        <a:spcBef>
                          <a:spcPts val="25"/>
                        </a:spcBef>
                      </a:pPr>
                      <a:r>
                        <a:rPr dirty="0" sz="450" spc="-30">
                          <a:latin typeface="Calibri"/>
                          <a:cs typeface="Calibri"/>
                        </a:rPr>
                        <a:t>FReSH</a:t>
                      </a:r>
                      <a:r>
                        <a:rPr dirty="0" sz="4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>
                          <a:latin typeface="Calibri"/>
                          <a:cs typeface="Calibri"/>
                        </a:rPr>
                        <a:t>PW210S</a:t>
                      </a:r>
                      <a:r>
                        <a:rPr dirty="0" sz="4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($5M)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algn="r" marR="120650">
                        <a:lnSpc>
                          <a:spcPts val="430"/>
                        </a:lnSpc>
                      </a:pPr>
                      <a:r>
                        <a:rPr dirty="0" sz="400" spc="-50">
                          <a:latin typeface="Calibri"/>
                          <a:cs typeface="Calibri"/>
                        </a:rPr>
                        <a:t>2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450" spc="-40">
                          <a:latin typeface="Calibri"/>
                          <a:cs typeface="Calibri"/>
                        </a:rPr>
                        <a:t>AN-</a:t>
                      </a:r>
                      <a:r>
                        <a:rPr dirty="0" sz="450" spc="-35">
                          <a:latin typeface="Calibri"/>
                          <a:cs typeface="Calibri"/>
                        </a:rPr>
                        <a:t>124/178</a:t>
                      </a:r>
                      <a:r>
                        <a:rPr dirty="0" sz="4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>
                          <a:latin typeface="Calibri"/>
                          <a:cs typeface="Calibri"/>
                        </a:rPr>
                        <a:t>APS2600N</a:t>
                      </a:r>
                      <a:r>
                        <a:rPr dirty="0" sz="4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($7M)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6985">
                        <a:lnSpc>
                          <a:spcPct val="100000"/>
                        </a:lnSpc>
                        <a:spcBef>
                          <a:spcPts val="70"/>
                        </a:spcBef>
                        <a:tabLst>
                          <a:tab pos="856615" algn="l"/>
                        </a:tabLst>
                      </a:pPr>
                      <a:r>
                        <a:rPr dirty="0" sz="450" spc="-25">
                          <a:latin typeface="Calibri"/>
                          <a:cs typeface="Calibri"/>
                        </a:rPr>
                        <a:t>EC135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PW206B3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($7M)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27777" sz="600" spc="-75">
                          <a:latin typeface="Calibri"/>
                          <a:cs typeface="Calibri"/>
                        </a:rPr>
                        <a:t>6</a:t>
                      </a:r>
                      <a:endParaRPr baseline="27777" sz="600">
                        <a:latin typeface="Calibri"/>
                        <a:cs typeface="Calibri"/>
                      </a:endParaRPr>
                    </a:p>
                    <a:p>
                      <a:pPr marL="6985" marR="492125">
                        <a:lnSpc>
                          <a:spcPct val="112999"/>
                        </a:lnSpc>
                      </a:pPr>
                      <a:r>
                        <a:rPr dirty="0" sz="450" spc="-35">
                          <a:latin typeface="Calibri"/>
                          <a:cs typeface="Calibri"/>
                        </a:rPr>
                        <a:t>Hurkus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5">
                          <a:latin typeface="Calibri"/>
                          <a:cs typeface="Calibri"/>
                        </a:rPr>
                        <a:t>PT6A-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68T</a:t>
                      </a:r>
                      <a:r>
                        <a:rPr dirty="0" sz="4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($8M)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5">
                          <a:latin typeface="Calibri"/>
                          <a:cs typeface="Calibri"/>
                        </a:rPr>
                        <a:t>SMiF</a:t>
                      </a:r>
                      <a:r>
                        <a:rPr dirty="0" sz="4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PW307D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($11M)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6985" marR="361315">
                        <a:lnSpc>
                          <a:spcPct val="112999"/>
                        </a:lnSpc>
                        <a:spcBef>
                          <a:spcPts val="5"/>
                        </a:spcBef>
                      </a:pPr>
                      <a:r>
                        <a:rPr dirty="0" sz="450" spc="-30">
                          <a:latin typeface="Calibri"/>
                          <a:cs typeface="Calibri"/>
                        </a:rPr>
                        <a:t>Sky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>
                          <a:latin typeface="Calibri"/>
                          <a:cs typeface="Calibri"/>
                        </a:rPr>
                        <a:t>Courier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>
                          <a:latin typeface="Calibri"/>
                          <a:cs typeface="Calibri"/>
                        </a:rPr>
                        <a:t>PT6A65SC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>
                          <a:latin typeface="Calibri"/>
                          <a:cs typeface="Calibri"/>
                        </a:rPr>
                        <a:t>($13M)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>
                          <a:latin typeface="Calibri"/>
                          <a:cs typeface="Calibri"/>
                        </a:rPr>
                        <a:t>Latitude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PW306D1</a:t>
                      </a:r>
                      <a:r>
                        <a:rPr dirty="0" sz="4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($14M)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55">
                          <a:latin typeface="Calibri"/>
                          <a:cs typeface="Calibri"/>
                        </a:rPr>
                        <a:t>ATR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PW127N</a:t>
                      </a:r>
                      <a:r>
                        <a:rPr dirty="0" sz="4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($17M)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450" spc="-40" strike="sngStrike">
                          <a:latin typeface="Calibri"/>
                          <a:cs typeface="Calibri"/>
                        </a:rPr>
                        <a:t>Heron</a:t>
                      </a:r>
                      <a:r>
                        <a:rPr dirty="0" sz="450" spc="-5" strike="sngStrike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 strike="sngStrike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-10" strike="sngStrike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 strike="sngStrike">
                          <a:latin typeface="Calibri"/>
                          <a:cs typeface="Calibri"/>
                        </a:rPr>
                        <a:t>TSC</a:t>
                      </a:r>
                      <a:r>
                        <a:rPr dirty="0" sz="450" spc="-15" strike="sngStrike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 strike="sngStrike">
                          <a:latin typeface="Calibri"/>
                          <a:cs typeface="Calibri"/>
                        </a:rPr>
                        <a:t>($8M)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6985">
                        <a:lnSpc>
                          <a:spcPct val="100000"/>
                        </a:lnSpc>
                        <a:spcBef>
                          <a:spcPts val="70"/>
                        </a:spcBef>
                        <a:tabLst>
                          <a:tab pos="856615" algn="l"/>
                        </a:tabLst>
                      </a:pPr>
                      <a:r>
                        <a:rPr dirty="0" sz="450" spc="-25" strike="sngStrike">
                          <a:latin typeface="Calibri"/>
                          <a:cs typeface="Calibri"/>
                        </a:rPr>
                        <a:t>Pelican</a:t>
                      </a:r>
                      <a:r>
                        <a:rPr dirty="0" sz="450" strike="sngStrike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 strike="sngStrike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-5" strike="sngStrike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5" strike="sngStrike">
                          <a:latin typeface="Calibri"/>
                          <a:cs typeface="Calibri"/>
                        </a:rPr>
                        <a:t>XXXX</a:t>
                      </a:r>
                      <a:r>
                        <a:rPr dirty="0" sz="450" spc="5" strike="sngStrike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 strike="sngStrike">
                          <a:latin typeface="Calibri"/>
                          <a:cs typeface="Calibri"/>
                        </a:rPr>
                        <a:t>($9M)</a:t>
                      </a:r>
                      <a:r>
                        <a:rPr dirty="0" sz="450" strike="noStrike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27777" sz="600" spc="-75" strike="noStrike">
                          <a:latin typeface="Calibri"/>
                          <a:cs typeface="Calibri"/>
                        </a:rPr>
                        <a:t>9</a:t>
                      </a:r>
                      <a:endParaRPr baseline="27777" sz="600">
                        <a:latin typeface="Calibri"/>
                        <a:cs typeface="Calibri"/>
                      </a:endParaRPr>
                    </a:p>
                    <a:p>
                      <a:pPr marL="69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 spc="-30">
                          <a:latin typeface="Calibri"/>
                          <a:cs typeface="Calibri"/>
                        </a:rPr>
                        <a:t>PT6C-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67A</a:t>
                      </a:r>
                      <a:r>
                        <a:rPr dirty="0" sz="4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Tiltrotor</a:t>
                      </a:r>
                      <a:r>
                        <a:rPr dirty="0" sz="4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($20M)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A6C8E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6832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450" spc="-25" b="1">
                          <a:latin typeface="Calibri"/>
                          <a:cs typeface="Calibri"/>
                        </a:rPr>
                        <a:t>25+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985">
                        <a:lnSpc>
                          <a:spcPts val="505"/>
                        </a:lnSpc>
                        <a:spcBef>
                          <a:spcPts val="25"/>
                        </a:spcBef>
                      </a:pPr>
                      <a:r>
                        <a:rPr dirty="0" sz="450" spc="-55">
                          <a:latin typeface="Calibri"/>
                          <a:cs typeface="Calibri"/>
                        </a:rPr>
                        <a:t>NEMO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0">
                          <a:latin typeface="Calibri"/>
                          <a:cs typeface="Calibri"/>
                        </a:rPr>
                        <a:t>HEP</a:t>
                      </a:r>
                      <a:r>
                        <a:rPr dirty="0" sz="4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($43M)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algn="r" marR="127000">
                        <a:lnSpc>
                          <a:spcPts val="445"/>
                        </a:lnSpc>
                      </a:pPr>
                      <a:r>
                        <a:rPr dirty="0" sz="400" spc="-50">
                          <a:latin typeface="Calibri"/>
                          <a:cs typeface="Calibri"/>
                        </a:rPr>
                        <a:t>3</a:t>
                      </a:r>
                      <a:endParaRPr sz="4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450" spc="-40">
                          <a:latin typeface="Calibri"/>
                          <a:cs typeface="Calibri"/>
                        </a:rPr>
                        <a:t>Sovereign</a:t>
                      </a:r>
                      <a:r>
                        <a:rPr dirty="0" sz="4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PW306D</a:t>
                      </a:r>
                      <a:r>
                        <a:rPr dirty="0" sz="4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($33M)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6985">
                        <a:lnSpc>
                          <a:spcPct val="100000"/>
                        </a:lnSpc>
                        <a:spcBef>
                          <a:spcPts val="70"/>
                        </a:spcBef>
                        <a:tabLst>
                          <a:tab pos="850265" algn="l"/>
                        </a:tabLst>
                      </a:pPr>
                      <a:r>
                        <a:rPr dirty="0" sz="450" spc="-30">
                          <a:latin typeface="Calibri"/>
                          <a:cs typeface="Calibri"/>
                        </a:rPr>
                        <a:t>Caravan</a:t>
                      </a:r>
                      <a:r>
                        <a:rPr dirty="0" sz="4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5">
                          <a:latin typeface="Calibri"/>
                          <a:cs typeface="Calibri"/>
                        </a:rPr>
                        <a:t>PT6A-</a:t>
                      </a:r>
                      <a:r>
                        <a:rPr dirty="0" sz="450" spc="-30">
                          <a:latin typeface="Calibri"/>
                          <a:cs typeface="Calibri"/>
                        </a:rPr>
                        <a:t>140</a:t>
                      </a:r>
                      <a:r>
                        <a:rPr dirty="0" sz="4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($35M)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27777" sz="600" spc="-75">
                          <a:latin typeface="Calibri"/>
                          <a:cs typeface="Calibri"/>
                        </a:rPr>
                        <a:t>7</a:t>
                      </a:r>
                      <a:endParaRPr baseline="27777" sz="600">
                        <a:latin typeface="Calibri"/>
                        <a:cs typeface="Calibri"/>
                      </a:endParaRPr>
                    </a:p>
                    <a:p>
                      <a:pPr marL="6985" marR="398780">
                        <a:lnSpc>
                          <a:spcPct val="112999"/>
                        </a:lnSpc>
                      </a:pPr>
                      <a:r>
                        <a:rPr dirty="0" sz="450" spc="-25">
                          <a:latin typeface="Calibri"/>
                          <a:cs typeface="Calibri"/>
                        </a:rPr>
                        <a:t>Falcon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>
                          <a:latin typeface="Calibri"/>
                          <a:cs typeface="Calibri"/>
                        </a:rPr>
                        <a:t>8EX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PW307D</a:t>
                      </a:r>
                      <a:r>
                        <a:rPr dirty="0" sz="4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($40M)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0">
                          <a:latin typeface="Calibri"/>
                          <a:cs typeface="Calibri"/>
                        </a:rPr>
                        <a:t>F2000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>
                          <a:latin typeface="Calibri"/>
                          <a:cs typeface="Calibri"/>
                        </a:rPr>
                        <a:t>PW308C+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($40M)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A6C8E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A6C8E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68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algn="ctr" marL="54610" marR="41910" indent="1270">
                        <a:lnSpc>
                          <a:spcPct val="113100"/>
                        </a:lnSpc>
                      </a:pPr>
                      <a:r>
                        <a:rPr dirty="0" sz="450" spc="-20" b="1">
                          <a:latin typeface="Calibri"/>
                          <a:cs typeface="Calibri"/>
                        </a:rPr>
                        <a:t>Major</a:t>
                      </a:r>
                      <a:r>
                        <a:rPr dirty="0" sz="450" spc="50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 b="1">
                          <a:latin typeface="Calibri"/>
                          <a:cs typeface="Calibri"/>
                        </a:rPr>
                        <a:t>Program</a:t>
                      </a:r>
                      <a:r>
                        <a:rPr dirty="0" sz="450" spc="50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 b="1">
                          <a:latin typeface="Calibri"/>
                          <a:cs typeface="Calibri"/>
                        </a:rPr>
                        <a:t>Complexity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450" spc="-25" b="1">
                          <a:latin typeface="Calibri"/>
                          <a:cs typeface="Calibri"/>
                        </a:rPr>
                        <a:t>25+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450" spc="-30">
                          <a:latin typeface="Calibri"/>
                          <a:cs typeface="Calibri"/>
                        </a:rPr>
                        <a:t>HEP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 ($205M)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69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 spc="-35">
                          <a:latin typeface="Calibri"/>
                          <a:cs typeface="Calibri"/>
                        </a:rPr>
                        <a:t>Large</a:t>
                      </a:r>
                      <a:r>
                        <a:rPr dirty="0" sz="4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5">
                          <a:latin typeface="Calibri"/>
                          <a:cs typeface="Calibri"/>
                        </a:rPr>
                        <a:t>T/fan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>
                          <a:latin typeface="Calibri"/>
                          <a:cs typeface="Calibri"/>
                        </a:rPr>
                        <a:t>Tech.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5">
                          <a:latin typeface="Calibri"/>
                          <a:cs typeface="Calibri"/>
                        </a:rPr>
                        <a:t>Demo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 -</a:t>
                      </a:r>
                      <a:r>
                        <a:rPr dirty="0" sz="4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5">
                          <a:latin typeface="Calibri"/>
                          <a:cs typeface="Calibri"/>
                        </a:rPr>
                        <a:t>LTTD</a:t>
                      </a:r>
                      <a:r>
                        <a:rPr dirty="0" sz="4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($TBD)</a:t>
                      </a:r>
                      <a:r>
                        <a:rPr dirty="0" sz="450" spc="265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baseline="34722" sz="600" spc="-75">
                          <a:latin typeface="Calibri"/>
                          <a:cs typeface="Calibri"/>
                        </a:rPr>
                        <a:t>4</a:t>
                      </a:r>
                      <a:endParaRPr baseline="34722" sz="6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450" spc="-40">
                          <a:latin typeface="Calibri"/>
                          <a:cs typeface="Calibri"/>
                        </a:rPr>
                        <a:t>D'Artagnan</a:t>
                      </a:r>
                      <a:r>
                        <a:rPr dirty="0" sz="4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>
                          <a:latin typeface="Calibri"/>
                          <a:cs typeface="Calibri"/>
                        </a:rPr>
                        <a:t>PT6E-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66XT</a:t>
                      </a:r>
                      <a:r>
                        <a:rPr dirty="0" sz="4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($37M)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6985">
                        <a:lnSpc>
                          <a:spcPct val="100000"/>
                        </a:lnSpc>
                        <a:spcBef>
                          <a:spcPts val="70"/>
                        </a:spcBef>
                        <a:tabLst>
                          <a:tab pos="856615" algn="l"/>
                        </a:tabLst>
                      </a:pPr>
                      <a:r>
                        <a:rPr dirty="0" sz="450" spc="-40">
                          <a:latin typeface="Calibri"/>
                          <a:cs typeface="Calibri"/>
                        </a:rPr>
                        <a:t>Aspen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PW545D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($37M)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4722" sz="600" spc="-75">
                          <a:latin typeface="Calibri"/>
                          <a:cs typeface="Calibri"/>
                        </a:rPr>
                        <a:t>8</a:t>
                      </a:r>
                      <a:endParaRPr baseline="34722" sz="600">
                        <a:latin typeface="Calibri"/>
                        <a:cs typeface="Calibri"/>
                      </a:endParaRPr>
                    </a:p>
                    <a:p>
                      <a:pPr marL="6985" marR="372745">
                        <a:lnSpc>
                          <a:spcPct val="113100"/>
                        </a:lnSpc>
                      </a:pPr>
                      <a:r>
                        <a:rPr dirty="0" sz="450" spc="-45">
                          <a:latin typeface="Calibri"/>
                          <a:cs typeface="Calibri"/>
                        </a:rPr>
                        <a:t>Phenom</a:t>
                      </a:r>
                      <a:r>
                        <a:rPr dirty="0" sz="4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0">
                          <a:latin typeface="Calibri"/>
                          <a:cs typeface="Calibri"/>
                        </a:rPr>
                        <a:t>300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PW535E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>
                          <a:latin typeface="Calibri"/>
                          <a:cs typeface="Calibri"/>
                        </a:rPr>
                        <a:t>($47M)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EC175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0">
                          <a:latin typeface="Calibri"/>
                          <a:cs typeface="Calibri"/>
                        </a:rPr>
                        <a:t>PT6C-67E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($79M)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5">
                          <a:latin typeface="Calibri"/>
                          <a:cs typeface="Calibri"/>
                        </a:rPr>
                        <a:t>AW169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5">
                          <a:latin typeface="Calibri"/>
                          <a:cs typeface="Calibri"/>
                        </a:rPr>
                        <a:t>PW210A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($95M)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6985" marR="504190">
                        <a:lnSpc>
                          <a:spcPct val="113100"/>
                        </a:lnSpc>
                      </a:pPr>
                      <a:r>
                        <a:rPr dirty="0" sz="450" spc="-55">
                          <a:latin typeface="Calibri"/>
                          <a:cs typeface="Calibri"/>
                        </a:rPr>
                        <a:t>ATR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5">
                          <a:latin typeface="Calibri"/>
                          <a:cs typeface="Calibri"/>
                        </a:rPr>
                        <a:t>PW127XT</a:t>
                      </a:r>
                      <a:r>
                        <a:rPr dirty="0" sz="4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($112M)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>
                          <a:latin typeface="Calibri"/>
                          <a:cs typeface="Calibri"/>
                        </a:rPr>
                        <a:t>F6X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PW812D</a:t>
                      </a:r>
                      <a:r>
                        <a:rPr dirty="0" sz="4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0">
                          <a:latin typeface="Calibri"/>
                          <a:cs typeface="Calibri"/>
                        </a:rPr>
                        <a:t>($231M)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450" spc="-45" strike="sngStrike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PW814/5</a:t>
                      </a:r>
                      <a:r>
                        <a:rPr dirty="0" sz="450" spc="20" strike="sngStrike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0" strike="sngStrike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Front</a:t>
                      </a:r>
                      <a:r>
                        <a:rPr dirty="0" sz="450" spc="15" strike="sngStrike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 strike="sngStrike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Hub</a:t>
                      </a:r>
                      <a:r>
                        <a:rPr dirty="0" sz="450" spc="15" strike="sngStrike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 strike="sngStrike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Campaign</a:t>
                      </a:r>
                      <a:r>
                        <a:rPr dirty="0" sz="450" spc="20" strike="sngStrike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 strike="sngStrike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($44M)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69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 spc="-45" strike="sngStrike">
                          <a:latin typeface="Calibri"/>
                          <a:cs typeface="Calibri"/>
                        </a:rPr>
                        <a:t>Boomerang</a:t>
                      </a:r>
                      <a:r>
                        <a:rPr dirty="0" sz="450" spc="25" strike="sngStrike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 strike="sngStrike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15" strike="sngStrike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0" strike="sngStrike">
                          <a:latin typeface="Calibri"/>
                          <a:cs typeface="Calibri"/>
                        </a:rPr>
                        <a:t>Vane</a:t>
                      </a:r>
                      <a:r>
                        <a:rPr dirty="0" sz="450" spc="20" strike="sngStrike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 strike="sngStrike">
                          <a:latin typeface="Calibri"/>
                          <a:cs typeface="Calibri"/>
                        </a:rPr>
                        <a:t>machining</a:t>
                      </a:r>
                      <a:r>
                        <a:rPr dirty="0" sz="450" spc="25" strike="sngStrike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 strike="sngStrike">
                          <a:latin typeface="Calibri"/>
                          <a:cs typeface="Calibri"/>
                        </a:rPr>
                        <a:t>($70M)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A6C8E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450" spc="-40">
                          <a:latin typeface="Calibri"/>
                          <a:cs typeface="Calibri"/>
                        </a:rPr>
                        <a:t>Phoenix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>
                          <a:latin typeface="Calibri"/>
                          <a:cs typeface="Calibri"/>
                        </a:rPr>
                        <a:t>PT6E-67XP</a:t>
                      </a:r>
                      <a:r>
                        <a:rPr dirty="0" sz="4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($83M)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6985">
                        <a:lnSpc>
                          <a:spcPct val="100000"/>
                        </a:lnSpc>
                        <a:spcBef>
                          <a:spcPts val="70"/>
                        </a:spcBef>
                        <a:tabLst>
                          <a:tab pos="840740" algn="l"/>
                        </a:tabLst>
                      </a:pPr>
                      <a:r>
                        <a:rPr dirty="0" sz="450" spc="-45">
                          <a:latin typeface="Calibri"/>
                          <a:cs typeface="Calibri"/>
                        </a:rPr>
                        <a:t>Phenom</a:t>
                      </a:r>
                      <a:r>
                        <a:rPr dirty="0" sz="4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0">
                          <a:latin typeface="Calibri"/>
                          <a:cs typeface="Calibri"/>
                        </a:rPr>
                        <a:t>100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PW617F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($90M)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27777" sz="600" spc="-37">
                          <a:latin typeface="Calibri"/>
                          <a:cs typeface="Calibri"/>
                        </a:rPr>
                        <a:t>10</a:t>
                      </a:r>
                      <a:endParaRPr baseline="27777" sz="600">
                        <a:latin typeface="Calibri"/>
                        <a:cs typeface="Calibri"/>
                      </a:endParaRPr>
                    </a:p>
                    <a:p>
                      <a:pPr marL="6985" marR="402590">
                        <a:lnSpc>
                          <a:spcPct val="113100"/>
                        </a:lnSpc>
                      </a:pPr>
                      <a:r>
                        <a:rPr dirty="0" sz="450" spc="-45">
                          <a:latin typeface="Calibri"/>
                          <a:cs typeface="Calibri"/>
                        </a:rPr>
                        <a:t>Mustang</a:t>
                      </a:r>
                      <a:r>
                        <a:rPr dirty="0" sz="4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PW615F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($103M)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Falcon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7X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5">
                          <a:latin typeface="Calibri"/>
                          <a:cs typeface="Calibri"/>
                        </a:rPr>
                        <a:t>PW307A</a:t>
                      </a:r>
                      <a:r>
                        <a:rPr dirty="0" sz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>
                          <a:latin typeface="Calibri"/>
                          <a:cs typeface="Calibri"/>
                        </a:rPr>
                        <a:t>($179M)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0">
                          <a:latin typeface="Calibri"/>
                          <a:cs typeface="Calibri"/>
                        </a:rPr>
                        <a:t>S76D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>
                          <a:latin typeface="Calibri"/>
                          <a:cs typeface="Calibri"/>
                        </a:rPr>
                        <a:t>PW210S</a:t>
                      </a:r>
                      <a:r>
                        <a:rPr dirty="0" sz="4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($180M)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6985" marR="246379">
                        <a:lnSpc>
                          <a:spcPct val="113100"/>
                        </a:lnSpc>
                      </a:pPr>
                      <a:r>
                        <a:rPr dirty="0" sz="450" spc="-35">
                          <a:latin typeface="Calibri"/>
                          <a:cs typeface="Calibri"/>
                        </a:rPr>
                        <a:t>Elevate</a:t>
                      </a:r>
                      <a:r>
                        <a:rPr dirty="0" sz="4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>
                          <a:latin typeface="Calibri"/>
                          <a:cs typeface="Calibri"/>
                        </a:rPr>
                        <a:t>Tremblant</a:t>
                      </a:r>
                      <a:r>
                        <a:rPr dirty="0" sz="4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85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>
                          <a:latin typeface="Calibri"/>
                          <a:cs typeface="Calibri"/>
                        </a:rPr>
                        <a:t>Jasper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0">
                          <a:latin typeface="Calibri"/>
                          <a:cs typeface="Calibri"/>
                        </a:rPr>
                        <a:t>($757M)</a:t>
                      </a:r>
                      <a:r>
                        <a:rPr dirty="0" sz="45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35">
                          <a:latin typeface="Calibri"/>
                          <a:cs typeface="Calibri"/>
                        </a:rPr>
                        <a:t>G500/600/400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0">
                          <a:latin typeface="Calibri"/>
                          <a:cs typeface="Calibri"/>
                        </a:rPr>
                        <a:t>PW800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($1,454M)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450" spc="-60">
                          <a:latin typeface="Calibri"/>
                          <a:cs typeface="Calibri"/>
                        </a:rPr>
                        <a:t>PW</a:t>
                      </a:r>
                      <a:r>
                        <a:rPr dirty="0" sz="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5">
                          <a:latin typeface="Calibri"/>
                          <a:cs typeface="Calibri"/>
                        </a:rPr>
                        <a:t>Morocco</a:t>
                      </a:r>
                      <a:r>
                        <a:rPr dirty="0" sz="4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>
                          <a:latin typeface="Calibri"/>
                          <a:cs typeface="Calibri"/>
                        </a:rPr>
                        <a:t>($71M)</a:t>
                      </a:r>
                      <a:endParaRPr sz="450">
                        <a:latin typeface="Calibri"/>
                        <a:cs typeface="Calibri"/>
                      </a:endParaRPr>
                    </a:p>
                    <a:p>
                      <a:pPr marL="69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450" spc="-35" strike="sngStrike">
                          <a:latin typeface="Calibri"/>
                          <a:cs typeface="Calibri"/>
                        </a:rPr>
                        <a:t>Optimus</a:t>
                      </a:r>
                      <a:r>
                        <a:rPr dirty="0" sz="450" spc="-10" strike="sngStrike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25" strike="sngStrike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450" spc="5" strike="sngStrike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45" strike="sngStrike">
                          <a:latin typeface="Calibri"/>
                          <a:cs typeface="Calibri"/>
                        </a:rPr>
                        <a:t>Turbine</a:t>
                      </a:r>
                      <a:r>
                        <a:rPr dirty="0" sz="450" strike="sngStrike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 strike="sngStrike">
                          <a:latin typeface="Calibri"/>
                          <a:cs typeface="Calibri"/>
                        </a:rPr>
                        <a:t>Discs</a:t>
                      </a:r>
                      <a:r>
                        <a:rPr dirty="0" sz="450" spc="-5" strike="sngStrike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50" spc="-10" strike="sngStrike">
                          <a:latin typeface="Calibri"/>
                          <a:cs typeface="Calibri"/>
                        </a:rPr>
                        <a:t>($86M)</a:t>
                      </a:r>
                      <a:endParaRPr sz="45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31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</a:tr>
              <a:tr h="109855">
                <a:tc gridSpan="11"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u="sng" sz="350" spc="-25" b="1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Key</a:t>
                      </a:r>
                      <a:endParaRPr sz="3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6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8ED97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350" spc="-30" b="1">
                          <a:latin typeface="Calibri"/>
                          <a:cs typeface="Calibri"/>
                        </a:rPr>
                        <a:t>Propopsed</a:t>
                      </a:r>
                      <a:r>
                        <a:rPr dirty="0" sz="350" spc="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 spc="-10" b="1">
                          <a:latin typeface="Calibri"/>
                          <a:cs typeface="Calibri"/>
                        </a:rPr>
                        <a:t>Archetypes</a:t>
                      </a:r>
                      <a:endParaRPr sz="350">
                        <a:latin typeface="Calibri"/>
                        <a:cs typeface="Calibri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350" spc="-35" b="1"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350" spc="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 spc="-30" b="1">
                          <a:latin typeface="Calibri"/>
                          <a:cs typeface="Calibri"/>
                        </a:rPr>
                        <a:t>archetype</a:t>
                      </a:r>
                      <a:r>
                        <a:rPr dirty="0" sz="350" spc="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 spc="-10" b="1">
                          <a:latin typeface="Calibri"/>
                          <a:cs typeface="Calibri"/>
                        </a:rPr>
                        <a:t>required</a:t>
                      </a:r>
                      <a:endParaRPr sz="3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3175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400">
                          <a:latin typeface="Calibri"/>
                          <a:cs typeface="Calibri"/>
                        </a:rPr>
                        <a:t>X</a:t>
                      </a:r>
                      <a:r>
                        <a:rPr dirty="0" sz="400" spc="4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 spc="-30" b="1">
                          <a:latin typeface="Calibri"/>
                          <a:cs typeface="Calibri"/>
                        </a:rPr>
                        <a:t>Archetype</a:t>
                      </a:r>
                      <a:r>
                        <a:rPr dirty="0" sz="35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50" spc="-10" b="1">
                          <a:latin typeface="Calibri"/>
                          <a:cs typeface="Calibri"/>
                        </a:rPr>
                        <a:t>ident</a:t>
                      </a:r>
                      <a:endParaRPr sz="35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3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6C8EB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5875">
                    <a:lnL w="3175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413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9" name="object 39" descr=""/>
          <p:cNvSpPr/>
          <p:nvPr/>
        </p:nvSpPr>
        <p:spPr>
          <a:xfrm>
            <a:off x="100256" y="5869571"/>
            <a:ext cx="11978005" cy="311150"/>
          </a:xfrm>
          <a:custGeom>
            <a:avLst/>
            <a:gdLst/>
            <a:ahLst/>
            <a:cxnLst/>
            <a:rect l="l" t="t" r="r" b="b"/>
            <a:pathLst>
              <a:path w="11978005" h="311150">
                <a:moveTo>
                  <a:pt x="11977624" y="0"/>
                </a:moveTo>
                <a:lnTo>
                  <a:pt x="0" y="0"/>
                </a:lnTo>
                <a:lnTo>
                  <a:pt x="0" y="310832"/>
                </a:lnTo>
                <a:lnTo>
                  <a:pt x="11977624" y="310832"/>
                </a:lnTo>
                <a:lnTo>
                  <a:pt x="11977624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1470786" y="5823000"/>
            <a:ext cx="9236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70300" algn="l"/>
              </a:tabLst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RLPM</a:t>
            </a:r>
            <a:r>
              <a:rPr dirty="0" sz="24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Arial"/>
                <a:cs typeface="Arial"/>
              </a:rPr>
              <a:t>Tailoring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Capability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Intersection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400" spc="-1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Archetypes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BU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Plans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6406896" y="2701035"/>
            <a:ext cx="601980" cy="615950"/>
            <a:chOff x="6406896" y="2701035"/>
            <a:chExt cx="601980" cy="615950"/>
          </a:xfrm>
        </p:grpSpPr>
        <p:sp>
          <p:nvSpPr>
            <p:cNvPr id="42" name="object 42" descr=""/>
            <p:cNvSpPr/>
            <p:nvPr/>
          </p:nvSpPr>
          <p:spPr>
            <a:xfrm>
              <a:off x="6413246" y="2707385"/>
              <a:ext cx="589280" cy="603250"/>
            </a:xfrm>
            <a:custGeom>
              <a:avLst/>
              <a:gdLst/>
              <a:ahLst/>
              <a:cxnLst/>
              <a:rect l="l" t="t" r="r" b="b"/>
              <a:pathLst>
                <a:path w="589279" h="603250">
                  <a:moveTo>
                    <a:pt x="294385" y="0"/>
                  </a:moveTo>
                  <a:lnTo>
                    <a:pt x="294385" y="150749"/>
                  </a:lnTo>
                  <a:lnTo>
                    <a:pt x="0" y="150749"/>
                  </a:lnTo>
                  <a:lnTo>
                    <a:pt x="0" y="451992"/>
                  </a:lnTo>
                  <a:lnTo>
                    <a:pt x="294385" y="451992"/>
                  </a:lnTo>
                  <a:lnTo>
                    <a:pt x="294385" y="602741"/>
                  </a:lnTo>
                  <a:lnTo>
                    <a:pt x="588772" y="301371"/>
                  </a:lnTo>
                  <a:lnTo>
                    <a:pt x="294385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413246" y="2707385"/>
              <a:ext cx="589280" cy="603250"/>
            </a:xfrm>
            <a:custGeom>
              <a:avLst/>
              <a:gdLst/>
              <a:ahLst/>
              <a:cxnLst/>
              <a:rect l="l" t="t" r="r" b="b"/>
              <a:pathLst>
                <a:path w="589279" h="603250">
                  <a:moveTo>
                    <a:pt x="0" y="150749"/>
                  </a:moveTo>
                  <a:lnTo>
                    <a:pt x="294385" y="150749"/>
                  </a:lnTo>
                  <a:lnTo>
                    <a:pt x="294385" y="0"/>
                  </a:lnTo>
                  <a:lnTo>
                    <a:pt x="588772" y="301371"/>
                  </a:lnTo>
                  <a:lnTo>
                    <a:pt x="294385" y="602741"/>
                  </a:lnTo>
                  <a:lnTo>
                    <a:pt x="294385" y="451992"/>
                  </a:lnTo>
                  <a:lnTo>
                    <a:pt x="0" y="451992"/>
                  </a:lnTo>
                  <a:lnTo>
                    <a:pt x="0" y="150749"/>
                  </a:lnTo>
                  <a:close/>
                </a:path>
              </a:pathLst>
            </a:custGeom>
            <a:ln w="12700">
              <a:solidFill>
                <a:srgbClr val="070A1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393293" y="4599698"/>
            <a:ext cx="5580380" cy="261620"/>
          </a:xfrm>
          <a:prstGeom prst="rect">
            <a:avLst/>
          </a:prstGeom>
          <a:ln w="9525">
            <a:solidFill>
              <a:srgbClr val="A6A6A6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335"/>
              </a:spcBef>
            </a:pPr>
            <a:r>
              <a:rPr dirty="0" sz="1100" b="1">
                <a:solidFill>
                  <a:srgbClr val="1F2A44"/>
                </a:solidFill>
                <a:latin typeface="Arial"/>
                <a:cs typeface="Arial"/>
              </a:rPr>
              <a:t>10</a:t>
            </a:r>
            <a:r>
              <a:rPr dirty="0" sz="1100" spc="-35" b="1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F2A44"/>
                </a:solidFill>
                <a:latin typeface="Arial"/>
                <a:cs typeface="Arial"/>
              </a:rPr>
              <a:t>RLPM</a:t>
            </a:r>
            <a:r>
              <a:rPr dirty="0" sz="1100" spc="-25" b="1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F2A44"/>
                </a:solidFill>
                <a:latin typeface="Arial"/>
                <a:cs typeface="Arial"/>
              </a:rPr>
              <a:t>Archetypes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46" name="object 4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358640">
              <a:lnSpc>
                <a:spcPts val="142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7" name="object 47" descr=""/>
          <p:cNvSpPr txBox="1"/>
          <p:nvPr/>
        </p:nvSpPr>
        <p:spPr>
          <a:xfrm>
            <a:off x="1719452" y="6560535"/>
            <a:ext cx="8753475" cy="26162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800">
                <a:latin typeface="Arial"/>
                <a:cs typeface="Arial"/>
              </a:rPr>
              <a:t>RTX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Corporation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(Corporate)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-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Proprietary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800">
                <a:latin typeface="Arial"/>
                <a:cs typeface="Arial"/>
              </a:rPr>
              <a:t>Technical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Material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not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controlled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under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local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export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regulations.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This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document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is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not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controlled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under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U.S.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regulations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but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may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contain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Technical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Material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that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is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controlled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by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other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jurisdictions.</a:t>
            </a:r>
            <a:endParaRPr sz="800">
              <a:latin typeface="Arial"/>
              <a:cs typeface="Arial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7355205" y="4627384"/>
            <a:ext cx="4608195" cy="261620"/>
          </a:xfrm>
          <a:prstGeom prst="rect">
            <a:avLst/>
          </a:prstGeom>
          <a:ln w="9525">
            <a:solidFill>
              <a:srgbClr val="A6A6A6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335"/>
              </a:spcBef>
            </a:pPr>
            <a:r>
              <a:rPr dirty="0" sz="1100" b="1">
                <a:solidFill>
                  <a:srgbClr val="1F2A44"/>
                </a:solidFill>
                <a:latin typeface="Arial"/>
                <a:cs typeface="Arial"/>
              </a:rPr>
              <a:t>5</a:t>
            </a:r>
            <a:r>
              <a:rPr dirty="0" sz="1100" spc="-40" b="1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F2A44"/>
                </a:solidFill>
                <a:latin typeface="Arial"/>
                <a:cs typeface="Arial"/>
              </a:rPr>
              <a:t>RLPM</a:t>
            </a:r>
            <a:r>
              <a:rPr dirty="0" sz="1100" spc="-35" b="1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F2A44"/>
                </a:solidFill>
                <a:latin typeface="Arial"/>
                <a:cs typeface="Arial"/>
              </a:rPr>
              <a:t>Lifecycle</a:t>
            </a:r>
            <a:r>
              <a:rPr dirty="0" sz="1100" spc="-30" b="1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F2A44"/>
                </a:solidFill>
                <a:latin typeface="Arial"/>
                <a:cs typeface="Arial"/>
              </a:rPr>
              <a:t>BU</a:t>
            </a:r>
            <a:r>
              <a:rPr dirty="0" sz="1100" spc="-30" b="1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F2A44"/>
                </a:solidFill>
                <a:latin typeface="Arial"/>
                <a:cs typeface="Arial"/>
              </a:rPr>
              <a:t>Plans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937956"/>
            <a:ext cx="12181840" cy="839469"/>
          </a:xfrm>
          <a:custGeom>
            <a:avLst/>
            <a:gdLst/>
            <a:ahLst/>
            <a:cxnLst/>
            <a:rect l="l" t="t" r="r" b="b"/>
            <a:pathLst>
              <a:path w="12181840" h="839469">
                <a:moveTo>
                  <a:pt x="12181565" y="0"/>
                </a:moveTo>
                <a:lnTo>
                  <a:pt x="0" y="0"/>
                </a:lnTo>
                <a:lnTo>
                  <a:pt x="0" y="838898"/>
                </a:lnTo>
                <a:lnTo>
                  <a:pt x="12181565" y="838898"/>
                </a:lnTo>
                <a:lnTo>
                  <a:pt x="12181565" y="0"/>
                </a:lnTo>
                <a:close/>
              </a:path>
            </a:pathLst>
          </a:custGeom>
          <a:solidFill>
            <a:srgbClr val="1F2A44">
              <a:alpha val="109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1061" y="1929511"/>
            <a:ext cx="65532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1F2A44"/>
                </a:solidFill>
                <a:latin typeface="Arial"/>
                <a:cs typeface="Arial"/>
              </a:rPr>
              <a:t>Phases</a:t>
            </a:r>
            <a:r>
              <a:rPr dirty="0" sz="1100" spc="-35" b="1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100" spc="-50" b="1">
                <a:solidFill>
                  <a:srgbClr val="1F2A44"/>
                </a:solidFill>
                <a:latin typeface="Arial"/>
                <a:cs typeface="Arial"/>
              </a:rPr>
              <a:t>&amp;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1061" y="2258949"/>
            <a:ext cx="130746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1F2A44"/>
                </a:solidFill>
                <a:latin typeface="Arial"/>
                <a:cs typeface="Arial"/>
              </a:rPr>
              <a:t>milestones</a:t>
            </a:r>
            <a:r>
              <a:rPr dirty="0" sz="1100" spc="-65" b="1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F2A44"/>
                </a:solidFill>
                <a:latin typeface="Arial"/>
                <a:cs typeface="Arial"/>
              </a:rPr>
              <a:t>reviews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7790">
              <a:lnSpc>
                <a:spcPct val="100000"/>
              </a:lnSpc>
              <a:spcBef>
                <a:spcPts val="100"/>
              </a:spcBef>
            </a:pPr>
            <a:r>
              <a:rPr dirty="0"/>
              <a:t>RLPM</a:t>
            </a:r>
            <a:r>
              <a:rPr dirty="0" spc="30"/>
              <a:t> </a:t>
            </a:r>
            <a:r>
              <a:rPr dirty="0" spc="-20"/>
              <a:t>OVERVIEW-</a:t>
            </a:r>
            <a:r>
              <a:rPr dirty="0" spc="-10"/>
              <a:t>PRODUCTION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1421871" y="6477101"/>
            <a:ext cx="120014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B8B9B0"/>
                </a:solidFill>
                <a:latin typeface="Arial Narrow"/>
                <a:cs typeface="Arial Narrow"/>
              </a:rPr>
              <a:t>13</a:t>
            </a:r>
            <a:endParaRPr sz="800">
              <a:latin typeface="Arial Narrow"/>
              <a:cs typeface="Arial Narro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849247" y="1178542"/>
            <a:ext cx="8237855" cy="36322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227455" indent="-1228090">
              <a:lnSpc>
                <a:spcPct val="67200"/>
              </a:lnSpc>
              <a:spcBef>
                <a:spcPts val="735"/>
              </a:spcBef>
              <a:tabLst>
                <a:tab pos="2800350" algn="l"/>
                <a:tab pos="4109085" algn="l"/>
                <a:tab pos="4139565" algn="l"/>
                <a:tab pos="5468620" algn="l"/>
                <a:tab pos="5747385" algn="l"/>
                <a:tab pos="7173595" algn="l"/>
                <a:tab pos="7482840" algn="l"/>
              </a:tabLst>
            </a:pPr>
            <a:r>
              <a:rPr dirty="0" baseline="2645" sz="1575" spc="-15">
                <a:solidFill>
                  <a:srgbClr val="1F2A44"/>
                </a:solidFill>
                <a:latin typeface="Arial"/>
                <a:cs typeface="Arial"/>
              </a:rPr>
              <a:t>Strategy</a:t>
            </a:r>
            <a:r>
              <a:rPr dirty="0" baseline="2645" sz="1575">
                <a:solidFill>
                  <a:srgbClr val="1F2A44"/>
                </a:solidFill>
                <a:latin typeface="Arial"/>
                <a:cs typeface="Arial"/>
              </a:rPr>
              <a:t>		</a:t>
            </a:r>
            <a:r>
              <a:rPr dirty="0" sz="1050" spc="-10">
                <a:solidFill>
                  <a:srgbClr val="1F2A44"/>
                </a:solidFill>
                <a:latin typeface="Arial"/>
                <a:cs typeface="Arial"/>
              </a:rPr>
              <a:t>Startup</a:t>
            </a:r>
            <a:r>
              <a:rPr dirty="0" sz="1050">
                <a:solidFill>
                  <a:srgbClr val="1F2A44"/>
                </a:solidFill>
                <a:latin typeface="Arial"/>
                <a:cs typeface="Arial"/>
              </a:rPr>
              <a:t>	</a:t>
            </a:r>
            <a:r>
              <a:rPr dirty="0" sz="1050" spc="-10">
                <a:solidFill>
                  <a:srgbClr val="1F2A44"/>
                </a:solidFill>
                <a:latin typeface="Arial"/>
                <a:cs typeface="Arial"/>
              </a:rPr>
              <a:t>Production</a:t>
            </a:r>
            <a:r>
              <a:rPr dirty="0" sz="1050">
                <a:solidFill>
                  <a:srgbClr val="1F2A44"/>
                </a:solidFill>
                <a:latin typeface="Arial"/>
                <a:cs typeface="Arial"/>
              </a:rPr>
              <a:t>		</a:t>
            </a:r>
            <a:r>
              <a:rPr dirty="0" baseline="21164" sz="1575" spc="-15">
                <a:solidFill>
                  <a:srgbClr val="1F2A44"/>
                </a:solidFill>
                <a:latin typeface="Arial"/>
                <a:cs typeface="Arial"/>
              </a:rPr>
              <a:t>Production</a:t>
            </a:r>
            <a:r>
              <a:rPr dirty="0" baseline="21164" sz="1575">
                <a:solidFill>
                  <a:srgbClr val="1F2A44"/>
                </a:solidFill>
                <a:latin typeface="Arial"/>
                <a:cs typeface="Arial"/>
              </a:rPr>
              <a:t>	</a:t>
            </a:r>
            <a:r>
              <a:rPr dirty="0" sz="1050" spc="-10">
                <a:solidFill>
                  <a:srgbClr val="1F2A44"/>
                </a:solidFill>
                <a:latin typeface="Arial"/>
                <a:cs typeface="Arial"/>
              </a:rPr>
              <a:t>Discontinuation</a:t>
            </a:r>
            <a:r>
              <a:rPr dirty="0" sz="1050" spc="7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1F2A44"/>
                </a:solidFill>
                <a:latin typeface="Arial"/>
                <a:cs typeface="Arial"/>
              </a:rPr>
              <a:t>of </a:t>
            </a:r>
            <a:r>
              <a:rPr dirty="0" baseline="-7936" sz="1575" spc="-15">
                <a:solidFill>
                  <a:srgbClr val="1F2A44"/>
                </a:solidFill>
                <a:latin typeface="Arial"/>
                <a:cs typeface="Arial"/>
              </a:rPr>
              <a:t>Submit/Commit</a:t>
            </a:r>
            <a:r>
              <a:rPr dirty="0" baseline="-7936" sz="1575">
                <a:solidFill>
                  <a:srgbClr val="1F2A44"/>
                </a:solidFill>
                <a:latin typeface="Arial"/>
                <a:cs typeface="Arial"/>
              </a:rPr>
              <a:t>			</a:t>
            </a:r>
            <a:r>
              <a:rPr dirty="0" baseline="-21164" sz="1575" spc="-15">
                <a:solidFill>
                  <a:srgbClr val="1F2A44"/>
                </a:solidFill>
                <a:latin typeface="Arial"/>
                <a:cs typeface="Arial"/>
              </a:rPr>
              <a:t>readiness</a:t>
            </a:r>
            <a:r>
              <a:rPr dirty="0" baseline="-21164" sz="1575">
                <a:solidFill>
                  <a:srgbClr val="1F2A44"/>
                </a:solidFill>
                <a:latin typeface="Arial"/>
                <a:cs typeface="Arial"/>
              </a:rPr>
              <a:t>	</a:t>
            </a:r>
            <a:r>
              <a:rPr dirty="0" sz="1050">
                <a:solidFill>
                  <a:srgbClr val="1F2A44"/>
                </a:solidFill>
                <a:latin typeface="Arial"/>
                <a:cs typeface="Arial"/>
              </a:rPr>
              <a:t>closure/field</a:t>
            </a:r>
            <a:r>
              <a:rPr dirty="0" sz="1050" spc="-5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44"/>
                </a:solidFill>
                <a:latin typeface="Arial"/>
                <a:cs typeface="Arial"/>
              </a:rPr>
              <a:t>support</a:t>
            </a:r>
            <a:r>
              <a:rPr dirty="0" sz="1050">
                <a:solidFill>
                  <a:srgbClr val="1F2A44"/>
                </a:solidFill>
                <a:latin typeface="Arial"/>
                <a:cs typeface="Arial"/>
              </a:rPr>
              <a:t>		</a:t>
            </a:r>
            <a:r>
              <a:rPr dirty="0" baseline="-21164" sz="1575" spc="-15">
                <a:solidFill>
                  <a:srgbClr val="1F2A44"/>
                </a:solidFill>
                <a:latin typeface="Arial"/>
                <a:cs typeface="Arial"/>
              </a:rPr>
              <a:t>support</a:t>
            </a:r>
            <a:endParaRPr baseline="-21164" sz="1575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179573" y="2447670"/>
            <a:ext cx="7908925" cy="205740"/>
            <a:chOff x="2179573" y="2447670"/>
            <a:chExt cx="7908925" cy="205740"/>
          </a:xfrm>
        </p:grpSpPr>
        <p:sp>
          <p:nvSpPr>
            <p:cNvPr id="9" name="object 9" descr=""/>
            <p:cNvSpPr/>
            <p:nvPr/>
          </p:nvSpPr>
          <p:spPr>
            <a:xfrm>
              <a:off x="2279776" y="2489580"/>
              <a:ext cx="7802245" cy="128905"/>
            </a:xfrm>
            <a:custGeom>
              <a:avLst/>
              <a:gdLst/>
              <a:ahLst/>
              <a:cxnLst/>
              <a:rect l="l" t="t" r="r" b="b"/>
              <a:pathLst>
                <a:path w="7802245" h="128905">
                  <a:moveTo>
                    <a:pt x="7780655" y="0"/>
                  </a:moveTo>
                  <a:lnTo>
                    <a:pt x="21590" y="0"/>
                  </a:lnTo>
                  <a:lnTo>
                    <a:pt x="13180" y="1692"/>
                  </a:lnTo>
                  <a:lnTo>
                    <a:pt x="6318" y="6302"/>
                  </a:lnTo>
                  <a:lnTo>
                    <a:pt x="1694" y="13126"/>
                  </a:lnTo>
                  <a:lnTo>
                    <a:pt x="0" y="21463"/>
                  </a:lnTo>
                  <a:lnTo>
                    <a:pt x="0" y="107442"/>
                  </a:lnTo>
                  <a:lnTo>
                    <a:pt x="1694" y="115778"/>
                  </a:lnTo>
                  <a:lnTo>
                    <a:pt x="6318" y="122602"/>
                  </a:lnTo>
                  <a:lnTo>
                    <a:pt x="13180" y="127212"/>
                  </a:lnTo>
                  <a:lnTo>
                    <a:pt x="21590" y="128905"/>
                  </a:lnTo>
                  <a:lnTo>
                    <a:pt x="7780655" y="128905"/>
                  </a:lnTo>
                  <a:lnTo>
                    <a:pt x="7789044" y="127212"/>
                  </a:lnTo>
                  <a:lnTo>
                    <a:pt x="7795863" y="122602"/>
                  </a:lnTo>
                  <a:lnTo>
                    <a:pt x="7800443" y="115778"/>
                  </a:lnTo>
                  <a:lnTo>
                    <a:pt x="7802118" y="107442"/>
                  </a:lnTo>
                  <a:lnTo>
                    <a:pt x="7802118" y="21463"/>
                  </a:lnTo>
                  <a:lnTo>
                    <a:pt x="7800443" y="13126"/>
                  </a:lnTo>
                  <a:lnTo>
                    <a:pt x="7795863" y="6302"/>
                  </a:lnTo>
                  <a:lnTo>
                    <a:pt x="7789044" y="1692"/>
                  </a:lnTo>
                  <a:lnTo>
                    <a:pt x="7780655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279776" y="2489580"/>
              <a:ext cx="7802245" cy="128905"/>
            </a:xfrm>
            <a:custGeom>
              <a:avLst/>
              <a:gdLst/>
              <a:ahLst/>
              <a:cxnLst/>
              <a:rect l="l" t="t" r="r" b="b"/>
              <a:pathLst>
                <a:path w="7802245" h="128905">
                  <a:moveTo>
                    <a:pt x="0" y="21463"/>
                  </a:moveTo>
                  <a:lnTo>
                    <a:pt x="1694" y="13126"/>
                  </a:lnTo>
                  <a:lnTo>
                    <a:pt x="6318" y="6302"/>
                  </a:lnTo>
                  <a:lnTo>
                    <a:pt x="13180" y="1692"/>
                  </a:lnTo>
                  <a:lnTo>
                    <a:pt x="21590" y="0"/>
                  </a:lnTo>
                  <a:lnTo>
                    <a:pt x="7780655" y="0"/>
                  </a:lnTo>
                  <a:lnTo>
                    <a:pt x="7789044" y="1692"/>
                  </a:lnTo>
                  <a:lnTo>
                    <a:pt x="7795863" y="6302"/>
                  </a:lnTo>
                  <a:lnTo>
                    <a:pt x="7800443" y="13126"/>
                  </a:lnTo>
                  <a:lnTo>
                    <a:pt x="7802118" y="21463"/>
                  </a:lnTo>
                  <a:lnTo>
                    <a:pt x="7802118" y="107442"/>
                  </a:lnTo>
                  <a:lnTo>
                    <a:pt x="7800443" y="115778"/>
                  </a:lnTo>
                  <a:lnTo>
                    <a:pt x="7795863" y="122602"/>
                  </a:lnTo>
                  <a:lnTo>
                    <a:pt x="7789044" y="127212"/>
                  </a:lnTo>
                  <a:lnTo>
                    <a:pt x="7780655" y="128905"/>
                  </a:lnTo>
                  <a:lnTo>
                    <a:pt x="21590" y="128905"/>
                  </a:lnTo>
                  <a:lnTo>
                    <a:pt x="13180" y="127212"/>
                  </a:lnTo>
                  <a:lnTo>
                    <a:pt x="6318" y="122602"/>
                  </a:lnTo>
                  <a:lnTo>
                    <a:pt x="1694" y="115778"/>
                  </a:lnTo>
                  <a:lnTo>
                    <a:pt x="0" y="107442"/>
                  </a:lnTo>
                  <a:lnTo>
                    <a:pt x="0" y="21463"/>
                  </a:lnTo>
                  <a:close/>
                </a:path>
              </a:pathLst>
            </a:custGeom>
            <a:ln w="12700">
              <a:solidFill>
                <a:srgbClr val="070A1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179574" y="2447670"/>
              <a:ext cx="6644005" cy="205740"/>
            </a:xfrm>
            <a:custGeom>
              <a:avLst/>
              <a:gdLst/>
              <a:ahLst/>
              <a:cxnLst/>
              <a:rect l="l" t="t" r="r" b="b"/>
              <a:pathLst>
                <a:path w="6644005" h="205739">
                  <a:moveTo>
                    <a:pt x="173990" y="108458"/>
                  </a:moveTo>
                  <a:lnTo>
                    <a:pt x="86995" y="19812"/>
                  </a:lnTo>
                  <a:lnTo>
                    <a:pt x="0" y="108458"/>
                  </a:lnTo>
                  <a:lnTo>
                    <a:pt x="86995" y="197231"/>
                  </a:lnTo>
                  <a:lnTo>
                    <a:pt x="173990" y="108458"/>
                  </a:lnTo>
                  <a:close/>
                </a:path>
                <a:path w="6644005" h="205739">
                  <a:moveTo>
                    <a:pt x="5153787" y="98552"/>
                  </a:moveTo>
                  <a:lnTo>
                    <a:pt x="5057648" y="0"/>
                  </a:lnTo>
                  <a:lnTo>
                    <a:pt x="4961509" y="98552"/>
                  </a:lnTo>
                  <a:lnTo>
                    <a:pt x="5057648" y="197231"/>
                  </a:lnTo>
                  <a:lnTo>
                    <a:pt x="5153787" y="98552"/>
                  </a:lnTo>
                  <a:close/>
                </a:path>
                <a:path w="6644005" h="205739">
                  <a:moveTo>
                    <a:pt x="6643751" y="102616"/>
                  </a:moveTo>
                  <a:lnTo>
                    <a:pt x="6550406" y="0"/>
                  </a:lnTo>
                  <a:lnTo>
                    <a:pt x="6457061" y="102616"/>
                  </a:lnTo>
                  <a:lnTo>
                    <a:pt x="6550406" y="205232"/>
                  </a:lnTo>
                  <a:lnTo>
                    <a:pt x="6643751" y="102616"/>
                  </a:lnTo>
                  <a:close/>
                </a:path>
              </a:pathLst>
            </a:custGeom>
            <a:solidFill>
              <a:srgbClr val="00A9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2056638" y="2285745"/>
            <a:ext cx="6940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1F2A44"/>
                </a:solidFill>
                <a:latin typeface="Arial"/>
                <a:cs typeface="Arial"/>
              </a:rPr>
              <a:t>Production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694944" y="2773172"/>
            <a:ext cx="10667365" cy="0"/>
          </a:xfrm>
          <a:custGeom>
            <a:avLst/>
            <a:gdLst/>
            <a:ahLst/>
            <a:cxnLst/>
            <a:rect l="l" t="t" r="r" b="b"/>
            <a:pathLst>
              <a:path w="10667365" h="0">
                <a:moveTo>
                  <a:pt x="0" y="0"/>
                </a:moveTo>
                <a:lnTo>
                  <a:pt x="10667111" y="0"/>
                </a:lnTo>
              </a:path>
            </a:pathLst>
          </a:custGeom>
          <a:ln w="6350">
            <a:solidFill>
              <a:srgbClr val="1F2A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394449" y="6122504"/>
            <a:ext cx="1094105" cy="462280"/>
          </a:xfrm>
          <a:custGeom>
            <a:avLst/>
            <a:gdLst/>
            <a:ahLst/>
            <a:cxnLst/>
            <a:rect l="l" t="t" r="r" b="b"/>
            <a:pathLst>
              <a:path w="1094105" h="462279">
                <a:moveTo>
                  <a:pt x="1093698" y="0"/>
                </a:moveTo>
                <a:lnTo>
                  <a:pt x="0" y="0"/>
                </a:lnTo>
                <a:lnTo>
                  <a:pt x="0" y="461670"/>
                </a:lnTo>
                <a:lnTo>
                  <a:pt x="1093698" y="461670"/>
                </a:lnTo>
                <a:lnTo>
                  <a:pt x="10936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2138933" y="2633218"/>
            <a:ext cx="24701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1F2A44"/>
                </a:solidFill>
                <a:latin typeface="Arial"/>
                <a:cs typeface="Arial"/>
              </a:rPr>
              <a:t>OVR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561581" y="2632709"/>
            <a:ext cx="13614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1F2A44"/>
                </a:solidFill>
                <a:latin typeface="Arial"/>
                <a:cs typeface="Arial"/>
              </a:rPr>
              <a:t>Pre-</a:t>
            </a:r>
            <a:r>
              <a:rPr dirty="0" sz="900">
                <a:solidFill>
                  <a:srgbClr val="1F2A44"/>
                </a:solidFill>
                <a:latin typeface="Arial"/>
                <a:cs typeface="Arial"/>
              </a:rPr>
              <a:t>Production</a:t>
            </a:r>
            <a:r>
              <a:rPr dirty="0" sz="9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F2A44"/>
                </a:solidFill>
                <a:latin typeface="Arial"/>
                <a:cs typeface="Arial"/>
              </a:rPr>
              <a:t>Readiness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061452" y="2639059"/>
            <a:ext cx="12598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1F2A44"/>
                </a:solidFill>
                <a:latin typeface="Arial"/>
                <a:cs typeface="Arial"/>
              </a:rPr>
              <a:t>Production</a:t>
            </a:r>
            <a:r>
              <a:rPr dirty="0" sz="900" spc="-4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F2A44"/>
                </a:solidFill>
                <a:latin typeface="Arial"/>
                <a:cs typeface="Arial"/>
              </a:rPr>
              <a:t>Performance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79790" y="778890"/>
            <a:ext cx="12078970" cy="2917825"/>
            <a:chOff x="79790" y="778890"/>
            <a:chExt cx="12078970" cy="2917825"/>
          </a:xfrm>
        </p:grpSpPr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334" y="778890"/>
              <a:ext cx="12060308" cy="1142111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86140" y="1615643"/>
              <a:ext cx="1009650" cy="299085"/>
            </a:xfrm>
            <a:custGeom>
              <a:avLst/>
              <a:gdLst/>
              <a:ahLst/>
              <a:cxnLst/>
              <a:rect l="l" t="t" r="r" b="b"/>
              <a:pathLst>
                <a:path w="1009650" h="299085">
                  <a:moveTo>
                    <a:pt x="1009243" y="0"/>
                  </a:moveTo>
                  <a:lnTo>
                    <a:pt x="0" y="0"/>
                  </a:lnTo>
                  <a:lnTo>
                    <a:pt x="0" y="298754"/>
                  </a:lnTo>
                  <a:lnTo>
                    <a:pt x="1009243" y="298754"/>
                  </a:lnTo>
                  <a:lnTo>
                    <a:pt x="10092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6140" y="1615643"/>
              <a:ext cx="1009650" cy="299085"/>
            </a:xfrm>
            <a:custGeom>
              <a:avLst/>
              <a:gdLst/>
              <a:ahLst/>
              <a:cxnLst/>
              <a:rect l="l" t="t" r="r" b="b"/>
              <a:pathLst>
                <a:path w="1009650" h="299085">
                  <a:moveTo>
                    <a:pt x="0" y="298754"/>
                  </a:moveTo>
                  <a:lnTo>
                    <a:pt x="1009243" y="298754"/>
                  </a:lnTo>
                  <a:lnTo>
                    <a:pt x="1009243" y="0"/>
                  </a:lnTo>
                  <a:lnTo>
                    <a:pt x="0" y="0"/>
                  </a:lnTo>
                  <a:lnTo>
                    <a:pt x="0" y="29875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112010" y="2802369"/>
              <a:ext cx="3776979" cy="887730"/>
            </a:xfrm>
            <a:custGeom>
              <a:avLst/>
              <a:gdLst/>
              <a:ahLst/>
              <a:cxnLst/>
              <a:rect l="l" t="t" r="r" b="b"/>
              <a:pathLst>
                <a:path w="3776979" h="887729">
                  <a:moveTo>
                    <a:pt x="0" y="887488"/>
                  </a:moveTo>
                  <a:lnTo>
                    <a:pt x="3776599" y="887488"/>
                  </a:lnTo>
                  <a:lnTo>
                    <a:pt x="3776599" y="0"/>
                  </a:lnTo>
                  <a:lnTo>
                    <a:pt x="0" y="0"/>
                  </a:lnTo>
                  <a:lnTo>
                    <a:pt x="0" y="887488"/>
                  </a:lnTo>
                  <a:close/>
                </a:path>
              </a:pathLst>
            </a:custGeom>
            <a:ln w="12700">
              <a:solidFill>
                <a:srgbClr val="070A1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756407" y="2779052"/>
              <a:ext cx="2576830" cy="246379"/>
            </a:xfrm>
            <a:custGeom>
              <a:avLst/>
              <a:gdLst/>
              <a:ahLst/>
              <a:cxnLst/>
              <a:rect l="l" t="t" r="r" b="b"/>
              <a:pathLst>
                <a:path w="2576829" h="246380">
                  <a:moveTo>
                    <a:pt x="2576448" y="0"/>
                  </a:moveTo>
                  <a:lnTo>
                    <a:pt x="0" y="0"/>
                  </a:lnTo>
                  <a:lnTo>
                    <a:pt x="0" y="246214"/>
                  </a:lnTo>
                  <a:lnTo>
                    <a:pt x="2576448" y="246214"/>
                  </a:lnTo>
                  <a:lnTo>
                    <a:pt x="2576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2118360" y="2769346"/>
            <a:ext cx="3772535" cy="922019"/>
          </a:xfrm>
          <a:prstGeom prst="rect">
            <a:avLst/>
          </a:prstGeom>
        </p:spPr>
        <p:txBody>
          <a:bodyPr wrap="square" lIns="0" tIns="52704" rIns="0" bIns="0" rtlCol="0" vert="horz">
            <a:spAutoFit/>
          </a:bodyPr>
          <a:lstStyle/>
          <a:p>
            <a:pPr marL="1226820">
              <a:lnSpc>
                <a:spcPct val="100000"/>
              </a:lnSpc>
              <a:spcBef>
                <a:spcPts val="414"/>
              </a:spcBef>
            </a:pPr>
            <a:r>
              <a:rPr dirty="0" sz="1000" b="1">
                <a:solidFill>
                  <a:srgbClr val="1F2A44"/>
                </a:solidFill>
                <a:latin typeface="Arial"/>
                <a:cs typeface="Arial"/>
              </a:rPr>
              <a:t>PURSUIT</a:t>
            </a:r>
            <a:r>
              <a:rPr dirty="0" sz="1000" spc="-5" b="1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A44"/>
                </a:solidFill>
                <a:latin typeface="Arial"/>
                <a:cs typeface="Arial"/>
              </a:rPr>
              <a:t>TO</a:t>
            </a:r>
            <a:r>
              <a:rPr dirty="0" sz="1000" spc="-50" b="1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F2A44"/>
                </a:solidFill>
                <a:latin typeface="Arial"/>
                <a:cs typeface="Arial"/>
              </a:rPr>
              <a:t>STARTUP</a:t>
            </a:r>
            <a:endParaRPr sz="1000">
              <a:latin typeface="Arial"/>
              <a:cs typeface="Arial"/>
            </a:endParaRPr>
          </a:p>
          <a:p>
            <a:pPr marL="97155">
              <a:lnSpc>
                <a:spcPct val="100000"/>
              </a:lnSpc>
              <a:spcBef>
                <a:spcPts val="259"/>
              </a:spcBef>
            </a:pP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OVR</a:t>
            </a:r>
            <a:r>
              <a:rPr dirty="0" sz="800" spc="-25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Milestone</a:t>
            </a:r>
            <a:r>
              <a:rPr dirty="0" sz="800" spc="-45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-</a:t>
            </a:r>
            <a:r>
              <a:rPr dirty="0" sz="800" spc="-3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Funding,</a:t>
            </a:r>
            <a:r>
              <a:rPr dirty="0" sz="800" spc="-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resource</a:t>
            </a:r>
            <a:r>
              <a:rPr dirty="0" sz="8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&amp;</a:t>
            </a:r>
            <a:r>
              <a:rPr dirty="0" sz="8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schedule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 identified</a:t>
            </a:r>
            <a:endParaRPr sz="800">
              <a:latin typeface="Arial"/>
              <a:cs typeface="Arial"/>
            </a:endParaRPr>
          </a:p>
          <a:p>
            <a:pPr marL="97155" marR="154305">
              <a:lnSpc>
                <a:spcPct val="150100"/>
              </a:lnSpc>
            </a:pP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Strategy</a:t>
            </a:r>
            <a:r>
              <a:rPr dirty="0" sz="800" spc="-2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-</a:t>
            </a:r>
            <a:r>
              <a:rPr dirty="0" sz="800" spc="-15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Prelim</a:t>
            </a:r>
            <a:r>
              <a:rPr dirty="0" sz="8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Production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plan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(White</a:t>
            </a:r>
            <a:r>
              <a:rPr dirty="0" sz="800" spc="-4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paper),</a:t>
            </a:r>
            <a:r>
              <a:rPr dirty="0" sz="800" spc="-2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Bid</a:t>
            </a:r>
            <a:r>
              <a:rPr dirty="0" sz="8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+</a:t>
            </a:r>
            <a:r>
              <a:rPr dirty="0" sz="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DTUPC</a:t>
            </a:r>
            <a:r>
              <a:rPr dirty="0" sz="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(D2C)</a:t>
            </a:r>
            <a:r>
              <a:rPr dirty="0" sz="800" spc="-15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targets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Submit</a:t>
            </a:r>
            <a:r>
              <a:rPr dirty="0" sz="800" spc="-4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-</a:t>
            </a:r>
            <a:r>
              <a:rPr dirty="0" sz="800" spc="-25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Draft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Production</a:t>
            </a:r>
            <a:r>
              <a:rPr dirty="0" sz="800" spc="-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plan</a:t>
            </a:r>
            <a:r>
              <a:rPr dirty="0" sz="8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(KPI’s/PSSRB)</a:t>
            </a:r>
            <a:r>
              <a:rPr dirty="0" sz="800" spc="-4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/Funded</a:t>
            </a:r>
            <a:r>
              <a:rPr dirty="0" sz="800" spc="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MRL</a:t>
            </a:r>
            <a:r>
              <a:rPr dirty="0" sz="8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maturation</a:t>
            </a:r>
            <a:r>
              <a:rPr dirty="0" sz="8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1F2A44"/>
                </a:solidFill>
                <a:latin typeface="Arial"/>
                <a:cs typeface="Arial"/>
              </a:rPr>
              <a:t>plan </a:t>
            </a:r>
            <a:r>
              <a:rPr dirty="0" sz="800" spc="-10" b="1">
                <a:solidFill>
                  <a:srgbClr val="00A9DF"/>
                </a:solidFill>
                <a:latin typeface="Arial"/>
                <a:cs typeface="Arial"/>
              </a:rPr>
              <a:t>Start-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up</a:t>
            </a:r>
            <a:r>
              <a:rPr dirty="0" sz="800" spc="-3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-</a:t>
            </a:r>
            <a:r>
              <a:rPr dirty="0" sz="800" spc="-2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Approved baseline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plan,</a:t>
            </a:r>
            <a:r>
              <a:rPr dirty="0" sz="8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draft</a:t>
            </a:r>
            <a:r>
              <a:rPr dirty="0" sz="8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MRL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6</a:t>
            </a:r>
            <a:r>
              <a:rPr dirty="0" sz="800" spc="-2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maturation</a:t>
            </a:r>
            <a:r>
              <a:rPr dirty="0" sz="800" spc="-3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1F2A44"/>
                </a:solidFill>
                <a:latin typeface="Arial"/>
                <a:cs typeface="Arial"/>
              </a:rPr>
              <a:t>plan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6430517" y="1064386"/>
            <a:ext cx="364490" cy="421005"/>
            <a:chOff x="6430517" y="1064386"/>
            <a:chExt cx="364490" cy="421005"/>
          </a:xfrm>
        </p:grpSpPr>
        <p:sp>
          <p:nvSpPr>
            <p:cNvPr id="26" name="object 26" descr=""/>
            <p:cNvSpPr/>
            <p:nvPr/>
          </p:nvSpPr>
          <p:spPr>
            <a:xfrm>
              <a:off x="6436867" y="1070736"/>
              <a:ext cx="351790" cy="408305"/>
            </a:xfrm>
            <a:custGeom>
              <a:avLst/>
              <a:gdLst/>
              <a:ahLst/>
              <a:cxnLst/>
              <a:rect l="l" t="t" r="r" b="b"/>
              <a:pathLst>
                <a:path w="351790" h="408305">
                  <a:moveTo>
                    <a:pt x="175895" y="0"/>
                  </a:moveTo>
                  <a:lnTo>
                    <a:pt x="0" y="203962"/>
                  </a:lnTo>
                  <a:lnTo>
                    <a:pt x="175895" y="407924"/>
                  </a:lnTo>
                  <a:lnTo>
                    <a:pt x="351789" y="203962"/>
                  </a:lnTo>
                  <a:lnTo>
                    <a:pt x="175895" y="0"/>
                  </a:lnTo>
                  <a:close/>
                </a:path>
              </a:pathLst>
            </a:custGeom>
            <a:solidFill>
              <a:srgbClr val="00A8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436867" y="1070736"/>
              <a:ext cx="351790" cy="408305"/>
            </a:xfrm>
            <a:custGeom>
              <a:avLst/>
              <a:gdLst/>
              <a:ahLst/>
              <a:cxnLst/>
              <a:rect l="l" t="t" r="r" b="b"/>
              <a:pathLst>
                <a:path w="351790" h="408305">
                  <a:moveTo>
                    <a:pt x="0" y="203962"/>
                  </a:moveTo>
                  <a:lnTo>
                    <a:pt x="175895" y="0"/>
                  </a:lnTo>
                  <a:lnTo>
                    <a:pt x="351789" y="203962"/>
                  </a:lnTo>
                  <a:lnTo>
                    <a:pt x="175895" y="407924"/>
                  </a:lnTo>
                  <a:lnTo>
                    <a:pt x="0" y="203962"/>
                  </a:lnTo>
                  <a:close/>
                </a:path>
              </a:pathLst>
            </a:custGeom>
            <a:ln w="12700">
              <a:solidFill>
                <a:srgbClr val="070A1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6493890" y="1501521"/>
            <a:ext cx="2197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1F2A44"/>
                </a:solidFill>
                <a:latin typeface="Arial"/>
                <a:cs typeface="Arial"/>
              </a:rPr>
              <a:t>C1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7034783" y="1067942"/>
            <a:ext cx="364490" cy="421005"/>
            <a:chOff x="7034783" y="1067942"/>
            <a:chExt cx="364490" cy="421005"/>
          </a:xfrm>
        </p:grpSpPr>
        <p:sp>
          <p:nvSpPr>
            <p:cNvPr id="30" name="object 30" descr=""/>
            <p:cNvSpPr/>
            <p:nvPr/>
          </p:nvSpPr>
          <p:spPr>
            <a:xfrm>
              <a:off x="7041133" y="1074292"/>
              <a:ext cx="351790" cy="408305"/>
            </a:xfrm>
            <a:custGeom>
              <a:avLst/>
              <a:gdLst/>
              <a:ahLst/>
              <a:cxnLst/>
              <a:rect l="l" t="t" r="r" b="b"/>
              <a:pathLst>
                <a:path w="351790" h="408305">
                  <a:moveTo>
                    <a:pt x="175895" y="0"/>
                  </a:moveTo>
                  <a:lnTo>
                    <a:pt x="0" y="203962"/>
                  </a:lnTo>
                  <a:lnTo>
                    <a:pt x="175895" y="407924"/>
                  </a:lnTo>
                  <a:lnTo>
                    <a:pt x="351790" y="203962"/>
                  </a:lnTo>
                  <a:lnTo>
                    <a:pt x="175895" y="0"/>
                  </a:lnTo>
                  <a:close/>
                </a:path>
              </a:pathLst>
            </a:custGeom>
            <a:solidFill>
              <a:srgbClr val="00A8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041133" y="1074292"/>
              <a:ext cx="351790" cy="408305"/>
            </a:xfrm>
            <a:custGeom>
              <a:avLst/>
              <a:gdLst/>
              <a:ahLst/>
              <a:cxnLst/>
              <a:rect l="l" t="t" r="r" b="b"/>
              <a:pathLst>
                <a:path w="351790" h="408305">
                  <a:moveTo>
                    <a:pt x="0" y="203962"/>
                  </a:moveTo>
                  <a:lnTo>
                    <a:pt x="175895" y="0"/>
                  </a:lnTo>
                  <a:lnTo>
                    <a:pt x="351790" y="203962"/>
                  </a:lnTo>
                  <a:lnTo>
                    <a:pt x="175895" y="407924"/>
                  </a:lnTo>
                  <a:lnTo>
                    <a:pt x="0" y="203962"/>
                  </a:lnTo>
                  <a:close/>
                </a:path>
              </a:pathLst>
            </a:custGeom>
            <a:ln w="12700">
              <a:solidFill>
                <a:srgbClr val="070A1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7098283" y="1504950"/>
            <a:ext cx="2197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1F2A44"/>
                </a:solidFill>
                <a:latin typeface="Arial"/>
                <a:cs typeface="Arial"/>
              </a:rPr>
              <a:t>C2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3838702" y="1927364"/>
            <a:ext cx="499109" cy="261620"/>
          </a:xfrm>
          <a:prstGeom prst="rect">
            <a:avLst/>
          </a:prstGeom>
          <a:solidFill>
            <a:srgbClr val="00AFEF"/>
          </a:solidFill>
        </p:spPr>
        <p:txBody>
          <a:bodyPr wrap="square" lIns="0" tIns="4191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30"/>
              </a:spcBef>
            </a:pPr>
            <a:r>
              <a:rPr dirty="0" sz="1100" spc="-20" b="1">
                <a:solidFill>
                  <a:srgbClr val="1F2A44"/>
                </a:solidFill>
                <a:latin typeface="Arial"/>
                <a:cs typeface="Arial"/>
              </a:rPr>
              <a:t>PIR1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4088129" y="1779904"/>
            <a:ext cx="0" cy="141605"/>
          </a:xfrm>
          <a:custGeom>
            <a:avLst/>
            <a:gdLst/>
            <a:ahLst/>
            <a:cxnLst/>
            <a:rect l="l" t="t" r="r" b="b"/>
            <a:pathLst>
              <a:path w="0" h="141605">
                <a:moveTo>
                  <a:pt x="0" y="0"/>
                </a:moveTo>
                <a:lnTo>
                  <a:pt x="0" y="141350"/>
                </a:lnTo>
              </a:path>
            </a:pathLst>
          </a:custGeom>
          <a:ln w="12700">
            <a:solidFill>
              <a:srgbClr val="1F2A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6359778" y="1929650"/>
            <a:ext cx="499109" cy="261620"/>
          </a:xfrm>
          <a:prstGeom prst="rect">
            <a:avLst/>
          </a:prstGeom>
          <a:solidFill>
            <a:srgbClr val="00AFEF"/>
          </a:solidFill>
        </p:spPr>
        <p:txBody>
          <a:bodyPr wrap="square" lIns="0" tIns="4191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dirty="0" sz="1100" spc="-20" b="1">
                <a:solidFill>
                  <a:srgbClr val="1F2A44"/>
                </a:solidFill>
                <a:latin typeface="Arial"/>
                <a:cs typeface="Arial"/>
              </a:rPr>
              <a:t>PIR2</a:t>
            </a:r>
            <a:endParaRPr sz="1100">
              <a:latin typeface="Arial"/>
              <a:cs typeface="Arial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6609206" y="1702054"/>
            <a:ext cx="0" cy="233679"/>
          </a:xfrm>
          <a:custGeom>
            <a:avLst/>
            <a:gdLst/>
            <a:ahLst/>
            <a:cxnLst/>
            <a:rect l="l" t="t" r="r" b="b"/>
            <a:pathLst>
              <a:path w="0" h="233680">
                <a:moveTo>
                  <a:pt x="0" y="0"/>
                </a:moveTo>
                <a:lnTo>
                  <a:pt x="0" y="233299"/>
                </a:lnTo>
              </a:path>
            </a:pathLst>
          </a:custGeom>
          <a:ln w="12700">
            <a:solidFill>
              <a:srgbClr val="1F2A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6965822" y="1934476"/>
            <a:ext cx="499109" cy="261620"/>
          </a:xfrm>
          <a:prstGeom prst="rect">
            <a:avLst/>
          </a:prstGeom>
          <a:solidFill>
            <a:srgbClr val="00AFEF"/>
          </a:solidFill>
        </p:spPr>
        <p:txBody>
          <a:bodyPr wrap="square" lIns="0" tIns="4191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dirty="0" sz="1100" spc="-20" b="1">
                <a:solidFill>
                  <a:srgbClr val="1F2A44"/>
                </a:solidFill>
                <a:latin typeface="Arial"/>
                <a:cs typeface="Arial"/>
              </a:rPr>
              <a:t>PIR3</a:t>
            </a:r>
            <a:endParaRPr sz="1100">
              <a:latin typeface="Arial"/>
              <a:cs typeface="Arial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7215251" y="1672844"/>
            <a:ext cx="0" cy="250825"/>
          </a:xfrm>
          <a:custGeom>
            <a:avLst/>
            <a:gdLst/>
            <a:ahLst/>
            <a:cxnLst/>
            <a:rect l="l" t="t" r="r" b="b"/>
            <a:pathLst>
              <a:path w="0" h="250825">
                <a:moveTo>
                  <a:pt x="0" y="0"/>
                </a:moveTo>
                <a:lnTo>
                  <a:pt x="0" y="250316"/>
                </a:lnTo>
              </a:path>
            </a:pathLst>
          </a:custGeom>
          <a:ln w="12700">
            <a:solidFill>
              <a:srgbClr val="1F2A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7702168" y="1952256"/>
            <a:ext cx="499109" cy="257175"/>
          </a:xfrm>
          <a:prstGeom prst="rect">
            <a:avLst/>
          </a:prstGeom>
          <a:solidFill>
            <a:srgbClr val="00AFEF"/>
          </a:solidFill>
        </p:spPr>
        <p:txBody>
          <a:bodyPr wrap="square" lIns="0" tIns="2857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25"/>
              </a:spcBef>
            </a:pPr>
            <a:r>
              <a:rPr dirty="0" sz="1100" spc="-20" b="1">
                <a:solidFill>
                  <a:srgbClr val="1F2A44"/>
                </a:solidFill>
                <a:latin typeface="Arial"/>
                <a:cs typeface="Arial"/>
              </a:rPr>
              <a:t>PIR4</a:t>
            </a:r>
            <a:endParaRPr sz="1100">
              <a:latin typeface="Arial"/>
              <a:cs typeface="Arial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7948168" y="1818894"/>
            <a:ext cx="0" cy="116839"/>
          </a:xfrm>
          <a:custGeom>
            <a:avLst/>
            <a:gdLst/>
            <a:ahLst/>
            <a:cxnLst/>
            <a:rect l="l" t="t" r="r" b="b"/>
            <a:pathLst>
              <a:path w="0" h="116839">
                <a:moveTo>
                  <a:pt x="0" y="0"/>
                </a:moveTo>
                <a:lnTo>
                  <a:pt x="0" y="116839"/>
                </a:lnTo>
              </a:path>
            </a:pathLst>
          </a:custGeom>
          <a:ln w="12700">
            <a:solidFill>
              <a:srgbClr val="1F2A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5600572" y="1952256"/>
            <a:ext cx="615950" cy="257175"/>
          </a:xfrm>
          <a:prstGeom prst="rect">
            <a:avLst/>
          </a:prstGeom>
          <a:solidFill>
            <a:srgbClr val="FF0000"/>
          </a:solidFill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100" spc="-10" b="1">
                <a:solidFill>
                  <a:srgbClr val="1F2A44"/>
                </a:solidFill>
                <a:latin typeface="Arial"/>
                <a:cs typeface="Arial"/>
              </a:rPr>
              <a:t>PIR1.5</a:t>
            </a:r>
            <a:endParaRPr sz="1100">
              <a:latin typeface="Arial"/>
              <a:cs typeface="Arial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5905500" y="1756664"/>
            <a:ext cx="0" cy="184785"/>
          </a:xfrm>
          <a:custGeom>
            <a:avLst/>
            <a:gdLst/>
            <a:ahLst/>
            <a:cxnLst/>
            <a:rect l="l" t="t" r="r" b="b"/>
            <a:pathLst>
              <a:path w="0" h="184785">
                <a:moveTo>
                  <a:pt x="0" y="0"/>
                </a:moveTo>
                <a:lnTo>
                  <a:pt x="0" y="184658"/>
                </a:lnTo>
              </a:path>
            </a:pathLst>
          </a:custGeom>
          <a:ln w="12700">
            <a:solidFill>
              <a:srgbClr val="1F2A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9365868" y="1952256"/>
            <a:ext cx="499109" cy="257175"/>
          </a:xfrm>
          <a:prstGeom prst="rect">
            <a:avLst/>
          </a:prstGeom>
          <a:solidFill>
            <a:srgbClr val="00AFEF"/>
          </a:solidFill>
        </p:spPr>
        <p:txBody>
          <a:bodyPr wrap="square" lIns="0" tIns="4191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dirty="0" sz="1100" spc="-20" b="1">
                <a:solidFill>
                  <a:srgbClr val="1F2A44"/>
                </a:solidFill>
                <a:latin typeface="Arial"/>
                <a:cs typeface="Arial"/>
              </a:rPr>
              <a:t>PIR5</a:t>
            </a:r>
            <a:endParaRPr sz="1100">
              <a:latin typeface="Arial"/>
              <a:cs typeface="Arial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9612883" y="1839722"/>
            <a:ext cx="0" cy="104775"/>
          </a:xfrm>
          <a:custGeom>
            <a:avLst/>
            <a:gdLst/>
            <a:ahLst/>
            <a:cxnLst/>
            <a:rect l="l" t="t" r="r" b="b"/>
            <a:pathLst>
              <a:path w="0" h="104775">
                <a:moveTo>
                  <a:pt x="0" y="0"/>
                </a:moveTo>
                <a:lnTo>
                  <a:pt x="0" y="104266"/>
                </a:lnTo>
              </a:path>
            </a:pathLst>
          </a:custGeom>
          <a:ln w="12700">
            <a:solidFill>
              <a:srgbClr val="1F2A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2397760" y="1952256"/>
            <a:ext cx="499109" cy="257175"/>
          </a:xfrm>
          <a:prstGeom prst="rect">
            <a:avLst/>
          </a:prstGeom>
          <a:solidFill>
            <a:srgbClr val="FF0000"/>
          </a:solidFill>
        </p:spPr>
        <p:txBody>
          <a:bodyPr wrap="square" lIns="0" tIns="3429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70"/>
              </a:spcBef>
            </a:pPr>
            <a:r>
              <a:rPr dirty="0" sz="1100" spc="-20" b="1">
                <a:solidFill>
                  <a:srgbClr val="1F2A44"/>
                </a:solidFill>
                <a:latin typeface="Arial"/>
                <a:cs typeface="Arial"/>
              </a:rPr>
              <a:t>PIR0</a:t>
            </a:r>
            <a:endParaRPr sz="1100">
              <a:latin typeface="Arial"/>
              <a:cs typeface="Arial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2654935" y="1771904"/>
            <a:ext cx="0" cy="168275"/>
          </a:xfrm>
          <a:custGeom>
            <a:avLst/>
            <a:gdLst/>
            <a:ahLst/>
            <a:cxnLst/>
            <a:rect l="l" t="t" r="r" b="b"/>
            <a:pathLst>
              <a:path w="0" h="168275">
                <a:moveTo>
                  <a:pt x="0" y="0"/>
                </a:moveTo>
                <a:lnTo>
                  <a:pt x="0" y="167894"/>
                </a:lnTo>
              </a:path>
            </a:pathLst>
          </a:custGeom>
          <a:ln w="12700">
            <a:solidFill>
              <a:srgbClr val="1F2A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 txBox="1"/>
          <p:nvPr/>
        </p:nvSpPr>
        <p:spPr>
          <a:xfrm>
            <a:off x="8439657" y="1952256"/>
            <a:ext cx="615950" cy="257175"/>
          </a:xfrm>
          <a:prstGeom prst="rect">
            <a:avLst/>
          </a:prstGeom>
          <a:solidFill>
            <a:srgbClr val="FF0000"/>
          </a:solidFill>
        </p:spPr>
        <p:txBody>
          <a:bodyPr wrap="square" lIns="0" tIns="3429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70"/>
              </a:spcBef>
            </a:pPr>
            <a:r>
              <a:rPr dirty="0" sz="1100" spc="-10" b="1">
                <a:solidFill>
                  <a:srgbClr val="1F2A44"/>
                </a:solidFill>
                <a:latin typeface="Arial"/>
                <a:cs typeface="Arial"/>
              </a:rPr>
              <a:t>PIR4.5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3286378" y="2216150"/>
            <a:ext cx="5454015" cy="1724025"/>
            <a:chOff x="3286378" y="2216150"/>
            <a:chExt cx="5454015" cy="1724025"/>
          </a:xfrm>
        </p:grpSpPr>
        <p:sp>
          <p:nvSpPr>
            <p:cNvPr id="49" name="object 49" descr=""/>
            <p:cNvSpPr/>
            <p:nvPr/>
          </p:nvSpPr>
          <p:spPr>
            <a:xfrm>
              <a:off x="8733789" y="2216150"/>
              <a:ext cx="0" cy="246379"/>
            </a:xfrm>
            <a:custGeom>
              <a:avLst/>
              <a:gdLst/>
              <a:ahLst/>
              <a:cxnLst/>
              <a:rect l="l" t="t" r="r" b="b"/>
              <a:pathLst>
                <a:path w="0" h="246380">
                  <a:moveTo>
                    <a:pt x="0" y="0"/>
                  </a:moveTo>
                  <a:lnTo>
                    <a:pt x="0" y="245872"/>
                  </a:lnTo>
                </a:path>
              </a:pathLst>
            </a:custGeom>
            <a:ln w="12700">
              <a:solidFill>
                <a:srgbClr val="1F2A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286378" y="3693706"/>
              <a:ext cx="3553460" cy="246379"/>
            </a:xfrm>
            <a:custGeom>
              <a:avLst/>
              <a:gdLst/>
              <a:ahLst/>
              <a:cxnLst/>
              <a:rect l="l" t="t" r="r" b="b"/>
              <a:pathLst>
                <a:path w="3553459" h="246379">
                  <a:moveTo>
                    <a:pt x="3553205" y="0"/>
                  </a:moveTo>
                  <a:lnTo>
                    <a:pt x="0" y="0"/>
                  </a:lnTo>
                  <a:lnTo>
                    <a:pt x="0" y="246214"/>
                  </a:lnTo>
                  <a:lnTo>
                    <a:pt x="3553205" y="246214"/>
                  </a:lnTo>
                  <a:lnTo>
                    <a:pt x="35532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2397760" y="3732529"/>
            <a:ext cx="5208270" cy="1299845"/>
          </a:xfrm>
          <a:prstGeom prst="rect">
            <a:avLst/>
          </a:prstGeom>
          <a:ln w="12700">
            <a:solidFill>
              <a:srgbClr val="070A17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algn="ctr" marL="118745">
              <a:lnSpc>
                <a:spcPct val="100000"/>
              </a:lnSpc>
              <a:spcBef>
                <a:spcPts val="30"/>
              </a:spcBef>
            </a:pPr>
            <a:r>
              <a:rPr dirty="0" sz="1000" spc="-10" b="1">
                <a:solidFill>
                  <a:srgbClr val="1F2A44"/>
                </a:solidFill>
                <a:latin typeface="Arial"/>
                <a:cs typeface="Arial"/>
              </a:rPr>
              <a:t>DEVELOPMENT</a:t>
            </a:r>
            <a:endParaRPr sz="10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229"/>
              </a:spcBef>
              <a:tabLst>
                <a:tab pos="1005840" algn="l"/>
              </a:tabLst>
            </a:pP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Entry</a:t>
            </a:r>
            <a:r>
              <a:rPr dirty="0" sz="800" spc="-2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Criteria</a:t>
            </a:r>
            <a:r>
              <a:rPr dirty="0" sz="800" spc="19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spc="-50" b="1">
                <a:solidFill>
                  <a:srgbClr val="00A9DF"/>
                </a:solidFill>
                <a:latin typeface="Arial"/>
                <a:cs typeface="Arial"/>
              </a:rPr>
              <a:t>-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	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Proposed</a:t>
            </a:r>
            <a:r>
              <a:rPr dirty="0" sz="800" spc="-2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MRL6</a:t>
            </a:r>
            <a:r>
              <a:rPr dirty="0" sz="8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maturation</a:t>
            </a:r>
            <a:r>
              <a:rPr dirty="0" sz="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plan</a:t>
            </a:r>
            <a:r>
              <a:rPr dirty="0" sz="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by</a:t>
            </a:r>
            <a:r>
              <a:rPr dirty="0" sz="8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CDR</a:t>
            </a:r>
            <a:r>
              <a:rPr dirty="0" sz="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(OPS</a:t>
            </a:r>
            <a:r>
              <a:rPr dirty="0" sz="800" spc="-2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00A9DF"/>
                </a:solidFill>
                <a:latin typeface="Arial"/>
                <a:cs typeface="Arial"/>
              </a:rPr>
              <a:t>PDRS)</a:t>
            </a:r>
            <a:endParaRPr sz="800">
              <a:latin typeface="Arial"/>
              <a:cs typeface="Arial"/>
            </a:endParaRPr>
          </a:p>
          <a:p>
            <a:pPr marL="1005840">
              <a:lnSpc>
                <a:spcPct val="100000"/>
              </a:lnSpc>
              <a:spcBef>
                <a:spcPts val="484"/>
              </a:spcBef>
            </a:pP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Product</a:t>
            </a:r>
            <a:r>
              <a:rPr dirty="0" sz="800" spc="-2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cost</a:t>
            </a:r>
            <a:r>
              <a:rPr dirty="0" sz="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model,</a:t>
            </a:r>
            <a:r>
              <a:rPr dirty="0" sz="800" spc="-3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Design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to</a:t>
            </a:r>
            <a:r>
              <a:rPr dirty="0" sz="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unit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production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cost</a:t>
            </a:r>
            <a:r>
              <a:rPr dirty="0" sz="8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targets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or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Design</a:t>
            </a:r>
            <a:r>
              <a:rPr dirty="0" sz="800" spc="-25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to</a:t>
            </a:r>
            <a:r>
              <a:rPr dirty="0" sz="800" spc="-15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cost</a:t>
            </a:r>
            <a:r>
              <a:rPr dirty="0" sz="800" spc="-25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00A9DF"/>
                </a:solidFill>
                <a:latin typeface="Arial"/>
                <a:cs typeface="Arial"/>
              </a:rPr>
              <a:t>targets</a:t>
            </a:r>
            <a:endParaRPr sz="800">
              <a:latin typeface="Arial"/>
              <a:cs typeface="Arial"/>
            </a:endParaRPr>
          </a:p>
          <a:p>
            <a:pPr marL="1005840">
              <a:lnSpc>
                <a:spcPct val="100000"/>
              </a:lnSpc>
              <a:spcBef>
                <a:spcPts val="475"/>
              </a:spcBef>
            </a:pP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Baseline</a:t>
            </a:r>
            <a:r>
              <a:rPr dirty="0" sz="8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Sourcing</a:t>
            </a:r>
            <a:r>
              <a:rPr dirty="0" sz="800" spc="-5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Strategy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/Facility</a:t>
            </a:r>
            <a:r>
              <a:rPr dirty="0" sz="8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assessment</a:t>
            </a:r>
            <a:r>
              <a:rPr dirty="0" sz="800" spc="-5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with</a:t>
            </a:r>
            <a:r>
              <a:rPr dirty="0" sz="8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requirements</a:t>
            </a:r>
            <a:r>
              <a:rPr dirty="0" sz="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&amp;</a:t>
            </a:r>
            <a:r>
              <a:rPr dirty="0" sz="800" spc="-4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1F2A44"/>
                </a:solidFill>
                <a:latin typeface="Arial"/>
                <a:cs typeface="Arial"/>
              </a:rPr>
              <a:t>plan</a:t>
            </a:r>
            <a:endParaRPr sz="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484"/>
              </a:spcBef>
              <a:tabLst>
                <a:tab pos="1005840" algn="l"/>
              </a:tabLst>
            </a:pP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Exit</a:t>
            </a:r>
            <a:r>
              <a:rPr dirty="0" sz="800" spc="-2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Criteria</a:t>
            </a:r>
            <a:r>
              <a:rPr dirty="0" sz="800" spc="204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spc="-50" b="1">
                <a:solidFill>
                  <a:srgbClr val="00A9DF"/>
                </a:solidFill>
                <a:latin typeface="Arial"/>
                <a:cs typeface="Arial"/>
              </a:rPr>
              <a:t>-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	Achieve</a:t>
            </a:r>
            <a:r>
              <a:rPr dirty="0" sz="800" spc="-25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1F2A44"/>
                </a:solidFill>
                <a:latin typeface="Arial"/>
                <a:cs typeface="Arial"/>
              </a:rPr>
              <a:t>MRL8</a:t>
            </a:r>
            <a:endParaRPr sz="800">
              <a:latin typeface="Arial"/>
              <a:cs typeface="Arial"/>
            </a:endParaRPr>
          </a:p>
          <a:p>
            <a:pPr marL="1005840" marR="208915">
              <a:lnSpc>
                <a:spcPct val="150000"/>
              </a:lnSpc>
            </a:pP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Conversion</a:t>
            </a:r>
            <a:r>
              <a:rPr dirty="0" sz="8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of</a:t>
            </a:r>
            <a:r>
              <a:rPr dirty="0" sz="8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EBOM</a:t>
            </a:r>
            <a:r>
              <a:rPr dirty="0" sz="8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to</a:t>
            </a:r>
            <a:r>
              <a:rPr dirty="0" sz="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MBOM</a:t>
            </a:r>
            <a:r>
              <a:rPr dirty="0" sz="8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,production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sources</a:t>
            </a:r>
            <a:r>
              <a:rPr dirty="0" sz="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identified</a:t>
            </a:r>
            <a:r>
              <a:rPr dirty="0" sz="8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with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approved</a:t>
            </a:r>
            <a:r>
              <a:rPr dirty="0" sz="800" spc="-2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rate</a:t>
            </a:r>
            <a:r>
              <a:rPr dirty="0" sz="800" spc="-10" b="1">
                <a:solidFill>
                  <a:srgbClr val="00A9DF"/>
                </a:solidFill>
                <a:latin typeface="Arial"/>
                <a:cs typeface="Arial"/>
              </a:rPr>
              <a:t> plans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Achieved</a:t>
            </a:r>
            <a:r>
              <a:rPr dirty="0" sz="800" spc="15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production</a:t>
            </a:r>
            <a:r>
              <a:rPr dirty="0" sz="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unit</a:t>
            </a:r>
            <a:r>
              <a:rPr dirty="0" sz="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costs</a:t>
            </a:r>
            <a:r>
              <a:rPr dirty="0" sz="800" spc="-4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or</a:t>
            </a:r>
            <a:r>
              <a:rPr dirty="0" sz="8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cost</a:t>
            </a:r>
            <a:r>
              <a:rPr dirty="0" sz="800" spc="-3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reduction</a:t>
            </a:r>
            <a:r>
              <a:rPr dirty="0" sz="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plan</a:t>
            </a:r>
            <a:r>
              <a:rPr dirty="0" sz="8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established</a:t>
            </a:r>
            <a:r>
              <a:rPr dirty="0" sz="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&amp;</a:t>
            </a:r>
            <a:r>
              <a:rPr dirty="0" sz="8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00A9DF"/>
                </a:solidFill>
                <a:latin typeface="Arial"/>
                <a:cs typeface="Arial"/>
              </a:rPr>
              <a:t>funded</a:t>
            </a:r>
            <a:endParaRPr sz="800">
              <a:latin typeface="Arial"/>
              <a:cs typeface="Arial"/>
            </a:endParaRPr>
          </a:p>
        </p:txBody>
      </p:sp>
      <p:sp>
        <p:nvSpPr>
          <p:cNvPr id="52" name="object 52" descr=""/>
          <p:cNvSpPr/>
          <p:nvPr/>
        </p:nvSpPr>
        <p:spPr>
          <a:xfrm>
            <a:off x="3822700" y="5040795"/>
            <a:ext cx="5177790" cy="246379"/>
          </a:xfrm>
          <a:custGeom>
            <a:avLst/>
            <a:gdLst/>
            <a:ahLst/>
            <a:cxnLst/>
            <a:rect l="l" t="t" r="r" b="b"/>
            <a:pathLst>
              <a:path w="5177790" h="246379">
                <a:moveTo>
                  <a:pt x="5177790" y="0"/>
                </a:moveTo>
                <a:lnTo>
                  <a:pt x="0" y="0"/>
                </a:lnTo>
                <a:lnTo>
                  <a:pt x="0" y="246214"/>
                </a:lnTo>
                <a:lnTo>
                  <a:pt x="5177790" y="246214"/>
                </a:lnTo>
                <a:lnTo>
                  <a:pt x="51777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 txBox="1"/>
          <p:nvPr/>
        </p:nvSpPr>
        <p:spPr>
          <a:xfrm>
            <a:off x="2527680" y="5071093"/>
            <a:ext cx="7590155" cy="1685925"/>
          </a:xfrm>
          <a:prstGeom prst="rect">
            <a:avLst/>
          </a:prstGeom>
          <a:ln w="12700">
            <a:solidFill>
              <a:srgbClr val="070A17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algn="ctr" marL="177165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F2A44"/>
                </a:solidFill>
                <a:latin typeface="Arial"/>
                <a:cs typeface="Arial"/>
              </a:rPr>
              <a:t>PRODUCTION</a:t>
            </a:r>
            <a:endParaRPr sz="10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390"/>
              </a:spcBef>
              <a:tabLst>
                <a:tab pos="1005840" algn="l"/>
              </a:tabLst>
            </a:pP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Entry</a:t>
            </a:r>
            <a:r>
              <a:rPr dirty="0" sz="800" spc="-2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Criteria</a:t>
            </a:r>
            <a:r>
              <a:rPr dirty="0" sz="800" spc="19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spc="-50" b="1">
                <a:solidFill>
                  <a:srgbClr val="00A9DF"/>
                </a:solidFill>
                <a:latin typeface="Arial"/>
                <a:cs typeface="Arial"/>
              </a:rPr>
              <a:t>-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	Completion</a:t>
            </a:r>
            <a:r>
              <a:rPr dirty="0" sz="800" spc="-2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of</a:t>
            </a:r>
            <a:r>
              <a:rPr dirty="0" sz="800" spc="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Qualification</a:t>
            </a:r>
            <a:r>
              <a:rPr dirty="0" sz="800" spc="1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testing,</a:t>
            </a:r>
            <a:r>
              <a:rPr dirty="0" sz="800" spc="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design</a:t>
            </a:r>
            <a:r>
              <a:rPr dirty="0" sz="800" spc="2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for</a:t>
            </a:r>
            <a:r>
              <a:rPr dirty="0" sz="800" spc="1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manufacturing/assembly,</a:t>
            </a:r>
            <a:r>
              <a:rPr dirty="0" sz="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PPAP</a:t>
            </a:r>
            <a:r>
              <a:rPr dirty="0" sz="800" spc="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requirements</a:t>
            </a:r>
            <a:endParaRPr sz="800">
              <a:latin typeface="Arial"/>
              <a:cs typeface="Arial"/>
            </a:endParaRPr>
          </a:p>
          <a:p>
            <a:pPr marL="1005840" marR="2133600">
              <a:lnSpc>
                <a:spcPct val="150100"/>
              </a:lnSpc>
            </a:pP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Meet</a:t>
            </a:r>
            <a:r>
              <a:rPr dirty="0" sz="800" spc="-35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producibility</a:t>
            </a:r>
            <a:r>
              <a:rPr dirty="0" sz="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requirements</a:t>
            </a:r>
            <a:r>
              <a:rPr dirty="0" sz="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(QN/LI)</a:t>
            </a:r>
            <a:r>
              <a:rPr dirty="0" sz="800" spc="-3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Product</a:t>
            </a:r>
            <a:r>
              <a:rPr dirty="0" sz="8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cost</a:t>
            </a:r>
            <a:r>
              <a:rPr dirty="0" sz="800" spc="-3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model</a:t>
            </a:r>
            <a:r>
              <a:rPr dirty="0" sz="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aligned</a:t>
            </a:r>
            <a:r>
              <a:rPr dirty="0" sz="800" spc="-15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to</a:t>
            </a:r>
            <a:r>
              <a:rPr dirty="0" sz="800" spc="-2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design</a:t>
            </a:r>
            <a:r>
              <a:rPr dirty="0" sz="800" spc="-2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cost</a:t>
            </a:r>
            <a:r>
              <a:rPr dirty="0" sz="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targets</a:t>
            </a:r>
            <a:r>
              <a:rPr dirty="0" sz="800" spc="-1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&amp;</a:t>
            </a:r>
            <a:r>
              <a:rPr dirty="0" sz="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yield Resource/Tooling/Equipment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 per</a:t>
            </a:r>
            <a:r>
              <a:rPr dirty="0" sz="800" spc="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plan</a:t>
            </a:r>
            <a:r>
              <a:rPr dirty="0" sz="800" spc="2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(in</a:t>
            </a:r>
            <a:r>
              <a:rPr dirty="0" sz="800" spc="-15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place), Completion</a:t>
            </a:r>
            <a:r>
              <a:rPr dirty="0" sz="800" spc="-3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of customer</a:t>
            </a:r>
            <a:r>
              <a:rPr dirty="0" sz="8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support</a:t>
            </a:r>
            <a:r>
              <a:rPr dirty="0" sz="800" spc="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strategy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Released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Technical</a:t>
            </a:r>
            <a:r>
              <a:rPr dirty="0" sz="8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/Manufacturing</a:t>
            </a:r>
            <a:r>
              <a:rPr dirty="0" sz="8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data</a:t>
            </a:r>
            <a:r>
              <a:rPr dirty="0" sz="8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packages,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Achievement</a:t>
            </a:r>
            <a:r>
              <a:rPr dirty="0" sz="800" spc="2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of</a:t>
            </a:r>
            <a:r>
              <a:rPr dirty="0" sz="800" spc="-2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TRL/MRL</a:t>
            </a:r>
            <a:r>
              <a:rPr dirty="0" sz="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spc="-50">
                <a:solidFill>
                  <a:srgbClr val="1F2A44"/>
                </a:solidFill>
                <a:latin typeface="Arial"/>
                <a:cs typeface="Arial"/>
              </a:rPr>
              <a:t>9</a:t>
            </a:r>
            <a:endParaRPr sz="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480"/>
              </a:spcBef>
              <a:tabLst>
                <a:tab pos="1005840" algn="l"/>
              </a:tabLst>
            </a:pP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Exit</a:t>
            </a:r>
            <a:r>
              <a:rPr dirty="0" sz="800" spc="-2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Criteria</a:t>
            </a:r>
            <a:r>
              <a:rPr dirty="0" sz="800" spc="204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spc="-50" b="1">
                <a:solidFill>
                  <a:srgbClr val="00A9DF"/>
                </a:solidFill>
                <a:latin typeface="Arial"/>
                <a:cs typeface="Arial"/>
              </a:rPr>
              <a:t>-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	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Performance</a:t>
            </a:r>
            <a:r>
              <a:rPr dirty="0" sz="800" spc="-4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AAR</a:t>
            </a:r>
            <a:r>
              <a:rPr dirty="0" sz="800" spc="-4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review</a:t>
            </a:r>
            <a:r>
              <a:rPr dirty="0" sz="800" spc="-2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to</a:t>
            </a:r>
            <a:r>
              <a:rPr dirty="0" sz="8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capture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Initial</a:t>
            </a:r>
            <a:r>
              <a:rPr dirty="0" sz="800" spc="-45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production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Lessons</a:t>
            </a:r>
            <a:r>
              <a:rPr dirty="0" sz="800" spc="-35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00A9DF"/>
                </a:solidFill>
                <a:latin typeface="Arial"/>
                <a:cs typeface="Arial"/>
              </a:rPr>
              <a:t>Learned</a:t>
            </a:r>
            <a:endParaRPr sz="800">
              <a:latin typeface="Arial"/>
              <a:cs typeface="Arial"/>
            </a:endParaRPr>
          </a:p>
          <a:p>
            <a:pPr marL="1005840" marR="623570">
              <a:lnSpc>
                <a:spcPct val="150000"/>
              </a:lnSpc>
            </a:pP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Completion</a:t>
            </a:r>
            <a:r>
              <a:rPr dirty="0" sz="800" spc="-4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of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APQP/PPAP</a:t>
            </a:r>
            <a:r>
              <a:rPr dirty="0" sz="8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elements,</a:t>
            </a:r>
            <a:r>
              <a:rPr dirty="0" sz="800" spc="-3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product/process</a:t>
            </a:r>
            <a:r>
              <a:rPr dirty="0" sz="800" spc="-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capability</a:t>
            </a:r>
            <a:r>
              <a:rPr dirty="0" sz="800" spc="-2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validation</a:t>
            </a:r>
            <a:r>
              <a:rPr dirty="0" sz="800" spc="2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00A9DF"/>
                </a:solidFill>
                <a:latin typeface="Arial"/>
                <a:cs typeface="Arial"/>
              </a:rPr>
              <a:t>(Demonstrated</a:t>
            </a:r>
            <a:r>
              <a:rPr dirty="0" sz="800" spc="-2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rate</a:t>
            </a:r>
            <a:r>
              <a:rPr dirty="0" sz="800" spc="-5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readiness</a:t>
            </a:r>
            <a:r>
              <a:rPr dirty="0" sz="800" spc="-5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or</a:t>
            </a:r>
            <a:r>
              <a:rPr dirty="0" sz="800" spc="-1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approved</a:t>
            </a:r>
            <a:r>
              <a:rPr dirty="0" sz="800" spc="-10" b="1">
                <a:solidFill>
                  <a:srgbClr val="00A9DF"/>
                </a:solidFill>
                <a:latin typeface="Arial"/>
                <a:cs typeface="Arial"/>
              </a:rPr>
              <a:t> funding) </a:t>
            </a: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Documented</a:t>
            </a:r>
            <a:r>
              <a:rPr dirty="0" sz="800" spc="-15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Manufacturing</a:t>
            </a:r>
            <a:r>
              <a:rPr dirty="0" sz="800" spc="10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risks</a:t>
            </a:r>
            <a:r>
              <a:rPr dirty="0" sz="800" spc="-3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&amp;</a:t>
            </a:r>
            <a:r>
              <a:rPr dirty="0" sz="8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funding</a:t>
            </a:r>
            <a:r>
              <a:rPr dirty="0" sz="800" spc="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plan.</a:t>
            </a:r>
            <a:endParaRPr sz="800">
              <a:latin typeface="Arial"/>
              <a:cs typeface="Arial"/>
            </a:endParaRPr>
          </a:p>
          <a:p>
            <a:pPr marL="1005840">
              <a:lnSpc>
                <a:spcPct val="100000"/>
              </a:lnSpc>
              <a:spcBef>
                <a:spcPts val="480"/>
              </a:spcBef>
            </a:pPr>
            <a:r>
              <a:rPr dirty="0" sz="800" b="1">
                <a:solidFill>
                  <a:srgbClr val="00A9DF"/>
                </a:solidFill>
                <a:latin typeface="Arial"/>
                <a:cs typeface="Arial"/>
              </a:rPr>
              <a:t>Update</a:t>
            </a:r>
            <a:r>
              <a:rPr dirty="0" sz="800" spc="-10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Sustainment</a:t>
            </a:r>
            <a:r>
              <a:rPr dirty="0" sz="800" spc="-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plan,</a:t>
            </a:r>
            <a:r>
              <a:rPr dirty="0" sz="800" spc="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00A9DF"/>
                </a:solidFill>
                <a:latin typeface="Arial"/>
                <a:cs typeface="Arial"/>
              </a:rPr>
              <a:t>Preliminary</a:t>
            </a:r>
            <a:r>
              <a:rPr dirty="0" sz="800" spc="-15" b="1">
                <a:solidFill>
                  <a:srgbClr val="00A9D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F2A44"/>
                </a:solidFill>
                <a:latin typeface="Arial"/>
                <a:cs typeface="Arial"/>
              </a:rPr>
              <a:t>production</a:t>
            </a:r>
            <a:r>
              <a:rPr dirty="0" sz="800" spc="1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discontinuation</a:t>
            </a:r>
            <a:r>
              <a:rPr dirty="0" sz="800" spc="-5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1F2A44"/>
                </a:solidFill>
                <a:latin typeface="Arial"/>
                <a:cs typeface="Arial"/>
              </a:rPr>
              <a:t>strategy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94944" y="-889"/>
            <a:ext cx="10820400" cy="254000"/>
          </a:xfrm>
          <a:custGeom>
            <a:avLst/>
            <a:gdLst/>
            <a:ahLst/>
            <a:cxnLst/>
            <a:rect l="l" t="t" r="r" b="b"/>
            <a:pathLst>
              <a:path w="10820400" h="254000">
                <a:moveTo>
                  <a:pt x="0" y="254000"/>
                </a:moveTo>
                <a:lnTo>
                  <a:pt x="10820400" y="254000"/>
                </a:lnTo>
                <a:lnTo>
                  <a:pt x="10820400" y="0"/>
                </a:lnTo>
                <a:lnTo>
                  <a:pt x="0" y="0"/>
                </a:lnTo>
                <a:lnTo>
                  <a:pt x="0" y="254000"/>
                </a:lnTo>
                <a:close/>
              </a:path>
            </a:pathLst>
          </a:custGeom>
          <a:solidFill>
            <a:srgbClr val="CE11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539" y="6347879"/>
            <a:ext cx="770763" cy="29537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8577" y="6638896"/>
            <a:ext cx="7220938" cy="2000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5359" rIns="0" bIns="0" rtlCol="0" vert="horz">
            <a:spAutoFit/>
          </a:bodyPr>
          <a:lstStyle/>
          <a:p>
            <a:pPr marL="9779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Change</a:t>
            </a:r>
            <a:r>
              <a:rPr dirty="0" spc="-9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Management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&amp;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Communication</a:t>
            </a:r>
            <a:r>
              <a:rPr dirty="0" spc="-85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plan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1421871" y="6477101"/>
            <a:ext cx="120014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DFE0DD"/>
                </a:solidFill>
                <a:latin typeface="Arial Narrow"/>
                <a:cs typeface="Arial Narrow"/>
              </a:rPr>
              <a:t>14</a:t>
            </a:r>
            <a:endParaRPr sz="800">
              <a:latin typeface="Arial Narrow"/>
              <a:cs typeface="Arial Narro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289672" y="6477101"/>
            <a:ext cx="373380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PRATT</a:t>
            </a:r>
            <a:r>
              <a:rPr dirty="0" sz="800" spc="-3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&amp; WHITNEY</a:t>
            </a:r>
            <a:r>
              <a:rPr dirty="0" sz="800" spc="-2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CANADA</a:t>
            </a:r>
            <a:r>
              <a:rPr dirty="0" sz="800" spc="-4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PROPRIETARY</a:t>
            </a:r>
            <a:r>
              <a:rPr dirty="0" sz="800" spc="265">
                <a:solidFill>
                  <a:srgbClr val="DFE0DD"/>
                </a:solidFill>
                <a:latin typeface="Arial Narrow"/>
                <a:cs typeface="Arial Narrow"/>
              </a:rPr>
              <a:t> 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|</a:t>
            </a:r>
            <a:r>
              <a:rPr dirty="0" sz="800" spc="190">
                <a:solidFill>
                  <a:srgbClr val="DFE0DD"/>
                </a:solidFill>
                <a:latin typeface="Arial Narrow"/>
                <a:cs typeface="Arial Narrow"/>
              </a:rPr>
              <a:t> 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©</a:t>
            </a:r>
            <a:r>
              <a:rPr dirty="0" sz="800" spc="45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2025</a:t>
            </a:r>
            <a:r>
              <a:rPr dirty="0" sz="800" spc="-1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PRATT</a:t>
            </a:r>
            <a:r>
              <a:rPr dirty="0" sz="800" spc="-1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&amp;</a:t>
            </a:r>
            <a:r>
              <a:rPr dirty="0" sz="800" spc="-3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WHITNEY</a:t>
            </a:r>
            <a:r>
              <a:rPr dirty="0" sz="800" spc="-15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CANADA</a:t>
            </a:r>
            <a:r>
              <a:rPr dirty="0" sz="800" spc="-4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 spc="-10">
                <a:solidFill>
                  <a:srgbClr val="DFE0DD"/>
                </a:solidFill>
                <a:latin typeface="Arial Narrow"/>
                <a:cs typeface="Arial Narrow"/>
              </a:rPr>
              <a:t>CORP.</a:t>
            </a:r>
            <a:endParaRPr sz="800">
              <a:latin typeface="Arial Narrow"/>
              <a:cs typeface="Arial Narro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34336" y="6477101"/>
            <a:ext cx="290195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EXPORT</a:t>
            </a:r>
            <a:r>
              <a:rPr dirty="0" sz="800" spc="-3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MARKING:</a:t>
            </a:r>
            <a:r>
              <a:rPr dirty="0" sz="800" spc="-25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(TO</a:t>
            </a:r>
            <a:r>
              <a:rPr dirty="0" sz="800" spc="-15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CHANGE</a:t>
            </a:r>
            <a:r>
              <a:rPr dirty="0" sz="800" spc="-3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GO</a:t>
            </a:r>
            <a:r>
              <a:rPr dirty="0" sz="800" spc="5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TO</a:t>
            </a:r>
            <a:r>
              <a:rPr dirty="0" sz="800" spc="-2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INSERT</a:t>
            </a:r>
            <a:r>
              <a:rPr dirty="0" sz="800" spc="-15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&gt; HEADER</a:t>
            </a:r>
            <a:r>
              <a:rPr dirty="0" sz="800" spc="-30">
                <a:solidFill>
                  <a:srgbClr val="DFE0DD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DFE0DD"/>
                </a:solidFill>
                <a:latin typeface="Arial Narrow"/>
                <a:cs typeface="Arial Narrow"/>
              </a:rPr>
              <a:t>&amp; </a:t>
            </a:r>
            <a:r>
              <a:rPr dirty="0" sz="800" spc="-10">
                <a:solidFill>
                  <a:srgbClr val="DFE0DD"/>
                </a:solidFill>
                <a:latin typeface="Arial Narrow"/>
                <a:cs typeface="Arial Narrow"/>
              </a:rPr>
              <a:t>FOOTER)</a:t>
            </a:r>
            <a:endParaRPr sz="800">
              <a:latin typeface="Arial Narrow"/>
              <a:cs typeface="Arial Narrow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401444" y="2505329"/>
            <a:ext cx="9941560" cy="240029"/>
            <a:chOff x="1401444" y="2505329"/>
            <a:chExt cx="9941560" cy="240029"/>
          </a:xfrm>
        </p:grpSpPr>
        <p:sp>
          <p:nvSpPr>
            <p:cNvPr id="10" name="object 10" descr=""/>
            <p:cNvSpPr/>
            <p:nvPr/>
          </p:nvSpPr>
          <p:spPr>
            <a:xfrm>
              <a:off x="1401444" y="2505329"/>
              <a:ext cx="9941560" cy="85725"/>
            </a:xfrm>
            <a:custGeom>
              <a:avLst/>
              <a:gdLst/>
              <a:ahLst/>
              <a:cxnLst/>
              <a:rect l="l" t="t" r="r" b="b"/>
              <a:pathLst>
                <a:path w="9941560" h="85725">
                  <a:moveTo>
                    <a:pt x="9855454" y="0"/>
                  </a:moveTo>
                  <a:lnTo>
                    <a:pt x="9855454" y="85725"/>
                  </a:lnTo>
                  <a:lnTo>
                    <a:pt x="9912519" y="57150"/>
                  </a:lnTo>
                  <a:lnTo>
                    <a:pt x="9869805" y="57150"/>
                  </a:lnTo>
                  <a:lnTo>
                    <a:pt x="9869805" y="28575"/>
                  </a:lnTo>
                  <a:lnTo>
                    <a:pt x="9912688" y="28575"/>
                  </a:lnTo>
                  <a:lnTo>
                    <a:pt x="9855454" y="0"/>
                  </a:lnTo>
                  <a:close/>
                </a:path>
                <a:path w="9941560" h="85725">
                  <a:moveTo>
                    <a:pt x="9855454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9855454" y="57150"/>
                  </a:lnTo>
                  <a:lnTo>
                    <a:pt x="9855454" y="28575"/>
                  </a:lnTo>
                  <a:close/>
                </a:path>
                <a:path w="9941560" h="85725">
                  <a:moveTo>
                    <a:pt x="9912688" y="28575"/>
                  </a:moveTo>
                  <a:lnTo>
                    <a:pt x="9869805" y="28575"/>
                  </a:lnTo>
                  <a:lnTo>
                    <a:pt x="9869805" y="57150"/>
                  </a:lnTo>
                  <a:lnTo>
                    <a:pt x="9912519" y="57150"/>
                  </a:lnTo>
                  <a:lnTo>
                    <a:pt x="9941179" y="42799"/>
                  </a:lnTo>
                  <a:lnTo>
                    <a:pt x="9912688" y="28575"/>
                  </a:lnTo>
                  <a:close/>
                </a:path>
              </a:pathLst>
            </a:custGeom>
            <a:solidFill>
              <a:srgbClr val="7AA7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277866" y="2544191"/>
              <a:ext cx="5189855" cy="191770"/>
            </a:xfrm>
            <a:custGeom>
              <a:avLst/>
              <a:gdLst/>
              <a:ahLst/>
              <a:cxnLst/>
              <a:rect l="l" t="t" r="r" b="b"/>
              <a:pathLst>
                <a:path w="5189855" h="191769">
                  <a:moveTo>
                    <a:pt x="0" y="3937"/>
                  </a:moveTo>
                  <a:lnTo>
                    <a:pt x="0" y="191516"/>
                  </a:lnTo>
                </a:path>
                <a:path w="5189855" h="191769">
                  <a:moveTo>
                    <a:pt x="5189474" y="0"/>
                  </a:moveTo>
                  <a:lnTo>
                    <a:pt x="5189474" y="187579"/>
                  </a:lnTo>
                </a:path>
              </a:pathLst>
            </a:custGeom>
            <a:ln w="19050">
              <a:solidFill>
                <a:srgbClr val="7AA7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968494" y="2780233"/>
            <a:ext cx="62103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3333FF"/>
                </a:solidFill>
                <a:latin typeface="Arial"/>
                <a:cs typeface="Arial"/>
              </a:rPr>
              <a:t>01</a:t>
            </a:r>
            <a:r>
              <a:rPr dirty="0" baseline="27777" sz="1050">
                <a:solidFill>
                  <a:srgbClr val="3333FF"/>
                </a:solidFill>
                <a:latin typeface="Arial"/>
                <a:cs typeface="Arial"/>
              </a:rPr>
              <a:t>st</a:t>
            </a:r>
            <a:r>
              <a:rPr dirty="0" baseline="27777" sz="1050" spc="150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3333FF"/>
                </a:solidFill>
                <a:latin typeface="Arial"/>
                <a:cs typeface="Arial"/>
              </a:rPr>
              <a:t>April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557643" y="2778632"/>
            <a:ext cx="62484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3333FF"/>
                </a:solidFill>
                <a:latin typeface="Arial"/>
                <a:cs typeface="Arial"/>
              </a:rPr>
              <a:t>July</a:t>
            </a:r>
            <a:r>
              <a:rPr dirty="0" sz="1100" spc="-35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3333FF"/>
                </a:solidFill>
                <a:latin typeface="Arial"/>
                <a:cs typeface="Arial"/>
              </a:rPr>
              <a:t>2025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299954" y="2775331"/>
            <a:ext cx="33655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0">
                <a:solidFill>
                  <a:srgbClr val="3333FF"/>
                </a:solidFill>
                <a:latin typeface="Arial"/>
                <a:cs typeface="Arial"/>
              </a:rPr>
              <a:t>2026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347720" y="2289428"/>
            <a:ext cx="6007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7E7E7E"/>
                </a:solidFill>
                <a:latin typeface="Arial"/>
                <a:cs typeface="Arial"/>
              </a:rPr>
              <a:t>Phase</a:t>
            </a:r>
            <a:r>
              <a:rPr dirty="0" sz="1200" spc="-25" b="1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200" spc="-50" b="1">
                <a:solidFill>
                  <a:srgbClr val="7E7E7E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272529" y="2276983"/>
            <a:ext cx="6007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7E7E7E"/>
                </a:solidFill>
                <a:latin typeface="Arial"/>
                <a:cs typeface="Arial"/>
              </a:rPr>
              <a:t>Phase</a:t>
            </a:r>
            <a:r>
              <a:rPr dirty="0" sz="1200" spc="-25" b="1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200" spc="-50" b="1">
                <a:solidFill>
                  <a:srgbClr val="7E7E7E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321044" y="2607056"/>
            <a:ext cx="51371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7E7E7E"/>
                </a:solidFill>
                <a:latin typeface="Arial"/>
                <a:cs typeface="Arial"/>
              </a:rPr>
              <a:t>90</a:t>
            </a:r>
            <a:r>
              <a:rPr dirty="0" sz="1100" spc="-1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7E7E7E"/>
                </a:solidFill>
                <a:latin typeface="Arial"/>
                <a:cs typeface="Arial"/>
              </a:rPr>
              <a:t>days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985264" y="2789301"/>
            <a:ext cx="60071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3333FF"/>
                </a:solidFill>
                <a:latin typeface="Arial"/>
                <a:cs typeface="Arial"/>
              </a:rPr>
              <a:t>Jan</a:t>
            </a:r>
            <a:r>
              <a:rPr dirty="0" sz="1100" spc="-20">
                <a:solidFill>
                  <a:srgbClr val="3333FF"/>
                </a:solidFill>
                <a:latin typeface="Arial"/>
                <a:cs typeface="Arial"/>
              </a:rPr>
              <a:t> 2025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2275077" y="2568575"/>
            <a:ext cx="5616575" cy="3119120"/>
            <a:chOff x="2275077" y="2568575"/>
            <a:chExt cx="5616575" cy="3119120"/>
          </a:xfrm>
        </p:grpSpPr>
        <p:sp>
          <p:nvSpPr>
            <p:cNvPr id="20" name="object 20" descr=""/>
            <p:cNvSpPr/>
            <p:nvPr/>
          </p:nvSpPr>
          <p:spPr>
            <a:xfrm>
              <a:off x="2284602" y="2578100"/>
              <a:ext cx="0" cy="187960"/>
            </a:xfrm>
            <a:custGeom>
              <a:avLst/>
              <a:gdLst/>
              <a:ahLst/>
              <a:cxnLst/>
              <a:rect l="l" t="t" r="r" b="b"/>
              <a:pathLst>
                <a:path w="0" h="187960">
                  <a:moveTo>
                    <a:pt x="0" y="0"/>
                  </a:moveTo>
                  <a:lnTo>
                    <a:pt x="0" y="187578"/>
                  </a:lnTo>
                </a:path>
              </a:pathLst>
            </a:custGeom>
            <a:ln w="19050">
              <a:solidFill>
                <a:srgbClr val="7AA7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707891" y="2578100"/>
              <a:ext cx="243204" cy="229870"/>
            </a:xfrm>
            <a:custGeom>
              <a:avLst/>
              <a:gdLst/>
              <a:ahLst/>
              <a:cxnLst/>
              <a:rect l="l" t="t" r="r" b="b"/>
              <a:pathLst>
                <a:path w="243204" h="229869">
                  <a:moveTo>
                    <a:pt x="121412" y="0"/>
                  </a:moveTo>
                  <a:lnTo>
                    <a:pt x="0" y="229362"/>
                  </a:lnTo>
                  <a:lnTo>
                    <a:pt x="242824" y="229362"/>
                  </a:lnTo>
                  <a:lnTo>
                    <a:pt x="121412" y="0"/>
                  </a:lnTo>
                  <a:close/>
                </a:path>
              </a:pathLst>
            </a:custGeom>
            <a:solidFill>
              <a:srgbClr val="6062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707891" y="2578100"/>
              <a:ext cx="243204" cy="229870"/>
            </a:xfrm>
            <a:custGeom>
              <a:avLst/>
              <a:gdLst/>
              <a:ahLst/>
              <a:cxnLst/>
              <a:rect l="l" t="t" r="r" b="b"/>
              <a:pathLst>
                <a:path w="243204" h="229869">
                  <a:moveTo>
                    <a:pt x="0" y="229362"/>
                  </a:moveTo>
                  <a:lnTo>
                    <a:pt x="121412" y="0"/>
                  </a:lnTo>
                  <a:lnTo>
                    <a:pt x="242824" y="229362"/>
                  </a:lnTo>
                  <a:lnTo>
                    <a:pt x="0" y="229362"/>
                  </a:lnTo>
                  <a:close/>
                </a:path>
              </a:pathLst>
            </a:custGeom>
            <a:ln w="12700">
              <a:solidFill>
                <a:srgbClr val="2324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822191" y="2807461"/>
              <a:ext cx="7620" cy="938530"/>
            </a:xfrm>
            <a:custGeom>
              <a:avLst/>
              <a:gdLst/>
              <a:ahLst/>
              <a:cxnLst/>
              <a:rect l="l" t="t" r="r" b="b"/>
              <a:pathLst>
                <a:path w="7620" h="938529">
                  <a:moveTo>
                    <a:pt x="7112" y="0"/>
                  </a:moveTo>
                  <a:lnTo>
                    <a:pt x="0" y="938402"/>
                  </a:lnTo>
                </a:path>
              </a:pathLst>
            </a:custGeom>
            <a:ln w="6349">
              <a:solidFill>
                <a:srgbClr val="60626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288534" y="2578099"/>
              <a:ext cx="2602865" cy="3109595"/>
            </a:xfrm>
            <a:custGeom>
              <a:avLst/>
              <a:gdLst/>
              <a:ahLst/>
              <a:cxnLst/>
              <a:rect l="l" t="t" r="r" b="b"/>
              <a:pathLst>
                <a:path w="2602865" h="3109595">
                  <a:moveTo>
                    <a:pt x="921385" y="229362"/>
                  </a:moveTo>
                  <a:lnTo>
                    <a:pt x="799846" y="0"/>
                  </a:lnTo>
                  <a:lnTo>
                    <a:pt x="678434" y="229362"/>
                  </a:lnTo>
                  <a:lnTo>
                    <a:pt x="921385" y="229362"/>
                  </a:lnTo>
                  <a:close/>
                </a:path>
                <a:path w="2602865" h="3109595">
                  <a:moveTo>
                    <a:pt x="2602738" y="3070961"/>
                  </a:moveTo>
                  <a:lnTo>
                    <a:pt x="2596388" y="3067786"/>
                  </a:lnTo>
                  <a:lnTo>
                    <a:pt x="2526538" y="3032861"/>
                  </a:lnTo>
                  <a:lnTo>
                    <a:pt x="2526538" y="3067786"/>
                  </a:lnTo>
                  <a:lnTo>
                    <a:pt x="76200" y="3067786"/>
                  </a:lnTo>
                  <a:lnTo>
                    <a:pt x="76200" y="3032861"/>
                  </a:lnTo>
                  <a:lnTo>
                    <a:pt x="0" y="3070961"/>
                  </a:lnTo>
                  <a:lnTo>
                    <a:pt x="76200" y="3109061"/>
                  </a:lnTo>
                  <a:lnTo>
                    <a:pt x="76200" y="3074136"/>
                  </a:lnTo>
                  <a:lnTo>
                    <a:pt x="2526538" y="3074136"/>
                  </a:lnTo>
                  <a:lnTo>
                    <a:pt x="2526538" y="3109061"/>
                  </a:lnTo>
                  <a:lnTo>
                    <a:pt x="2596388" y="3074136"/>
                  </a:lnTo>
                  <a:lnTo>
                    <a:pt x="2602738" y="3070961"/>
                  </a:lnTo>
                  <a:close/>
                </a:path>
              </a:pathLst>
            </a:custGeom>
            <a:solidFill>
              <a:srgbClr val="6062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966968" y="2578100"/>
              <a:ext cx="243204" cy="229870"/>
            </a:xfrm>
            <a:custGeom>
              <a:avLst/>
              <a:gdLst/>
              <a:ahLst/>
              <a:cxnLst/>
              <a:rect l="l" t="t" r="r" b="b"/>
              <a:pathLst>
                <a:path w="243204" h="229869">
                  <a:moveTo>
                    <a:pt x="0" y="229362"/>
                  </a:moveTo>
                  <a:lnTo>
                    <a:pt x="121412" y="0"/>
                  </a:lnTo>
                  <a:lnTo>
                    <a:pt x="242951" y="229362"/>
                  </a:lnTo>
                  <a:lnTo>
                    <a:pt x="0" y="229362"/>
                  </a:lnTo>
                  <a:close/>
                </a:path>
              </a:pathLst>
            </a:custGeom>
            <a:ln w="12700">
              <a:solidFill>
                <a:srgbClr val="2324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088380" y="2794888"/>
              <a:ext cx="0" cy="1528445"/>
            </a:xfrm>
            <a:custGeom>
              <a:avLst/>
              <a:gdLst/>
              <a:ahLst/>
              <a:cxnLst/>
              <a:rect l="l" t="t" r="r" b="b"/>
              <a:pathLst>
                <a:path w="0" h="1528445">
                  <a:moveTo>
                    <a:pt x="0" y="0"/>
                  </a:moveTo>
                  <a:lnTo>
                    <a:pt x="0" y="1527937"/>
                  </a:lnTo>
                </a:path>
              </a:pathLst>
            </a:custGeom>
            <a:ln w="6350">
              <a:solidFill>
                <a:srgbClr val="60626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8887206" y="2273046"/>
            <a:ext cx="6007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7E7E7E"/>
                </a:solidFill>
                <a:latin typeface="Arial"/>
                <a:cs typeface="Arial"/>
              </a:rPr>
              <a:t>Phase</a:t>
            </a:r>
            <a:r>
              <a:rPr dirty="0" sz="1200" spc="-25" b="1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200" spc="-50" b="1">
                <a:solidFill>
                  <a:srgbClr val="7E7E7E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430479" y="2365375"/>
            <a:ext cx="746125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7E7E7E"/>
                </a:solidFill>
                <a:latin typeface="Arial"/>
                <a:cs typeface="Arial"/>
              </a:rPr>
              <a:t>Change Timeline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3919854" y="3236467"/>
            <a:ext cx="108458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7E7E7E"/>
                </a:solidFill>
                <a:latin typeface="Arial"/>
                <a:cs typeface="Arial"/>
              </a:rPr>
              <a:t>P&amp;W</a:t>
            </a:r>
            <a:r>
              <a:rPr dirty="0" sz="1200" spc="-20">
                <a:solidFill>
                  <a:srgbClr val="7E7E7E"/>
                </a:solidFill>
                <a:latin typeface="Arial"/>
                <a:cs typeface="Arial"/>
              </a:rPr>
              <a:t> RLPM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7E7E7E"/>
                </a:solidFill>
                <a:latin typeface="Arial"/>
                <a:cs typeface="Arial"/>
              </a:rPr>
              <a:t>Communication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7E7E7E"/>
                </a:solidFill>
                <a:latin typeface="Arial"/>
                <a:cs typeface="Arial"/>
              </a:rPr>
              <a:t>Video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152515" y="3898519"/>
            <a:ext cx="122047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7E7E7E"/>
                </a:solidFill>
                <a:latin typeface="Arial"/>
                <a:cs typeface="Arial"/>
              </a:rPr>
              <a:t>P&amp;WC</a:t>
            </a:r>
            <a:r>
              <a:rPr dirty="0" sz="1200" spc="-25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E7E7E"/>
                </a:solidFill>
                <a:latin typeface="Arial"/>
                <a:cs typeface="Arial"/>
              </a:rPr>
              <a:t>Enterprise Communication </a:t>
            </a:r>
            <a:r>
              <a:rPr dirty="0" sz="1200">
                <a:solidFill>
                  <a:srgbClr val="7E7E7E"/>
                </a:solidFill>
                <a:latin typeface="Arial"/>
                <a:cs typeface="Arial"/>
              </a:rPr>
              <a:t>(MMP</a:t>
            </a:r>
            <a:r>
              <a:rPr dirty="0" sz="1200" spc="-5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7E7E7E"/>
                </a:solidFill>
                <a:latin typeface="Arial"/>
                <a:cs typeface="Arial"/>
              </a:rPr>
              <a:t>changes)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6270497" y="3199003"/>
            <a:ext cx="6197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4604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7E7E7E"/>
                </a:solidFill>
                <a:latin typeface="Arial"/>
                <a:cs typeface="Arial"/>
              </a:rPr>
              <a:t>Program </a:t>
            </a:r>
            <a:r>
              <a:rPr dirty="0" sz="1200" spc="-25">
                <a:solidFill>
                  <a:srgbClr val="7E7E7E"/>
                </a:solidFill>
                <a:latin typeface="Arial"/>
                <a:cs typeface="Arial"/>
              </a:rPr>
              <a:t>PMT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7E7E7E"/>
                </a:solidFill>
                <a:latin typeface="Arial"/>
                <a:cs typeface="Arial"/>
              </a:rPr>
              <a:t>Briefings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7226045" y="3279775"/>
            <a:ext cx="64579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7E7E7E"/>
                </a:solidFill>
                <a:latin typeface="Arial"/>
                <a:cs typeface="Arial"/>
              </a:rPr>
              <a:t>BU</a:t>
            </a:r>
            <a:r>
              <a:rPr dirty="0" sz="1200" spc="-10">
                <a:solidFill>
                  <a:srgbClr val="7E7E7E"/>
                </a:solidFill>
                <a:latin typeface="Arial"/>
                <a:cs typeface="Arial"/>
              </a:rPr>
              <a:t> Staff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7E7E7E"/>
                </a:solidFill>
                <a:latin typeface="Arial"/>
                <a:cs typeface="Arial"/>
              </a:rPr>
              <a:t>meetings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6993381" y="3323970"/>
            <a:ext cx="1447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solidFill>
                  <a:srgbClr val="7E7E7E"/>
                </a:solidFill>
                <a:latin typeface="Arial"/>
                <a:cs typeface="Arial"/>
              </a:rPr>
              <a:t>&amp;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7727695" y="2290952"/>
            <a:ext cx="327660" cy="469900"/>
            <a:chOff x="7727695" y="2290952"/>
            <a:chExt cx="327660" cy="469900"/>
          </a:xfrm>
        </p:grpSpPr>
        <p:sp>
          <p:nvSpPr>
            <p:cNvPr id="35" name="object 35" descr=""/>
            <p:cNvSpPr/>
            <p:nvPr/>
          </p:nvSpPr>
          <p:spPr>
            <a:xfrm>
              <a:off x="7734045" y="2297302"/>
              <a:ext cx="314960" cy="261620"/>
            </a:xfrm>
            <a:custGeom>
              <a:avLst/>
              <a:gdLst/>
              <a:ahLst/>
              <a:cxnLst/>
              <a:rect l="l" t="t" r="r" b="b"/>
              <a:pathLst>
                <a:path w="314959" h="261619">
                  <a:moveTo>
                    <a:pt x="314578" y="0"/>
                  </a:moveTo>
                  <a:lnTo>
                    <a:pt x="0" y="0"/>
                  </a:lnTo>
                  <a:lnTo>
                    <a:pt x="157225" y="261620"/>
                  </a:lnTo>
                  <a:lnTo>
                    <a:pt x="314578" y="0"/>
                  </a:lnTo>
                  <a:close/>
                </a:path>
              </a:pathLst>
            </a:custGeom>
            <a:solidFill>
              <a:srgbClr val="6062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734045" y="2297302"/>
              <a:ext cx="314960" cy="261620"/>
            </a:xfrm>
            <a:custGeom>
              <a:avLst/>
              <a:gdLst/>
              <a:ahLst/>
              <a:cxnLst/>
              <a:rect l="l" t="t" r="r" b="b"/>
              <a:pathLst>
                <a:path w="314959" h="261619">
                  <a:moveTo>
                    <a:pt x="0" y="0"/>
                  </a:moveTo>
                  <a:lnTo>
                    <a:pt x="157225" y="261620"/>
                  </a:lnTo>
                  <a:lnTo>
                    <a:pt x="314578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324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7895208" y="2563240"/>
              <a:ext cx="0" cy="187960"/>
            </a:xfrm>
            <a:custGeom>
              <a:avLst/>
              <a:gdLst/>
              <a:ahLst/>
              <a:cxnLst/>
              <a:rect l="l" t="t" r="r" b="b"/>
              <a:pathLst>
                <a:path w="0" h="187960">
                  <a:moveTo>
                    <a:pt x="0" y="0"/>
                  </a:moveTo>
                  <a:lnTo>
                    <a:pt x="0" y="187579"/>
                  </a:lnTo>
                </a:path>
              </a:pathLst>
            </a:custGeom>
            <a:ln w="19050">
              <a:solidFill>
                <a:srgbClr val="7AA7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/>
          <p:nvPr/>
        </p:nvSpPr>
        <p:spPr>
          <a:xfrm>
            <a:off x="7891271" y="1715516"/>
            <a:ext cx="2308860" cy="76200"/>
          </a:xfrm>
          <a:custGeom>
            <a:avLst/>
            <a:gdLst/>
            <a:ahLst/>
            <a:cxnLst/>
            <a:rect l="l" t="t" r="r" b="b"/>
            <a:pathLst>
              <a:path w="2308859" h="76200">
                <a:moveTo>
                  <a:pt x="2232152" y="0"/>
                </a:moveTo>
                <a:lnTo>
                  <a:pt x="2232152" y="76200"/>
                </a:lnTo>
                <a:lnTo>
                  <a:pt x="2302002" y="41275"/>
                </a:lnTo>
                <a:lnTo>
                  <a:pt x="2244852" y="41275"/>
                </a:lnTo>
                <a:lnTo>
                  <a:pt x="2244852" y="34925"/>
                </a:lnTo>
                <a:lnTo>
                  <a:pt x="2302002" y="34925"/>
                </a:lnTo>
                <a:lnTo>
                  <a:pt x="2232152" y="0"/>
                </a:lnTo>
                <a:close/>
              </a:path>
              <a:path w="2308859" h="76200">
                <a:moveTo>
                  <a:pt x="2232152" y="34925"/>
                </a:moveTo>
                <a:lnTo>
                  <a:pt x="0" y="34925"/>
                </a:lnTo>
                <a:lnTo>
                  <a:pt x="0" y="41275"/>
                </a:lnTo>
                <a:lnTo>
                  <a:pt x="2232152" y="41275"/>
                </a:lnTo>
                <a:lnTo>
                  <a:pt x="2232152" y="34925"/>
                </a:lnTo>
                <a:close/>
              </a:path>
              <a:path w="2308859" h="76200">
                <a:moveTo>
                  <a:pt x="2302002" y="34925"/>
                </a:moveTo>
                <a:lnTo>
                  <a:pt x="2244852" y="34925"/>
                </a:lnTo>
                <a:lnTo>
                  <a:pt x="2244852" y="41275"/>
                </a:lnTo>
                <a:lnTo>
                  <a:pt x="2302002" y="41275"/>
                </a:lnTo>
                <a:lnTo>
                  <a:pt x="2308352" y="38100"/>
                </a:lnTo>
                <a:lnTo>
                  <a:pt x="2302002" y="34925"/>
                </a:lnTo>
                <a:close/>
              </a:path>
            </a:pathLst>
          </a:custGeom>
          <a:solidFill>
            <a:srgbClr val="6062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7583551" y="1907540"/>
            <a:ext cx="12338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Effective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Program Transition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7881619" y="1341882"/>
            <a:ext cx="30416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606264"/>
                </a:solidFill>
                <a:latin typeface="Arial"/>
                <a:cs typeface="Arial"/>
              </a:rPr>
              <a:t>PMT/PMMT</a:t>
            </a:r>
            <a:r>
              <a:rPr dirty="0" sz="1200" spc="-55">
                <a:solidFill>
                  <a:srgbClr val="606264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06264"/>
                </a:solidFill>
                <a:latin typeface="Arial"/>
                <a:cs typeface="Arial"/>
              </a:rPr>
              <a:t>Steering</a:t>
            </a:r>
            <a:r>
              <a:rPr dirty="0" sz="1200" spc="-65">
                <a:solidFill>
                  <a:srgbClr val="606264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06264"/>
                </a:solidFill>
                <a:latin typeface="Arial"/>
                <a:cs typeface="Arial"/>
              </a:rPr>
              <a:t>committee</a:t>
            </a:r>
            <a:r>
              <a:rPr dirty="0" sz="1200" spc="-80">
                <a:solidFill>
                  <a:srgbClr val="606264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06264"/>
                </a:solidFill>
                <a:latin typeface="Arial"/>
                <a:cs typeface="Arial"/>
              </a:rPr>
              <a:t>reporting</a:t>
            </a:r>
            <a:r>
              <a:rPr dirty="0" sz="1200" spc="-65">
                <a:solidFill>
                  <a:srgbClr val="606264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606264"/>
                </a:solidFill>
                <a:latin typeface="Arial"/>
                <a:cs typeface="Arial"/>
              </a:rPr>
              <a:t>on </a:t>
            </a:r>
            <a:r>
              <a:rPr dirty="0" sz="1200">
                <a:solidFill>
                  <a:srgbClr val="606264"/>
                </a:solidFill>
                <a:latin typeface="Arial"/>
                <a:cs typeface="Arial"/>
              </a:rPr>
              <a:t>enterprise</a:t>
            </a:r>
            <a:r>
              <a:rPr dirty="0" sz="1200" spc="-55">
                <a:solidFill>
                  <a:srgbClr val="606264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06264"/>
                </a:solidFill>
                <a:latin typeface="Arial"/>
                <a:cs typeface="Arial"/>
              </a:rPr>
              <a:t>implementation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5104765" y="2244979"/>
            <a:ext cx="5196840" cy="3724910"/>
            <a:chOff x="5104765" y="2244979"/>
            <a:chExt cx="5196840" cy="3724910"/>
          </a:xfrm>
        </p:grpSpPr>
        <p:sp>
          <p:nvSpPr>
            <p:cNvPr id="42" name="object 42" descr=""/>
            <p:cNvSpPr/>
            <p:nvPr/>
          </p:nvSpPr>
          <p:spPr>
            <a:xfrm>
              <a:off x="6103620" y="3098546"/>
              <a:ext cx="1773555" cy="85090"/>
            </a:xfrm>
            <a:custGeom>
              <a:avLst/>
              <a:gdLst/>
              <a:ahLst/>
              <a:cxnLst/>
              <a:rect l="l" t="t" r="r" b="b"/>
              <a:pathLst>
                <a:path w="1773554" h="85089">
                  <a:moveTo>
                    <a:pt x="1697608" y="8762"/>
                  </a:moveTo>
                  <a:lnTo>
                    <a:pt x="1697159" y="76200"/>
                  </a:lnTo>
                  <a:lnTo>
                    <a:pt x="1697101" y="84962"/>
                  </a:lnTo>
                  <a:lnTo>
                    <a:pt x="1767891" y="50037"/>
                  </a:lnTo>
                  <a:lnTo>
                    <a:pt x="1710054" y="50037"/>
                  </a:lnTo>
                  <a:lnTo>
                    <a:pt x="1710054" y="43687"/>
                  </a:lnTo>
                  <a:lnTo>
                    <a:pt x="1766536" y="43687"/>
                  </a:lnTo>
                  <a:lnTo>
                    <a:pt x="1697608" y="8762"/>
                  </a:lnTo>
                  <a:close/>
                </a:path>
                <a:path w="1773554" h="85089">
                  <a:moveTo>
                    <a:pt x="76453" y="0"/>
                  </a:moveTo>
                  <a:lnTo>
                    <a:pt x="0" y="37718"/>
                  </a:lnTo>
                  <a:lnTo>
                    <a:pt x="75945" y="76200"/>
                  </a:lnTo>
                  <a:lnTo>
                    <a:pt x="76120" y="50037"/>
                  </a:lnTo>
                  <a:lnTo>
                    <a:pt x="76178" y="41342"/>
                  </a:lnTo>
                  <a:lnTo>
                    <a:pt x="63500" y="41342"/>
                  </a:lnTo>
                  <a:lnTo>
                    <a:pt x="63500" y="34992"/>
                  </a:lnTo>
                  <a:lnTo>
                    <a:pt x="76220" y="34992"/>
                  </a:lnTo>
                  <a:lnTo>
                    <a:pt x="76395" y="8762"/>
                  </a:lnTo>
                  <a:lnTo>
                    <a:pt x="76453" y="0"/>
                  </a:lnTo>
                  <a:close/>
                </a:path>
                <a:path w="1773554" h="85089">
                  <a:moveTo>
                    <a:pt x="76220" y="34992"/>
                  </a:moveTo>
                  <a:lnTo>
                    <a:pt x="76178" y="41342"/>
                  </a:lnTo>
                  <a:lnTo>
                    <a:pt x="1710055" y="50037"/>
                  </a:lnTo>
                  <a:lnTo>
                    <a:pt x="1697333" y="50037"/>
                  </a:lnTo>
                  <a:lnTo>
                    <a:pt x="1697376" y="43687"/>
                  </a:lnTo>
                  <a:lnTo>
                    <a:pt x="1710054" y="43687"/>
                  </a:lnTo>
                  <a:lnTo>
                    <a:pt x="76220" y="34992"/>
                  </a:lnTo>
                  <a:close/>
                </a:path>
                <a:path w="1773554" h="85089">
                  <a:moveTo>
                    <a:pt x="1766536" y="43687"/>
                  </a:moveTo>
                  <a:lnTo>
                    <a:pt x="1710054" y="43687"/>
                  </a:lnTo>
                  <a:lnTo>
                    <a:pt x="1710054" y="50037"/>
                  </a:lnTo>
                  <a:lnTo>
                    <a:pt x="1767891" y="50037"/>
                  </a:lnTo>
                  <a:lnTo>
                    <a:pt x="1773554" y="47243"/>
                  </a:lnTo>
                  <a:lnTo>
                    <a:pt x="1766536" y="43687"/>
                  </a:lnTo>
                  <a:close/>
                </a:path>
                <a:path w="1773554" h="85089">
                  <a:moveTo>
                    <a:pt x="76220" y="34992"/>
                  </a:moveTo>
                  <a:lnTo>
                    <a:pt x="63500" y="34992"/>
                  </a:lnTo>
                  <a:lnTo>
                    <a:pt x="63500" y="41342"/>
                  </a:lnTo>
                  <a:lnTo>
                    <a:pt x="76178" y="41342"/>
                  </a:lnTo>
                  <a:lnTo>
                    <a:pt x="76220" y="34992"/>
                  </a:lnTo>
                  <a:close/>
                </a:path>
              </a:pathLst>
            </a:custGeom>
            <a:solidFill>
              <a:srgbClr val="6062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111115" y="2251329"/>
              <a:ext cx="314960" cy="261620"/>
            </a:xfrm>
            <a:custGeom>
              <a:avLst/>
              <a:gdLst/>
              <a:ahLst/>
              <a:cxnLst/>
              <a:rect l="l" t="t" r="r" b="b"/>
              <a:pathLst>
                <a:path w="314960" h="261619">
                  <a:moveTo>
                    <a:pt x="314579" y="0"/>
                  </a:moveTo>
                  <a:lnTo>
                    <a:pt x="0" y="0"/>
                  </a:lnTo>
                  <a:lnTo>
                    <a:pt x="157352" y="261620"/>
                  </a:lnTo>
                  <a:lnTo>
                    <a:pt x="314579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111115" y="2251329"/>
              <a:ext cx="314960" cy="261620"/>
            </a:xfrm>
            <a:custGeom>
              <a:avLst/>
              <a:gdLst/>
              <a:ahLst/>
              <a:cxnLst/>
              <a:rect l="l" t="t" r="r" b="b"/>
              <a:pathLst>
                <a:path w="314960" h="261619">
                  <a:moveTo>
                    <a:pt x="0" y="0"/>
                  </a:moveTo>
                  <a:lnTo>
                    <a:pt x="157352" y="261620"/>
                  </a:lnTo>
                  <a:lnTo>
                    <a:pt x="314579" y="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2324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5551678" y="2571369"/>
              <a:ext cx="243204" cy="229870"/>
            </a:xfrm>
            <a:custGeom>
              <a:avLst/>
              <a:gdLst/>
              <a:ahLst/>
              <a:cxnLst/>
              <a:rect l="l" t="t" r="r" b="b"/>
              <a:pathLst>
                <a:path w="243204" h="229869">
                  <a:moveTo>
                    <a:pt x="121412" y="0"/>
                  </a:moveTo>
                  <a:lnTo>
                    <a:pt x="0" y="229361"/>
                  </a:lnTo>
                  <a:lnTo>
                    <a:pt x="242824" y="229361"/>
                  </a:lnTo>
                  <a:lnTo>
                    <a:pt x="121412" y="0"/>
                  </a:lnTo>
                  <a:close/>
                </a:path>
              </a:pathLst>
            </a:custGeom>
            <a:solidFill>
              <a:srgbClr val="6062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5551678" y="2571369"/>
              <a:ext cx="243204" cy="229870"/>
            </a:xfrm>
            <a:custGeom>
              <a:avLst/>
              <a:gdLst/>
              <a:ahLst/>
              <a:cxnLst/>
              <a:rect l="l" t="t" r="r" b="b"/>
              <a:pathLst>
                <a:path w="243204" h="229869">
                  <a:moveTo>
                    <a:pt x="0" y="229361"/>
                  </a:moveTo>
                  <a:lnTo>
                    <a:pt x="121412" y="0"/>
                  </a:lnTo>
                  <a:lnTo>
                    <a:pt x="242824" y="229361"/>
                  </a:lnTo>
                  <a:lnTo>
                    <a:pt x="0" y="229361"/>
                  </a:lnTo>
                  <a:close/>
                </a:path>
              </a:pathLst>
            </a:custGeom>
            <a:ln w="12700">
              <a:solidFill>
                <a:srgbClr val="2324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670169" y="2790444"/>
              <a:ext cx="8255" cy="2452370"/>
            </a:xfrm>
            <a:custGeom>
              <a:avLst/>
              <a:gdLst/>
              <a:ahLst/>
              <a:cxnLst/>
              <a:rect l="l" t="t" r="r" b="b"/>
              <a:pathLst>
                <a:path w="8254" h="2452370">
                  <a:moveTo>
                    <a:pt x="8000" y="0"/>
                  </a:moveTo>
                  <a:lnTo>
                    <a:pt x="0" y="2452116"/>
                  </a:lnTo>
                </a:path>
              </a:pathLst>
            </a:custGeom>
            <a:ln w="6350">
              <a:solidFill>
                <a:srgbClr val="60626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5268468" y="3007741"/>
              <a:ext cx="2628900" cy="2962275"/>
            </a:xfrm>
            <a:custGeom>
              <a:avLst/>
              <a:gdLst/>
              <a:ahLst/>
              <a:cxnLst/>
              <a:rect l="l" t="t" r="r" b="b"/>
              <a:pathLst>
                <a:path w="2628900" h="2962275">
                  <a:moveTo>
                    <a:pt x="0" y="0"/>
                  </a:moveTo>
                  <a:lnTo>
                    <a:pt x="0" y="2946450"/>
                  </a:lnTo>
                </a:path>
                <a:path w="2628900" h="2962275">
                  <a:moveTo>
                    <a:pt x="2628900" y="15494"/>
                  </a:moveTo>
                  <a:lnTo>
                    <a:pt x="2628900" y="2961919"/>
                  </a:lnTo>
                </a:path>
              </a:pathLst>
            </a:custGeom>
            <a:ln w="19050">
              <a:solidFill>
                <a:srgbClr val="B7A99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993380" y="5608040"/>
              <a:ext cx="2308225" cy="76200"/>
            </a:xfrm>
            <a:custGeom>
              <a:avLst/>
              <a:gdLst/>
              <a:ahLst/>
              <a:cxnLst/>
              <a:rect l="l" t="t" r="r" b="b"/>
              <a:pathLst>
                <a:path w="2308225" h="76200">
                  <a:moveTo>
                    <a:pt x="2232025" y="0"/>
                  </a:moveTo>
                  <a:lnTo>
                    <a:pt x="2232025" y="76200"/>
                  </a:lnTo>
                  <a:lnTo>
                    <a:pt x="2301875" y="41275"/>
                  </a:lnTo>
                  <a:lnTo>
                    <a:pt x="2244725" y="41275"/>
                  </a:lnTo>
                  <a:lnTo>
                    <a:pt x="2244725" y="34925"/>
                  </a:lnTo>
                  <a:lnTo>
                    <a:pt x="2301875" y="34925"/>
                  </a:lnTo>
                  <a:lnTo>
                    <a:pt x="2232025" y="0"/>
                  </a:lnTo>
                  <a:close/>
                </a:path>
                <a:path w="2308225" h="76200">
                  <a:moveTo>
                    <a:pt x="2232025" y="34925"/>
                  </a:moveTo>
                  <a:lnTo>
                    <a:pt x="0" y="34925"/>
                  </a:lnTo>
                  <a:lnTo>
                    <a:pt x="0" y="41275"/>
                  </a:lnTo>
                  <a:lnTo>
                    <a:pt x="2232025" y="41275"/>
                  </a:lnTo>
                  <a:lnTo>
                    <a:pt x="2232025" y="34925"/>
                  </a:lnTo>
                  <a:close/>
                </a:path>
                <a:path w="2308225" h="76200">
                  <a:moveTo>
                    <a:pt x="2301875" y="34925"/>
                  </a:moveTo>
                  <a:lnTo>
                    <a:pt x="2244725" y="34925"/>
                  </a:lnTo>
                  <a:lnTo>
                    <a:pt x="2244725" y="41275"/>
                  </a:lnTo>
                  <a:lnTo>
                    <a:pt x="2301875" y="41275"/>
                  </a:lnTo>
                  <a:lnTo>
                    <a:pt x="2308225" y="38100"/>
                  </a:lnTo>
                  <a:lnTo>
                    <a:pt x="2301875" y="34925"/>
                  </a:lnTo>
                  <a:close/>
                </a:path>
              </a:pathLst>
            </a:custGeom>
            <a:solidFill>
              <a:srgbClr val="60626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4750689" y="1831975"/>
            <a:ext cx="1235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MMP219</a:t>
            </a:r>
            <a:r>
              <a:rPr dirty="0" sz="1200" spc="-50">
                <a:latin typeface="Arial"/>
                <a:cs typeface="Arial"/>
              </a:rPr>
              <a:t> &amp;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200">
                <a:latin typeface="Arial"/>
                <a:cs typeface="Arial"/>
              </a:rPr>
              <a:t>MMP220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Release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5675757" y="5693461"/>
            <a:ext cx="18497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E49217"/>
                </a:solidFill>
                <a:latin typeface="Arial"/>
                <a:cs typeface="Arial"/>
              </a:rPr>
              <a:t>Key</a:t>
            </a:r>
            <a:r>
              <a:rPr dirty="0" sz="1200" spc="-25">
                <a:solidFill>
                  <a:srgbClr val="E49217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9217"/>
                </a:solidFill>
                <a:latin typeface="Arial"/>
                <a:cs typeface="Arial"/>
              </a:rPr>
              <a:t>L2</a:t>
            </a:r>
            <a:r>
              <a:rPr dirty="0" sz="1200" spc="-25">
                <a:solidFill>
                  <a:srgbClr val="E49217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9217"/>
                </a:solidFill>
                <a:latin typeface="Arial"/>
                <a:cs typeface="Arial"/>
              </a:rPr>
              <a:t>documents</a:t>
            </a:r>
            <a:r>
              <a:rPr dirty="0" sz="1200" spc="-45">
                <a:solidFill>
                  <a:srgbClr val="E49217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49217"/>
                </a:solidFill>
                <a:latin typeface="Arial"/>
                <a:cs typeface="Arial"/>
              </a:rPr>
              <a:t>revision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5732145" y="4834254"/>
            <a:ext cx="8915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7E7E7E"/>
                </a:solidFill>
                <a:latin typeface="Arial"/>
                <a:cs typeface="Arial"/>
              </a:rPr>
              <a:t>TCCA/EASA</a:t>
            </a:r>
            <a:endParaRPr sz="1200">
              <a:latin typeface="Arial"/>
              <a:cs typeface="Arial"/>
            </a:endParaRPr>
          </a:p>
          <a:p>
            <a:pPr marL="277495">
              <a:lnSpc>
                <a:spcPct val="100000"/>
              </a:lnSpc>
            </a:pPr>
            <a:r>
              <a:rPr dirty="0" sz="1200" spc="-10">
                <a:solidFill>
                  <a:srgbClr val="7E7E7E"/>
                </a:solidFill>
                <a:latin typeface="Arial"/>
                <a:cs typeface="Arial"/>
              </a:rPr>
              <a:t>Briefings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8403081" y="5693461"/>
            <a:ext cx="16065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E49217"/>
                </a:solidFill>
                <a:latin typeface="Arial"/>
                <a:cs typeface="Arial"/>
              </a:rPr>
              <a:t>Key</a:t>
            </a:r>
            <a:r>
              <a:rPr dirty="0" sz="1200" spc="-25">
                <a:solidFill>
                  <a:srgbClr val="E49217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E49217"/>
                </a:solidFill>
                <a:latin typeface="Arial"/>
                <a:cs typeface="Arial"/>
              </a:rPr>
              <a:t>Processes</a:t>
            </a:r>
            <a:r>
              <a:rPr dirty="0" sz="1200" spc="-35">
                <a:solidFill>
                  <a:srgbClr val="E49217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E49217"/>
                </a:solidFill>
                <a:latin typeface="Arial"/>
                <a:cs typeface="Arial"/>
              </a:rPr>
              <a:t>revision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1135545" y="4821580"/>
            <a:ext cx="2839085" cy="923925"/>
          </a:xfrm>
          <a:prstGeom prst="rect">
            <a:avLst/>
          </a:prstGeom>
          <a:ln w="19050">
            <a:solidFill>
              <a:srgbClr val="FFC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dirty="0" u="sng" sz="180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Key</a:t>
            </a:r>
            <a:r>
              <a:rPr dirty="0" u="sng" sz="1800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L2</a:t>
            </a:r>
            <a:r>
              <a:rPr dirty="0" u="sng" sz="1800" spc="-2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CS</a:t>
            </a:r>
            <a:r>
              <a:rPr dirty="0" u="sng" sz="1800" spc="-1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documents</a:t>
            </a:r>
            <a:endParaRPr sz="1800">
              <a:latin typeface="Arial"/>
              <a:cs typeface="Arial"/>
            </a:endParaRPr>
          </a:p>
          <a:p>
            <a:pPr marL="377825" indent="-286385">
              <a:lnSpc>
                <a:spcPct val="100000"/>
              </a:lnSpc>
              <a:buChar char="•"/>
              <a:tabLst>
                <a:tab pos="377825" algn="l"/>
              </a:tabLst>
            </a:pPr>
            <a:r>
              <a:rPr dirty="0" sz="1800">
                <a:latin typeface="Arial"/>
                <a:cs typeface="Arial"/>
              </a:rPr>
              <a:t>CSOP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41</a:t>
            </a:r>
            <a:endParaRPr sz="1800">
              <a:latin typeface="Arial"/>
              <a:cs typeface="Arial"/>
            </a:endParaRPr>
          </a:p>
          <a:p>
            <a:pPr marL="377825" indent="-286385">
              <a:lnSpc>
                <a:spcPct val="100000"/>
              </a:lnSpc>
              <a:buChar char="•"/>
              <a:tabLst>
                <a:tab pos="377825" algn="l"/>
              </a:tabLst>
            </a:pPr>
            <a:r>
              <a:rPr dirty="0" sz="1800">
                <a:latin typeface="Arial"/>
                <a:cs typeface="Arial"/>
              </a:rPr>
              <a:t>MMP530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–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MMP515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33480" y="6364325"/>
            <a:ext cx="196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Arial"/>
                <a:cs typeface="Arial"/>
              </a:rPr>
              <a:t>15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672" rIns="0" bIns="0" rtlCol="0" vert="horz">
            <a:spAutoFit/>
          </a:bodyPr>
          <a:lstStyle/>
          <a:p>
            <a:pPr marL="27940">
              <a:lnSpc>
                <a:spcPct val="100000"/>
              </a:lnSpc>
              <a:spcBef>
                <a:spcPts val="105"/>
              </a:spcBef>
            </a:pPr>
            <a:r>
              <a:rPr dirty="0"/>
              <a:t>Next</a:t>
            </a:r>
            <a:r>
              <a:rPr dirty="0" spc="-45"/>
              <a:t> </a:t>
            </a:r>
            <a:r>
              <a:rPr dirty="0" spc="-10"/>
              <a:t>Steps-</a:t>
            </a:r>
            <a:r>
              <a:rPr dirty="0"/>
              <a:t>PW</a:t>
            </a:r>
            <a:r>
              <a:rPr dirty="0" spc="-55"/>
              <a:t> </a:t>
            </a:r>
            <a:r>
              <a:rPr dirty="0"/>
              <a:t>Workshop</a:t>
            </a:r>
            <a:r>
              <a:rPr dirty="0" spc="-60"/>
              <a:t> </a:t>
            </a:r>
            <a:r>
              <a:rPr dirty="0" spc="-10"/>
              <a:t>Mandate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719452" y="6550862"/>
            <a:ext cx="875347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Arial"/>
                <a:cs typeface="Arial"/>
              </a:rPr>
              <a:t>RTX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Corporation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(Corporate)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-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Proprietary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800">
                <a:latin typeface="Arial"/>
                <a:cs typeface="Arial"/>
              </a:rPr>
              <a:t>Technical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Material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not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controlled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under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local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export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regulations.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This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document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is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not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controlled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under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U.S.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regulations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but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may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contain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Technical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Material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that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is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controlled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by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other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jurisdictions.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00256" y="5869571"/>
            <a:ext cx="11978005" cy="311150"/>
          </a:xfrm>
          <a:custGeom>
            <a:avLst/>
            <a:gdLst/>
            <a:ahLst/>
            <a:cxnLst/>
            <a:rect l="l" t="t" r="r" b="b"/>
            <a:pathLst>
              <a:path w="11978005" h="311150">
                <a:moveTo>
                  <a:pt x="11977624" y="0"/>
                </a:moveTo>
                <a:lnTo>
                  <a:pt x="0" y="0"/>
                </a:lnTo>
                <a:lnTo>
                  <a:pt x="0" y="310832"/>
                </a:lnTo>
                <a:lnTo>
                  <a:pt x="11977624" y="310832"/>
                </a:lnTo>
                <a:lnTo>
                  <a:pt x="11977624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32256" y="5823000"/>
            <a:ext cx="109124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Develop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PW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Practices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Production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Plan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Methodology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(KPI’s/Boilerplates)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376923" y="2924682"/>
            <a:ext cx="601980" cy="615315"/>
            <a:chOff x="6376923" y="2924682"/>
            <a:chExt cx="601980" cy="615315"/>
          </a:xfrm>
        </p:grpSpPr>
        <p:sp>
          <p:nvSpPr>
            <p:cNvPr id="8" name="object 8" descr=""/>
            <p:cNvSpPr/>
            <p:nvPr/>
          </p:nvSpPr>
          <p:spPr>
            <a:xfrm>
              <a:off x="6383273" y="2931032"/>
              <a:ext cx="589280" cy="602615"/>
            </a:xfrm>
            <a:custGeom>
              <a:avLst/>
              <a:gdLst/>
              <a:ahLst/>
              <a:cxnLst/>
              <a:rect l="l" t="t" r="r" b="b"/>
              <a:pathLst>
                <a:path w="589279" h="602614">
                  <a:moveTo>
                    <a:pt x="294385" y="0"/>
                  </a:moveTo>
                  <a:lnTo>
                    <a:pt x="294385" y="150621"/>
                  </a:lnTo>
                  <a:lnTo>
                    <a:pt x="0" y="150621"/>
                  </a:lnTo>
                  <a:lnTo>
                    <a:pt x="0" y="451992"/>
                  </a:lnTo>
                  <a:lnTo>
                    <a:pt x="294385" y="451992"/>
                  </a:lnTo>
                  <a:lnTo>
                    <a:pt x="294385" y="602614"/>
                  </a:lnTo>
                  <a:lnTo>
                    <a:pt x="588772" y="301370"/>
                  </a:lnTo>
                  <a:lnTo>
                    <a:pt x="294385" y="0"/>
                  </a:lnTo>
                  <a:close/>
                </a:path>
              </a:pathLst>
            </a:custGeom>
            <a:solidFill>
              <a:srgbClr val="1F2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383273" y="2931032"/>
              <a:ext cx="589280" cy="602615"/>
            </a:xfrm>
            <a:custGeom>
              <a:avLst/>
              <a:gdLst/>
              <a:ahLst/>
              <a:cxnLst/>
              <a:rect l="l" t="t" r="r" b="b"/>
              <a:pathLst>
                <a:path w="589279" h="602614">
                  <a:moveTo>
                    <a:pt x="0" y="150621"/>
                  </a:moveTo>
                  <a:lnTo>
                    <a:pt x="294385" y="150621"/>
                  </a:lnTo>
                  <a:lnTo>
                    <a:pt x="294385" y="0"/>
                  </a:lnTo>
                  <a:lnTo>
                    <a:pt x="588772" y="301370"/>
                  </a:lnTo>
                  <a:lnTo>
                    <a:pt x="294385" y="602614"/>
                  </a:lnTo>
                  <a:lnTo>
                    <a:pt x="294385" y="451992"/>
                  </a:lnTo>
                  <a:lnTo>
                    <a:pt x="0" y="451992"/>
                  </a:lnTo>
                  <a:lnTo>
                    <a:pt x="0" y="150621"/>
                  </a:lnTo>
                  <a:close/>
                </a:path>
              </a:pathLst>
            </a:custGeom>
            <a:ln w="12700">
              <a:solidFill>
                <a:srgbClr val="070A1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393293" y="4599698"/>
            <a:ext cx="5580380" cy="261620"/>
          </a:xfrm>
          <a:prstGeom prst="rect">
            <a:avLst/>
          </a:prstGeom>
          <a:ln w="9525">
            <a:solidFill>
              <a:srgbClr val="A6A6A6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dirty="0" sz="1100" b="1">
                <a:solidFill>
                  <a:srgbClr val="1F2A44"/>
                </a:solidFill>
                <a:latin typeface="Arial"/>
                <a:cs typeface="Arial"/>
              </a:rPr>
              <a:t>3</a:t>
            </a:r>
            <a:r>
              <a:rPr dirty="0" sz="1100" spc="-35" b="1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F2A44"/>
                </a:solidFill>
                <a:latin typeface="Arial"/>
                <a:cs typeface="Arial"/>
              </a:rPr>
              <a:t>Focus</a:t>
            </a:r>
            <a:r>
              <a:rPr dirty="0" sz="1100" spc="-30" b="1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F2A44"/>
                </a:solidFill>
                <a:latin typeface="Arial"/>
                <a:cs typeface="Arial"/>
              </a:rPr>
              <a:t>Areas for</a:t>
            </a:r>
            <a:r>
              <a:rPr dirty="0" sz="1100" spc="-45" b="1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F2A44"/>
                </a:solidFill>
                <a:latin typeface="Arial"/>
                <a:cs typeface="Arial"/>
              </a:rPr>
              <a:t>RLPM</a:t>
            </a:r>
            <a:r>
              <a:rPr dirty="0" sz="1100" spc="-30" b="1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F2A44"/>
                </a:solidFill>
                <a:latin typeface="Arial"/>
                <a:cs typeface="Arial"/>
              </a:rPr>
              <a:t>Production</a:t>
            </a:r>
            <a:r>
              <a:rPr dirty="0" sz="1100" spc="-40" b="1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1F2A44"/>
                </a:solidFill>
                <a:latin typeface="Arial"/>
                <a:cs typeface="Arial"/>
              </a:rPr>
              <a:t>Phase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326248" y="5221617"/>
            <a:ext cx="4608195" cy="261620"/>
          </a:xfrm>
          <a:prstGeom prst="rect">
            <a:avLst/>
          </a:prstGeom>
          <a:ln w="9525">
            <a:solidFill>
              <a:srgbClr val="A6A6A6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 algn="ctr" marL="38735">
              <a:lnSpc>
                <a:spcPct val="100000"/>
              </a:lnSpc>
              <a:spcBef>
                <a:spcPts val="335"/>
              </a:spcBef>
            </a:pPr>
            <a:r>
              <a:rPr dirty="0" sz="1100" spc="-10" b="1">
                <a:solidFill>
                  <a:srgbClr val="1F2A44"/>
                </a:solidFill>
                <a:latin typeface="Arial"/>
                <a:cs typeface="Arial"/>
              </a:rPr>
              <a:t>Process/Tools</a:t>
            </a:r>
            <a:r>
              <a:rPr dirty="0" sz="1100" spc="-15" b="1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F2A44"/>
                </a:solidFill>
                <a:latin typeface="Arial"/>
                <a:cs typeface="Arial"/>
              </a:rPr>
              <a:t>Gap</a:t>
            </a:r>
            <a:r>
              <a:rPr dirty="0" sz="1100" spc="-30" b="1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F2A44"/>
                </a:solidFill>
                <a:latin typeface="Arial"/>
                <a:cs typeface="Arial"/>
              </a:rPr>
              <a:t>Assessment</a:t>
            </a:r>
            <a:r>
              <a:rPr dirty="0" sz="1100" spc="25" b="1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F2A44"/>
                </a:solidFill>
                <a:latin typeface="Arial"/>
                <a:cs typeface="Arial"/>
              </a:rPr>
              <a:t>&amp;</a:t>
            </a:r>
            <a:r>
              <a:rPr dirty="0" sz="1100" spc="-5" b="1">
                <a:solidFill>
                  <a:srgbClr val="1F2A44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F2A44"/>
                </a:solidFill>
                <a:latin typeface="Arial"/>
                <a:cs typeface="Arial"/>
              </a:rPr>
              <a:t>Alignment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1766" y="3764279"/>
            <a:ext cx="4658102" cy="1357376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03896" y="897508"/>
            <a:ext cx="4557903" cy="2757932"/>
          </a:xfrm>
          <a:prstGeom prst="rect">
            <a:avLst/>
          </a:prstGeom>
        </p:spPr>
      </p:pic>
      <p:grpSp>
        <p:nvGrpSpPr>
          <p:cNvPr id="14" name="object 14" descr=""/>
          <p:cNvGrpSpPr/>
          <p:nvPr/>
        </p:nvGrpSpPr>
        <p:grpSpPr>
          <a:xfrm>
            <a:off x="122466" y="963041"/>
            <a:ext cx="6122035" cy="3455035"/>
            <a:chOff x="122466" y="963041"/>
            <a:chExt cx="6122035" cy="3455035"/>
          </a:xfrm>
        </p:grpSpPr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974" y="975741"/>
              <a:ext cx="5730717" cy="3360668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128816" y="969391"/>
              <a:ext cx="6109335" cy="3442335"/>
            </a:xfrm>
            <a:custGeom>
              <a:avLst/>
              <a:gdLst/>
              <a:ahLst/>
              <a:cxnLst/>
              <a:rect l="l" t="t" r="r" b="b"/>
              <a:pathLst>
                <a:path w="6109335" h="3442335">
                  <a:moveTo>
                    <a:pt x="0" y="3441954"/>
                  </a:moveTo>
                  <a:lnTo>
                    <a:pt x="6109208" y="3441954"/>
                  </a:lnTo>
                  <a:lnTo>
                    <a:pt x="6109208" y="0"/>
                  </a:lnTo>
                  <a:lnTo>
                    <a:pt x="0" y="0"/>
                  </a:lnTo>
                  <a:lnTo>
                    <a:pt x="0" y="3441954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421871" y="6477101"/>
            <a:ext cx="120014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B8B9B0"/>
                </a:solidFill>
                <a:latin typeface="Arial Narrow"/>
                <a:cs typeface="Arial Narrow"/>
              </a:rPr>
              <a:t>16</a:t>
            </a:r>
            <a:endParaRPr sz="800">
              <a:latin typeface="Arial Narrow"/>
              <a:cs typeface="Arial Narrow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289672" y="6477101"/>
            <a:ext cx="373380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PRATT</a:t>
            </a:r>
            <a:r>
              <a:rPr dirty="0" sz="800" spc="-3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&amp; WHITNEY</a:t>
            </a:r>
            <a:r>
              <a:rPr dirty="0" sz="800" spc="-2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CANADA</a:t>
            </a:r>
            <a:r>
              <a:rPr dirty="0" sz="800" spc="-4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PROPRIETARY</a:t>
            </a:r>
            <a:r>
              <a:rPr dirty="0" sz="800" spc="265">
                <a:solidFill>
                  <a:srgbClr val="B8B9B0"/>
                </a:solidFill>
                <a:latin typeface="Arial Narrow"/>
                <a:cs typeface="Arial Narrow"/>
              </a:rPr>
              <a:t> 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|</a:t>
            </a:r>
            <a:r>
              <a:rPr dirty="0" sz="800" spc="190">
                <a:solidFill>
                  <a:srgbClr val="B8B9B0"/>
                </a:solidFill>
                <a:latin typeface="Arial Narrow"/>
                <a:cs typeface="Arial Narrow"/>
              </a:rPr>
              <a:t> 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©</a:t>
            </a:r>
            <a:r>
              <a:rPr dirty="0" sz="800" spc="4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2025</a:t>
            </a:r>
            <a:r>
              <a:rPr dirty="0" sz="800" spc="-1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PRATT</a:t>
            </a:r>
            <a:r>
              <a:rPr dirty="0" sz="800" spc="-1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&amp;</a:t>
            </a:r>
            <a:r>
              <a:rPr dirty="0" sz="800" spc="-3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WHITNEY</a:t>
            </a:r>
            <a:r>
              <a:rPr dirty="0" sz="800" spc="-1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CANADA</a:t>
            </a:r>
            <a:r>
              <a:rPr dirty="0" sz="800" spc="-4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 spc="-10">
                <a:solidFill>
                  <a:srgbClr val="B8B9B0"/>
                </a:solidFill>
                <a:latin typeface="Arial Narrow"/>
                <a:cs typeface="Arial Narrow"/>
              </a:rPr>
              <a:t>CORP.</a:t>
            </a:r>
            <a:endParaRPr sz="800">
              <a:latin typeface="Arial Narrow"/>
              <a:cs typeface="Arial Narro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934336" y="6477101"/>
            <a:ext cx="290195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EXPORT</a:t>
            </a:r>
            <a:r>
              <a:rPr dirty="0" sz="800" spc="-3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MARKING:</a:t>
            </a:r>
            <a:r>
              <a:rPr dirty="0" sz="800" spc="-2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(TO</a:t>
            </a:r>
            <a:r>
              <a:rPr dirty="0" sz="800" spc="-1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CHANGE</a:t>
            </a:r>
            <a:r>
              <a:rPr dirty="0" sz="800" spc="-3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GO</a:t>
            </a:r>
            <a:r>
              <a:rPr dirty="0" sz="800" spc="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TO</a:t>
            </a:r>
            <a:r>
              <a:rPr dirty="0" sz="800" spc="-2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INSERT</a:t>
            </a:r>
            <a:r>
              <a:rPr dirty="0" sz="800" spc="-15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&gt; HEADER</a:t>
            </a:r>
            <a:r>
              <a:rPr dirty="0" sz="800" spc="-30">
                <a:solidFill>
                  <a:srgbClr val="B8B9B0"/>
                </a:solidFill>
                <a:latin typeface="Arial Narrow"/>
                <a:cs typeface="Arial Narrow"/>
              </a:rPr>
              <a:t> </a:t>
            </a:r>
            <a:r>
              <a:rPr dirty="0" sz="800">
                <a:solidFill>
                  <a:srgbClr val="B8B9B0"/>
                </a:solidFill>
                <a:latin typeface="Arial Narrow"/>
                <a:cs typeface="Arial Narrow"/>
              </a:rPr>
              <a:t>&amp; </a:t>
            </a:r>
            <a:r>
              <a:rPr dirty="0" sz="800" spc="-10">
                <a:solidFill>
                  <a:srgbClr val="B8B9B0"/>
                </a:solidFill>
                <a:latin typeface="Arial Narrow"/>
                <a:cs typeface="Arial Narrow"/>
              </a:rPr>
              <a:t>FOOTER)</a:t>
            </a:r>
            <a:endParaRPr sz="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Jea Shim</dc:creator>
  <dc:title>PowerPoint Presentation</dc:title>
  <dcterms:created xsi:type="dcterms:W3CDTF">2026-04-01T13:39:39Z</dcterms:created>
  <dcterms:modified xsi:type="dcterms:W3CDTF">2026-04-01T13:39:39Z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2026-04-01T00:00:00Z</vt:filetime>
  </property>
  <property fmtid="{D5CDD505-2E9C-101B-9397-08002B2CF9AE}" pid="5" name="MSIP_Label_4447dd6a-a4a1-440b-a6a3-9124ef1ee017_Enabled">
    <vt:lpwstr>true</vt:lpwstr>
  </property>
  <property fmtid="{D5CDD505-2E9C-101B-9397-08002B2CF9AE}" pid="6" name="MSIP_Label_4447dd6a-a4a1-440b-a6a3-9124ef1ee017_Method">
    <vt:lpwstr>Privileged</vt:lpwstr>
  </property>
  <property fmtid="{D5CDD505-2E9C-101B-9397-08002B2CF9AE}" pid="7" name="MSIP_Label_4447dd6a-a4a1-440b-a6a3-9124ef1ee017_SiteId">
    <vt:lpwstr>7a18110d-ef9b-4274-acef-e62ab0fe28ed</vt:lpwstr>
  </property>
  <property fmtid="{D5CDD505-2E9C-101B-9397-08002B2CF9AE}" pid="8" name="Producer">
    <vt:lpwstr>3-Heights(TM) PDF Security Shell 4.8.25.2 (http://www.pdf-tools.com)</vt:lpwstr>
  </property>
</Properties>
</file>